
<file path=[Content_Types].xml><?xml version="1.0" encoding="utf-8"?>
<Types xmlns="http://schemas.openxmlformats.org/package/2006/content-types">
  <Default Extension="svg" ContentType="image/svg+xml"/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63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1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5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52.xml" ContentType="application/vnd.openxmlformats-officedocument.presentationml.slide+xml"/>
  <Override PartName="/ppt/slides/slide50.xml" ContentType="application/vnd.openxmlformats-officedocument.presentationml.slide+xml"/>
  <Override PartName="/ppt/slides/slide47.xml" ContentType="application/vnd.openxmlformats-officedocument.presentationml.slide+xml"/>
  <Override PartName="/ppt/slides/slide46.xml" ContentType="application/vnd.openxmlformats-officedocument.presentationml.slide+xml"/>
  <Override PartName="/ppt/slides/slide45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43.xml" ContentType="application/vnd.openxmlformats-officedocument.presentationml.slide+xml"/>
  <Override PartName="/ppt/slides/slide37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36.xml" ContentType="application/vnd.openxmlformats-officedocument.presentationml.slide+xml"/>
  <Override PartName="/ppt/slides/slide62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8.xml" ContentType="application/vnd.openxmlformats-officedocument.presentationml.slide+xml"/>
  <Override PartName="/ppt/slides/slide42.xml" ContentType="application/vnd.openxmlformats-officedocument.presentationml.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7.xml" ContentType="application/vnd.openxmlformats-officedocument.presentationml.slide+xml"/>
  <Override PartName="/ppt/slides/slide57.xml" ContentType="application/vnd.openxmlformats-officedocument.presentationml.slide+xml"/>
  <Override PartName="/ppt/slides/slide44.xml" ContentType="application/vnd.openxmlformats-officedocument.presentationml.slide+xml"/>
  <Override PartName="/ppt/slides/slide6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s/slide3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notesSlides/notesSlide41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8.xml" ContentType="application/vnd.openxmlformats-officedocument.presentationml.slideLayout+xml"/>
  <Override PartName="/ppt/notesSlides/notesSlide39.xml" ContentType="application/vnd.openxmlformats-officedocument.presentationml.notesSlide+xml"/>
  <Override PartName="/ppt/slides/slide27.xml" ContentType="application/vnd.openxmlformats-officedocument.presentationml.slide+xml"/>
  <Override PartName="/ppt/slides/slide48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notesSlides/notesSlide47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43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0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Slides/notesSlide23.xml" ContentType="application/vnd.openxmlformats-officedocument.presentationml.notesSlide+xml"/>
  <Override PartName="/ppt/notesSlides/notesSlide62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17.xml" ContentType="application/vnd.openxmlformats-officedocument.presentationml.notes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slides/slide53.xml" ContentType="application/vnd.openxmlformats-officedocument.presentationml.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41.xml" ContentType="application/vnd.openxmlformats-officedocument.presentationml.slide+xml"/>
  <Override PartName="/ppt/slides/slide16.xml" ContentType="application/vnd.openxmlformats-officedocument.presentationml.slide+xml"/>
  <Override PartName="/ppt/slides/slide60.xml" ContentType="application/vnd.openxmlformats-officedocument.presentationml.slide+xml"/>
  <Override PartName="/ppt/slides/slide2.xml" ContentType="application/vnd.openxmlformats-officedocument.presentationml.slide+xml"/>
  <Override PartName="/ppt/slides/slide39.xml" ContentType="application/vnd.openxmlformats-officedocument.presentationml.slide+xml"/>
  <Override PartName="/ppt/slides/slide58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49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38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42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54.xml" ContentType="application/vnd.openxmlformats-officedocument.presentationml.slide+xml"/>
  <Override PartName="/ppt/notesSlides/notesSlide22.xml" ContentType="application/vnd.openxmlformats-officedocument.presentationml.notesSlide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6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 /><Relationship Id="rId70" Type="http://schemas.openxmlformats.org/officeDocument/2006/relationships/tableStyles" Target="tableStyles.xml" /><Relationship Id="rId7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4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0" sldNum="1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 ?>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 ?>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 ?>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 ?>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 ?>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 ?>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 ?>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 ?>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 ?>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 ?>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 ?>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 ?>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 ?>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 ?>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 ?>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 ?>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 ?>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 ?>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 ?>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 ?>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5253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8446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8423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8BE540-2275-DCA4-CA6B-443E474895BA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647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70778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079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EAED84-3B19-2BC3-BE43-510E2FFC77F8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6673331" name="Shape 185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9373574" name="Shape 186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4 sites : UCLA, Stanford, UCSB, Univ. Of Utah</a:t>
            </a: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542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00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765245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4B62C-E7ED-3A1C-1EA2-469BA89871A4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36006" name="Shape 195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633137" name="Shape 196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92% des entreprises utilisent une infrastructure MPLS (SilverPeak &amp; IDG Connect, “The Shift to SD-WAN”, 2017)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CDN : A content delivery network is a geographically distributed network of proxy servers and their data centers. </a:t>
            </a:r>
            <a:endParaRPr/>
          </a:p>
          <a:p>
            <a:pPr>
              <a:defRPr/>
            </a:pPr>
            <a:r>
              <a:rPr/>
              <a:t>The goal is to provide high availability and performance by distributing the service spatially relative to end users.</a:t>
            </a:r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417292" name="Shape 201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2324735" name="Shape 202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Middleboxes : Firewalls, IDSs, NATs, WAN optimizers, Load balancers, DPI, QoE monitor, DDoS protection, Transcoder…</a:t>
            </a: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2141179" name="Shape 207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5991913" name="Shape 208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Opex (operational expenditure) et Capex (capital expenditure)</a:t>
            </a: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6492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75399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7058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71B0-3EC2-5410-EE00-88FCCCDA24E7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96735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40865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7940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9A9897-ECEE-2EF1-7DB2-0658B20E2BD5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9855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85430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73284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65C9367-D60E-2F58-731F-065323932595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893224" name="Shape 222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3944743" name="Shape 223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Autre analogie : pouvoirs exécutif et législatif</a:t>
            </a:r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988131" name="Shape 234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7594802" name="Shape 235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Autre analogie : pouvoirs exécutif et législatif</a:t>
            </a:r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9445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17856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3459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6840C-D939-8625-C261-4D0FEDC3BA50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0026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11681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4598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9D9B5E1-AD62-E162-786A-40D162FEA8C6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179250" name="Shape 315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464127" name="Shape 316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Double fonction des équipements réseaux (complexité et coût accrus)</a:t>
            </a:r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3787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09741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2539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6F102D-319A-F452-3268-2B97C97644D1}" type="slidenum">
              <a:rPr/>
              <a:t/>
            </a:fld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9445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7662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0236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019F81-5436-D2A4-C361-03301B23B2B4}" type="slidenum">
              <a:rPr/>
              <a:t/>
            </a:fld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948559" name="Shape 357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0040577" name="Shape 358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Les nombres indiquent les poids pour le routage dynamique</a:t>
            </a:r>
            <a:endParaRPr/>
          </a:p>
          <a:p>
            <a:pPr>
              <a:defRPr/>
            </a:pPr>
            <a:r>
              <a:rPr/>
              <a:t>Les flèches indiquent le routage</a:t>
            </a:r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3024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503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417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2C275E-4E4A-2CD7-F1DC-09EB8162053B}" type="slidenum">
              <a:rPr/>
              <a:t/>
            </a:fld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209440" name="Shape 417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606452" name="Shape 418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Désaveu pour l’algo distribuée</a:t>
            </a:r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4456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538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15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4B708F-B01C-11B1-0D09-D3C236631D13}" type="slidenum">
              <a:rPr/>
              <a:t/>
            </a:fld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401893" name="Shape 430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765078" name="Shape 431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SLA : service level agreement </a:t>
            </a:r>
            <a:endParaRPr/>
          </a:p>
          <a:p>
            <a:pPr>
              <a:defRPr/>
            </a:pPr>
            <a:r>
              <a:rPr/>
              <a:t>SLO : service level objective</a:t>
            </a:r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1408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23680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6494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C10E77-8602-8E19-62FE-F98CA305F009}" type="slidenum">
              <a:rPr/>
              <a:t/>
            </a:fld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45008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10110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2677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EE9ABA-CA98-1516-84ED-76281ED5E6BC}" type="slidenum">
              <a:rPr/>
              <a:t/>
            </a:fld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8417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2857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924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2F2171-2CCF-1D46-4702-3CBFE5DD6DFE}" type="slidenum">
              <a:rPr/>
              <a:t/>
            </a:fld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148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1266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78325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69CFF-C8AB-C98F-C58F-EBA67115B297}" type="slidenum">
              <a:rPr/>
              <a:t/>
            </a:fld>
            <a:endParaRPr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5156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4671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49946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2A9AD5-9882-C642-A151-4EA511ED9708}" type="slidenum">
              <a:rPr/>
              <a:t/>
            </a:fld>
            <a:endParaRPr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9221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82202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11688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5A1760-BC28-0979-1124-CB15303C9936}" type="slidenum">
              <a:rPr/>
              <a:t/>
            </a:fld>
            <a:endParaRPr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2729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6388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76017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727A3B-1F09-3BEF-5483-43BE92787B8D}" type="slidenum">
              <a:rPr/>
              <a:t/>
            </a:fld>
            <a:endParaRPr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9091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59385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00316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1F6075-9CEC-A27E-5977-7BCA31825814}" type="slidenum">
              <a:rPr/>
              <a:t/>
            </a:fld>
            <a:endParaRPr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737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96326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5884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0E24C2-8226-95C7-13E6-7E8963165EF0}" type="slidenum">
              <a:rPr/>
              <a:t/>
            </a:fld>
            <a:endParaRPr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828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0105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3784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5C235-8CFC-BE39-31D2-9CB582E8DA84}" type="slidenum">
              <a:rPr/>
              <a:t/>
            </a:fld>
            <a:endParaRPr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88720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6576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3082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86FB2E-5D94-C13E-DCDD-B34A85472740}" type="slidenum">
              <a:rPr/>
              <a:t/>
            </a:fld>
            <a:endParaRPr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7990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27645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3816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742A97-4ECD-C558-E5ED-7A6B50C48E50}" type="slidenum">
              <a:rPr/>
              <a:t/>
            </a:fld>
            <a:endParaRPr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60750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1315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38446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AF71F4-0645-DF96-693D-95AC83E8607E}" type="slidenum">
              <a:rPr/>
              <a:t/>
            </a:fld>
            <a:endParaRPr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507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4667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73593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54382A1-B80F-6DA6-5BAB-B824EE412FA5}" type="slidenum">
              <a:rPr/>
              <a:t/>
            </a:fld>
            <a:endParaRPr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02738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913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501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8DF8C7-FF0C-1C5C-603A-AC4B87B22B1E}" type="slidenum">
              <a:rPr/>
              <a:t/>
            </a:fld>
            <a:endParaRPr/>
          </a:p>
        </p:txBody>
      </p:sp>
    </p:spTree>
  </p:cSld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0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59588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4608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ED8DD1-B1E4-FB35-0705-3B78EB4196C3}" type="slidenum">
              <a:rPr/>
              <a:t/>
            </a:fld>
            <a:endParaRPr/>
          </a:p>
        </p:txBody>
      </p:sp>
    </p:spTree>
  </p:cSld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3719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14142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25311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2F348B-7963-C4F5-FED8-D51C88A3C3A2}" type="slidenum">
              <a:rPr/>
              <a:t/>
            </a:fld>
            <a:endParaRPr/>
          </a:p>
        </p:txBody>
      </p:sp>
    </p:spTree>
  </p:cSld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4733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27526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034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9DF0F-051B-3F60-742B-76AA9C527246}" type="slidenum">
              <a:rPr/>
              <a:t/>
            </a:fld>
            <a:endParaRPr/>
          </a:p>
        </p:txBody>
      </p:sp>
    </p:spTree>
  </p:cSld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523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04084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56473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C35CC0-DB7F-CCA7-3C3E-E0E30D9BF5C2}" type="slidenum">
              <a:rPr/>
              <a:t/>
            </a:fld>
            <a:endParaRPr/>
          </a:p>
        </p:txBody>
      </p:sp>
    </p:spTree>
  </p:cSld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727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11800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0506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931C48-3E14-C1D1-8536-237102F19D03}" type="slidenum">
              <a:rPr/>
              <a:t/>
            </a:fld>
            <a:endParaRPr/>
          </a:p>
        </p:txBody>
      </p:sp>
    </p:spTree>
  </p:cSld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7165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49937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988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5351B5-D873-6946-0793-580FA5732C96}" type="slidenum">
              <a:rPr/>
              <a:t/>
            </a:fld>
            <a:endParaRPr/>
          </a:p>
        </p:txBody>
      </p:sp>
    </p:spTree>
  </p:cSld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4136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19892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2988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D787BB-2869-2111-198E-F93B993C1318}" type="slidenum">
              <a:rPr/>
              <a:t/>
            </a:fld>
            <a:endParaRPr/>
          </a:p>
        </p:txBody>
      </p:sp>
    </p:spTree>
  </p:cSld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8073009" name="Shape 1110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3504400" name="Shape 1111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mode centralisé et distribué sont possibles</a:t>
            </a:r>
            <a:endParaRPr/>
          </a:p>
        </p:txBody>
      </p:sp>
    </p:spTree>
  </p:cSld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28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64066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11838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4C164F-1C0B-5ACD-7AE5-DB29C2C9A4FB}" type="slidenum">
              <a:rPr/>
              <a:t/>
            </a:fld>
            <a:endParaRPr/>
          </a:p>
        </p:txBody>
      </p:sp>
    </p:spTree>
  </p:cSld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8405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2487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046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3C7024-CFAD-2DF9-B9A6-C0F6F384E94A}" type="slidenum">
              <a:rPr/>
              <a:t/>
            </a:fld>
            <a:endParaRPr/>
          </a:p>
        </p:txBody>
      </p:sp>
    </p:spTree>
  </p:cSld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1506637" name="Shape 832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6593659" name="Shape 833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Calculateur IBM 360 dans les années 1970</a:t>
            </a:r>
            <a:endParaRPr/>
          </a:p>
        </p:txBody>
      </p:sp>
    </p:spTree>
  </p:cSld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280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449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7450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7E3A3-9B16-29D1-11F4-D3F5295C7D51}" type="slidenum">
              <a:rPr/>
              <a:t/>
            </a:fld>
            <a:endParaRPr/>
          </a:p>
        </p:txBody>
      </p:sp>
    </p:spTree>
  </p:cSld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7438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29064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31691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69894-CB07-E2E1-EF3B-6957C0F50493}" type="slidenum">
              <a:rPr/>
              <a:t/>
            </a:fld>
            <a:endParaRPr/>
          </a:p>
        </p:txBody>
      </p:sp>
    </p:spTree>
  </p:cSld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6421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64617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741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34F9EC-D96B-5A4A-FF77-EA5A89778F73}" type="slidenum">
              <a:rPr/>
              <a:t/>
            </a:fld>
            <a:endParaRPr/>
          </a:p>
        </p:txBody>
      </p:sp>
    </p:spTree>
  </p:cSld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3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344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9211B0-D811-DC3F-0508-6DDACF89C76B}" type="slidenum">
              <a:rPr/>
              <a:t/>
            </a:fld>
            <a:endParaRPr/>
          </a:p>
        </p:txBody>
      </p:sp>
    </p:spTree>
  </p:cSld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024663" name="Shape 990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7203661" name="Shape 991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Network slicing</a:t>
            </a:r>
            <a:endParaRPr/>
          </a:p>
        </p:txBody>
      </p:sp>
    </p:spTree>
  </p:cSld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09788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967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89061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BA1FCD-CDBB-FFDE-FFA9-BEA1E68A0B2A}" type="slidenum">
              <a:rPr/>
              <a:t/>
            </a:fld>
            <a:endParaRPr/>
          </a:p>
        </p:txBody>
      </p:sp>
    </p:spTree>
  </p:cSld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4847695" name="Shape 916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0629382" name="Shape 917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microtik : routeurs (pas pare-feu) pas cher (50€) utilisé chez DSTNY</a:t>
            </a:r>
            <a:endParaRPr/>
          </a:p>
          <a:p>
            <a:pPr>
              <a:defRPr/>
            </a:pPr>
            <a:r>
              <a:rPr/>
              <a:t>Pfsense : plus software et boitiers plus chers (400€) et orientés pare-feu</a:t>
            </a:r>
            <a:endParaRPr/>
          </a:p>
        </p:txBody>
      </p:sp>
    </p:spTree>
  </p:cSld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643118" name="Shape 916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37721187" name="Shape 917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microtik : routeurs (pas pare-feu) pas cher (50€) utilisé chez DSTNY</a:t>
            </a:r>
            <a:endParaRPr/>
          </a:p>
          <a:p>
            <a:pPr>
              <a:defRPr/>
            </a:pPr>
            <a:r>
              <a:rPr/>
              <a:t>Pfsense : plus software et boitiers plus chers (400€) et orientés pare-feu</a:t>
            </a:r>
            <a:endParaRPr/>
          </a:p>
        </p:txBody>
      </p:sp>
    </p:spTree>
  </p:cSld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57935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6772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808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ADC335C-C962-E734-1817-875E90B9A94F}" type="slidenum">
              <a:rPr/>
              <a:t/>
            </a:fld>
            <a:endParaRPr/>
          </a:p>
        </p:txBody>
      </p:sp>
    </p:spTree>
  </p:cSld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206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60877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50136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5CCE8-92B6-21A9-F72C-47FC8AB1064E}" type="slidenum">
              <a:rPr/>
              <a:t/>
            </a:fld>
            <a:endParaRPr/>
          </a:p>
        </p:txBody>
      </p:sp>
    </p:spTree>
  </p:cSld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95290" name="Shape 1058"/>
          <p:cNvSpPr>
            <a:spLocks noChangeAspect="1" noGrp="1" noRot="1"/>
          </p:cNvSpPr>
          <p:nvPr>
            <p:ph type="sldImg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1212785" name="Shape 1059"/>
          <p:cNvSpPr>
            <a:spLocks noGrp="1"/>
          </p:cNvSpPr>
          <p:nvPr>
            <p:ph type="body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ce n’est pas sur le hardware, ni sur le software </a:t>
            </a:r>
            <a:endParaRPr/>
          </a:p>
          <a:p>
            <a:pPr>
              <a:defRPr/>
            </a:pPr>
            <a:r>
              <a:rPr/>
              <a:t>mais plutot sur le plan logique</a:t>
            </a:r>
            <a:endParaRPr/>
          </a:p>
          <a:p>
            <a:pPr>
              <a:defRPr/>
            </a:pPr>
            <a:r>
              <a:rPr/>
              <a:t>je n’ai pas compris ce slide ????</a:t>
            </a:r>
            <a:endParaRPr/>
          </a:p>
        </p:txBody>
      </p:sp>
    </p:spTree>
  </p:cSld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1575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33022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29290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A988E7-D239-14D5-3B6C-E5FD6EE4E475}" type="slidenum">
              <a:rPr/>
              <a:t/>
            </a:fld>
            <a:endParaRPr/>
          </a:p>
        </p:txBody>
      </p:sp>
    </p:spTree>
  </p:cSld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9740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422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9503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F3D2D2-F053-4AB2-FC55-7305C386B6C1}" type="slidenum">
              <a:rPr/>
              <a:t/>
            </a:fld>
            <a:endParaRPr/>
          </a:p>
        </p:txBody>
      </p:sp>
    </p:spTree>
  </p:cSld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4366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2177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3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D7E54A-BD9B-C669-6B22-8994592EC121}" type="slidenum">
              <a:rPr/>
              <a:t/>
            </a:fld>
            <a:endParaRPr/>
          </a:p>
        </p:txBody>
      </p:sp>
    </p:spTree>
  </p:cSld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33788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2439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7082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C5E9BD-CD18-4CEA-3003-65FAFF0D01B5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/>
              <a:t>Loïc Desgeorges</a:t>
            </a:r>
            <a:endParaRPr/>
          </a:p>
          <a:p>
            <a:pPr>
              <a:defRPr/>
            </a:pPr>
            <a:r>
              <a:rPr/>
              <a:t>Université Claude Bernard Lyon 1</a:t>
            </a:r>
            <a:endParaRPr/>
          </a:p>
          <a:p>
            <a:pPr>
              <a:defRPr/>
            </a:pPr>
            <a:r>
              <a:rPr/>
              <a:t>loic.desgeorges@univ-lyon1.fr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4D22B4E-C269-277E-495F-EA198F3A0023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1F31500-673E-C58D-A24F-8A3B9B602C12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745980-14A9-F22B-4700-93764E53E684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F199DE-9788-4F00-2B0F-87D35C91B0C1}" type="datetime1">
              <a:rPr lang="fr-FR"/>
              <a:t>01/09/2025</a:t>
            </a:fld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53A4A5E-C217-94AE-E22F-3EF79DC37031}" type="datetime1">
              <a:rPr lang="fr-FR"/>
              <a:t>01/09/2025</a:t>
            </a:fld>
            <a:endParaRPr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A9676B8-4993-8891-90A3-9BB501A4F1DA}" type="datetime1">
              <a:rPr lang="fr-FR"/>
              <a:t>01/09/2025</a:t>
            </a:fld>
            <a:endParaRPr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8CE516C-8AA4-8F34-2E1A-8C8B8182571E}" type="datetime1">
              <a:rPr lang="fr-FR"/>
              <a:t>01/09/2025</a:t>
            </a:fld>
            <a:endParaRPr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973EBB8-358F-D349-D42C-75B5A06CFA6F}" type="datetime1">
              <a:rPr lang="fr-FR"/>
              <a:t>01/09/2025</a:t>
            </a:fld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D9BA146-A839-0AD0-55D8-CFDF2443131A}" type="datetime1">
              <a:rPr lang="fr-FR"/>
              <a:t>01/09/2025</a:t>
            </a:fld>
            <a:endParaRPr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52B1BB7-4BF7-6FBE-4C7D-1665EC5D7D13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B9A416A-4589-A3E5-2EC4-93720A714C11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rgbClr val="C00000"/>
                </a:solidFill>
              </a:defRPr>
            </a:lvl2pPr>
            <a:lvl3pPr>
              <a:defRPr>
                <a:solidFill>
                  <a:schemeClr val="accent5">
                    <a:lumMod val="75000"/>
                  </a:schemeClr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E52DDDA-60A7-B237-99BA-18F8CD74636C}" type="datetime1">
              <a:rPr lang="fr-FR"/>
              <a:t>01/09/2025</a:t>
            </a:fld>
            <a:endParaRPr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1" ftr="1" hdr="0" sldNum="1"/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cs.princeton.edu/courses/archive/spr12/cos461/" TargetMode="External"/><Relationship Id="rId4" Type="http://schemas.openxmlformats.org/officeDocument/2006/relationships/hyperlink" Target="https://h20195.www2.hpe.com/V2/getpdf.aspx/4AA6-6386ENW.pdf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jp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Relationship Id="rId4" Type="http://schemas.openxmlformats.org/officeDocument/2006/relationships/image" Target="../media/media1.svg"/><Relationship Id="rId5" Type="http://schemas.openxmlformats.org/officeDocument/2006/relationships/image" Target="../media/image16.png"/><Relationship Id="rId6" Type="http://schemas.openxmlformats.org/officeDocument/2006/relationships/image" Target="../media/media2.svg"/><Relationship Id="rId7" Type="http://schemas.openxmlformats.org/officeDocument/2006/relationships/image" Target="../media/image17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9.jp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0.jp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1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4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5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6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2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98519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092C1D-2A4C-3E9D-6944-DCB991BD9674}" type="slidenum">
              <a:rPr lang="fr-FR"/>
              <a:t/>
            </a:fld>
            <a:endParaRPr/>
          </a:p>
        </p:txBody>
      </p:sp>
      <p:sp>
        <p:nvSpPr>
          <p:cNvPr id="115892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90905337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DFA5E5D-F1CE-0DD0-1AB0-C074CC8A1202}" type="datetime1">
              <a:rPr lang="fr-FR"/>
              <a:t>01/09/2025</a:t>
            </a:fld>
            <a:endParaRPr/>
          </a:p>
        </p:txBody>
      </p:sp>
      <p:sp>
        <p:nvSpPr>
          <p:cNvPr id="1963435407" name="Titre 1"/>
          <p:cNvSpPr>
            <a:spLocks noGrp="1"/>
          </p:cNvSpPr>
          <p:nvPr>
            <p:ph type="ctrTitle"/>
          </p:nvPr>
        </p:nvSpPr>
        <p:spPr bwMode="auto">
          <a:xfrm>
            <a:off x="1523999" y="1968040"/>
            <a:ext cx="9144000" cy="2387599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 fontScale="90000" lnSpcReduction="2000"/>
          </a:bodyPr>
          <a:lstStyle>
            <a:lvl1pPr algn="ctr">
              <a:defRPr sz="6000"/>
            </a:lvl1pPr>
          </a:lstStyle>
          <a:p>
            <a:pPr defTabSz="448054">
              <a:defRPr b="1">
                <a:latin typeface="+mn-lt"/>
                <a:ea typeface="+mn-ea"/>
                <a:cs typeface="+mn-cs"/>
              </a:defRPr>
            </a:pPr>
            <a:r>
              <a:rPr lang="fr-FR" sz="6000" b="0" i="0" u="none" strike="noStrike" cap="none" spc="0">
                <a:solidFill>
                  <a:schemeClr val="accent2"/>
                </a:solidFill>
                <a:latin typeface="Helvetica"/>
                <a:ea typeface="Helvetica"/>
                <a:cs typeface="Helvetica"/>
              </a:rPr>
              <a:t>Software-Defined Networking,</a:t>
            </a:r>
            <a:endParaRPr sz="6000"/>
          </a:p>
          <a:p>
            <a:pPr>
              <a:defRPr/>
            </a:pPr>
            <a:r>
              <a:rPr lang="fr-FR" sz="6000" b="0" i="0" u="none" strike="noStrike" cap="none" spc="0">
                <a:solidFill>
                  <a:schemeClr val="accent2"/>
                </a:solidFill>
                <a:latin typeface="Helvetica"/>
                <a:ea typeface="Helvetica"/>
                <a:cs typeface="Helvetica"/>
              </a:rPr>
              <a:t>Network Function Virtualization et Network Slicing</a:t>
            </a:r>
            <a:endParaRPr/>
          </a:p>
        </p:txBody>
      </p:sp>
      <p:sp>
        <p:nvSpPr>
          <p:cNvPr id="1552449306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3999" y="4447715"/>
            <a:ext cx="9144000" cy="1655761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Loïc Desgeorges</a:t>
            </a:r>
            <a:endParaRPr sz="2400"/>
          </a:p>
          <a:p>
            <a:pPr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Université Claude Bernard Lyon 1</a:t>
            </a:r>
            <a:endParaRPr sz="2400"/>
          </a:p>
          <a:p>
            <a:pPr>
              <a:defRPr/>
            </a:pPr>
            <a:r>
              <a:rPr lang="fr-FR" sz="24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loic.desgeorges@univ-lyon1.fr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4107817" name="Sources de ce cour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Sources de ce cours</a:t>
            </a:r>
            <a:endParaRPr/>
          </a:p>
        </p:txBody>
      </p:sp>
      <p:sp>
        <p:nvSpPr>
          <p:cNvPr id="1732656345" name="Ces transparents sont basés sur :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663573" indent="-422273" defTabSz="434340">
              <a:lnSpc>
                <a:spcPct val="70000"/>
              </a:lnSpc>
              <a:spcBef>
                <a:spcPts val="1699"/>
              </a:spcBef>
              <a:buSzPct val="144000"/>
              <a:defRPr sz="1800"/>
            </a:pPr>
            <a:r>
              <a:rPr/>
              <a:t>Ces</a:t>
            </a:r>
            <a:r>
              <a:rPr/>
              <a:t> </a:t>
            </a:r>
            <a:r>
              <a:rPr/>
              <a:t>transparents</a:t>
            </a:r>
            <a:r>
              <a:rPr/>
              <a:t> </a:t>
            </a:r>
            <a:r>
              <a:rPr/>
              <a:t>sont</a:t>
            </a:r>
            <a:r>
              <a:rPr/>
              <a:t> </a:t>
            </a:r>
            <a:r>
              <a:rPr/>
              <a:t>basés</a:t>
            </a:r>
            <a:r>
              <a:rPr/>
              <a:t> sur :</a:t>
            </a:r>
            <a:endParaRPr/>
          </a:p>
          <a:p>
            <a:pPr marL="989328" lvl="1" indent="-422274" defTabSz="434340">
              <a:lnSpc>
                <a:spcPct val="70000"/>
              </a:lnSpc>
              <a:spcBef>
                <a:spcPts val="1699"/>
              </a:spcBef>
              <a:buSzPct val="144000"/>
              <a:defRPr sz="1800"/>
            </a:pPr>
            <a:r>
              <a:rPr/>
              <a:t>Des supports de </a:t>
            </a:r>
            <a:r>
              <a:rPr/>
              <a:t>cours</a:t>
            </a:r>
            <a:r>
              <a:rPr/>
              <a:t> de Jennifer Rexford (Professor at Princeton) </a:t>
            </a:r>
            <a:r>
              <a:rPr u="sng">
                <a:hlinkClick r:id="rId3" tooltip="http://www.cs.princeton.edu/courses/archive/spr12/cos461/"/>
              </a:rPr>
              <a:t>http://www.cs.princeton.edu/courses/archive/spr12/cos461/</a:t>
            </a:r>
            <a:endParaRPr/>
          </a:p>
          <a:p>
            <a:pPr marL="989328" lvl="1" indent="-422274" defTabSz="434340">
              <a:lnSpc>
                <a:spcPct val="70000"/>
              </a:lnSpc>
              <a:spcBef>
                <a:spcPts val="1699"/>
              </a:spcBef>
              <a:buSzPct val="144000"/>
              <a:defRPr sz="1800"/>
            </a:pPr>
            <a:r>
              <a:rPr/>
              <a:t>De la </a:t>
            </a:r>
            <a:r>
              <a:rPr/>
              <a:t>présentation</a:t>
            </a:r>
            <a:r>
              <a:rPr/>
              <a:t> “</a:t>
            </a:r>
            <a:r>
              <a:rPr i="1"/>
              <a:t>Making SDN Work</a:t>
            </a:r>
            <a:r>
              <a:rPr/>
              <a:t>” de Nick McKeown au </a:t>
            </a:r>
            <a:r>
              <a:rPr/>
              <a:t>sommet</a:t>
            </a:r>
            <a:r>
              <a:rPr/>
              <a:t> </a:t>
            </a:r>
            <a:r>
              <a:rPr i="1"/>
              <a:t>Open Networking</a:t>
            </a:r>
            <a:r>
              <a:rPr/>
              <a:t> </a:t>
            </a:r>
            <a:r>
              <a:rPr/>
              <a:t>en</a:t>
            </a:r>
            <a:r>
              <a:rPr/>
              <a:t> Avril 2012</a:t>
            </a:r>
            <a:endParaRPr/>
          </a:p>
          <a:p>
            <a:pPr marL="989328" lvl="1" indent="-422274" defTabSz="434340">
              <a:lnSpc>
                <a:spcPct val="70000"/>
              </a:lnSpc>
              <a:spcBef>
                <a:spcPts val="1699"/>
              </a:spcBef>
              <a:buSzPct val="144000"/>
              <a:defRPr sz="1800"/>
            </a:pPr>
            <a:r>
              <a:rPr i="1"/>
              <a:t>SDN &amp; NFV. OpenFlow and </a:t>
            </a:r>
            <a:r>
              <a:rPr i="1"/>
              <a:t>ForCES</a:t>
            </a:r>
            <a:r>
              <a:rPr i="1"/>
              <a:t>. IETF-93, </a:t>
            </a:r>
            <a:r>
              <a:rPr/>
              <a:t>de Yaakov Stein, </a:t>
            </a:r>
            <a:r>
              <a:rPr/>
              <a:t>Evangelos</a:t>
            </a:r>
            <a:r>
              <a:rPr/>
              <a:t> </a:t>
            </a:r>
            <a:r>
              <a:rPr/>
              <a:t>Haleplidis</a:t>
            </a:r>
            <a:r>
              <a:rPr/>
              <a:t>. </a:t>
            </a:r>
            <a:endParaRPr/>
          </a:p>
          <a:p>
            <a:pPr marL="989328" lvl="1" indent="-422274" defTabSz="434340">
              <a:lnSpc>
                <a:spcPct val="70000"/>
              </a:lnSpc>
              <a:spcBef>
                <a:spcPts val="1699"/>
              </a:spcBef>
              <a:buSzPct val="144000"/>
              <a:defRPr sz="1800"/>
            </a:pPr>
            <a:r>
              <a:rPr/>
              <a:t>D. Lopez Telefonica I+D, NFV  </a:t>
            </a:r>
            <a:endParaRPr/>
          </a:p>
          <a:p>
            <a:pPr marL="989328" lvl="1" indent="-422274" defTabSz="434340">
              <a:lnSpc>
                <a:spcPct val="70000"/>
              </a:lnSpc>
              <a:spcBef>
                <a:spcPts val="1699"/>
              </a:spcBef>
              <a:buSzPct val="144000"/>
              <a:defRPr sz="1800"/>
            </a:pPr>
            <a:r>
              <a:rPr i="1"/>
              <a:t>Tutorial 2 :: Network Functions Virtualization NFV - Perspectives, Reality and Challenges</a:t>
            </a:r>
            <a:r>
              <a:rPr/>
              <a:t> de Cesar Marcondes et Christian </a:t>
            </a:r>
            <a:r>
              <a:rPr/>
              <a:t>Esteve</a:t>
            </a:r>
            <a:r>
              <a:rPr/>
              <a:t> Rothenberg, 2015</a:t>
            </a:r>
            <a:endParaRPr/>
          </a:p>
          <a:p>
            <a:pPr marL="989328" lvl="1" indent="-422274" defTabSz="434340">
              <a:lnSpc>
                <a:spcPct val="70000"/>
              </a:lnSpc>
              <a:spcBef>
                <a:spcPts val="1699"/>
              </a:spcBef>
              <a:buSzPct val="144000"/>
              <a:defRPr sz="1800"/>
            </a:pPr>
            <a:r>
              <a:rPr/>
              <a:t>Des supports de </a:t>
            </a:r>
            <a:r>
              <a:rPr/>
              <a:t>cours</a:t>
            </a:r>
            <a:r>
              <a:rPr/>
              <a:t> de Francesco Bronzino (Ass. Prof. at ENS Lyon) </a:t>
            </a:r>
            <a:r>
              <a:rPr/>
              <a:t>et Thomas Begin (Porf. at UCBL)</a:t>
            </a:r>
            <a:endParaRPr/>
          </a:p>
          <a:p>
            <a:pPr marL="663573" indent="-422273" defTabSz="434340">
              <a:lnSpc>
                <a:spcPct val="70000"/>
              </a:lnSpc>
              <a:spcBef>
                <a:spcPts val="1699"/>
              </a:spcBef>
              <a:buSzPct val="144000"/>
              <a:defRPr sz="1800"/>
            </a:pPr>
            <a:r>
              <a:rPr/>
              <a:t>Pour </a:t>
            </a:r>
            <a:r>
              <a:rPr/>
              <a:t>en</a:t>
            </a:r>
            <a:r>
              <a:rPr/>
              <a:t> savoir plus :</a:t>
            </a:r>
            <a:endParaRPr/>
          </a:p>
          <a:p>
            <a:pPr marL="1085301" lvl="1" indent="-518245" defTabSz="434340">
              <a:lnSpc>
                <a:spcPct val="70000"/>
              </a:lnSpc>
              <a:spcBef>
                <a:spcPts val="1699"/>
              </a:spcBef>
              <a:defRPr sz="1800" i="1"/>
            </a:pPr>
            <a:r>
              <a:rPr/>
              <a:t>OpenFlow: Enabling Innovation in Campus Networks. </a:t>
            </a:r>
            <a:r>
              <a:rPr i="0"/>
              <a:t>McKeown et al., 2008.</a:t>
            </a:r>
            <a:endParaRPr/>
          </a:p>
          <a:p>
            <a:pPr marL="1085301" lvl="1" indent="-518245" defTabSz="434340">
              <a:lnSpc>
                <a:spcPct val="70000"/>
              </a:lnSpc>
              <a:spcBef>
                <a:spcPts val="1699"/>
              </a:spcBef>
              <a:defRPr sz="1800" i="1"/>
            </a:pPr>
            <a:r>
              <a:rPr/>
              <a:t>The Road to SDN: An Intellectual History of Programmable Networks. </a:t>
            </a:r>
            <a:r>
              <a:rPr i="0"/>
              <a:t>Feamster</a:t>
            </a:r>
            <a:r>
              <a:rPr i="0"/>
              <a:t>, Rexford and Zegura, 2014.</a:t>
            </a:r>
            <a:endParaRPr/>
          </a:p>
          <a:p>
            <a:pPr marL="1085301" lvl="1" indent="-518245" defTabSz="434340">
              <a:lnSpc>
                <a:spcPct val="70000"/>
              </a:lnSpc>
              <a:spcBef>
                <a:spcPts val="1699"/>
              </a:spcBef>
              <a:defRPr sz="1800" i="1"/>
            </a:pPr>
            <a:r>
              <a:rPr/>
              <a:t>Network Functions Virtualization for Dummies, </a:t>
            </a:r>
            <a:r>
              <a:rPr i="0"/>
              <a:t>de Balamurali </a:t>
            </a:r>
            <a:r>
              <a:rPr i="0"/>
              <a:t>Thekkedath</a:t>
            </a:r>
            <a:r>
              <a:rPr i="0"/>
              <a:t>, Willey Brand. </a:t>
            </a:r>
            <a:r>
              <a:rPr u="sng">
                <a:hlinkClick r:id="rId4" tooltip="https://h20195.www2.hpe.com/V2/getpdf.aspx/4AA6-6386ENW.pdf"/>
              </a:rPr>
              <a:t>https://h20195.www2.hpe.com/V2/getpdf.aspx/4AA6-6386ENW.pdf</a:t>
            </a:r>
            <a:endParaRPr lang="fr-FR" u="sng"/>
          </a:p>
          <a:p>
            <a:pPr marL="1085301" lvl="1" indent="-518245" defTabSz="434340">
              <a:lnSpc>
                <a:spcPct val="70000"/>
              </a:lnSpc>
              <a:spcBef>
                <a:spcPts val="1699"/>
              </a:spcBef>
              <a:defRPr sz="1800" i="1"/>
            </a:pPr>
            <a:r>
              <a:rPr lang="fr-FR" sz="1800" u="sng">
                <a:hlinkClick r:id="rId4" tooltip="https://h20195.www2.hpe.com/V2/getpdf.aspx/4AA6-6386ENW.pdf"/>
              </a:rPr>
              <a:t>Specification</a:t>
            </a:r>
            <a:r>
              <a:rPr lang="fr-FR" sz="1800" u="sng">
                <a:hlinkClick r:id="rId4" tooltip="https://h20195.www2.hpe.com/V2/getpdf.aspx/4AA6-6386ENW.pdf"/>
              </a:rPr>
              <a:t> </a:t>
            </a:r>
            <a:r>
              <a:rPr lang="fr-FR" sz="1800" u="sng">
                <a:hlinkClick r:id="rId4" tooltip="https://h20195.www2.hpe.com/V2/getpdf.aspx/4AA6-6386ENW.pdf"/>
              </a:rPr>
              <a:t>OpenFlow</a:t>
            </a:r>
            <a:r>
              <a:rPr lang="fr-FR" sz="1800" u="sng">
                <a:hlinkClick r:id="rId4" tooltip="https://h20195.www2.hpe.com/V2/getpdf.aspx/4AA6-6386ENW.pdf"/>
              </a:rPr>
              <a:t> : </a:t>
            </a:r>
            <a:r>
              <a:rPr lang="fr-FR" u="sng">
                <a:hlinkClick r:id="rId4" tooltip="https://h20195.www2.hpe.com/V2/getpdf.aspx/4AA6-6386ENW.pdf"/>
              </a:rPr>
              <a:t>https://opennetworking.org/wp-content/uploads/2014/10/openflow-spec-v1.3.0.pdf</a:t>
            </a:r>
            <a:endParaRPr u="sng"/>
          </a:p>
        </p:txBody>
      </p:sp>
      <p:sp>
        <p:nvSpPr>
          <p:cNvPr id="29464912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0330FDF-FA22-5DD9-D778-F4DBBFCB00DF}" type="slidenum">
              <a:rPr/>
              <a:t/>
            </a:fld>
            <a:endParaRPr/>
          </a:p>
        </p:txBody>
      </p:sp>
      <p:sp>
        <p:nvSpPr>
          <p:cNvPr id="114256888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0A3411-65D8-F60E-1794-382D5542C058}" type="datetime1">
              <a:rPr lang="fr-FR"/>
              <a:t/>
            </a:fld>
            <a:endParaRPr/>
          </a:p>
        </p:txBody>
      </p:sp>
      <p:sp>
        <p:nvSpPr>
          <p:cNvPr id="151285062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592268" name="Pla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>
              <a:defRPr/>
            </a:pPr>
            <a:r>
              <a:rPr/>
              <a:t>Plan</a:t>
            </a:r>
            <a:endParaRPr/>
          </a:p>
        </p:txBody>
      </p:sp>
      <p:sp>
        <p:nvSpPr>
          <p:cNvPr id="89770606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/>
            </a:pPr>
            <a:fld id="{DE13BA34-A697-A51A-A02A-41979DFDC902}" type="slidenum">
              <a:rPr/>
              <a:t/>
            </a:fld>
            <a:endParaRPr/>
          </a:p>
        </p:txBody>
      </p:sp>
      <p:sp>
        <p:nvSpPr>
          <p:cNvPr id="184128883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AEAC03B-67CC-4142-0B1D-3E084D3CC464}" type="datetime1">
              <a:rPr lang="fr-FR"/>
              <a:t/>
            </a:fld>
            <a:endParaRPr/>
          </a:p>
        </p:txBody>
      </p:sp>
      <p:sp>
        <p:nvSpPr>
          <p:cNvPr id="133414296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572333632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>
                <a:solidFill>
                  <a:srgbClr val="FF2600"/>
                </a:solidFill>
              </a:defRPr>
            </a:pPr>
            <a:r>
              <a:rPr lang="fr-FR" sz="2800" b="1" i="0" u="sng" strike="noStrike" cap="none" spc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Introduction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Plan de contrôle &amp; Plan de données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OpenFlow et P4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Applications 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NFV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Network slicing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+mn-lt"/>
                <a:ea typeface="+mn-ea"/>
                <a:cs typeface="+mn-cs"/>
              </a:rPr>
              <a:t>Défis restants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36058" name="Internet : un énorme succè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Internet : un énorme succès</a:t>
            </a:r>
            <a:endParaRPr/>
          </a:p>
        </p:txBody>
      </p:sp>
      <p:sp>
        <p:nvSpPr>
          <p:cNvPr id="1465099059" name="Initialement une plateforme expérimentale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635634" indent="-404493" defTabSz="416052">
              <a:lnSpc>
                <a:spcPct val="100000"/>
              </a:lnSpc>
              <a:spcBef>
                <a:spcPts val="1599"/>
              </a:spcBef>
              <a:defRPr sz="2350"/>
            </a:pPr>
            <a:r>
              <a:rPr/>
              <a:t>Initialement une </a:t>
            </a:r>
            <a:r>
              <a:rPr>
                <a:solidFill>
                  <a:schemeClr val="accent5"/>
                </a:solidFill>
              </a:rPr>
              <a:t>plateforme expérimentale</a:t>
            </a:r>
            <a:r>
              <a:rPr/>
              <a:t> </a:t>
            </a:r>
            <a:endParaRPr/>
          </a:p>
          <a:p>
            <a:pPr marL="918780" lvl="1" indent="-375601" defTabSz="416052">
              <a:lnSpc>
                <a:spcPct val="100000"/>
              </a:lnSpc>
              <a:spcBef>
                <a:spcPts val="1599"/>
              </a:spcBef>
              <a:defRPr sz="2350"/>
            </a:pPr>
            <a:r>
              <a:rPr/>
              <a:t>Projet ARPANET (1967-1972)</a:t>
            </a:r>
            <a:r>
              <a:rPr/>
              <a:t> - </a:t>
            </a:r>
            <a:r>
              <a:rPr/>
              <a:t>Entre 4 sites aux US </a:t>
            </a:r>
            <a:endParaRPr/>
          </a:p>
          <a:p>
            <a:pPr marL="635634" indent="-404493" defTabSz="416052">
              <a:lnSpc>
                <a:spcPct val="100000"/>
              </a:lnSpc>
              <a:spcBef>
                <a:spcPts val="1599"/>
              </a:spcBef>
              <a:defRPr sz="2350"/>
            </a:pPr>
            <a:r>
              <a:rPr/>
              <a:t>Devenu une </a:t>
            </a:r>
            <a:r>
              <a:rPr>
                <a:solidFill>
                  <a:schemeClr val="accent5"/>
                </a:solidFill>
              </a:rPr>
              <a:t>infrastructure de communication </a:t>
            </a:r>
            <a:endParaRPr/>
          </a:p>
          <a:p>
            <a:pPr marL="918780" marR="0" lvl="1" indent="-375601" algn="l" defTabSz="416052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Font typeface="Arial"/>
              <a:buChar char="•"/>
              <a:defRPr sz="2350"/>
            </a:pPr>
            <a:r>
              <a:rPr lang="fr-FR" sz="19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multi-usage</a:t>
            </a:r>
            <a:endParaRPr/>
          </a:p>
          <a:p>
            <a:pPr marL="1230819" lvl="2" indent="-375601" defTabSz="416052">
              <a:lnSpc>
                <a:spcPct val="100000"/>
              </a:lnSpc>
              <a:spcBef>
                <a:spcPts val="1599"/>
              </a:spcBef>
              <a:defRPr sz="2350"/>
            </a:pPr>
            <a:r>
              <a:rPr/>
              <a:t>Web, P2P,  VoIP, réseaux sociaux, jeux en-ligne, e-commerce, impôt…</a:t>
            </a:r>
            <a:endParaRPr/>
          </a:p>
          <a:p>
            <a:pPr marL="1230819" lvl="2" indent="-375601" defTabSz="416052">
              <a:lnSpc>
                <a:spcPct val="100000"/>
              </a:lnSpc>
              <a:spcBef>
                <a:spcPts val="1599"/>
              </a:spcBef>
              <a:defRPr sz="2350"/>
            </a:pPr>
            <a:r>
              <a:rPr/>
              <a:t>Convergence des réseaux</a:t>
            </a:r>
            <a:endParaRPr/>
          </a:p>
          <a:p>
            <a:pPr marL="918780" marR="0" lvl="1" indent="-375601" algn="l" defTabSz="416052">
              <a:lnSpc>
                <a:spcPct val="100000"/>
              </a:lnSpc>
              <a:spcBef>
                <a:spcPts val="1599"/>
              </a:spcBef>
              <a:spcAft>
                <a:spcPts val="0"/>
              </a:spcAft>
              <a:buFont typeface="Arial"/>
              <a:buChar char="•"/>
              <a:defRPr sz="2350"/>
            </a:pPr>
            <a:r>
              <a:rPr lang="fr-FR" sz="2000" b="0" i="0" u="none" strike="noStrike" cap="none" spc="0">
                <a:solidFill>
                  <a:srgbClr val="C00000"/>
                </a:solidFill>
                <a:latin typeface="Arial"/>
                <a:ea typeface="Arial"/>
                <a:cs typeface="Arial"/>
              </a:rPr>
              <a:t>dimension planétaire</a:t>
            </a:r>
            <a:endParaRPr/>
          </a:p>
          <a:p>
            <a:pPr marL="1230819" lvl="2" indent="-375601" defTabSz="416052">
              <a:lnSpc>
                <a:spcPct val="100000"/>
              </a:lnSpc>
              <a:spcBef>
                <a:spcPts val="1599"/>
              </a:spcBef>
              <a:defRPr sz="2350"/>
            </a:pPr>
            <a:r>
              <a:rPr/>
              <a:t>3.6 milliards d’utilisateurs (2017)</a:t>
            </a:r>
            <a:endParaRPr/>
          </a:p>
          <a:p>
            <a:pPr marL="1230819" lvl="2" indent="-375601" defTabSz="416052">
              <a:lnSpc>
                <a:spcPct val="100000"/>
              </a:lnSpc>
              <a:spcBef>
                <a:spcPts val="1599"/>
              </a:spcBef>
              <a:defRPr sz="2350"/>
            </a:pPr>
            <a:r>
              <a:rPr/>
              <a:t>20 à 50 milliards de noeuds (2017)</a:t>
            </a:r>
            <a:endParaRPr/>
          </a:p>
        </p:txBody>
      </p:sp>
      <p:sp>
        <p:nvSpPr>
          <p:cNvPr id="197202524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A18258E-E84C-CA61-1B4A-D2F6952663A3}" type="slidenum">
              <a:rPr/>
              <a:t/>
            </a:fld>
            <a:endParaRPr/>
          </a:p>
        </p:txBody>
      </p:sp>
      <p:sp>
        <p:nvSpPr>
          <p:cNvPr id="84680004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DBF4ADD-D511-A307-8136-4FBF973EC50D}" type="datetime1">
              <a:rPr lang="fr-FR"/>
              <a:t/>
            </a:fld>
            <a:endParaRPr/>
          </a:p>
        </p:txBody>
      </p:sp>
      <p:sp>
        <p:nvSpPr>
          <p:cNvPr id="88646226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0522339" name="Des fortes innovations en périphéri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Des fortes innovations en périphérie</a:t>
            </a:r>
            <a:endParaRPr/>
          </a:p>
        </p:txBody>
      </p:sp>
      <p:sp>
        <p:nvSpPr>
          <p:cNvPr id="2031163941" name="Terminaux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523873" indent="-333373" defTabSz="342900">
              <a:spcBef>
                <a:spcPts val="1299"/>
              </a:spcBef>
              <a:buClr>
                <a:srgbClr val="000000"/>
              </a:buClr>
              <a:defRPr sz="1950">
                <a:solidFill>
                  <a:schemeClr val="accent5"/>
                </a:solidFill>
              </a:defRPr>
            </a:pPr>
            <a:r>
              <a:rPr/>
              <a:t>Terminaux</a:t>
            </a:r>
            <a:endParaRPr/>
          </a:p>
          <a:p>
            <a:pPr marL="781049" lvl="1" indent="-333374" defTabSz="342900">
              <a:spcBef>
                <a:spcPts val="1299"/>
              </a:spcBef>
              <a:buClr>
                <a:srgbClr val="000000"/>
              </a:buClr>
              <a:defRPr sz="1950"/>
            </a:pPr>
            <a:r>
              <a:rPr/>
              <a:t>Plus hét</a:t>
            </a:r>
            <a:r>
              <a:rPr/>
              <a:t>é</a:t>
            </a:r>
            <a:r>
              <a:rPr/>
              <a:t>rogènes (sans fil, mobiles, capteurs…), nombreux, puissants, petits …</a:t>
            </a:r>
            <a:endParaRPr/>
          </a:p>
          <a:p>
            <a:pPr marL="523873" indent="-333373" defTabSz="342900">
              <a:spcBef>
                <a:spcPts val="1299"/>
              </a:spcBef>
              <a:buClr>
                <a:srgbClr val="000000"/>
              </a:buClr>
              <a:defRPr sz="1950">
                <a:solidFill>
                  <a:schemeClr val="accent5"/>
                </a:solidFill>
              </a:defRPr>
            </a:pPr>
            <a:r>
              <a:rPr/>
              <a:t>Applications</a:t>
            </a:r>
            <a:endParaRPr/>
          </a:p>
          <a:p>
            <a:pPr marL="923923" lvl="1" indent="-333373" defTabSz="342900">
              <a:spcBef>
                <a:spcPts val="1299"/>
              </a:spcBef>
              <a:buClr>
                <a:srgbClr val="000000"/>
              </a:buClr>
              <a:defRPr sz="1950">
                <a:solidFill>
                  <a:schemeClr val="accent5"/>
                </a:solidFill>
              </a:defRPr>
            </a:pPr>
            <a:r>
              <a:rPr>
                <a:solidFill>
                  <a:srgbClr val="C00000"/>
                </a:solidFill>
              </a:rPr>
              <a:t>Web (forums, presse, wiki, e-commerce, e-learning…), courrier électronique, VoIP, streaming, VoD, réseaux sociaux, e-gaming,…</a:t>
            </a:r>
            <a:endParaRPr/>
          </a:p>
          <a:p>
            <a:pPr marL="523873" indent="-333373" defTabSz="342900">
              <a:spcBef>
                <a:spcPts val="1299"/>
              </a:spcBef>
              <a:buClr>
                <a:srgbClr val="000000"/>
              </a:buClr>
              <a:defRPr sz="1950">
                <a:solidFill>
                  <a:schemeClr val="accent5"/>
                </a:solidFill>
              </a:defRPr>
            </a:pPr>
            <a:r>
              <a:rPr/>
              <a:t>Cloud computing</a:t>
            </a:r>
            <a:endParaRPr/>
          </a:p>
          <a:p>
            <a:pPr marL="781049" lvl="1" indent="-333374" defTabSz="342900">
              <a:spcBef>
                <a:spcPts val="1299"/>
              </a:spcBef>
              <a:buClr>
                <a:srgbClr val="000000"/>
              </a:buClr>
              <a:defRPr sz="1950"/>
            </a:pPr>
            <a:r>
              <a:rPr/>
              <a:t>Synchronisation des données depuis partout</a:t>
            </a:r>
            <a:endParaRPr/>
          </a:p>
          <a:p>
            <a:pPr marL="781049" lvl="1" indent="-333374" defTabSz="342900">
              <a:spcBef>
                <a:spcPts val="1299"/>
              </a:spcBef>
              <a:buClr>
                <a:srgbClr val="000000"/>
              </a:buClr>
              <a:defRPr sz="1950"/>
            </a:pPr>
            <a:r>
              <a:rPr/>
              <a:t>Accès à des ressources depuis partout (datacenters)</a:t>
            </a:r>
            <a:endParaRPr/>
          </a:p>
          <a:p>
            <a:pPr marL="523873" indent="-333373" defTabSz="342900">
              <a:spcBef>
                <a:spcPts val="1299"/>
              </a:spcBef>
              <a:buClr>
                <a:srgbClr val="000000"/>
              </a:buClr>
              <a:defRPr sz="1950"/>
            </a:pPr>
            <a:r>
              <a:rPr>
                <a:solidFill>
                  <a:schemeClr val="accent5"/>
                </a:solidFill>
              </a:rPr>
              <a:t>Internet of Things</a:t>
            </a:r>
            <a:r>
              <a:rPr/>
              <a:t> (IoT)</a:t>
            </a:r>
            <a:endParaRPr/>
          </a:p>
          <a:p>
            <a:pPr marL="757236" lvl="1" indent="-309561" defTabSz="342900">
              <a:spcBef>
                <a:spcPts val="1299"/>
              </a:spcBef>
              <a:buClr>
                <a:srgbClr val="000000"/>
              </a:buClr>
              <a:defRPr sz="1950"/>
            </a:pPr>
            <a:r>
              <a:rPr/>
              <a:t>Capteurs, objets connectés (télé, enceinte, thermostat…)</a:t>
            </a:r>
            <a:endParaRPr/>
          </a:p>
          <a:p>
            <a:pPr marL="757236" lvl="1" indent="-309561" defTabSz="342900">
              <a:spcBef>
                <a:spcPts val="1299"/>
              </a:spcBef>
              <a:buClr>
                <a:srgbClr val="000000"/>
              </a:buClr>
              <a:defRPr sz="1950"/>
            </a:pPr>
            <a:r>
              <a:rPr/>
              <a:t>Industrie du futur, domotique, télémétrie, surveillance…</a:t>
            </a:r>
            <a:endParaRPr/>
          </a:p>
          <a:p>
            <a:pPr marL="757236" lvl="1" indent="-309561" defTabSz="342900">
              <a:spcBef>
                <a:spcPts val="1299"/>
              </a:spcBef>
              <a:buClr>
                <a:srgbClr val="000000"/>
              </a:buClr>
              <a:defRPr sz="1950"/>
            </a:pPr>
            <a:r>
              <a:rPr/>
              <a:t>Technologies réseaux d’accès : LoRa, Sigfox, BLE, Li-Fi…</a:t>
            </a:r>
            <a:endParaRPr/>
          </a:p>
          <a:p>
            <a:pPr marL="523873" indent="-333373" defTabSz="342900">
              <a:spcBef>
                <a:spcPts val="1299"/>
              </a:spcBef>
              <a:buClr>
                <a:srgbClr val="000000"/>
              </a:buClr>
              <a:buSzPct val="120000"/>
              <a:buChar char="➡"/>
              <a:defRPr sz="1950"/>
            </a:pPr>
            <a:r>
              <a:rPr/>
              <a:t>Ces innovations concernent la </a:t>
            </a:r>
            <a:r>
              <a:rPr b="1">
                <a:solidFill>
                  <a:schemeClr val="accent5"/>
                </a:solidFill>
              </a:rPr>
              <a:t>périphérie de réseaux</a:t>
            </a:r>
            <a:endParaRPr/>
          </a:p>
        </p:txBody>
      </p:sp>
      <p:sp>
        <p:nvSpPr>
          <p:cNvPr id="118865194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64F0FE6-9649-1A5E-D1B9-29F41908125B}" type="slidenum">
              <a:rPr/>
              <a:t/>
            </a:fld>
            <a:endParaRPr/>
          </a:p>
        </p:txBody>
      </p:sp>
      <p:sp>
        <p:nvSpPr>
          <p:cNvPr id="12646753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F6EA41D-21C7-25AB-A34A-EDDF11BF9A49}" type="datetime1">
              <a:rPr lang="fr-FR"/>
              <a:t/>
            </a:fld>
            <a:endParaRPr/>
          </a:p>
        </p:txBody>
      </p:sp>
      <p:sp>
        <p:nvSpPr>
          <p:cNvPr id="53414158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3424339" name="… mais peu dans les coeurs de réseau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… mais peu dans les coeurs de réseau</a:t>
            </a:r>
            <a:endParaRPr/>
          </a:p>
        </p:txBody>
      </p:sp>
      <p:sp>
        <p:nvSpPr>
          <p:cNvPr id="1978290896" name="Des progrès quantitatifs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628648" indent="-400048" defTabSz="411478">
              <a:spcBef>
                <a:spcPts val="1599"/>
              </a:spcBef>
              <a:buClr>
                <a:srgbClr val="000000"/>
              </a:buClr>
              <a:defRPr sz="2350"/>
            </a:pPr>
            <a:r>
              <a:rPr/>
              <a:t>Des </a:t>
            </a:r>
            <a:r>
              <a:rPr>
                <a:solidFill>
                  <a:schemeClr val="accent5"/>
                </a:solidFill>
              </a:rPr>
              <a:t>progrès</a:t>
            </a:r>
            <a:r>
              <a:rPr>
                <a:solidFill>
                  <a:schemeClr val="accent5"/>
                </a:solidFill>
              </a:rPr>
              <a:t> </a:t>
            </a:r>
            <a:r>
              <a:rPr>
                <a:solidFill>
                  <a:schemeClr val="accent5"/>
                </a:solidFill>
              </a:rPr>
              <a:t>quantitatifs</a:t>
            </a:r>
            <a:endParaRPr>
              <a:solidFill>
                <a:schemeClr val="accent5"/>
              </a:solidFill>
            </a:endParaRPr>
          </a:p>
          <a:p>
            <a:pPr marL="908683" lvl="1" indent="-371475" defTabSz="411478">
              <a:spcBef>
                <a:spcPts val="1599"/>
              </a:spcBef>
              <a:buClr>
                <a:srgbClr val="000000"/>
              </a:buClr>
              <a:defRPr sz="2350"/>
            </a:pPr>
            <a:r>
              <a:rPr/>
              <a:t>Ex : </a:t>
            </a:r>
            <a:r>
              <a:rPr/>
              <a:t>Capacité</a:t>
            </a:r>
            <a:r>
              <a:rPr/>
              <a:t> des </a:t>
            </a:r>
            <a:r>
              <a:rPr/>
              <a:t>réseaux</a:t>
            </a:r>
            <a:r>
              <a:rPr/>
              <a:t> </a:t>
            </a:r>
            <a:r>
              <a:rPr/>
              <a:t>optiques</a:t>
            </a:r>
            <a:r>
              <a:rPr/>
              <a:t> Mbps → </a:t>
            </a:r>
            <a:r>
              <a:rPr/>
              <a:t>Tbps</a:t>
            </a:r>
            <a:endParaRPr/>
          </a:p>
          <a:p>
            <a:pPr marL="628648" indent="-400048" defTabSz="411478">
              <a:spcBef>
                <a:spcPts val="1599"/>
              </a:spcBef>
              <a:buClr>
                <a:srgbClr val="000000"/>
              </a:buClr>
              <a:defRPr sz="2350"/>
            </a:pPr>
            <a:r>
              <a:rPr/>
              <a:t>Une </a:t>
            </a:r>
            <a:r>
              <a:rPr>
                <a:solidFill>
                  <a:schemeClr val="accent5"/>
                </a:solidFill>
              </a:rPr>
              <a:t>complexification</a:t>
            </a:r>
            <a:r>
              <a:rPr/>
              <a:t> des </a:t>
            </a:r>
            <a:r>
              <a:rPr>
                <a:solidFill>
                  <a:schemeClr val="accent5"/>
                </a:solidFill>
              </a:rPr>
              <a:t>architectures</a:t>
            </a:r>
            <a:endParaRPr/>
          </a:p>
          <a:p>
            <a:pPr marL="908683" lvl="1" indent="-371475" defTabSz="411478">
              <a:spcBef>
                <a:spcPts val="1599"/>
              </a:spcBef>
              <a:buClr>
                <a:srgbClr val="000000"/>
              </a:buClr>
              <a:defRPr sz="2350"/>
            </a:pPr>
            <a:r>
              <a:rPr/>
              <a:t>Mécanisme de sécurité, </a:t>
            </a:r>
            <a:r>
              <a:rPr/>
              <a:t>Proxy,…</a:t>
            </a:r>
            <a:endParaRPr/>
          </a:p>
          <a:p>
            <a:pPr marL="628648" indent="-400048" defTabSz="411478">
              <a:spcBef>
                <a:spcPts val="1599"/>
              </a:spcBef>
              <a:buClr>
                <a:srgbClr val="000000"/>
              </a:buClr>
              <a:defRPr sz="2350"/>
            </a:pPr>
            <a:r>
              <a:rPr/>
              <a:t>Mais </a:t>
            </a:r>
            <a:r>
              <a:rPr/>
              <a:t>assez</a:t>
            </a:r>
            <a:r>
              <a:rPr/>
              <a:t> </a:t>
            </a:r>
            <a:r>
              <a:rPr>
                <a:solidFill>
                  <a:schemeClr val="accent5"/>
                </a:solidFill>
              </a:rPr>
              <a:t>peu </a:t>
            </a:r>
            <a:r>
              <a:rPr>
                <a:solidFill>
                  <a:schemeClr val="accent5"/>
                </a:solidFill>
              </a:rPr>
              <a:t>d’innovations</a:t>
            </a:r>
            <a:r>
              <a:rPr/>
              <a:t> de ruptures</a:t>
            </a:r>
            <a:endParaRPr/>
          </a:p>
          <a:p>
            <a:pPr marL="908683" lvl="1" indent="-371475" defTabSz="411478">
              <a:spcBef>
                <a:spcPts val="1599"/>
              </a:spcBef>
              <a:buClr>
                <a:srgbClr val="000000"/>
              </a:buClr>
              <a:defRPr sz="2350"/>
            </a:pPr>
            <a:r>
              <a:rPr/>
              <a:t>Encore </a:t>
            </a:r>
            <a:r>
              <a:rPr>
                <a:solidFill>
                  <a:srgbClr val="C00000"/>
                </a:solidFill>
              </a:rPr>
              <a:t>en</a:t>
            </a:r>
            <a:r>
              <a:rPr>
                <a:solidFill>
                  <a:srgbClr val="C00000"/>
                </a:solidFill>
              </a:rPr>
              <a:t> </a:t>
            </a:r>
            <a:r>
              <a:rPr>
                <a:solidFill>
                  <a:srgbClr val="C00000"/>
                </a:solidFill>
              </a:rPr>
              <a:t>commutation de </a:t>
            </a:r>
            <a:r>
              <a:rPr>
                <a:solidFill>
                  <a:srgbClr val="C00000"/>
                </a:solidFill>
              </a:rPr>
              <a:t>paquets</a:t>
            </a:r>
            <a:r>
              <a:rPr>
                <a:solidFill>
                  <a:srgbClr val="C00000"/>
                </a:solidFill>
              </a:rPr>
              <a:t> </a:t>
            </a:r>
            <a:endParaRPr/>
          </a:p>
          <a:p>
            <a:pPr marL="1217293" lvl="2" indent="-371475" defTabSz="411478">
              <a:spcBef>
                <a:spcPts val="1599"/>
              </a:spcBef>
              <a:buClr>
                <a:srgbClr val="000000"/>
              </a:buClr>
              <a:defRPr sz="2350"/>
            </a:pPr>
            <a:r>
              <a:rPr/>
              <a:t>Même</a:t>
            </a:r>
            <a:r>
              <a:rPr/>
              <a:t> </a:t>
            </a:r>
            <a:r>
              <a:rPr/>
              <a:t>si</a:t>
            </a:r>
            <a:r>
              <a:rPr/>
              <a:t> MPLS </a:t>
            </a:r>
            <a:r>
              <a:rPr lang="fr-FR"/>
              <a:t>(~2000</a:t>
            </a:r>
            <a:r>
              <a:rPr/>
              <a:t>)</a:t>
            </a:r>
            <a:endParaRPr/>
          </a:p>
          <a:p>
            <a:pPr marL="908683" lvl="1" indent="-371475" defTabSz="411478">
              <a:spcBef>
                <a:spcPts val="1599"/>
              </a:spcBef>
              <a:buClr>
                <a:srgbClr val="000000"/>
              </a:buClr>
              <a:defRPr sz="2350"/>
            </a:pPr>
            <a:r>
              <a:rPr/>
              <a:t>Encore de</a:t>
            </a:r>
            <a:r>
              <a:rPr>
                <a:solidFill>
                  <a:srgbClr val="C00000"/>
                </a:solidFill>
              </a:rPr>
              <a:t>s </a:t>
            </a:r>
            <a:r>
              <a:rPr>
                <a:solidFill>
                  <a:srgbClr val="C00000"/>
                </a:solidFill>
              </a:rPr>
              <a:t>algorithmes</a:t>
            </a:r>
            <a:r>
              <a:rPr>
                <a:solidFill>
                  <a:srgbClr val="C00000"/>
                </a:solidFill>
              </a:rPr>
              <a:t> de </a:t>
            </a:r>
            <a:r>
              <a:rPr>
                <a:solidFill>
                  <a:srgbClr val="C00000"/>
                </a:solidFill>
              </a:rPr>
              <a:t>routage</a:t>
            </a:r>
            <a:r>
              <a:rPr>
                <a:solidFill>
                  <a:srgbClr val="C00000"/>
                </a:solidFill>
              </a:rPr>
              <a:t> </a:t>
            </a:r>
            <a:r>
              <a:rPr>
                <a:solidFill>
                  <a:srgbClr val="C00000"/>
                </a:solidFill>
              </a:rPr>
              <a:t>dynamique</a:t>
            </a:r>
            <a:r>
              <a:rPr>
                <a:solidFill>
                  <a:srgbClr val="C00000"/>
                </a:solidFill>
              </a:rPr>
              <a:t> (O</a:t>
            </a:r>
            <a:r>
              <a:rPr/>
              <a:t>SPF, BGP)</a:t>
            </a:r>
            <a:endParaRPr/>
          </a:p>
          <a:p>
            <a:pPr marL="1308733" lvl="2" indent="-371475" defTabSz="411478">
              <a:spcBef>
                <a:spcPts val="1599"/>
              </a:spcBef>
              <a:buClr>
                <a:srgbClr val="000000"/>
              </a:buClr>
              <a:defRPr sz="2350"/>
            </a:pPr>
            <a:r>
              <a:rPr/>
              <a:t>Pas de </a:t>
            </a:r>
            <a:r>
              <a:rPr/>
              <a:t>routage</a:t>
            </a:r>
            <a:r>
              <a:rPr/>
              <a:t> QoS</a:t>
            </a:r>
            <a:endParaRPr/>
          </a:p>
          <a:p>
            <a:pPr marL="908683" lvl="1" indent="-371475" defTabSz="411478">
              <a:spcBef>
                <a:spcPts val="1599"/>
              </a:spcBef>
              <a:buClr>
                <a:srgbClr val="000000"/>
              </a:buClr>
              <a:defRPr sz="2350"/>
            </a:pPr>
            <a:r>
              <a:rPr/>
              <a:t>Toujours</a:t>
            </a:r>
            <a:r>
              <a:rPr/>
              <a:t> pas (</a:t>
            </a:r>
            <a:r>
              <a:rPr/>
              <a:t>ou</a:t>
            </a:r>
            <a:r>
              <a:rPr/>
              <a:t> très peu)</a:t>
            </a:r>
            <a:r>
              <a:rPr>
                <a:solidFill>
                  <a:srgbClr val="C00000"/>
                </a:solidFill>
              </a:rPr>
              <a:t> </a:t>
            </a:r>
            <a:r>
              <a:rPr>
                <a:solidFill>
                  <a:srgbClr val="C00000"/>
                </a:solidFill>
              </a:rPr>
              <a:t>d’</a:t>
            </a:r>
            <a:r>
              <a:rPr>
                <a:solidFill>
                  <a:srgbClr val="C00000"/>
                </a:solidFill>
              </a:rPr>
              <a:t>ingénierie</a:t>
            </a:r>
            <a:r>
              <a:rPr>
                <a:solidFill>
                  <a:srgbClr val="C00000"/>
                </a:solidFill>
              </a:rPr>
              <a:t> de traffic</a:t>
            </a:r>
            <a:endParaRPr/>
          </a:p>
          <a:p>
            <a:pPr marL="1217293" lvl="2" indent="-371475" defTabSz="411478">
              <a:spcBef>
                <a:spcPts val="1599"/>
              </a:spcBef>
              <a:buClr>
                <a:srgbClr val="000000"/>
              </a:buClr>
              <a:defRPr sz="2350"/>
            </a:pPr>
            <a:r>
              <a:rPr/>
              <a:t>Pas </a:t>
            </a:r>
            <a:r>
              <a:rPr/>
              <a:t>d’optimisation</a:t>
            </a:r>
            <a:r>
              <a:rPr/>
              <a:t> d’un </a:t>
            </a:r>
            <a:r>
              <a:rPr/>
              <a:t>réseau</a:t>
            </a:r>
            <a:r>
              <a:rPr/>
              <a:t> </a:t>
            </a:r>
            <a:r>
              <a:rPr/>
              <a:t>en</a:t>
            </a:r>
            <a:r>
              <a:rPr/>
              <a:t> </a:t>
            </a:r>
            <a:r>
              <a:rPr/>
              <a:t>analysant</a:t>
            </a:r>
            <a:r>
              <a:rPr/>
              <a:t> son </a:t>
            </a:r>
            <a:r>
              <a:rPr/>
              <a:t>trafic</a:t>
            </a:r>
            <a:endParaRPr/>
          </a:p>
        </p:txBody>
      </p:sp>
      <p:sp>
        <p:nvSpPr>
          <p:cNvPr id="116835147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4C6354F-580F-3C9C-729B-DF9D36AC0801}" type="slidenum">
              <a:rPr/>
              <a:t/>
            </a:fld>
            <a:endParaRPr/>
          </a:p>
        </p:txBody>
      </p:sp>
      <p:sp>
        <p:nvSpPr>
          <p:cNvPr id="45869071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7772261-5D47-5F36-D236-C6507413DC16}" type="datetime1">
              <a:rPr lang="fr-FR"/>
              <a:t/>
            </a:fld>
            <a:endParaRPr/>
          </a:p>
        </p:txBody>
      </p:sp>
      <p:sp>
        <p:nvSpPr>
          <p:cNvPr id="58210062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827092" name="Gestion complexe des réseaux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Gestion complexe des réseaux</a:t>
            </a:r>
            <a:endParaRPr/>
          </a:p>
        </p:txBody>
      </p:sp>
      <p:sp>
        <p:nvSpPr>
          <p:cNvPr id="1098069569" name="Dimension gigantesque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505141" indent="-317181" defTabSz="338326">
              <a:spcBef>
                <a:spcPts val="1299"/>
              </a:spcBef>
              <a:buClr>
                <a:srgbClr val="000000"/>
              </a:buClr>
              <a:defRPr sz="2000"/>
            </a:pPr>
            <a:r>
              <a:rPr>
                <a:solidFill>
                  <a:schemeClr val="accent5"/>
                </a:solidFill>
              </a:rPr>
              <a:t>Dimension</a:t>
            </a:r>
            <a:r>
              <a:rPr/>
              <a:t> gigantesque</a:t>
            </a:r>
            <a:endParaRPr/>
          </a:p>
          <a:p>
            <a:pPr marL="770635" lvl="1" indent="-328928" defTabSz="338326">
              <a:spcBef>
                <a:spcPts val="1299"/>
              </a:spcBef>
              <a:buClr>
                <a:srgbClr val="000000"/>
              </a:buClr>
              <a:defRPr sz="2000"/>
            </a:pPr>
            <a:r>
              <a:rPr/>
              <a:t>En taille et nombre de noeuds</a:t>
            </a:r>
            <a:endParaRPr/>
          </a:p>
          <a:p>
            <a:pPr marL="505141" indent="-317181" defTabSz="338326">
              <a:spcBef>
                <a:spcPts val="1299"/>
              </a:spcBef>
              <a:defRPr sz="2000"/>
            </a:pPr>
            <a:r>
              <a:rPr>
                <a:solidFill>
                  <a:schemeClr val="accent5"/>
                </a:solidFill>
              </a:rPr>
              <a:t>Hétérogénéité</a:t>
            </a:r>
            <a:r>
              <a:rPr/>
              <a:t> des équipements</a:t>
            </a:r>
            <a:endParaRPr/>
          </a:p>
          <a:p>
            <a:pPr marL="758887" lvl="1" indent="-317181" defTabSz="338326">
              <a:spcBef>
                <a:spcPts val="1299"/>
              </a:spcBef>
              <a:defRPr sz="2000"/>
            </a:pPr>
            <a:r>
              <a:rPr/>
              <a:t>Inter-opérabilité entre équipementiers différents</a:t>
            </a:r>
            <a:endParaRPr/>
          </a:p>
          <a:p>
            <a:pPr marL="758887" lvl="1" indent="-317181" defTabSz="338326">
              <a:spcBef>
                <a:spcPts val="1299"/>
              </a:spcBef>
              <a:defRPr sz="2000"/>
            </a:pPr>
            <a:r>
              <a:rPr/>
              <a:t>Bugs/incompatibilités dans les logiciels</a:t>
            </a:r>
            <a:endParaRPr/>
          </a:p>
          <a:p>
            <a:pPr marL="1024381" lvl="2" indent="-328928" defTabSz="338326">
              <a:spcBef>
                <a:spcPts val="1299"/>
              </a:spcBef>
              <a:defRPr sz="2000"/>
            </a:pPr>
            <a:r>
              <a:rPr/>
              <a:t>Jusqu’à 20 millions de lignes de code pour certains routeurs</a:t>
            </a:r>
            <a:endParaRPr/>
          </a:p>
          <a:p>
            <a:pPr marL="758887" lvl="1" indent="-317181" defTabSz="338326">
              <a:spcBef>
                <a:spcPts val="1299"/>
              </a:spcBef>
              <a:defRPr sz="2000"/>
            </a:pPr>
            <a:r>
              <a:rPr/>
              <a:t>Interfaces de contrôles propriétaires et donc différentes</a:t>
            </a:r>
            <a:endParaRPr/>
          </a:p>
          <a:p>
            <a:pPr marL="505141" indent="-317181" defTabSz="338326">
              <a:spcBef>
                <a:spcPts val="1299"/>
              </a:spcBef>
              <a:defRPr sz="2000"/>
            </a:pPr>
            <a:r>
              <a:rPr>
                <a:solidFill>
                  <a:schemeClr val="accent5"/>
                </a:solidFill>
              </a:rPr>
              <a:t>Algorithmes/protocoles distribués</a:t>
            </a:r>
            <a:r>
              <a:rPr/>
              <a:t> </a:t>
            </a:r>
            <a:endParaRPr/>
          </a:p>
          <a:p>
            <a:pPr marL="758887" lvl="1" indent="-317181" defTabSz="338326">
              <a:spcBef>
                <a:spcPts val="1299"/>
              </a:spcBef>
              <a:defRPr sz="2000"/>
            </a:pPr>
            <a:r>
              <a:rPr/>
              <a:t>Difficile d’anticiper ou de forcer des décisions (Ingénierie de trafic)</a:t>
            </a:r>
            <a:endParaRPr/>
          </a:p>
          <a:p>
            <a:pPr marL="505141" indent="-317181" defTabSz="338326">
              <a:spcBef>
                <a:spcPts val="1299"/>
              </a:spcBef>
              <a:defRPr sz="2000"/>
            </a:pPr>
            <a:r>
              <a:rPr>
                <a:solidFill>
                  <a:schemeClr val="accent5"/>
                </a:solidFill>
              </a:rPr>
              <a:t>Middleboxes</a:t>
            </a:r>
            <a:r>
              <a:rPr/>
              <a:t> 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00"/>
            </a:pPr>
            <a:r>
              <a:rPr/>
              <a:t>Boîtes noires (fermés et propriétaires)</a:t>
            </a:r>
            <a:endParaRPr/>
          </a:p>
          <a:p>
            <a:pPr marL="505141" indent="-317181" defTabSz="338326">
              <a:spcBef>
                <a:spcPts val="1299"/>
              </a:spcBef>
              <a:defRPr sz="2000"/>
            </a:pPr>
            <a:r>
              <a:rPr>
                <a:solidFill>
                  <a:schemeClr val="accent5"/>
                </a:solidFill>
              </a:rPr>
              <a:t>Erreurs</a:t>
            </a:r>
            <a:r>
              <a:rPr/>
              <a:t> commises par les opérateurs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00"/>
            </a:pPr>
            <a:r>
              <a:rPr/>
              <a:t>Configuration des équipements</a:t>
            </a:r>
            <a:endParaRPr/>
          </a:p>
        </p:txBody>
      </p:sp>
      <p:sp>
        <p:nvSpPr>
          <p:cNvPr id="88674464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77BBADC-265F-1253-B773-97AC732A0339}" type="slidenum">
              <a:rPr/>
              <a:t/>
            </a:fld>
            <a:endParaRPr/>
          </a:p>
        </p:txBody>
      </p:sp>
      <p:sp>
        <p:nvSpPr>
          <p:cNvPr id="1892395108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56BC3F3-B86A-9A6B-860E-1EFB965662A7}" type="datetime1">
              <a:rPr lang="fr-FR"/>
              <a:t/>
            </a:fld>
            <a:endParaRPr/>
          </a:p>
        </p:txBody>
      </p:sp>
      <p:sp>
        <p:nvSpPr>
          <p:cNvPr id="65704720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932820" name="Coût élevé de déploiement et d’exploitatio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Coût élevé de déploiement et d’exploitation</a:t>
            </a:r>
            <a:endParaRPr/>
          </a:p>
        </p:txBody>
      </p:sp>
      <p:sp>
        <p:nvSpPr>
          <p:cNvPr id="1942098153" name="Un marché trop étroit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defRPr sz="2700">
                <a:solidFill>
                  <a:schemeClr val="accent5"/>
                </a:solidFill>
              </a:defRPr>
            </a:pPr>
            <a:r>
              <a:rPr/>
              <a:t>Un marché trop étroit</a:t>
            </a:r>
            <a:endParaRPr/>
          </a:p>
          <a:p>
            <a:pPr lvl="1">
              <a:defRPr sz="2700"/>
            </a:pPr>
            <a:r>
              <a:rPr/>
              <a:t>Nombre limité d’équipementiers</a:t>
            </a:r>
            <a:endParaRPr/>
          </a:p>
          <a:p>
            <a:pPr lvl="1">
              <a:defRPr sz="2700"/>
            </a:pPr>
            <a:r>
              <a:rPr/>
              <a:t>Environ une dizaine d’acteurs</a:t>
            </a:r>
            <a:endParaRPr/>
          </a:p>
          <a:p>
            <a:pPr marL="682623" indent="-428625">
              <a:buClr>
                <a:srgbClr val="000000"/>
              </a:buClr>
              <a:defRPr sz="2700">
                <a:solidFill>
                  <a:schemeClr val="accent5"/>
                </a:solidFill>
              </a:defRPr>
            </a:pPr>
            <a:r>
              <a:rPr/>
              <a:t>Équipements peu modulaires et évolutifs</a:t>
            </a:r>
            <a:endParaRPr/>
          </a:p>
          <a:p>
            <a:pPr marL="1025524" lvl="1" indent="-428625">
              <a:buClr>
                <a:srgbClr val="000000"/>
              </a:buClr>
              <a:defRPr sz="2700"/>
            </a:pPr>
            <a:r>
              <a:rPr/>
              <a:t>Fermés</a:t>
            </a:r>
            <a:endParaRPr/>
          </a:p>
          <a:p>
            <a:pPr marL="1025524" lvl="1" indent="-428625">
              <a:buClr>
                <a:srgbClr val="000000"/>
              </a:buClr>
              <a:defRPr sz="2700"/>
            </a:pPr>
            <a:r>
              <a:rPr/>
              <a:t>Logiciels livrés avec le hardware</a:t>
            </a:r>
            <a:endParaRPr/>
          </a:p>
          <a:p>
            <a:pPr marL="1025524" lvl="1" indent="-428625">
              <a:buClr>
                <a:srgbClr val="000000"/>
              </a:buClr>
              <a:defRPr sz="2700"/>
            </a:pPr>
            <a:r>
              <a:rPr/>
              <a:t>Code source fermé et propriétaire</a:t>
            </a:r>
            <a:endParaRPr/>
          </a:p>
        </p:txBody>
      </p:sp>
      <p:sp>
        <p:nvSpPr>
          <p:cNvPr id="156285403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BDB820E-40C8-4D25-4E6D-51F38A67F58A}" type="slidenum">
              <a:rPr/>
              <a:t/>
            </a:fld>
            <a:endParaRPr/>
          </a:p>
        </p:txBody>
      </p:sp>
      <p:sp>
        <p:nvSpPr>
          <p:cNvPr id="163785331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52B6713-DC96-766F-290A-DAA7BFEF75E0}" type="datetime1">
              <a:rPr lang="fr-FR"/>
              <a:t/>
            </a:fld>
            <a:endParaRPr/>
          </a:p>
        </p:txBody>
      </p:sp>
      <p:sp>
        <p:nvSpPr>
          <p:cNvPr id="159501827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100462" name="3 défis pour les coeurs de réseau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3 défis pour les coeurs de réseau</a:t>
            </a:r>
            <a:endParaRPr/>
          </a:p>
        </p:txBody>
      </p:sp>
      <p:sp>
        <p:nvSpPr>
          <p:cNvPr id="1097691118" name="Au début des années 2000, des chercheurs jugent urgent de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defRPr sz="2700"/>
            </a:pPr>
            <a:r>
              <a:rPr/>
              <a:t>Au début des </a:t>
            </a:r>
            <a:r>
              <a:rPr/>
              <a:t>années</a:t>
            </a:r>
            <a:r>
              <a:rPr/>
              <a:t> 2000, des </a:t>
            </a:r>
            <a:r>
              <a:rPr/>
              <a:t>chercheurs</a:t>
            </a:r>
            <a:r>
              <a:rPr/>
              <a:t> </a:t>
            </a:r>
            <a:r>
              <a:rPr/>
              <a:t>jugent</a:t>
            </a:r>
            <a:r>
              <a:rPr/>
              <a:t> urgent de</a:t>
            </a:r>
            <a:endParaRPr/>
          </a:p>
          <a:p>
            <a:pPr marL="1025524" lvl="1" indent="-428625">
              <a:buClr>
                <a:srgbClr val="000000"/>
              </a:buClr>
              <a:defRPr sz="2700"/>
            </a:pPr>
            <a:r>
              <a:rPr/>
              <a:t>Lever les </a:t>
            </a:r>
            <a:r>
              <a:rPr/>
              <a:t>freins</a:t>
            </a:r>
            <a:r>
              <a:rPr/>
              <a:t> à </a:t>
            </a:r>
            <a:r>
              <a:rPr/>
              <a:t>l’innovation</a:t>
            </a:r>
            <a:endParaRPr/>
          </a:p>
          <a:p>
            <a:pPr marL="1025524" lvl="1" indent="-428625">
              <a:buClr>
                <a:srgbClr val="000000"/>
              </a:buClr>
              <a:defRPr sz="2700"/>
            </a:pPr>
            <a:r>
              <a:rPr/>
              <a:t>Simplifier la gestion des </a:t>
            </a:r>
            <a:r>
              <a:rPr/>
              <a:t>réseaux</a:t>
            </a:r>
            <a:endParaRPr/>
          </a:p>
          <a:p>
            <a:pPr marL="1025524" lvl="1" indent="-428625">
              <a:buClr>
                <a:srgbClr val="000000"/>
              </a:buClr>
              <a:defRPr sz="2700"/>
            </a:pPr>
            <a:r>
              <a:rPr/>
              <a:t>Baisser</a:t>
            </a:r>
            <a:r>
              <a:rPr/>
              <a:t> </a:t>
            </a:r>
            <a:r>
              <a:rPr/>
              <a:t>leurs</a:t>
            </a:r>
            <a:r>
              <a:rPr/>
              <a:t> </a:t>
            </a:r>
            <a:r>
              <a:rPr/>
              <a:t>coûts</a:t>
            </a:r>
            <a:endParaRPr/>
          </a:p>
          <a:p>
            <a:pPr>
              <a:buClr>
                <a:srgbClr val="000000"/>
              </a:buClr>
              <a:defRPr sz="2700"/>
            </a:pPr>
            <a:r>
              <a:rPr/>
              <a:t>Et </a:t>
            </a:r>
            <a:r>
              <a:rPr/>
              <a:t>proposent</a:t>
            </a:r>
            <a:r>
              <a:rPr/>
              <a:t> </a:t>
            </a:r>
            <a:r>
              <a:rPr/>
              <a:t>comme</a:t>
            </a:r>
            <a:r>
              <a:rPr/>
              <a:t> </a:t>
            </a:r>
            <a:r>
              <a:rPr/>
              <a:t>réponse</a:t>
            </a:r>
            <a:r>
              <a:rPr/>
              <a:t> à </a:t>
            </a:r>
            <a:r>
              <a:rPr/>
              <a:t>ces</a:t>
            </a:r>
            <a:r>
              <a:rPr/>
              <a:t> 3 </a:t>
            </a:r>
            <a:r>
              <a:rPr/>
              <a:t>défis</a:t>
            </a:r>
            <a:endParaRPr/>
          </a:p>
          <a:p>
            <a:pPr marL="1025524" lvl="1" indent="-428625">
              <a:buClr>
                <a:srgbClr val="000000"/>
              </a:buClr>
              <a:defRPr sz="2700"/>
            </a:pPr>
            <a:r>
              <a:rPr/>
              <a:t>L</a:t>
            </a:r>
            <a:r>
              <a:rPr>
                <a:solidFill>
                  <a:srgbClr val="C00000"/>
                </a:solidFill>
              </a:rPr>
              <a:t>e </a:t>
            </a:r>
            <a:r>
              <a:rPr>
                <a:solidFill>
                  <a:srgbClr val="C00000"/>
                </a:solidFill>
              </a:rPr>
              <a:t>SDN,</a:t>
            </a:r>
            <a:r>
              <a:rPr>
                <a:solidFill>
                  <a:srgbClr val="C00000"/>
                </a:solidFill>
              </a:rPr>
              <a:t> le </a:t>
            </a:r>
            <a:r>
              <a:rPr>
                <a:solidFill>
                  <a:srgbClr val="C00000"/>
                </a:solidFill>
              </a:rPr>
              <a:t>NFV </a:t>
            </a:r>
            <a:r>
              <a:rPr>
                <a:solidFill>
                  <a:srgbClr val="C00000"/>
                </a:solidFill>
              </a:rPr>
              <a:t>et le </a:t>
            </a:r>
            <a:r>
              <a:rPr>
                <a:solidFill>
                  <a:srgbClr val="C00000"/>
                </a:solidFill>
              </a:rPr>
              <a:t>network slicing</a:t>
            </a:r>
            <a:endParaRPr/>
          </a:p>
        </p:txBody>
      </p:sp>
      <p:sp>
        <p:nvSpPr>
          <p:cNvPr id="150527917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B6B6BC9-04C8-E4A0-4A92-AFF8D27A269F}" type="slidenum">
              <a:rPr/>
              <a:t/>
            </a:fld>
            <a:endParaRPr/>
          </a:p>
        </p:txBody>
      </p:sp>
      <p:sp>
        <p:nvSpPr>
          <p:cNvPr id="230913538" name="Feamster, N., Rexford, J., &amp; Zegura, E. (2014). The road to SDN: an intellectual history of programmable networks. ACM SIGCOMM Computer Communication Review, 44(2), 87-98."/>
          <p:cNvSpPr txBox="1"/>
          <p:nvPr/>
        </p:nvSpPr>
        <p:spPr bwMode="auto">
          <a:xfrm>
            <a:off x="1456683" y="5665165"/>
            <a:ext cx="9278632" cy="763726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l">
              <a:lnSpc>
                <a:spcPct val="90000"/>
              </a:lnSpc>
              <a:spcBef>
                <a:spcPts val="1799"/>
              </a:spcBef>
              <a:defRPr sz="1900"/>
            </a:pPr>
            <a:r>
              <a:rPr/>
              <a:t>Feamster, N., Rexford, J., &amp; Zegura, E. (2014). The road to SDN: an intellectual history of programmable networks. </a:t>
            </a:r>
            <a:r>
              <a:rPr i="1"/>
              <a:t>ACM SIGCOMM Computer Communication Review</a:t>
            </a:r>
            <a:r>
              <a:rPr/>
              <a:t>, 44(2), 87-98.</a:t>
            </a:r>
            <a:endParaRPr/>
          </a:p>
        </p:txBody>
      </p:sp>
      <p:sp>
        <p:nvSpPr>
          <p:cNvPr id="164283951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1F73BB-CEF6-3680-CF3A-86CF74BB23D6}" type="datetime1">
              <a:rPr lang="fr-FR"/>
              <a:t/>
            </a:fld>
            <a:endParaRPr/>
          </a:p>
        </p:txBody>
      </p:sp>
      <p:sp>
        <p:nvSpPr>
          <p:cNvPr id="129827678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6836444" name="3 défis pour les coeurs de réseau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3 défis pour les coeurs de réseau</a:t>
            </a:r>
            <a:endParaRPr/>
          </a:p>
        </p:txBody>
      </p:sp>
      <p:sp>
        <p:nvSpPr>
          <p:cNvPr id="68473733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981698" y="6526530"/>
            <a:ext cx="213361" cy="2514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5CFFAEC3-E3AE-1AAD-A122-06B923F44233}" type="slidenum">
              <a:rPr/>
              <a:t/>
            </a:fld>
            <a:endParaRPr/>
          </a:p>
        </p:txBody>
      </p:sp>
      <p:sp>
        <p:nvSpPr>
          <p:cNvPr id="874696913" name="Feamster, N., Rexford, J., &amp; Zegura, E. (2014). The road to SDN: an intellectual history of programmable networks. ACM SIGCOMM Computer Communication Review, 44(2), 87-98."/>
          <p:cNvSpPr txBox="1"/>
          <p:nvPr/>
        </p:nvSpPr>
        <p:spPr bwMode="auto">
          <a:xfrm>
            <a:off x="1456683" y="5665165"/>
            <a:ext cx="9278632" cy="763726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l">
              <a:lnSpc>
                <a:spcPct val="90000"/>
              </a:lnSpc>
              <a:spcBef>
                <a:spcPts val="1799"/>
              </a:spcBef>
              <a:defRPr sz="1900"/>
            </a:pPr>
            <a:r>
              <a:rPr/>
              <a:t>Feamster, N., Rexford, J., &amp; Zegura, E. (2014). The road to SDN: an intellectual history of programmable networks. </a:t>
            </a:r>
            <a:r>
              <a:rPr i="1"/>
              <a:t>ACM SIGCOMM Computer Communication Review</a:t>
            </a:r>
            <a:r>
              <a:rPr/>
              <a:t>, 44(2), 87-98.</a:t>
            </a:r>
            <a:endParaRPr/>
          </a:p>
        </p:txBody>
      </p:sp>
      <p:pic>
        <p:nvPicPr>
          <p:cNvPr id="235753762" name="Imag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8239" y="1423518"/>
            <a:ext cx="9875520" cy="3823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9779331" name="Pla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>
              <a:defRPr/>
            </a:pPr>
            <a:r>
              <a:rPr/>
              <a:t>Plan</a:t>
            </a:r>
            <a:endParaRPr/>
          </a:p>
        </p:txBody>
      </p:sp>
      <p:sp>
        <p:nvSpPr>
          <p:cNvPr id="191952895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/>
            </a:pPr>
            <a:fld id="{706CCCBA-EE18-CF99-6531-EE1275627879}" type="slidenum">
              <a:rPr/>
              <a:t/>
            </a:fld>
            <a:endParaRPr/>
          </a:p>
        </p:txBody>
      </p:sp>
      <p:sp>
        <p:nvSpPr>
          <p:cNvPr id="31070646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E3D56C1-9531-D960-8D42-BD68A4146BA3}" type="datetime1">
              <a:rPr lang="fr-FR"/>
              <a:t/>
            </a:fld>
            <a:endParaRPr/>
          </a:p>
        </p:txBody>
      </p:sp>
      <p:sp>
        <p:nvSpPr>
          <p:cNvPr id="175942499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2041076850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>
                <a:solidFill>
                  <a:srgbClr val="FF2600"/>
                </a:solidFill>
              </a:defRPr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Introduction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1" i="0" u="sng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Plan de contrôle &amp; Plan de données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OpenFlow et P4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 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NFV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Network slicing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Défis restants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572548" name="Plan de données &amp; plan de contrô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Plan de données &amp; plan de contrôle</a:t>
            </a:r>
            <a:endParaRPr/>
          </a:p>
        </p:txBody>
      </p:sp>
      <p:sp>
        <p:nvSpPr>
          <p:cNvPr id="525411893" name="Paquets de données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 marL="495933" indent="-315594" defTabSz="324610">
              <a:spcBef>
                <a:spcPts val="1199"/>
              </a:spcBef>
              <a:defRPr sz="2000"/>
            </a:pPr>
            <a:r>
              <a:rPr/>
              <a:t>Paquets</a:t>
            </a:r>
            <a:r>
              <a:rPr/>
              <a:t> de </a:t>
            </a:r>
            <a:r>
              <a:rPr/>
              <a:t>données</a:t>
            </a:r>
            <a:r>
              <a:rPr/>
              <a:t> </a:t>
            </a:r>
            <a:endParaRPr/>
          </a:p>
          <a:p>
            <a:pPr marL="739392" lvl="1" indent="-315594" defTabSz="324610">
              <a:spcBef>
                <a:spcPts val="1199"/>
              </a:spcBef>
              <a:defRPr sz="2000"/>
            </a:pPr>
            <a:r>
              <a:rPr/>
              <a:t>Transporte</a:t>
            </a:r>
            <a:r>
              <a:rPr/>
              <a:t> les </a:t>
            </a:r>
            <a:r>
              <a:rPr/>
              <a:t>données</a:t>
            </a:r>
            <a:r>
              <a:rPr/>
              <a:t> des applications</a:t>
            </a:r>
            <a:endParaRPr/>
          </a:p>
          <a:p>
            <a:pPr marL="495933" indent="-315594" defTabSz="324610">
              <a:spcBef>
                <a:spcPts val="1199"/>
              </a:spcBef>
              <a:defRPr sz="2000"/>
            </a:pPr>
            <a:r>
              <a:rPr/>
              <a:t>Paquets</a:t>
            </a:r>
            <a:r>
              <a:rPr/>
              <a:t> de </a:t>
            </a:r>
            <a:r>
              <a:rPr/>
              <a:t>contrôle</a:t>
            </a:r>
            <a:endParaRPr/>
          </a:p>
          <a:p>
            <a:pPr marL="895983" lvl="1" indent="-315594" defTabSz="324610">
              <a:spcBef>
                <a:spcPts val="1199"/>
              </a:spcBef>
              <a:defRPr sz="2000"/>
            </a:pPr>
            <a:r>
              <a:rPr/>
              <a:t>Pour le </a:t>
            </a:r>
            <a:r>
              <a:rPr/>
              <a:t>fonctionnement</a:t>
            </a:r>
            <a:r>
              <a:rPr/>
              <a:t> du </a:t>
            </a:r>
            <a:r>
              <a:rPr/>
              <a:t>réseau</a:t>
            </a:r>
            <a:endParaRPr/>
          </a:p>
          <a:p>
            <a:pPr marL="495933" indent="-315594" defTabSz="324610">
              <a:spcBef>
                <a:spcPts val="1199"/>
              </a:spcBef>
              <a:defRPr sz="2000"/>
            </a:pPr>
            <a:r>
              <a:rPr/>
              <a:t>Paquet de gestion</a:t>
            </a:r>
            <a:endParaRPr/>
          </a:p>
          <a:p>
            <a:pPr marL="739392" lvl="1" indent="-315594" defTabSz="324610">
              <a:spcBef>
                <a:spcPts val="1199"/>
              </a:spcBef>
              <a:defRPr sz="2000"/>
            </a:pPr>
            <a:r>
              <a:rPr/>
              <a:t>Généré</a:t>
            </a:r>
            <a:r>
              <a:rPr/>
              <a:t> par </a:t>
            </a:r>
            <a:r>
              <a:rPr/>
              <a:t>l’administrateur</a:t>
            </a:r>
            <a:r>
              <a:rPr/>
              <a:t> </a:t>
            </a:r>
            <a:endParaRPr/>
          </a:p>
          <a:p>
            <a:pPr marL="495933" marR="0" indent="-315594" algn="l" defTabSz="324610">
              <a:lnSpc>
                <a:spcPct val="90000"/>
              </a:lnSpc>
              <a:spcBef>
                <a:spcPts val="1199"/>
              </a:spcBef>
              <a:spcAft>
                <a:spcPts val="0"/>
              </a:spcAft>
              <a:buFont typeface="Arial"/>
              <a:buChar char="•"/>
              <a:defRPr sz="2000"/>
            </a:pPr>
            <a:r>
              <a:rPr lang="fr-F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Plan de </a:t>
            </a:r>
            <a:r>
              <a:rPr lang="fr-FR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données</a:t>
            </a:r>
            <a:endParaRPr>
              <a:solidFill>
                <a:schemeClr val="accent5"/>
              </a:solidFill>
            </a:endParaRPr>
          </a:p>
          <a:p>
            <a:pPr marL="739392" lvl="1" indent="-315594" defTabSz="324610">
              <a:spcBef>
                <a:spcPts val="1199"/>
              </a:spcBef>
              <a:defRPr sz="2000"/>
            </a:pPr>
            <a:r>
              <a:rPr/>
              <a:t>Achemine</a:t>
            </a:r>
            <a:r>
              <a:rPr/>
              <a:t>, </a:t>
            </a:r>
            <a:r>
              <a:rPr/>
              <a:t>filtre</a:t>
            </a:r>
            <a:r>
              <a:rPr/>
              <a:t> et </a:t>
            </a:r>
            <a:r>
              <a:rPr/>
              <a:t>modifie</a:t>
            </a:r>
            <a:r>
              <a:rPr/>
              <a:t> les </a:t>
            </a:r>
            <a:r>
              <a:rPr/>
              <a:t>paquets</a:t>
            </a:r>
            <a:endParaRPr/>
          </a:p>
          <a:p>
            <a:pPr marL="495933" indent="-315594" defTabSz="324610">
              <a:spcBef>
                <a:spcPts val="1199"/>
              </a:spcBef>
              <a:defRPr sz="2000"/>
            </a:pPr>
            <a:r>
              <a:rPr>
                <a:solidFill>
                  <a:srgbClr val="002060"/>
                </a:solidFill>
              </a:rPr>
              <a:t>Plan de </a:t>
            </a:r>
            <a:r>
              <a:rPr>
                <a:solidFill>
                  <a:srgbClr val="002060"/>
                </a:solidFill>
              </a:rPr>
              <a:t>contrôle</a:t>
            </a:r>
            <a:endParaRPr>
              <a:solidFill>
                <a:schemeClr val="accent5"/>
              </a:solidFill>
            </a:endParaRPr>
          </a:p>
          <a:p>
            <a:pPr marL="739392" lvl="1" indent="-315594" defTabSz="324610">
              <a:spcBef>
                <a:spcPts val="1199"/>
              </a:spcBef>
              <a:defRPr sz="2000"/>
            </a:pPr>
            <a:r>
              <a:rPr/>
              <a:t>Décide</a:t>
            </a:r>
            <a:r>
              <a:rPr/>
              <a:t> comment </a:t>
            </a:r>
            <a:r>
              <a:rPr/>
              <a:t>acheminer</a:t>
            </a:r>
            <a:r>
              <a:rPr/>
              <a:t> les </a:t>
            </a:r>
            <a:r>
              <a:rPr/>
              <a:t>paquets</a:t>
            </a:r>
            <a:r>
              <a:rPr/>
              <a:t> (</a:t>
            </a:r>
            <a:r>
              <a:rPr/>
              <a:t>calcul</a:t>
            </a:r>
            <a:r>
              <a:rPr/>
              <a:t> des routes, surveillance de la </a:t>
            </a:r>
            <a:r>
              <a:rPr/>
              <a:t>topologie</a:t>
            </a:r>
            <a:r>
              <a:rPr/>
              <a:t>, configuration </a:t>
            </a:r>
            <a:r>
              <a:rPr/>
              <a:t>automatique</a:t>
            </a:r>
            <a:r>
              <a:rPr/>
              <a:t> des </a:t>
            </a:r>
            <a:r>
              <a:rPr/>
              <a:t>équipements</a:t>
            </a:r>
            <a:r>
              <a:rPr/>
              <a:t> </a:t>
            </a:r>
            <a:r>
              <a:rPr/>
              <a:t>réseaux</a:t>
            </a:r>
            <a:r>
              <a:rPr/>
              <a:t>)</a:t>
            </a:r>
            <a:endParaRPr/>
          </a:p>
          <a:p>
            <a:pPr marL="495933" indent="-315594" defTabSz="324610">
              <a:spcBef>
                <a:spcPts val="1199"/>
              </a:spcBef>
              <a:defRPr sz="2000" i="1"/>
            </a:pPr>
            <a:r>
              <a:rPr/>
              <a:t>Le plan de </a:t>
            </a:r>
            <a:r>
              <a:rPr/>
              <a:t>données</a:t>
            </a:r>
            <a:r>
              <a:rPr/>
              <a:t> </a:t>
            </a:r>
            <a:r>
              <a:rPr/>
              <a:t>achemine</a:t>
            </a:r>
            <a:r>
              <a:rPr/>
              <a:t> les </a:t>
            </a:r>
            <a:r>
              <a:rPr/>
              <a:t>paquets</a:t>
            </a:r>
            <a:r>
              <a:rPr/>
              <a:t> </a:t>
            </a:r>
            <a:r>
              <a:rPr/>
              <a:t>selon</a:t>
            </a:r>
            <a:r>
              <a:rPr/>
              <a:t> les </a:t>
            </a:r>
            <a:r>
              <a:rPr/>
              <a:t>règles</a:t>
            </a:r>
            <a:r>
              <a:rPr/>
              <a:t> du plan de </a:t>
            </a:r>
            <a:r>
              <a:rPr/>
              <a:t>contrôle</a:t>
            </a:r>
            <a:endParaRPr/>
          </a:p>
        </p:txBody>
      </p:sp>
      <p:sp>
        <p:nvSpPr>
          <p:cNvPr id="32285034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A288031-D2B3-E4F2-93D3-709AA4B5B8FD}" type="slidenum">
              <a:rPr/>
              <a:t/>
            </a:fld>
            <a:endParaRPr/>
          </a:p>
        </p:txBody>
      </p:sp>
      <p:sp>
        <p:nvSpPr>
          <p:cNvPr id="145170711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1D704F-9BA7-1BA0-B74C-BABD47AF2C08}" type="datetime1">
              <a:rPr lang="fr-FR"/>
              <a:t/>
            </a:fld>
            <a:endParaRPr/>
          </a:p>
        </p:txBody>
      </p:sp>
      <p:sp>
        <p:nvSpPr>
          <p:cNvPr id="136072305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118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1189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118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118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4118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264333" name="Plan de gestio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Plan de gestion</a:t>
            </a:r>
            <a:endParaRPr/>
          </a:p>
        </p:txBody>
      </p:sp>
      <p:sp>
        <p:nvSpPr>
          <p:cNvPr id="1396401773" name="Plan de gestion…"/>
          <p:cNvSpPr txBox="1">
            <a:spLocks noGrp="1"/>
          </p:cNvSpPr>
          <p:nvPr>
            <p:ph type="body" sz="half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488949" lvl="0" indent="-311149" defTabSz="320038">
              <a:spcBef>
                <a:spcPts val="1199"/>
              </a:spcBef>
              <a:defRPr sz="1950"/>
            </a:pPr>
            <a:r>
              <a:rPr>
                <a:solidFill>
                  <a:srgbClr val="002060"/>
                </a:solidFill>
              </a:rPr>
              <a:t>Plan de gestion</a:t>
            </a:r>
            <a:endParaRPr/>
          </a:p>
          <a:p>
            <a:pPr marL="728978" lvl="1" indent="-311149" defTabSz="320038">
              <a:spcBef>
                <a:spcPts val="1199"/>
              </a:spcBef>
              <a:defRPr sz="1950"/>
            </a:pPr>
            <a:r>
              <a:rPr/>
              <a:t>Décide de politiques (QoS, ACL) </a:t>
            </a:r>
            <a:endParaRPr/>
          </a:p>
          <a:p>
            <a:pPr marL="1129028" lvl="2" indent="-311149" defTabSz="320038">
              <a:spcBef>
                <a:spcPts val="1199"/>
              </a:spcBef>
              <a:defRPr sz="1950"/>
            </a:pPr>
            <a:r>
              <a:rPr/>
              <a:t>Analyse les mesures</a:t>
            </a:r>
            <a:endParaRPr/>
          </a:p>
          <a:p>
            <a:pPr marL="1129028" lvl="2" indent="-311149" defTabSz="320038">
              <a:spcBef>
                <a:spcPts val="1199"/>
              </a:spcBef>
              <a:defRPr sz="1950"/>
            </a:pPr>
            <a:r>
              <a:rPr/>
              <a:t>Configure manuellement les équipements réseaux</a:t>
            </a:r>
            <a:endParaRPr/>
          </a:p>
          <a:p>
            <a:pPr marL="1129028" lvl="2" indent="-311149" defTabSz="320038">
              <a:spcBef>
                <a:spcPts val="1199"/>
              </a:spcBef>
              <a:defRPr sz="1950"/>
            </a:pPr>
            <a:r>
              <a:rPr/>
              <a:t>Fixe le poids des liens</a:t>
            </a:r>
            <a:endParaRPr/>
          </a:p>
          <a:p>
            <a:pPr marL="488949" indent="-311149" defTabSz="320038">
              <a:spcBef>
                <a:spcPts val="1199"/>
              </a:spcBef>
              <a:defRPr sz="1950" i="1"/>
            </a:pPr>
            <a:r>
              <a:rPr/>
              <a:t>Le plan de gestion agit sur le plan de contrôle par l’intervention de l’admin</a:t>
            </a:r>
            <a:endParaRPr/>
          </a:p>
        </p:txBody>
      </p:sp>
      <p:sp>
        <p:nvSpPr>
          <p:cNvPr id="95969811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3D88A07A-ACD1-7945-6740-AEC7C29C2E4F}" type="slidenum">
              <a:rPr/>
              <a:t/>
            </a:fld>
            <a:endParaRPr/>
          </a:p>
        </p:txBody>
      </p:sp>
      <p:pic>
        <p:nvPicPr>
          <p:cNvPr id="748988709" name="Image" descr="Image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22091" y="4472429"/>
            <a:ext cx="3886964" cy="15924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9785779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084249" y="4440223"/>
            <a:ext cx="2996439" cy="16568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447448410" name="Image" descr="Image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755884" y="4472429"/>
            <a:ext cx="3183394" cy="1592476"/>
          </a:xfrm>
          <a:prstGeom prst="rect">
            <a:avLst/>
          </a:prstGeom>
          <a:ln w="12700">
            <a:miter lim="400000"/>
          </a:ln>
        </p:spPr>
      </p:pic>
      <p:sp>
        <p:nvSpPr>
          <p:cNvPr id="1320711298" name="Plan de données"/>
          <p:cNvSpPr txBox="1"/>
          <p:nvPr/>
        </p:nvSpPr>
        <p:spPr bwMode="auto">
          <a:xfrm>
            <a:off x="1405557" y="6276037"/>
            <a:ext cx="2120030" cy="2400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>
              <a:defRPr sz="1900"/>
            </a:lvl1pPr>
          </a:lstStyle>
          <a:p>
            <a:pPr>
              <a:defRPr/>
            </a:pPr>
            <a:r>
              <a:rPr/>
              <a:t>Plan de données</a:t>
            </a:r>
            <a:endParaRPr/>
          </a:p>
        </p:txBody>
      </p:sp>
      <p:sp>
        <p:nvSpPr>
          <p:cNvPr id="808818242" name="Plan de contrôle"/>
          <p:cNvSpPr txBox="1"/>
          <p:nvPr/>
        </p:nvSpPr>
        <p:spPr bwMode="auto">
          <a:xfrm>
            <a:off x="5364336" y="6276037"/>
            <a:ext cx="2120029" cy="2400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>
              <a:defRPr sz="1900"/>
            </a:lvl1pPr>
          </a:lstStyle>
          <a:p>
            <a:pPr>
              <a:defRPr/>
            </a:pPr>
            <a:r>
              <a:rPr/>
              <a:t>Plan de contrôle</a:t>
            </a:r>
            <a:endParaRPr/>
          </a:p>
        </p:txBody>
      </p:sp>
      <p:sp>
        <p:nvSpPr>
          <p:cNvPr id="1826154609" name="Plan de gestion"/>
          <p:cNvSpPr txBox="1"/>
          <p:nvPr/>
        </p:nvSpPr>
        <p:spPr bwMode="auto">
          <a:xfrm>
            <a:off x="9462835" y="6276037"/>
            <a:ext cx="2120030" cy="2400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>
              <a:defRPr sz="1900"/>
            </a:lvl1pPr>
          </a:lstStyle>
          <a:p>
            <a:pPr>
              <a:defRPr/>
            </a:pPr>
            <a:r>
              <a:rPr/>
              <a:t>Plan de gestion</a:t>
            </a:r>
            <a:endParaRPr/>
          </a:p>
        </p:txBody>
      </p:sp>
      <p:sp>
        <p:nvSpPr>
          <p:cNvPr id="142063677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A2F1D84-55EB-5A30-9C1A-CAB8A08C985D}" type="datetime1">
              <a:rPr lang="fr-FR"/>
              <a:t/>
            </a:fld>
            <a:endParaRPr/>
          </a:p>
        </p:txBody>
      </p:sp>
      <p:sp>
        <p:nvSpPr>
          <p:cNvPr id="58746596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05967061" name="Group"/>
          <p:cNvGrpSpPr/>
          <p:nvPr/>
        </p:nvGrpSpPr>
        <p:grpSpPr bwMode="auto">
          <a:xfrm>
            <a:off x="3746568" y="539780"/>
            <a:ext cx="7245547" cy="4178239"/>
            <a:chOff x="0" y="0"/>
            <a:chExt cx="7245545" cy="4178238"/>
          </a:xfrm>
        </p:grpSpPr>
        <p:pic>
          <p:nvPicPr>
            <p:cNvPr id="1754573750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26094704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72351895" name="Réseaux traditionnels (1)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Réseaux traditionnels (1)</a:t>
            </a:r>
            <a:endParaRPr/>
          </a:p>
        </p:txBody>
      </p:sp>
      <p:sp>
        <p:nvSpPr>
          <p:cNvPr id="886831546" name="Plan de données…"/>
          <p:cNvSpPr txBox="1">
            <a:spLocks noGrp="1"/>
          </p:cNvSpPr>
          <p:nvPr>
            <p:ph type="body" sz="half" idx="1"/>
          </p:nvPr>
        </p:nvSpPr>
        <p:spPr bwMode="auto">
          <a:xfrm>
            <a:off x="1188720" y="4308710"/>
            <a:ext cx="9814558" cy="216181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Plan de données</a:t>
            </a:r>
            <a:endParaRPr/>
          </a:p>
          <a:p>
            <a:pPr lvl="1">
              <a:defRPr/>
            </a:pPr>
            <a:r>
              <a:rPr>
                <a:solidFill>
                  <a:schemeClr val="accent5"/>
                </a:solidFill>
              </a:rPr>
              <a:t>Distribué</a:t>
            </a:r>
            <a:r>
              <a:rPr/>
              <a:t> sur les noeuds</a:t>
            </a:r>
            <a:endParaRPr/>
          </a:p>
        </p:txBody>
      </p:sp>
      <p:sp>
        <p:nvSpPr>
          <p:cNvPr id="1963970242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959509" y="6526530"/>
            <a:ext cx="257740" cy="2514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FE10E57-8FFB-FE5B-D8BF-F2D9C7C143D6}" type="slidenum">
              <a:rPr/>
              <a:t/>
            </a:fld>
            <a:endParaRPr/>
          </a:p>
        </p:txBody>
      </p:sp>
      <p:sp>
        <p:nvSpPr>
          <p:cNvPr id="682170053" name="Line"/>
          <p:cNvSpPr/>
          <p:nvPr/>
        </p:nvSpPr>
        <p:spPr bwMode="auto">
          <a:xfrm>
            <a:off x="6880629" y="2190254"/>
            <a:ext cx="564340" cy="160662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770730798" name="Line"/>
          <p:cNvSpPr/>
          <p:nvPr/>
        </p:nvSpPr>
        <p:spPr bwMode="auto">
          <a:xfrm flipH="1">
            <a:off x="5658456" y="2030234"/>
            <a:ext cx="1468559" cy="87510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48685608" name="Line"/>
          <p:cNvSpPr/>
          <p:nvPr/>
        </p:nvSpPr>
        <p:spPr bwMode="auto">
          <a:xfrm flipH="1">
            <a:off x="7458000" y="2887484"/>
            <a:ext cx="2186566" cy="69213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86816295" name="Line"/>
          <p:cNvSpPr/>
          <p:nvPr/>
        </p:nvSpPr>
        <p:spPr bwMode="auto">
          <a:xfrm flipH="1" flipV="1">
            <a:off x="7037770" y="2154898"/>
            <a:ext cx="2722288" cy="62577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8068070" name="Line"/>
          <p:cNvSpPr/>
          <p:nvPr/>
        </p:nvSpPr>
        <p:spPr bwMode="auto">
          <a:xfrm flipH="1" flipV="1">
            <a:off x="5468552" y="3156796"/>
            <a:ext cx="1573454" cy="45948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326295758" name="droppedImage.png" descr="droppedImage.png"/>
          <p:cNvPicPr>
            <a:picLocks noChangeAspect="1"/>
          </p:cNvPicPr>
          <p:nvPr/>
        </p:nvPicPr>
        <p:blipFill>
          <a:blip r:embed="rId4"/>
          <a:srcRect l="19053" t="0" r="0" b="7224"/>
          <a:stretch/>
        </p:blipFill>
        <p:spPr bwMode="auto">
          <a:xfrm>
            <a:off x="9462467" y="2664452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960364504" name="droppedImage.png" descr="droppedImage.png"/>
          <p:cNvPicPr>
            <a:picLocks noChangeAspect="1"/>
          </p:cNvPicPr>
          <p:nvPr/>
        </p:nvPicPr>
        <p:blipFill>
          <a:blip r:embed="rId4"/>
          <a:srcRect l="19053" t="0" r="0" b="7224"/>
          <a:stretch/>
        </p:blipFill>
        <p:spPr bwMode="auto">
          <a:xfrm>
            <a:off x="6454827" y="1974841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80722234" name="droppedImage.png" descr="droppedImage.png"/>
          <p:cNvPicPr>
            <a:picLocks noChangeAspect="1"/>
          </p:cNvPicPr>
          <p:nvPr/>
        </p:nvPicPr>
        <p:blipFill>
          <a:blip r:embed="rId4"/>
          <a:srcRect l="19053" t="0" r="0" b="7224"/>
          <a:stretch/>
        </p:blipFill>
        <p:spPr bwMode="auto">
          <a:xfrm>
            <a:off x="5054474" y="2806358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47732463" name="droppedImage.png" descr="droppedImage.png"/>
          <p:cNvPicPr>
            <a:picLocks noChangeAspect="1"/>
          </p:cNvPicPr>
          <p:nvPr/>
        </p:nvPicPr>
        <p:blipFill>
          <a:blip r:embed="rId4"/>
          <a:srcRect l="19053" t="0" r="0" b="7224"/>
          <a:stretch/>
        </p:blipFill>
        <p:spPr bwMode="auto">
          <a:xfrm>
            <a:off x="6896786" y="3398996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12021329" name="Group"/>
          <p:cNvGrpSpPr/>
          <p:nvPr/>
        </p:nvGrpSpPr>
        <p:grpSpPr bwMode="auto">
          <a:xfrm>
            <a:off x="3746568" y="539780"/>
            <a:ext cx="7245547" cy="4178239"/>
            <a:chOff x="0" y="0"/>
            <a:chExt cx="7245545" cy="4178238"/>
          </a:xfrm>
        </p:grpSpPr>
        <p:pic>
          <p:nvPicPr>
            <p:cNvPr id="2146466731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91927527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786651159" name="Réseaux traditionnels (2)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Réseaux traditionnels (2)</a:t>
            </a:r>
            <a:endParaRPr/>
          </a:p>
        </p:txBody>
      </p:sp>
      <p:sp>
        <p:nvSpPr>
          <p:cNvPr id="331739453" name="Plan de contrôle…"/>
          <p:cNvSpPr txBox="1">
            <a:spLocks noGrp="1"/>
          </p:cNvSpPr>
          <p:nvPr>
            <p:ph type="body" sz="half" idx="1"/>
          </p:nvPr>
        </p:nvSpPr>
        <p:spPr bwMode="auto">
          <a:xfrm>
            <a:off x="1188720" y="4428027"/>
            <a:ext cx="9814558" cy="205883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Plan de contrôle </a:t>
            </a:r>
            <a:endParaRPr/>
          </a:p>
          <a:p>
            <a:pPr lvl="1">
              <a:defRPr/>
            </a:pPr>
            <a:r>
              <a:rPr>
                <a:solidFill>
                  <a:schemeClr val="accent5"/>
                </a:solidFill>
              </a:rPr>
              <a:t>Distribué</a:t>
            </a:r>
            <a:r>
              <a:rPr/>
              <a:t> sur les noeuds</a:t>
            </a:r>
            <a:endParaRPr/>
          </a:p>
        </p:txBody>
      </p:sp>
      <p:sp>
        <p:nvSpPr>
          <p:cNvPr id="940646887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959509" y="6526530"/>
            <a:ext cx="257740" cy="2514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9F59CA9-F4C1-9063-E640-2BF2BE52BDF6}" type="slidenum">
              <a:rPr/>
              <a:t/>
            </a:fld>
            <a:endParaRPr/>
          </a:p>
        </p:txBody>
      </p:sp>
      <p:sp>
        <p:nvSpPr>
          <p:cNvPr id="691742291" name="Line"/>
          <p:cNvSpPr/>
          <p:nvPr/>
        </p:nvSpPr>
        <p:spPr bwMode="auto">
          <a:xfrm>
            <a:off x="6880629" y="2190254"/>
            <a:ext cx="564340" cy="160662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21793800" name="Line"/>
          <p:cNvSpPr/>
          <p:nvPr/>
        </p:nvSpPr>
        <p:spPr bwMode="auto">
          <a:xfrm flipH="1">
            <a:off x="5658456" y="2030234"/>
            <a:ext cx="1468559" cy="87510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469516131" name="Line"/>
          <p:cNvSpPr/>
          <p:nvPr/>
        </p:nvSpPr>
        <p:spPr bwMode="auto">
          <a:xfrm flipH="1">
            <a:off x="7458000" y="2887484"/>
            <a:ext cx="2186566" cy="69213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57914905" name="Line"/>
          <p:cNvSpPr/>
          <p:nvPr/>
        </p:nvSpPr>
        <p:spPr bwMode="auto">
          <a:xfrm flipH="1" flipV="1">
            <a:off x="7037770" y="2154898"/>
            <a:ext cx="2722288" cy="62577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750642390" name="Line"/>
          <p:cNvSpPr/>
          <p:nvPr/>
        </p:nvSpPr>
        <p:spPr bwMode="auto">
          <a:xfrm flipH="1" flipV="1">
            <a:off x="5468552" y="3156796"/>
            <a:ext cx="1573454" cy="45948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78489906" name="Line"/>
          <p:cNvSpPr/>
          <p:nvPr/>
        </p:nvSpPr>
        <p:spPr bwMode="auto">
          <a:xfrm flipH="1">
            <a:off x="7778041" y="2530887"/>
            <a:ext cx="2186566" cy="692134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606214220" name="Line"/>
          <p:cNvSpPr/>
          <p:nvPr/>
        </p:nvSpPr>
        <p:spPr bwMode="auto">
          <a:xfrm flipH="1" flipV="1">
            <a:off x="7031919" y="1874455"/>
            <a:ext cx="2722287" cy="625775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08357708" name="Line"/>
          <p:cNvSpPr/>
          <p:nvPr/>
        </p:nvSpPr>
        <p:spPr bwMode="auto">
          <a:xfrm flipH="1">
            <a:off x="5520999" y="1719181"/>
            <a:ext cx="1468559" cy="875103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848478634" name="Line"/>
          <p:cNvSpPr/>
          <p:nvPr/>
        </p:nvSpPr>
        <p:spPr bwMode="auto">
          <a:xfrm flipH="1" flipV="1">
            <a:off x="5469147" y="2704653"/>
            <a:ext cx="1847179" cy="513322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81813773" name="Rectangle"/>
          <p:cNvSpPr/>
          <p:nvPr/>
        </p:nvSpPr>
        <p:spPr bwMode="auto">
          <a:xfrm>
            <a:off x="5249208" y="2503170"/>
            <a:ext cx="400706" cy="251460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0418360" name="Rectangle"/>
          <p:cNvSpPr/>
          <p:nvPr/>
        </p:nvSpPr>
        <p:spPr bwMode="auto">
          <a:xfrm>
            <a:off x="6727029" y="1710232"/>
            <a:ext cx="400706" cy="251460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07906457" name="Rectangle"/>
          <p:cNvSpPr/>
          <p:nvPr/>
        </p:nvSpPr>
        <p:spPr bwMode="auto">
          <a:xfrm>
            <a:off x="7367109" y="3113210"/>
            <a:ext cx="400706" cy="251460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02483964" name="droppedImage.png" descr="droppedImage.png"/>
          <p:cNvPicPr>
            <a:picLocks noChangeAspect="1"/>
          </p:cNvPicPr>
          <p:nvPr/>
        </p:nvPicPr>
        <p:blipFill>
          <a:blip r:embed="rId4"/>
          <a:srcRect l="19053" t="0" r="0" b="7224"/>
          <a:stretch/>
        </p:blipFill>
        <p:spPr bwMode="auto">
          <a:xfrm>
            <a:off x="9462467" y="2664452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215321398" name="droppedImage.png" descr="droppedImage.png"/>
          <p:cNvPicPr>
            <a:picLocks noChangeAspect="1"/>
          </p:cNvPicPr>
          <p:nvPr/>
        </p:nvPicPr>
        <p:blipFill>
          <a:blip r:embed="rId4"/>
          <a:srcRect l="19053" t="0" r="0" b="7224"/>
          <a:stretch/>
        </p:blipFill>
        <p:spPr bwMode="auto">
          <a:xfrm>
            <a:off x="6454827" y="1974841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305515949" name="droppedImage.png" descr="droppedImage.png"/>
          <p:cNvPicPr>
            <a:picLocks noChangeAspect="1"/>
          </p:cNvPicPr>
          <p:nvPr/>
        </p:nvPicPr>
        <p:blipFill>
          <a:blip r:embed="rId4"/>
          <a:srcRect l="19053" t="0" r="0" b="7224"/>
          <a:stretch/>
        </p:blipFill>
        <p:spPr bwMode="auto">
          <a:xfrm>
            <a:off x="5054474" y="2806358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673390648" name="droppedImage.png" descr="droppedImage.png"/>
          <p:cNvPicPr>
            <a:picLocks noChangeAspect="1"/>
          </p:cNvPicPr>
          <p:nvPr/>
        </p:nvPicPr>
        <p:blipFill>
          <a:blip r:embed="rId4"/>
          <a:srcRect l="19053" t="0" r="0" b="7224"/>
          <a:stretch/>
        </p:blipFill>
        <p:spPr bwMode="auto">
          <a:xfrm>
            <a:off x="6896786" y="3398996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802913813" name="Line"/>
          <p:cNvSpPr/>
          <p:nvPr/>
        </p:nvSpPr>
        <p:spPr bwMode="auto">
          <a:xfrm>
            <a:off x="7056692" y="1742765"/>
            <a:ext cx="564340" cy="1606624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720593874" name="Rectangle"/>
          <p:cNvSpPr/>
          <p:nvPr/>
        </p:nvSpPr>
        <p:spPr bwMode="auto">
          <a:xfrm>
            <a:off x="9734668" y="2420346"/>
            <a:ext cx="400705" cy="251460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391761" name="Réseaux traditionnel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Réseaux traditionnels</a:t>
            </a:r>
            <a:endParaRPr/>
          </a:p>
        </p:txBody>
      </p:sp>
      <p:sp>
        <p:nvSpPr>
          <p:cNvPr id="1819755497" name="Rectangle"/>
          <p:cNvSpPr/>
          <p:nvPr/>
        </p:nvSpPr>
        <p:spPr bwMode="auto">
          <a:xfrm>
            <a:off x="9639472" y="581079"/>
            <a:ext cx="670561" cy="537031"/>
          </a:xfrm>
          <a:prstGeom prst="rect">
            <a:avLst/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grpSp>
        <p:nvGrpSpPr>
          <p:cNvPr id="443036323" name="Group"/>
          <p:cNvGrpSpPr/>
          <p:nvPr/>
        </p:nvGrpSpPr>
        <p:grpSpPr bwMode="auto">
          <a:xfrm>
            <a:off x="2222569" y="539780"/>
            <a:ext cx="7245547" cy="4178239"/>
            <a:chOff x="0" y="0"/>
            <a:chExt cx="7245545" cy="4178238"/>
          </a:xfrm>
        </p:grpSpPr>
        <p:pic>
          <p:nvPicPr>
            <p:cNvPr id="43189928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9597236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270156061" name="Plan de données…"/>
          <p:cNvSpPr txBox="1">
            <a:spLocks noGrp="1"/>
          </p:cNvSpPr>
          <p:nvPr>
            <p:ph type="body" sz="half" idx="1"/>
          </p:nvPr>
        </p:nvSpPr>
        <p:spPr bwMode="auto">
          <a:xfrm>
            <a:off x="1188720" y="4431395"/>
            <a:ext cx="10014561" cy="2252698"/>
          </a:xfrm>
          <a:prstGeom prst="rect">
            <a:avLst/>
          </a:prstGeom>
        </p:spPr>
        <p:txBody>
          <a:bodyPr numCol="2" spcCol="417272"/>
          <a:lstStyle/>
          <a:p>
            <a:pPr marL="488949" indent="-311149" defTabSz="320038">
              <a:spcBef>
                <a:spcPts val="1199"/>
              </a:spcBef>
              <a:defRPr sz="1950"/>
            </a:pPr>
            <a:r>
              <a:rPr/>
              <a:t>Plan de données</a:t>
            </a:r>
            <a:endParaRPr/>
          </a:p>
          <a:p>
            <a:pPr marL="728978" lvl="1" indent="-311149" defTabSz="320038">
              <a:spcBef>
                <a:spcPts val="1199"/>
              </a:spcBef>
              <a:defRPr sz="1950"/>
            </a:pPr>
            <a:r>
              <a:rPr/>
              <a:t>Distribué ou Centralisé sur les noeuds ?</a:t>
            </a:r>
            <a:endParaRPr/>
          </a:p>
          <a:p>
            <a:pPr marL="488949" indent="-311149" defTabSz="320038">
              <a:spcBef>
                <a:spcPts val="1199"/>
              </a:spcBef>
              <a:defRPr sz="1950"/>
            </a:pPr>
            <a:r>
              <a:rPr/>
              <a:t>Plan de contrôle </a:t>
            </a:r>
            <a:endParaRPr/>
          </a:p>
          <a:p>
            <a:pPr marL="728978" lvl="1" indent="-311149" defTabSz="320038">
              <a:spcBef>
                <a:spcPts val="1199"/>
              </a:spcBef>
              <a:defRPr sz="1950"/>
            </a:pPr>
            <a:r>
              <a:rPr/>
              <a:t>Distribué ou Centralisé sur les noeuds ?</a:t>
            </a:r>
            <a:endParaRPr/>
          </a:p>
          <a:p>
            <a:pPr marL="488949" indent="-311149" defTabSz="320038">
              <a:spcBef>
                <a:spcPts val="1199"/>
              </a:spcBef>
              <a:defRPr sz="1950"/>
            </a:pPr>
            <a:r>
              <a:rPr/>
              <a:t>Plan de gestion</a:t>
            </a:r>
            <a:endParaRPr/>
          </a:p>
          <a:p>
            <a:pPr marL="728978" lvl="1" indent="-311149" defTabSz="320038">
              <a:spcBef>
                <a:spcPts val="1199"/>
              </a:spcBef>
              <a:defRPr sz="1950"/>
            </a:pPr>
            <a:r>
              <a:rPr/>
              <a:t>Distribué ou Centralisé sur les noeuds ?</a:t>
            </a:r>
            <a:endParaRPr/>
          </a:p>
          <a:p>
            <a:pPr marL="488949" indent="-311149" defTabSz="320038">
              <a:spcBef>
                <a:spcPts val="1199"/>
              </a:spcBef>
              <a:defRPr sz="1950"/>
            </a:pPr>
            <a:r>
              <a:rPr/>
              <a:t>À quel plan appartiennent les routeurs ? Et les commutateurs ?</a:t>
            </a:r>
            <a:endParaRPr/>
          </a:p>
          <a:p>
            <a:pPr marL="728978" lvl="1" indent="-311149" defTabSz="320038">
              <a:spcBef>
                <a:spcPts val="1199"/>
              </a:spcBef>
              <a:defRPr sz="1950"/>
            </a:pPr>
            <a:r>
              <a:rPr/>
              <a:t>Au plan de données et de contrôle</a:t>
            </a:r>
            <a:endParaRPr/>
          </a:p>
        </p:txBody>
      </p:sp>
      <p:sp>
        <p:nvSpPr>
          <p:cNvPr id="176357678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1B80563-3F37-C15D-6655-A3280CCB47E4}" type="slidenum">
              <a:rPr/>
              <a:t/>
            </a:fld>
            <a:endParaRPr/>
          </a:p>
        </p:txBody>
      </p:sp>
      <p:sp>
        <p:nvSpPr>
          <p:cNvPr id="694842101" name="Line"/>
          <p:cNvSpPr/>
          <p:nvPr/>
        </p:nvSpPr>
        <p:spPr bwMode="auto">
          <a:xfrm>
            <a:off x="5356629" y="2190254"/>
            <a:ext cx="564340" cy="160662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97163625" name="Line"/>
          <p:cNvSpPr/>
          <p:nvPr/>
        </p:nvSpPr>
        <p:spPr bwMode="auto">
          <a:xfrm flipH="1">
            <a:off x="4134457" y="2030234"/>
            <a:ext cx="1468559" cy="87510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67451874" name="Line"/>
          <p:cNvSpPr/>
          <p:nvPr/>
        </p:nvSpPr>
        <p:spPr bwMode="auto">
          <a:xfrm flipH="1">
            <a:off x="5934000" y="2887484"/>
            <a:ext cx="2186566" cy="69213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56053422" name="Line"/>
          <p:cNvSpPr/>
          <p:nvPr/>
        </p:nvSpPr>
        <p:spPr bwMode="auto">
          <a:xfrm flipH="1" flipV="1">
            <a:off x="5513769" y="2154898"/>
            <a:ext cx="2722288" cy="62577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08612367" name="Line"/>
          <p:cNvSpPr/>
          <p:nvPr/>
        </p:nvSpPr>
        <p:spPr bwMode="auto">
          <a:xfrm flipH="1" flipV="1">
            <a:off x="3944552" y="3156796"/>
            <a:ext cx="1573454" cy="45948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8781318" name="Line"/>
          <p:cNvSpPr/>
          <p:nvPr/>
        </p:nvSpPr>
        <p:spPr bwMode="auto">
          <a:xfrm flipH="1">
            <a:off x="6254040" y="2530887"/>
            <a:ext cx="2186566" cy="692134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53764691" name="Line"/>
          <p:cNvSpPr/>
          <p:nvPr/>
        </p:nvSpPr>
        <p:spPr bwMode="auto">
          <a:xfrm flipH="1" flipV="1">
            <a:off x="5507919" y="1874455"/>
            <a:ext cx="2722287" cy="625775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34561814" name="Line"/>
          <p:cNvSpPr/>
          <p:nvPr/>
        </p:nvSpPr>
        <p:spPr bwMode="auto">
          <a:xfrm flipH="1">
            <a:off x="3996999" y="1719181"/>
            <a:ext cx="1468559" cy="875103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411775165" name="Line"/>
          <p:cNvSpPr/>
          <p:nvPr/>
        </p:nvSpPr>
        <p:spPr bwMode="auto">
          <a:xfrm flipH="1" flipV="1">
            <a:off x="3945147" y="2704653"/>
            <a:ext cx="1847179" cy="513322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642496791" name="droppedImage.pdf" descr="droppedImage.pdf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639472" y="617706"/>
            <a:ext cx="670561" cy="456675"/>
          </a:xfrm>
          <a:prstGeom prst="rect">
            <a:avLst/>
          </a:prstGeom>
          <a:ln w="12700">
            <a:miter lim="400000"/>
          </a:ln>
        </p:spPr>
      </p:pic>
      <p:sp>
        <p:nvSpPr>
          <p:cNvPr id="2049818048" name="Line"/>
          <p:cNvSpPr/>
          <p:nvPr/>
        </p:nvSpPr>
        <p:spPr bwMode="auto">
          <a:xfrm flipH="1">
            <a:off x="3909460" y="1014096"/>
            <a:ext cx="5919206" cy="1610798"/>
          </a:xfrm>
          <a:prstGeom prst="line">
            <a:avLst/>
          </a:prstGeom>
          <a:ln w="25400">
            <a:solidFill>
              <a:schemeClr val="accent2">
                <a:hueOff val="-2473792"/>
                <a:satOff val="-50209"/>
                <a:lumOff val="23543"/>
              </a:schemeClr>
            </a:solidFill>
            <a:prstDash val="sysDot"/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1765123" name="Line"/>
          <p:cNvSpPr/>
          <p:nvPr/>
        </p:nvSpPr>
        <p:spPr bwMode="auto">
          <a:xfrm flipH="1">
            <a:off x="5518784" y="902575"/>
            <a:ext cx="4290600" cy="907971"/>
          </a:xfrm>
          <a:prstGeom prst="line">
            <a:avLst/>
          </a:prstGeom>
          <a:ln w="25400">
            <a:solidFill>
              <a:schemeClr val="accent2">
                <a:hueOff val="-2473792"/>
                <a:satOff val="-50209"/>
                <a:lumOff val="23543"/>
              </a:schemeClr>
            </a:solidFill>
            <a:prstDash val="sysDot"/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78638229" name="Line"/>
          <p:cNvSpPr/>
          <p:nvPr/>
        </p:nvSpPr>
        <p:spPr bwMode="auto">
          <a:xfrm flipH="1">
            <a:off x="6145017" y="993699"/>
            <a:ext cx="3756141" cy="2326068"/>
          </a:xfrm>
          <a:prstGeom prst="line">
            <a:avLst/>
          </a:prstGeom>
          <a:ln w="25400">
            <a:solidFill>
              <a:schemeClr val="accent2">
                <a:hueOff val="-2473792"/>
                <a:satOff val="-50209"/>
                <a:lumOff val="23543"/>
              </a:schemeClr>
            </a:solidFill>
            <a:prstDash val="sysDot"/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8000375" name="Line"/>
          <p:cNvSpPr/>
          <p:nvPr/>
        </p:nvSpPr>
        <p:spPr bwMode="auto">
          <a:xfrm flipH="1">
            <a:off x="8280282" y="1031163"/>
            <a:ext cx="1557415" cy="1633012"/>
          </a:xfrm>
          <a:prstGeom prst="line">
            <a:avLst/>
          </a:prstGeom>
          <a:ln w="25400">
            <a:solidFill>
              <a:schemeClr val="accent2">
                <a:hueOff val="-2473792"/>
                <a:satOff val="-50209"/>
                <a:lumOff val="23543"/>
              </a:schemeClr>
            </a:solidFill>
            <a:prstDash val="sysDot"/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072358" name="Rectangle"/>
          <p:cNvSpPr/>
          <p:nvPr/>
        </p:nvSpPr>
        <p:spPr bwMode="auto">
          <a:xfrm>
            <a:off x="3725209" y="2503170"/>
            <a:ext cx="400706" cy="251460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33359291" name="Rectangle"/>
          <p:cNvSpPr/>
          <p:nvPr/>
        </p:nvSpPr>
        <p:spPr bwMode="auto">
          <a:xfrm>
            <a:off x="5203029" y="1710232"/>
            <a:ext cx="400706" cy="251460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31115008" name="Rectangle"/>
          <p:cNvSpPr/>
          <p:nvPr/>
        </p:nvSpPr>
        <p:spPr bwMode="auto">
          <a:xfrm>
            <a:off x="5843109" y="3113210"/>
            <a:ext cx="400706" cy="251460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077285774" name="droppedImage.png" descr="droppedImage.png"/>
          <p:cNvPicPr>
            <a:picLocks noChangeAspect="1"/>
          </p:cNvPicPr>
          <p:nvPr/>
        </p:nvPicPr>
        <p:blipFill>
          <a:blip r:embed="rId5"/>
          <a:srcRect l="19053" t="0" r="0" b="7224"/>
          <a:stretch/>
        </p:blipFill>
        <p:spPr bwMode="auto">
          <a:xfrm>
            <a:off x="7938468" y="2664452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544603477" name="droppedImage.png" descr="droppedImage.png"/>
          <p:cNvPicPr>
            <a:picLocks noChangeAspect="1"/>
          </p:cNvPicPr>
          <p:nvPr/>
        </p:nvPicPr>
        <p:blipFill>
          <a:blip r:embed="rId5"/>
          <a:srcRect l="19053" t="0" r="0" b="7224"/>
          <a:stretch/>
        </p:blipFill>
        <p:spPr bwMode="auto">
          <a:xfrm>
            <a:off x="4930827" y="1974841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31290984" name="droppedImage.png" descr="droppedImage.png"/>
          <p:cNvPicPr>
            <a:picLocks noChangeAspect="1"/>
          </p:cNvPicPr>
          <p:nvPr/>
        </p:nvPicPr>
        <p:blipFill>
          <a:blip r:embed="rId5"/>
          <a:srcRect l="19053" t="0" r="0" b="7224"/>
          <a:stretch/>
        </p:blipFill>
        <p:spPr bwMode="auto">
          <a:xfrm>
            <a:off x="3530474" y="2806358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33649143" name="droppedImage.png" descr="droppedImage.png"/>
          <p:cNvPicPr>
            <a:picLocks noChangeAspect="1"/>
          </p:cNvPicPr>
          <p:nvPr/>
        </p:nvPicPr>
        <p:blipFill>
          <a:blip r:embed="rId5"/>
          <a:srcRect l="19053" t="0" r="0" b="7224"/>
          <a:stretch/>
        </p:blipFill>
        <p:spPr bwMode="auto">
          <a:xfrm>
            <a:off x="5372787" y="3398996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847585522" name="Line"/>
          <p:cNvSpPr/>
          <p:nvPr/>
        </p:nvSpPr>
        <p:spPr bwMode="auto">
          <a:xfrm>
            <a:off x="5532692" y="1742765"/>
            <a:ext cx="564340" cy="1606624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626756709" name="Rectangle"/>
          <p:cNvSpPr/>
          <p:nvPr/>
        </p:nvSpPr>
        <p:spPr bwMode="auto">
          <a:xfrm>
            <a:off x="8210668" y="2420346"/>
            <a:ext cx="400705" cy="251460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6127890" name="Rectangle"/>
          <p:cNvSpPr/>
          <p:nvPr/>
        </p:nvSpPr>
        <p:spPr bwMode="auto">
          <a:xfrm flipH="0" flipV="0">
            <a:off x="6760961" y="6105655"/>
            <a:ext cx="4286249" cy="433256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1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2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82250321" name="Oval"/>
          <p:cNvSpPr/>
          <p:nvPr/>
        </p:nvSpPr>
        <p:spPr bwMode="auto">
          <a:xfrm>
            <a:off x="1697135" y="4865275"/>
            <a:ext cx="1636857" cy="310896"/>
          </a:xfrm>
          <a:prstGeom prst="ellips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8216577" name="Line"/>
          <p:cNvSpPr/>
          <p:nvPr/>
        </p:nvSpPr>
        <p:spPr bwMode="auto">
          <a:xfrm>
            <a:off x="3302995" y="5028488"/>
            <a:ext cx="1284303" cy="0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58573305" name="Oval"/>
          <p:cNvSpPr/>
          <p:nvPr/>
        </p:nvSpPr>
        <p:spPr bwMode="auto">
          <a:xfrm>
            <a:off x="1704641" y="5959947"/>
            <a:ext cx="1636857" cy="310896"/>
          </a:xfrm>
          <a:prstGeom prst="ellips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44514274" name="Line"/>
          <p:cNvSpPr/>
          <p:nvPr/>
        </p:nvSpPr>
        <p:spPr bwMode="auto">
          <a:xfrm>
            <a:off x="3304512" y="6139073"/>
            <a:ext cx="1284303" cy="0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85233389" name="Oval"/>
          <p:cNvSpPr/>
          <p:nvPr/>
        </p:nvSpPr>
        <p:spPr bwMode="auto">
          <a:xfrm>
            <a:off x="8316846" y="4857583"/>
            <a:ext cx="1636857" cy="310896"/>
          </a:xfrm>
          <a:prstGeom prst="ellips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67928029" name="Line"/>
          <p:cNvSpPr/>
          <p:nvPr/>
        </p:nvSpPr>
        <p:spPr bwMode="auto">
          <a:xfrm>
            <a:off x="6923003" y="5049665"/>
            <a:ext cx="1284303" cy="0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82250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47821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85857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4451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1353764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833359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4758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2058781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1411775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626756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0607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13456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03111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1485233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967928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1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204981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1176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978638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819755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164249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1180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2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12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9755497" grpId="19" animBg="1"/>
      <p:bldP spid="2058781318" grpId="8" animBg="1"/>
      <p:bldP spid="1353764691" grpId="5" animBg="1"/>
      <p:bldP spid="2134561814" grpId="12" animBg="1"/>
      <p:bldP spid="1411775165" grpId="9" animBg="1"/>
      <p:bldP spid="1642496791" grpId="20" animBg="1"/>
      <p:bldP spid="2049818048" grpId="16" animBg="1"/>
      <p:bldP spid="211765123" grpId="17" animBg="1"/>
      <p:bldP spid="1978638229" grpId="18" animBg="1"/>
      <p:bldP spid="118000375" grpId="21" animBg="1"/>
      <p:bldP spid="206072358" grpId="11" animBg="1"/>
      <p:bldP spid="833359291" grpId="6" animBg="1"/>
      <p:bldP spid="1031115008" grpId="13" animBg="1"/>
      <p:bldP spid="847585522" grpId="7" animBg="1"/>
      <p:bldP spid="1626756709" grpId="10" animBg="1"/>
      <p:bldP spid="1006127890" grpId="22" animBg="1"/>
      <p:bldP spid="1982250321" grpId="1" animBg="1"/>
      <p:bldP spid="478216577" grpId="2" animBg="1"/>
      <p:bldP spid="1858573305" grpId="3" animBg="1"/>
      <p:bldP spid="1144514274" grpId="4" animBg="1"/>
      <p:bldP spid="1485233389" grpId="14" animBg="1"/>
      <p:bldP spid="1967928029" grpId="15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71628" name="Plan de données &amp; plan de contrô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Plan de données &amp; plan de contrôle</a:t>
            </a:r>
            <a:endParaRPr/>
          </a:p>
        </p:txBody>
      </p:sp>
      <p:sp>
        <p:nvSpPr>
          <p:cNvPr id="1661284669" name="Body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339766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99C438B-4205-E87D-D58D-86DA62F0425D}" type="slidenum">
              <a:rPr/>
              <a:t/>
            </a:fld>
            <a:endParaRPr/>
          </a:p>
        </p:txBody>
      </p:sp>
      <p:grpSp>
        <p:nvGrpSpPr>
          <p:cNvPr id="403719454" name="Group"/>
          <p:cNvGrpSpPr/>
          <p:nvPr/>
        </p:nvGrpSpPr>
        <p:grpSpPr bwMode="auto">
          <a:xfrm>
            <a:off x="1407423" y="1887379"/>
            <a:ext cx="9290193" cy="3851710"/>
            <a:chOff x="0" y="0"/>
            <a:chExt cx="9290193" cy="3851708"/>
          </a:xfrm>
        </p:grpSpPr>
        <p:pic>
          <p:nvPicPr>
            <p:cNvPr id="2111822415" name="Image" descr="Image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86956" y="0"/>
              <a:ext cx="9203238" cy="385170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94263845" name="Rectangle"/>
            <p:cNvSpPr/>
            <p:nvPr/>
          </p:nvSpPr>
          <p:spPr bwMode="auto">
            <a:xfrm>
              <a:off x="0" y="7515"/>
              <a:ext cx="1849228" cy="1120140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69000988" name="Rectangle"/>
            <p:cNvSpPr/>
            <p:nvPr/>
          </p:nvSpPr>
          <p:spPr bwMode="auto">
            <a:xfrm>
              <a:off x="0" y="1518759"/>
              <a:ext cx="1849228" cy="143301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341350" name="Le plan de contrô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Le plan de contrôle</a:t>
            </a:r>
            <a:endParaRPr/>
          </a:p>
        </p:txBody>
      </p:sp>
      <p:sp>
        <p:nvSpPr>
          <p:cNvPr id="1956141847" name="Souvent mis en oeuvre par des algorithmes distribués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>
                <a:solidFill>
                  <a:srgbClr val="000000"/>
                </a:solidFill>
              </a:rPr>
              <a:t>Souvent</a:t>
            </a:r>
            <a:r>
              <a:rPr/>
              <a:t> mis en oeuvre par des algorithmes distribués</a:t>
            </a:r>
            <a:endParaRPr/>
          </a:p>
          <a:p>
            <a:pPr>
              <a:buClr>
                <a:srgbClr val="000000"/>
              </a:buClr>
              <a:defRPr/>
            </a:pPr>
            <a:r>
              <a:rPr/>
              <a:t>Avantage</a:t>
            </a:r>
            <a:endParaRPr/>
          </a:p>
          <a:p>
            <a:pPr lvl="1">
              <a:buClr>
                <a:srgbClr val="000000"/>
              </a:buClr>
              <a:defRPr/>
            </a:pPr>
            <a:r>
              <a:rPr/>
              <a:t>Robustesse et tolérance aux pannes</a:t>
            </a:r>
            <a:endParaRPr/>
          </a:p>
          <a:p>
            <a:pPr>
              <a:buClr>
                <a:srgbClr val="000000"/>
              </a:buClr>
              <a:defRPr/>
            </a:pPr>
            <a:r>
              <a:rPr/>
              <a:t>Inconvénients </a:t>
            </a:r>
            <a:endParaRPr/>
          </a:p>
          <a:p>
            <a:pPr lvl="1">
              <a:defRPr/>
            </a:pPr>
            <a:r>
              <a:rPr/>
              <a:t>Nécessite un niveau élevé d’</a:t>
            </a:r>
            <a:r>
              <a:rPr>
                <a:solidFill>
                  <a:schemeClr val="accent5"/>
                </a:solidFill>
              </a:rPr>
              <a:t>inter-opérabilité</a:t>
            </a:r>
            <a:r>
              <a:rPr/>
              <a:t> entre les équipements réseaux</a:t>
            </a:r>
            <a:endParaRPr/>
          </a:p>
          <a:p>
            <a:pPr lvl="1">
              <a:defRPr/>
            </a:pPr>
            <a:r>
              <a:rPr>
                <a:solidFill>
                  <a:schemeClr val="accent5"/>
                </a:solidFill>
              </a:rPr>
              <a:t>Complexe de “forcer” des opérations</a:t>
            </a:r>
            <a:r>
              <a:rPr/>
              <a:t> du plan de contrôle</a:t>
            </a:r>
            <a:endParaRPr/>
          </a:p>
        </p:txBody>
      </p:sp>
      <p:sp>
        <p:nvSpPr>
          <p:cNvPr id="16090425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9483C062-78BC-46DF-A4EA-78B28625F94B}" type="slidenum">
              <a:rPr/>
              <a:t/>
            </a:fld>
            <a:endParaRPr/>
          </a:p>
        </p:txBody>
      </p:sp>
      <p:sp>
        <p:nvSpPr>
          <p:cNvPr id="160901891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AB03BB3-AF32-F852-771B-5680EF4074E6}" type="datetime1">
              <a:rPr lang="fr-FR"/>
              <a:t/>
            </a:fld>
            <a:endParaRPr/>
          </a:p>
        </p:txBody>
      </p:sp>
      <p:sp>
        <p:nvSpPr>
          <p:cNvPr id="93925059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24097423" name="Group"/>
          <p:cNvGrpSpPr/>
          <p:nvPr/>
        </p:nvGrpSpPr>
        <p:grpSpPr bwMode="auto">
          <a:xfrm>
            <a:off x="3136969" y="2921030"/>
            <a:ext cx="7245547" cy="4178239"/>
            <a:chOff x="0" y="0"/>
            <a:chExt cx="7245545" cy="4178238"/>
          </a:xfrm>
        </p:grpSpPr>
        <p:pic>
          <p:nvPicPr>
            <p:cNvPr id="1160287044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7602854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088401425" name="Exemple d’ingénierie de trafic (1)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Exemple d’ingénierie de trafic (1)</a:t>
            </a:r>
            <a:endParaRPr/>
          </a:p>
        </p:txBody>
      </p:sp>
      <p:sp>
        <p:nvSpPr>
          <p:cNvPr id="242705837" name="Action de l’administrateur sur le plan de contrôle…"/>
          <p:cNvSpPr txBox="1">
            <a:spLocks noGrp="1"/>
          </p:cNvSpPr>
          <p:nvPr>
            <p:ph type="body" sz="half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 marL="551814" indent="-351154" defTabSz="361188">
              <a:lnSpc>
                <a:spcPct val="70000"/>
              </a:lnSpc>
              <a:spcBef>
                <a:spcPts val="1399"/>
              </a:spcBef>
              <a:defRPr sz="2200"/>
            </a:pPr>
            <a:r>
              <a:rPr/>
              <a:t>Action de l’administrateur sur le plan de contrôle </a:t>
            </a:r>
            <a:endParaRPr/>
          </a:p>
          <a:p>
            <a:pPr marL="822704" lvl="1" indent="-351154" defTabSz="361188">
              <a:lnSpc>
                <a:spcPct val="70000"/>
              </a:lnSpc>
              <a:spcBef>
                <a:spcPts val="1399"/>
              </a:spcBef>
              <a:defRPr sz="2200"/>
            </a:pPr>
            <a:r>
              <a:rPr/>
              <a:t>pour forcer un changement </a:t>
            </a:r>
            <a:endParaRPr/>
          </a:p>
          <a:p>
            <a:pPr marL="551814" indent="-351154" defTabSz="361188">
              <a:lnSpc>
                <a:spcPct val="70000"/>
              </a:lnSpc>
              <a:spcBef>
                <a:spcPts val="1399"/>
              </a:spcBef>
              <a:defRPr sz="2200"/>
            </a:pPr>
            <a:r>
              <a:rPr/>
              <a:t>Scénario</a:t>
            </a:r>
            <a:endParaRPr/>
          </a:p>
          <a:p>
            <a:pPr marL="822704" lvl="1" indent="-351154" defTabSz="361188">
              <a:lnSpc>
                <a:spcPct val="70000"/>
              </a:lnSpc>
              <a:spcBef>
                <a:spcPts val="1399"/>
              </a:spcBef>
              <a:defRPr sz="2200"/>
            </a:pPr>
            <a:r>
              <a:rPr/>
              <a:t>Le lien Nord-Est </a:t>
            </a:r>
            <a:r>
              <a:rPr>
                <a:solidFill>
                  <a:schemeClr val="accent5"/>
                </a:solidFill>
              </a:rPr>
              <a:t>sature</a:t>
            </a:r>
            <a:endParaRPr/>
          </a:p>
          <a:p>
            <a:pPr marL="822704" lvl="1" indent="-351154" defTabSz="361188">
              <a:lnSpc>
                <a:spcPct val="70000"/>
              </a:lnSpc>
              <a:spcBef>
                <a:spcPts val="1399"/>
              </a:spcBef>
              <a:defRPr sz="2200"/>
            </a:pPr>
            <a:r>
              <a:rPr/>
              <a:t>Comment</a:t>
            </a:r>
            <a:r>
              <a:rPr>
                <a:solidFill>
                  <a:schemeClr val="accent5"/>
                </a:solidFill>
              </a:rPr>
              <a:t> </a:t>
            </a:r>
            <a:r>
              <a:rPr/>
              <a:t>re-router le trafic pour éviter la congestion ?</a:t>
            </a:r>
            <a:endParaRPr/>
          </a:p>
        </p:txBody>
      </p:sp>
      <p:sp>
        <p:nvSpPr>
          <p:cNvPr id="487519870" name="Line"/>
          <p:cNvSpPr/>
          <p:nvPr/>
        </p:nvSpPr>
        <p:spPr bwMode="auto">
          <a:xfrm>
            <a:off x="6352274" y="4601351"/>
            <a:ext cx="392571" cy="1256589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48744417" name="Line"/>
          <p:cNvSpPr/>
          <p:nvPr/>
        </p:nvSpPr>
        <p:spPr bwMode="auto">
          <a:xfrm flipH="1">
            <a:off x="4793529" y="4589310"/>
            <a:ext cx="982513" cy="54615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6515865" name="Line"/>
          <p:cNvSpPr/>
          <p:nvPr/>
        </p:nvSpPr>
        <p:spPr bwMode="auto">
          <a:xfrm flipH="1">
            <a:off x="6848399" y="5222108"/>
            <a:ext cx="2186566" cy="64717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650969552" name="Line"/>
          <p:cNvSpPr/>
          <p:nvPr/>
        </p:nvSpPr>
        <p:spPr bwMode="auto">
          <a:xfrm flipH="1" flipV="1">
            <a:off x="4902177" y="5446460"/>
            <a:ext cx="1424773" cy="45948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16370011" name="1"/>
          <p:cNvSpPr txBox="1"/>
          <p:nvPr/>
        </p:nvSpPr>
        <p:spPr bwMode="auto">
          <a:xfrm>
            <a:off x="5143500" y="4513250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1771775448" name="1"/>
          <p:cNvSpPr txBox="1"/>
          <p:nvPr/>
        </p:nvSpPr>
        <p:spPr bwMode="auto">
          <a:xfrm>
            <a:off x="5326380" y="5684644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251156505" name="3"/>
          <p:cNvSpPr txBox="1"/>
          <p:nvPr/>
        </p:nvSpPr>
        <p:spPr bwMode="auto">
          <a:xfrm>
            <a:off x="7873064" y="5470462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3</a:t>
            </a:r>
            <a:endParaRPr/>
          </a:p>
        </p:txBody>
      </p:sp>
      <p:sp>
        <p:nvSpPr>
          <p:cNvPr id="1248457138" name="1"/>
          <p:cNvSpPr txBox="1"/>
          <p:nvPr/>
        </p:nvSpPr>
        <p:spPr bwMode="auto">
          <a:xfrm>
            <a:off x="6599721" y="4943231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pic>
        <p:nvPicPr>
          <p:cNvPr id="1362966864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516363" y="4758457"/>
            <a:ext cx="1082388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682189387" name="Line"/>
          <p:cNvSpPr/>
          <p:nvPr/>
        </p:nvSpPr>
        <p:spPr bwMode="auto">
          <a:xfrm flipH="1">
            <a:off x="9713521" y="5160621"/>
            <a:ext cx="1054085" cy="0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99948711" name="1"/>
          <p:cNvSpPr txBox="1"/>
          <p:nvPr/>
        </p:nvSpPr>
        <p:spPr bwMode="auto">
          <a:xfrm>
            <a:off x="7598744" y="4316769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904576237" name="Line"/>
          <p:cNvSpPr/>
          <p:nvPr/>
        </p:nvSpPr>
        <p:spPr bwMode="auto">
          <a:xfrm flipH="1">
            <a:off x="2767565" y="5268027"/>
            <a:ext cx="1612733" cy="0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2115669730" name="droppedImage.png" descr="dropped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135027" y="4862129"/>
            <a:ext cx="702090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87598771" name="1"/>
          <p:cNvSpPr txBox="1"/>
          <p:nvPr/>
        </p:nvSpPr>
        <p:spPr bwMode="auto">
          <a:xfrm>
            <a:off x="3413912" y="4901664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388959670" name="Line"/>
          <p:cNvSpPr/>
          <p:nvPr/>
        </p:nvSpPr>
        <p:spPr bwMode="auto">
          <a:xfrm flipH="1" flipV="1">
            <a:off x="6504370" y="4455992"/>
            <a:ext cx="2311814" cy="54366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69718385" name="Line"/>
          <p:cNvSpPr/>
          <p:nvPr/>
        </p:nvSpPr>
        <p:spPr bwMode="auto">
          <a:xfrm flipH="1" flipV="1">
            <a:off x="6428170" y="4444562"/>
            <a:ext cx="2385690" cy="545000"/>
          </a:xfrm>
          <a:prstGeom prst="lin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230442232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8718513" y="4914003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765062976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5710875" y="4224392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88747657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4310521" y="5055909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314959931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6152835" y="5648549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631924084" name="Line"/>
          <p:cNvSpPr/>
          <p:nvPr/>
        </p:nvSpPr>
        <p:spPr bwMode="auto">
          <a:xfrm>
            <a:off x="2899186" y="4593449"/>
            <a:ext cx="7775704" cy="778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385"/>
                </a:moveTo>
                <a:lnTo>
                  <a:pt x="5181" y="21600"/>
                </a:lnTo>
                <a:lnTo>
                  <a:pt x="9500" y="0"/>
                </a:lnTo>
                <a:lnTo>
                  <a:pt x="16745" y="18487"/>
                </a:lnTo>
                <a:lnTo>
                  <a:pt x="21600" y="19035"/>
                </a:lnTo>
              </a:path>
            </a:pathLst>
          </a:custGeom>
          <a:ln w="38100">
            <a:solidFill>
              <a:schemeClr val="accent2"/>
            </a:solidFill>
            <a:miter lim="400000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5779731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1D3497E-ED98-873D-A967-9EAE77341C8F}" type="slidenum">
              <a:rPr/>
              <a:t/>
            </a:fld>
            <a:endParaRPr/>
          </a:p>
        </p:txBody>
      </p:sp>
      <p:sp>
        <p:nvSpPr>
          <p:cNvPr id="127035097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5524DAC-E6AD-DD8F-6B13-0E8B7A5C9971}" type="datetime1">
              <a:rPr lang="fr-FR"/>
              <a:t/>
            </a:fld>
            <a:endParaRPr/>
          </a:p>
        </p:txBody>
      </p:sp>
      <p:sp>
        <p:nvSpPr>
          <p:cNvPr id="46887371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95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569718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959670" grpId="1" animBg="1"/>
      <p:bldP spid="569718385" grpId="2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77172099" name="Group"/>
          <p:cNvGrpSpPr/>
          <p:nvPr/>
        </p:nvGrpSpPr>
        <p:grpSpPr bwMode="auto">
          <a:xfrm>
            <a:off x="3136969" y="539780"/>
            <a:ext cx="7245547" cy="4178239"/>
            <a:chOff x="0" y="0"/>
            <a:chExt cx="7245545" cy="4178238"/>
          </a:xfrm>
        </p:grpSpPr>
        <p:pic>
          <p:nvPicPr>
            <p:cNvPr id="1141710960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47123322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711370839" name="Exemple d’ingénierie de trafic (2)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Exemple d’ingénierie de trafic (2)</a:t>
            </a:r>
            <a:endParaRPr/>
          </a:p>
        </p:txBody>
      </p:sp>
      <p:sp>
        <p:nvSpPr>
          <p:cNvPr id="1166890843" name="L’administrateur augmente “manuellement” le poids du lien Nord-Est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188720" y="4801437"/>
            <a:ext cx="9814558" cy="1641674"/>
          </a:xfrm>
          <a:prstGeom prst="rect">
            <a:avLst/>
          </a:prstGeom>
        </p:spPr>
        <p:txBody>
          <a:bodyPr/>
          <a:lstStyle/>
          <a:p>
            <a:pPr marL="523874" indent="-333374" defTabSz="342900">
              <a:spcBef>
                <a:spcPts val="1299"/>
              </a:spcBef>
              <a:defRPr sz="2100"/>
            </a:pPr>
            <a:r>
              <a:rPr/>
              <a:t>L’administrateur augmente “manuellement” le poids du lien Nord-Est </a:t>
            </a:r>
            <a:endParaRPr/>
          </a:p>
          <a:p>
            <a:pPr marL="781049" lvl="1" indent="-333374" defTabSz="342900">
              <a:spcBef>
                <a:spcPts val="1299"/>
              </a:spcBef>
              <a:buSzPct val="120000"/>
              <a:defRPr sz="2100"/>
            </a:pPr>
            <a:r>
              <a:rPr/>
              <a:t>Ce qui agira sur le routage dynamique</a:t>
            </a:r>
            <a:endParaRPr/>
          </a:p>
          <a:p>
            <a:pPr marL="781049" lvl="1" indent="-333374" defTabSz="342900">
              <a:spcBef>
                <a:spcPts val="1299"/>
              </a:spcBef>
              <a:buSzPct val="120000"/>
              <a:defRPr sz="2100"/>
            </a:pPr>
            <a:r>
              <a:rPr/>
              <a:t>Et re-routera le trafic par le sud </a:t>
            </a:r>
            <a:endParaRPr/>
          </a:p>
          <a:p>
            <a:pPr marL="523874" indent="-333374" defTabSz="342900">
              <a:spcBef>
                <a:spcPts val="1299"/>
              </a:spcBef>
              <a:defRPr sz="2100"/>
            </a:pPr>
            <a:r>
              <a:rPr/>
              <a:t>Ça fonctionne mais …</a:t>
            </a:r>
            <a:endParaRPr/>
          </a:p>
        </p:txBody>
      </p:sp>
      <p:sp>
        <p:nvSpPr>
          <p:cNvPr id="1438130426" name="Line"/>
          <p:cNvSpPr/>
          <p:nvPr/>
        </p:nvSpPr>
        <p:spPr bwMode="auto">
          <a:xfrm flipH="1">
            <a:off x="6848399" y="3019030"/>
            <a:ext cx="1881828" cy="560587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06641665" name="Line"/>
          <p:cNvSpPr/>
          <p:nvPr/>
        </p:nvSpPr>
        <p:spPr bwMode="auto">
          <a:xfrm flipH="1" flipV="1">
            <a:off x="6428170" y="2154898"/>
            <a:ext cx="2722288" cy="62577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883481661" name="1"/>
          <p:cNvSpPr txBox="1"/>
          <p:nvPr/>
        </p:nvSpPr>
        <p:spPr bwMode="auto">
          <a:xfrm>
            <a:off x="5143500" y="2223587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372384857" name="1"/>
          <p:cNvSpPr txBox="1"/>
          <p:nvPr/>
        </p:nvSpPr>
        <p:spPr bwMode="auto">
          <a:xfrm>
            <a:off x="5326380" y="3394980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840865497" name="3"/>
          <p:cNvSpPr txBox="1"/>
          <p:nvPr/>
        </p:nvSpPr>
        <p:spPr bwMode="auto">
          <a:xfrm>
            <a:off x="7873064" y="3180798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3</a:t>
            </a:r>
            <a:endParaRPr/>
          </a:p>
        </p:txBody>
      </p:sp>
      <p:sp>
        <p:nvSpPr>
          <p:cNvPr id="1871325469" name="1"/>
          <p:cNvSpPr txBox="1"/>
          <p:nvPr/>
        </p:nvSpPr>
        <p:spPr bwMode="auto">
          <a:xfrm>
            <a:off x="6599721" y="2653567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1976170099" name="1→5"/>
          <p:cNvSpPr txBox="1"/>
          <p:nvPr/>
        </p:nvSpPr>
        <p:spPr bwMode="auto">
          <a:xfrm>
            <a:off x="7598744" y="2024426"/>
            <a:ext cx="868681" cy="416838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/>
          <a:p>
            <a:pPr>
              <a:defRPr sz="2400">
                <a:solidFill>
                  <a:srgbClr val="53585F"/>
                </a:solidFill>
              </a:defRPr>
            </a:pPr>
            <a:r>
              <a:rPr/>
              <a:t>1</a:t>
            </a:r>
            <a:r>
              <a:rPr>
                <a:solidFill>
                  <a:schemeClr val="accent5"/>
                </a:solidFill>
              </a:rPr>
              <a:t>→5</a:t>
            </a:r>
            <a:endParaRPr/>
          </a:p>
        </p:txBody>
      </p:sp>
      <p:sp>
        <p:nvSpPr>
          <p:cNvPr id="272137511" name="Oval"/>
          <p:cNvSpPr/>
          <p:nvPr/>
        </p:nvSpPr>
        <p:spPr bwMode="auto">
          <a:xfrm>
            <a:off x="7475220" y="2035855"/>
            <a:ext cx="1238965" cy="400975"/>
          </a:xfrm>
          <a:prstGeom prst="ellipse">
            <a:avLst/>
          </a:prstGeom>
          <a:ln w="25400">
            <a:solidFill>
              <a:schemeClr val="accent5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866167073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516363" y="2468794"/>
            <a:ext cx="1082388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74434982" name="Line"/>
          <p:cNvSpPr/>
          <p:nvPr/>
        </p:nvSpPr>
        <p:spPr bwMode="auto">
          <a:xfrm flipH="1">
            <a:off x="9713521" y="2870956"/>
            <a:ext cx="1054085" cy="0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00433115" name="Line"/>
          <p:cNvSpPr/>
          <p:nvPr/>
        </p:nvSpPr>
        <p:spPr bwMode="auto">
          <a:xfrm flipH="1" flipV="1">
            <a:off x="6519610" y="2166328"/>
            <a:ext cx="2311814" cy="54366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15238932" name="1"/>
          <p:cNvSpPr txBox="1"/>
          <p:nvPr/>
        </p:nvSpPr>
        <p:spPr bwMode="auto">
          <a:xfrm>
            <a:off x="7598744" y="2027106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912315972" name="Line"/>
          <p:cNvSpPr/>
          <p:nvPr/>
        </p:nvSpPr>
        <p:spPr bwMode="auto">
          <a:xfrm flipH="1">
            <a:off x="4793529" y="2299647"/>
            <a:ext cx="982513" cy="54615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52080497" name="Line"/>
          <p:cNvSpPr/>
          <p:nvPr/>
        </p:nvSpPr>
        <p:spPr bwMode="auto">
          <a:xfrm flipH="1" flipV="1">
            <a:off x="4902177" y="3156796"/>
            <a:ext cx="1424773" cy="45948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91367526" name="Line"/>
          <p:cNvSpPr/>
          <p:nvPr/>
        </p:nvSpPr>
        <p:spPr bwMode="auto">
          <a:xfrm>
            <a:off x="6352274" y="2311687"/>
            <a:ext cx="392571" cy="1256589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55309484" name="Line"/>
          <p:cNvSpPr/>
          <p:nvPr/>
        </p:nvSpPr>
        <p:spPr bwMode="auto">
          <a:xfrm flipH="1">
            <a:off x="2767565" y="2978363"/>
            <a:ext cx="1612733" cy="0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695373231" name="droppedImage.png" descr="dropped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135027" y="2572465"/>
            <a:ext cx="702090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220207761" name="1"/>
          <p:cNvSpPr txBox="1"/>
          <p:nvPr/>
        </p:nvSpPr>
        <p:spPr bwMode="auto">
          <a:xfrm>
            <a:off x="3413912" y="2612001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pic>
        <p:nvPicPr>
          <p:cNvPr id="1794642365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8718513" y="2624339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16522718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5710875" y="1934728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48726774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4310521" y="2766246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10224267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6152835" y="3358885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873569436" name="Line"/>
          <p:cNvSpPr/>
          <p:nvPr/>
        </p:nvSpPr>
        <p:spPr bwMode="auto">
          <a:xfrm>
            <a:off x="2899186" y="2988795"/>
            <a:ext cx="7775704" cy="759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451"/>
                </a:moveTo>
                <a:lnTo>
                  <a:pt x="4380" y="2146"/>
                </a:lnTo>
                <a:lnTo>
                  <a:pt x="7274" y="13509"/>
                </a:lnTo>
                <a:lnTo>
                  <a:pt x="10043" y="21600"/>
                </a:lnTo>
                <a:cubicBezTo>
                  <a:pt x="11726" y="18565"/>
                  <a:pt x="13361" y="14175"/>
                  <a:pt x="14924" y="8503"/>
                </a:cubicBezTo>
                <a:cubicBezTo>
                  <a:pt x="15634" y="5926"/>
                  <a:pt x="16327" y="3088"/>
                  <a:pt x="17002" y="0"/>
                </a:cubicBezTo>
                <a:lnTo>
                  <a:pt x="21600" y="40"/>
                </a:lnTo>
              </a:path>
            </a:pathLst>
          </a:custGeom>
          <a:ln w="38100">
            <a:solidFill>
              <a:schemeClr val="accent2"/>
            </a:solidFill>
            <a:miter lim="400000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3731194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01578FC-5A1E-8EEA-E7A6-40822E5F8EEF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7617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7213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433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7356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170099" grpId="1" animBg="1"/>
      <p:bldP spid="272137511" grpId="2" animBg="1"/>
      <p:bldP spid="500433115" grpId="3" animBg="1"/>
      <p:bldP spid="1873569436" grpId="4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85603825" name="Group"/>
          <p:cNvGrpSpPr/>
          <p:nvPr/>
        </p:nvGrpSpPr>
        <p:grpSpPr bwMode="auto">
          <a:xfrm>
            <a:off x="3136969" y="539780"/>
            <a:ext cx="7245547" cy="4178239"/>
            <a:chOff x="0" y="0"/>
            <a:chExt cx="7245545" cy="4178238"/>
          </a:xfrm>
        </p:grpSpPr>
        <p:pic>
          <p:nvPicPr>
            <p:cNvPr id="2094458905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93352930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602266173" name="Exemple d’ingénierie de trafic (3)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Exemple d’ingénierie de trafic (3)</a:t>
            </a:r>
            <a:endParaRPr/>
          </a:p>
        </p:txBody>
      </p:sp>
      <p:sp>
        <p:nvSpPr>
          <p:cNvPr id="1873208074" name="Inconvénients…"/>
          <p:cNvSpPr txBox="1">
            <a:spLocks noGrp="1"/>
          </p:cNvSpPr>
          <p:nvPr>
            <p:ph type="body" sz="half" idx="1"/>
          </p:nvPr>
        </p:nvSpPr>
        <p:spPr bwMode="auto">
          <a:xfrm>
            <a:off x="1188720" y="4661250"/>
            <a:ext cx="10408035" cy="1975588"/>
          </a:xfrm>
          <a:prstGeom prst="rect">
            <a:avLst/>
          </a:prstGeom>
        </p:spPr>
        <p:txBody>
          <a:bodyPr/>
          <a:lstStyle/>
          <a:p>
            <a:pPr marL="474979" indent="-302259" defTabSz="310894">
              <a:lnSpc>
                <a:spcPct val="70000"/>
              </a:lnSpc>
              <a:spcBef>
                <a:spcPts val="1199"/>
              </a:spcBef>
              <a:defRPr sz="1900"/>
            </a:pPr>
            <a:r>
              <a:rPr/>
              <a:t>Inconvénients</a:t>
            </a:r>
            <a:endParaRPr/>
          </a:p>
          <a:p>
            <a:pPr marL="708151" lvl="1" indent="-302259" defTabSz="310894">
              <a:lnSpc>
                <a:spcPct val="70000"/>
              </a:lnSpc>
              <a:spcBef>
                <a:spcPts val="1199"/>
              </a:spcBef>
              <a:buSzPct val="120000"/>
              <a:defRPr sz="1900"/>
            </a:pPr>
            <a:r>
              <a:rPr>
                <a:solidFill>
                  <a:schemeClr val="accent5"/>
                </a:solidFill>
              </a:rPr>
              <a:t>Non-automatique</a:t>
            </a:r>
            <a:r>
              <a:rPr/>
              <a:t> → lent et propice aux erreurs humaines</a:t>
            </a:r>
            <a:endParaRPr/>
          </a:p>
          <a:p>
            <a:pPr marL="708151" lvl="1" indent="-302259" defTabSz="310894">
              <a:lnSpc>
                <a:spcPct val="70000"/>
              </a:lnSpc>
              <a:spcBef>
                <a:spcPts val="1199"/>
              </a:spcBef>
              <a:buSzPct val="120000"/>
              <a:defRPr sz="1900"/>
            </a:pPr>
            <a:r>
              <a:rPr>
                <a:solidFill>
                  <a:schemeClr val="accent5"/>
                </a:solidFill>
              </a:rPr>
              <a:t>Complexe</a:t>
            </a:r>
            <a:r>
              <a:rPr/>
              <a:t> (pas sur cet exemple très simple)</a:t>
            </a:r>
            <a:endParaRPr/>
          </a:p>
          <a:p>
            <a:pPr marL="708151" lvl="1" indent="-302259" defTabSz="310894">
              <a:lnSpc>
                <a:spcPct val="70000"/>
              </a:lnSpc>
              <a:spcBef>
                <a:spcPts val="1199"/>
              </a:spcBef>
              <a:buSzPct val="120000"/>
              <a:defRPr sz="1900"/>
            </a:pPr>
            <a:r>
              <a:rPr>
                <a:solidFill>
                  <a:schemeClr val="accent5"/>
                </a:solidFill>
              </a:rPr>
              <a:t>Incohérence</a:t>
            </a:r>
            <a:r>
              <a:rPr/>
              <a:t> (temporaire) entre les noeuds → boucle de routage </a:t>
            </a:r>
            <a:endParaRPr/>
          </a:p>
          <a:p>
            <a:pPr marL="474979" indent="-302259" defTabSz="310894">
              <a:spcBef>
                <a:spcPts val="1199"/>
              </a:spcBef>
              <a:defRPr sz="1900"/>
            </a:pPr>
            <a:r>
              <a:rPr/>
              <a:t>Peut on penser des réseaux </a:t>
            </a:r>
            <a:r>
              <a:rPr>
                <a:solidFill>
                  <a:schemeClr val="accent5"/>
                </a:solidFill>
              </a:rPr>
              <a:t>sans plan de contrôle distribué</a:t>
            </a:r>
            <a:r>
              <a:rPr/>
              <a:t> ?</a:t>
            </a:r>
            <a:endParaRPr/>
          </a:p>
          <a:p>
            <a:pPr marL="708151" lvl="1" indent="-302259" defTabSz="310894">
              <a:spcBef>
                <a:spcPts val="1199"/>
              </a:spcBef>
              <a:defRPr sz="1900"/>
            </a:pPr>
            <a:r>
              <a:rPr/>
              <a:t>Avec un contrôle </a:t>
            </a:r>
            <a:r>
              <a:rPr>
                <a:solidFill>
                  <a:schemeClr val="accent5"/>
                </a:solidFill>
              </a:rPr>
              <a:t>centralisé</a:t>
            </a:r>
            <a:r>
              <a:rPr/>
              <a:t> dans un </a:t>
            </a:r>
            <a:r>
              <a:rPr>
                <a:solidFill>
                  <a:schemeClr val="accent5"/>
                </a:solidFill>
              </a:rPr>
              <a:t>contrôleur ?</a:t>
            </a:r>
            <a:endParaRPr/>
          </a:p>
        </p:txBody>
      </p:sp>
      <p:sp>
        <p:nvSpPr>
          <p:cNvPr id="541330443" name="Line"/>
          <p:cNvSpPr/>
          <p:nvPr/>
        </p:nvSpPr>
        <p:spPr bwMode="auto">
          <a:xfrm>
            <a:off x="6271029" y="2190254"/>
            <a:ext cx="407654" cy="1260687"/>
          </a:xfrm>
          <a:prstGeom prst="line">
            <a:avLst/>
          </a:prstGeom>
          <a:ln w="25400">
            <a:solidFill>
              <a:srgbClr val="85888D"/>
            </a:solidFill>
            <a:miter lim="400000"/>
            <a:tailEnd type="triangle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491242154" name="Line"/>
          <p:cNvSpPr/>
          <p:nvPr/>
        </p:nvSpPr>
        <p:spPr bwMode="auto">
          <a:xfrm flipH="1">
            <a:off x="6848399" y="3020179"/>
            <a:ext cx="1782349" cy="559438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531862844" name="Line"/>
          <p:cNvSpPr/>
          <p:nvPr/>
        </p:nvSpPr>
        <p:spPr bwMode="auto">
          <a:xfrm flipH="1" flipV="1">
            <a:off x="6428170" y="2154898"/>
            <a:ext cx="2722288" cy="62577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3067778" name="1"/>
          <p:cNvSpPr txBox="1"/>
          <p:nvPr/>
        </p:nvSpPr>
        <p:spPr bwMode="auto">
          <a:xfrm>
            <a:off x="5143500" y="2223587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1910531098" name="1"/>
          <p:cNvSpPr txBox="1"/>
          <p:nvPr/>
        </p:nvSpPr>
        <p:spPr bwMode="auto">
          <a:xfrm>
            <a:off x="5326380" y="3394980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30575474" name="3"/>
          <p:cNvSpPr txBox="1"/>
          <p:nvPr/>
        </p:nvSpPr>
        <p:spPr bwMode="auto">
          <a:xfrm>
            <a:off x="7873064" y="3180798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3</a:t>
            </a:r>
            <a:endParaRPr/>
          </a:p>
        </p:txBody>
      </p:sp>
      <p:sp>
        <p:nvSpPr>
          <p:cNvPr id="2096357206" name="1"/>
          <p:cNvSpPr txBox="1"/>
          <p:nvPr/>
        </p:nvSpPr>
        <p:spPr bwMode="auto">
          <a:xfrm>
            <a:off x="6599721" y="2653567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sp>
        <p:nvSpPr>
          <p:cNvPr id="532789340" name="1→5"/>
          <p:cNvSpPr txBox="1"/>
          <p:nvPr/>
        </p:nvSpPr>
        <p:spPr bwMode="auto">
          <a:xfrm>
            <a:off x="7598744" y="2024426"/>
            <a:ext cx="868681" cy="416838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1→5</a:t>
            </a:r>
            <a:endParaRPr/>
          </a:p>
        </p:txBody>
      </p:sp>
      <p:pic>
        <p:nvPicPr>
          <p:cNvPr id="1737913020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516363" y="2468794"/>
            <a:ext cx="1082388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2005370911" name="Line"/>
          <p:cNvSpPr/>
          <p:nvPr/>
        </p:nvSpPr>
        <p:spPr bwMode="auto">
          <a:xfrm flipH="1">
            <a:off x="9713521" y="2870956"/>
            <a:ext cx="1054085" cy="0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464716672" name="Connection Line"/>
          <p:cNvSpPr/>
          <p:nvPr/>
        </p:nvSpPr>
        <p:spPr bwMode="auto">
          <a:xfrm>
            <a:off x="5904901" y="2443830"/>
            <a:ext cx="515273" cy="9378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7057" h="16208" fill="norm" stroke="1" extrusionOk="0">
                <a:moveTo>
                  <a:pt x="11866" y="1365"/>
                </a:moveTo>
                <a:cubicBezTo>
                  <a:pt x="21600" y="21600"/>
                  <a:pt x="17645" y="21145"/>
                  <a:pt x="0" y="0"/>
                </a:cubicBezTo>
              </a:path>
            </a:pathLst>
          </a:custGeom>
          <a:ln w="38100">
            <a:solidFill>
              <a:schemeClr val="accent5"/>
            </a:solidFill>
            <a:miter lim="400000"/>
            <a:headEnd type="triangle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562104" name="Line"/>
          <p:cNvSpPr/>
          <p:nvPr/>
        </p:nvSpPr>
        <p:spPr bwMode="auto">
          <a:xfrm flipH="1">
            <a:off x="4793529" y="2299647"/>
            <a:ext cx="982513" cy="54615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76696269" name="Line"/>
          <p:cNvSpPr/>
          <p:nvPr/>
        </p:nvSpPr>
        <p:spPr bwMode="auto">
          <a:xfrm flipH="1" flipV="1">
            <a:off x="4902177" y="3156796"/>
            <a:ext cx="1424773" cy="45948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82796538" name="Line"/>
          <p:cNvSpPr/>
          <p:nvPr/>
        </p:nvSpPr>
        <p:spPr bwMode="auto">
          <a:xfrm flipH="1">
            <a:off x="2767565" y="2978363"/>
            <a:ext cx="1612733" cy="0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845103487" name="droppedImage.png" descr="droppedImage.png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135027" y="2572465"/>
            <a:ext cx="702090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1056375211" name="1"/>
          <p:cNvSpPr txBox="1"/>
          <p:nvPr/>
        </p:nvSpPr>
        <p:spPr bwMode="auto">
          <a:xfrm>
            <a:off x="3413912" y="2612001"/>
            <a:ext cx="320041" cy="41148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400">
                <a:solidFill>
                  <a:srgbClr val="53585F"/>
                </a:solidFill>
              </a:defRPr>
            </a:lvl1pPr>
          </a:lstStyle>
          <a:p>
            <a:pPr>
              <a:defRPr/>
            </a:pPr>
            <a:r>
              <a:rPr/>
              <a:t>1</a:t>
            </a:r>
            <a:endParaRPr/>
          </a:p>
        </p:txBody>
      </p:sp>
      <p:pic>
        <p:nvPicPr>
          <p:cNvPr id="1255033647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8718513" y="2624339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7119301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5710875" y="1934728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969493370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4310521" y="2766246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057767147" name="droppedImage.png" descr="droppedImage.png"/>
          <p:cNvPicPr>
            <a:picLocks noChangeAspect="1"/>
          </p:cNvPicPr>
          <p:nvPr/>
        </p:nvPicPr>
        <p:blipFill>
          <a:blip r:embed="rId6"/>
          <a:srcRect l="19053" t="0" r="0" b="7224"/>
          <a:stretch/>
        </p:blipFill>
        <p:spPr bwMode="auto">
          <a:xfrm>
            <a:off x="6152835" y="3358885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189585506" name="Line"/>
          <p:cNvSpPr/>
          <p:nvPr/>
        </p:nvSpPr>
        <p:spPr bwMode="auto">
          <a:xfrm>
            <a:off x="2899186" y="2247723"/>
            <a:ext cx="4116508" cy="14824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053"/>
                </a:moveTo>
                <a:lnTo>
                  <a:pt x="9787" y="12166"/>
                </a:lnTo>
                <a:lnTo>
                  <a:pt x="16722" y="873"/>
                </a:lnTo>
                <a:lnTo>
                  <a:pt x="19289" y="21600"/>
                </a:lnTo>
                <a:lnTo>
                  <a:pt x="21600" y="19759"/>
                </a:lnTo>
                <a:lnTo>
                  <a:pt x="20330" y="10896"/>
                </a:lnTo>
                <a:lnTo>
                  <a:pt x="18625" y="0"/>
                </a:lnTo>
                <a:lnTo>
                  <a:pt x="17065" y="650"/>
                </a:lnTo>
              </a:path>
            </a:pathLst>
          </a:custGeom>
          <a:ln w="38100">
            <a:solidFill>
              <a:schemeClr val="accent2"/>
            </a:solidFill>
            <a:miter lim="400000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89585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585506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7050201" name="Pla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>
              <a:defRPr/>
            </a:pPr>
            <a:r>
              <a:rPr/>
              <a:t>Plan</a:t>
            </a:r>
            <a:endParaRPr/>
          </a:p>
        </p:txBody>
      </p:sp>
      <p:sp>
        <p:nvSpPr>
          <p:cNvPr id="1109025394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/>
            </a:pPr>
            <a:fld id="{0F8FF9BA-CF89-70BA-17E8-2A469753E80D}" type="slidenum">
              <a:rPr/>
              <a:t/>
            </a:fld>
            <a:endParaRPr/>
          </a:p>
        </p:txBody>
      </p:sp>
      <p:sp>
        <p:nvSpPr>
          <p:cNvPr id="124327373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CA9E6A8-7F80-A8E5-B859-816CB51D8EE7}" type="datetime1">
              <a:rPr lang="fr-FR"/>
              <a:t/>
            </a:fld>
            <a:endParaRPr/>
          </a:p>
        </p:txBody>
      </p:sp>
      <p:sp>
        <p:nvSpPr>
          <p:cNvPr id="84208427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1732969086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>
                <a:solidFill>
                  <a:srgbClr val="FF2600"/>
                </a:solidFill>
              </a:defRPr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Introduction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Plan de contrôle &amp; Plan de données</a:t>
            </a:r>
            <a:endParaRPr sz="2800" b="0" u="none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1" i="0" u="sng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OpenFlow et P4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 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NFV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Network slicing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Défis restants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992036" name="Software-Defined Networking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Software-Defined Networking</a:t>
            </a:r>
            <a:endParaRPr/>
          </a:p>
        </p:txBody>
      </p:sp>
      <p:sp>
        <p:nvSpPr>
          <p:cNvPr id="1416274270" name="Propriétés…"/>
          <p:cNvSpPr txBox="1">
            <a:spLocks noGrp="1"/>
          </p:cNvSpPr>
          <p:nvPr>
            <p:ph type="body" idx="1"/>
          </p:nvPr>
        </p:nvSpPr>
        <p:spPr bwMode="auto">
          <a:xfrm flipH="0" flipV="0">
            <a:off x="838198" y="1825624"/>
            <a:ext cx="10515600" cy="3565623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412113" indent="-262253" defTabSz="269746">
              <a:spcBef>
                <a:spcPts val="999"/>
              </a:spcBef>
              <a:defRPr sz="1650"/>
            </a:pPr>
            <a:r>
              <a:rPr/>
              <a:t>Propriétés</a:t>
            </a:r>
            <a:endParaRPr/>
          </a:p>
          <a:p>
            <a:pPr marL="614424" lvl="1" indent="-262253" defTabSz="269746">
              <a:spcBef>
                <a:spcPts val="999"/>
              </a:spcBef>
              <a:defRPr sz="1650"/>
            </a:pPr>
            <a:r>
              <a:rPr/>
              <a:t>Un plan de contrôle centralisé dans un ou plusieurs contrôleurs </a:t>
            </a:r>
            <a:endParaRPr/>
          </a:p>
          <a:p>
            <a:pPr marL="614424" lvl="1" indent="-262253" defTabSz="269746">
              <a:spcBef>
                <a:spcPts val="999"/>
              </a:spcBef>
              <a:defRPr sz="1650"/>
            </a:pPr>
            <a:r>
              <a:rPr/>
              <a:t>Une interface ouverte et universelle pour programmer le plan de données</a:t>
            </a:r>
            <a:endParaRPr/>
          </a:p>
          <a:p>
            <a:pPr marL="614424" lvl="1" indent="-262253" defTabSz="269746">
              <a:spcBef>
                <a:spcPts val="999"/>
              </a:spcBef>
              <a:defRPr sz="1650"/>
            </a:pPr>
            <a:r>
              <a:rPr/>
              <a:t>Des commutateurs plus simples remplacent les routeurs complexes</a:t>
            </a:r>
            <a:endParaRPr/>
          </a:p>
          <a:p>
            <a:pPr marL="412113" indent="-262253" defTabSz="269746">
              <a:spcBef>
                <a:spcPts val="999"/>
              </a:spcBef>
              <a:defRPr sz="1650"/>
            </a:pPr>
            <a:r>
              <a:rPr/>
              <a:t>Fin de l’algorithmie distribuée dans les réseaux mais</a:t>
            </a:r>
            <a:endParaRPr/>
          </a:p>
          <a:p>
            <a:pPr marL="614424" lvl="1" indent="-262253" defTabSz="269746">
              <a:spcBef>
                <a:spcPts val="999"/>
              </a:spcBef>
              <a:defRPr sz="1650"/>
            </a:pPr>
            <a:r>
              <a:rPr/>
              <a:t>Réseaux agiles et programmables</a:t>
            </a:r>
            <a:endParaRPr/>
          </a:p>
          <a:p>
            <a:pPr marL="614424" lvl="1" indent="-262253" defTabSz="269746">
              <a:spcBef>
                <a:spcPts val="999"/>
              </a:spcBef>
              <a:defRPr sz="1650"/>
            </a:pPr>
            <a:r>
              <a:rPr/>
              <a:t>Interface de contrôle simplifiée et universelle</a:t>
            </a:r>
            <a:endParaRPr/>
          </a:p>
          <a:p>
            <a:pPr marL="614424" lvl="1" indent="-262253" defTabSz="269746">
              <a:spcBef>
                <a:spcPts val="999"/>
              </a:spcBef>
              <a:defRPr sz="1650"/>
            </a:pPr>
            <a:r>
              <a:rPr/>
              <a:t>Développement de chaînes de traitement des paquets </a:t>
            </a:r>
            <a:endParaRPr/>
          </a:p>
          <a:p>
            <a:pPr marL="614424" lvl="1" indent="-262253" defTabSz="269746">
              <a:spcBef>
                <a:spcPts val="999"/>
              </a:spcBef>
              <a:defRPr sz="1650"/>
            </a:pPr>
            <a:r>
              <a:rPr/>
              <a:t>Vérification formelle de la politique d’un réseau (absence de boucles, conformité à un SLA, chemin sûrs…)</a:t>
            </a:r>
            <a:endParaRPr/>
          </a:p>
          <a:p>
            <a:pPr marL="614424" lvl="1" indent="-262253" defTabSz="269746">
              <a:spcBef>
                <a:spcPts val="999"/>
              </a:spcBef>
              <a:defRPr sz="1650"/>
            </a:pPr>
            <a:r>
              <a:rPr/>
              <a:t>Intention déclarative : déclaration de politiques (exemple : accès à des services) et mise en oeuvre automatique (et non plus configuration individuelle des équipements) </a:t>
            </a:r>
            <a:endParaRPr/>
          </a:p>
        </p:txBody>
      </p:sp>
      <p:pic>
        <p:nvPicPr>
          <p:cNvPr id="1927556320" name="Image" descr="Image"/>
          <p:cNvPicPr>
            <a:picLocks noChangeAspect="1"/>
          </p:cNvPicPr>
          <p:nvPr/>
        </p:nvPicPr>
        <p:blipFill>
          <a:blip r:embed="rId3"/>
          <a:srcRect l="0" t="0" r="0" b="6625"/>
          <a:stretch/>
        </p:blipFill>
        <p:spPr bwMode="auto">
          <a:xfrm>
            <a:off x="2024537" y="5391249"/>
            <a:ext cx="8142987" cy="1425658"/>
          </a:xfrm>
          <a:prstGeom prst="rect">
            <a:avLst/>
          </a:prstGeom>
          <a:ln w="12700">
            <a:miter lim="400000"/>
          </a:ln>
        </p:spPr>
      </p:pic>
      <p:sp>
        <p:nvSpPr>
          <p:cNvPr id="75987299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2365E10-5DE7-09E2-575C-71DC8FEB5C24}" type="datetime1">
              <a:rPr lang="fr-FR"/>
              <a:t/>
            </a:fld>
            <a:endParaRPr/>
          </a:p>
        </p:txBody>
      </p:sp>
      <p:sp>
        <p:nvSpPr>
          <p:cNvPr id="83538907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157231241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3B8EDD5-BC60-0053-13E2-B81D42639BAE}" type="slidenum">
              <a:rPr lang="fr-FR"/>
              <a:t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49815962" name="Group"/>
          <p:cNvGrpSpPr/>
          <p:nvPr/>
        </p:nvGrpSpPr>
        <p:grpSpPr bwMode="auto">
          <a:xfrm>
            <a:off x="4755996" y="428429"/>
            <a:ext cx="7245547" cy="4178239"/>
            <a:chOff x="0" y="0"/>
            <a:chExt cx="7245545" cy="4178238"/>
          </a:xfrm>
        </p:grpSpPr>
        <p:pic>
          <p:nvPicPr>
            <p:cNvPr id="1637970510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71909792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019481288" name="Software-Defined Networking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Software-Defined Networking</a:t>
            </a:r>
            <a:endParaRPr/>
          </a:p>
        </p:txBody>
      </p:sp>
      <p:sp>
        <p:nvSpPr>
          <p:cNvPr id="575980896" name="Line"/>
          <p:cNvSpPr/>
          <p:nvPr/>
        </p:nvSpPr>
        <p:spPr bwMode="auto">
          <a:xfrm>
            <a:off x="7890057" y="2078903"/>
            <a:ext cx="564340" cy="160662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45493547" name="Line"/>
          <p:cNvSpPr/>
          <p:nvPr/>
        </p:nvSpPr>
        <p:spPr bwMode="auto">
          <a:xfrm flipH="1">
            <a:off x="6667885" y="1918883"/>
            <a:ext cx="1468559" cy="87510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46604515" name="Line"/>
          <p:cNvSpPr/>
          <p:nvPr/>
        </p:nvSpPr>
        <p:spPr bwMode="auto">
          <a:xfrm flipH="1">
            <a:off x="8467428" y="2776132"/>
            <a:ext cx="2186568" cy="69213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68292936" name="Line"/>
          <p:cNvSpPr/>
          <p:nvPr/>
        </p:nvSpPr>
        <p:spPr bwMode="auto">
          <a:xfrm flipH="1" flipV="1">
            <a:off x="8047198" y="2043547"/>
            <a:ext cx="2722288" cy="625775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633722497" name="Line"/>
          <p:cNvSpPr/>
          <p:nvPr/>
        </p:nvSpPr>
        <p:spPr bwMode="auto">
          <a:xfrm flipH="1" flipV="1">
            <a:off x="6477980" y="3045445"/>
            <a:ext cx="1573454" cy="45948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437594661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931947" y="2696432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9427964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409766" y="1884902"/>
            <a:ext cx="1054087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0688317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0335848" y="2582132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2501296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851727" y="3360402"/>
            <a:ext cx="1054087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347804081" name="Connection Line"/>
          <p:cNvSpPr/>
          <p:nvPr/>
        </p:nvSpPr>
        <p:spPr bwMode="auto">
          <a:xfrm>
            <a:off x="3770716" y="2077147"/>
            <a:ext cx="2195271" cy="8037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3569" y="20365"/>
                  <a:pt x="6369" y="13165"/>
                  <a:pt x="0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6925278" name="Connection Line"/>
          <p:cNvSpPr/>
          <p:nvPr/>
        </p:nvSpPr>
        <p:spPr bwMode="auto">
          <a:xfrm>
            <a:off x="3924669" y="1784293"/>
            <a:ext cx="3567844" cy="205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198" fill="norm" stroke="1" extrusionOk="0">
                <a:moveTo>
                  <a:pt x="21600" y="19198"/>
                </a:moveTo>
                <a:cubicBezTo>
                  <a:pt x="15400" y="3716"/>
                  <a:pt x="8200" y="-2402"/>
                  <a:pt x="0" y="844"/>
                </a:cubicBezTo>
              </a:path>
            </a:pathLst>
          </a:custGeom>
          <a:ln w="25400">
            <a:solidFill>
              <a:schemeClr val="accent5"/>
            </a:solidFill>
            <a:miter lim="400000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181098" name="Connection Line"/>
          <p:cNvSpPr/>
          <p:nvPr/>
        </p:nvSpPr>
        <p:spPr bwMode="auto">
          <a:xfrm>
            <a:off x="3923162" y="1994813"/>
            <a:ext cx="6429417" cy="8918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694" fill="norm" stroke="1" extrusionOk="0">
                <a:moveTo>
                  <a:pt x="21600" y="17337"/>
                </a:moveTo>
                <a:cubicBezTo>
                  <a:pt x="14030" y="21600"/>
                  <a:pt x="6830" y="15821"/>
                  <a:pt x="0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221090" name="Connection Line"/>
          <p:cNvSpPr/>
          <p:nvPr/>
        </p:nvSpPr>
        <p:spPr bwMode="auto">
          <a:xfrm>
            <a:off x="3425477" y="2077147"/>
            <a:ext cx="4443959" cy="15679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5" h="19422" fill="norm" stroke="1" extrusionOk="0">
                <a:moveTo>
                  <a:pt x="21545" y="18755"/>
                </a:moveTo>
                <a:cubicBezTo>
                  <a:pt x="7126" y="21600"/>
                  <a:pt x="-55" y="15348"/>
                  <a:pt x="1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390631" name="Rounded Rectangle"/>
          <p:cNvSpPr/>
          <p:nvPr/>
        </p:nvSpPr>
        <p:spPr bwMode="auto">
          <a:xfrm>
            <a:off x="2981687" y="1547439"/>
            <a:ext cx="935355" cy="523942"/>
          </a:xfrm>
          <a:prstGeom prst="roundRect">
            <a:avLst>
              <a:gd name="adj" fmla="val 17529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84447189" name="Contrôleur SDN"/>
          <p:cNvSpPr txBox="1"/>
          <p:nvPr/>
        </p:nvSpPr>
        <p:spPr bwMode="auto">
          <a:xfrm>
            <a:off x="662704" y="1443650"/>
            <a:ext cx="1840575" cy="73152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24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/>
              <a:t>Contrôleur SDN</a:t>
            </a:r>
            <a:endParaRPr/>
          </a:p>
        </p:txBody>
      </p:sp>
      <p:sp>
        <p:nvSpPr>
          <p:cNvPr id="1764444905" name="Contrôleur…"/>
          <p:cNvSpPr txBox="1"/>
          <p:nvPr/>
        </p:nvSpPr>
        <p:spPr bwMode="auto">
          <a:xfrm>
            <a:off x="282115" y="5284318"/>
            <a:ext cx="2601754" cy="137160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/>
          <a:p>
            <a:pPr algn="l">
              <a:defRPr sz="2400">
                <a:solidFill>
                  <a:schemeClr val="accent5"/>
                </a:solidFill>
              </a:defRPr>
            </a:pPr>
            <a:r>
              <a:rPr/>
              <a:t>Contrôleur</a:t>
            </a:r>
            <a:endParaRPr/>
          </a:p>
          <a:p>
            <a:pPr algn="l">
              <a:defRPr sz="2400">
                <a:solidFill>
                  <a:schemeClr val="accent5"/>
                </a:solidFill>
              </a:defRPr>
            </a:pPr>
            <a:r>
              <a:rPr/>
              <a:t>- Intelligent </a:t>
            </a:r>
            <a:endParaRPr/>
          </a:p>
          <a:p>
            <a:pPr algn="l">
              <a:defRPr sz="2400">
                <a:solidFill>
                  <a:schemeClr val="accent5"/>
                </a:solidFill>
              </a:defRPr>
            </a:pPr>
            <a:r>
              <a:rPr/>
              <a:t>- Vue globale</a:t>
            </a:r>
            <a:endParaRPr/>
          </a:p>
          <a:p>
            <a:pPr algn="l">
              <a:defRPr sz="2400">
                <a:solidFill>
                  <a:schemeClr val="accent5"/>
                </a:solidFill>
              </a:defRPr>
            </a:pPr>
            <a:r>
              <a:rPr/>
              <a:t>- Décide de tout</a:t>
            </a:r>
            <a:endParaRPr/>
          </a:p>
        </p:txBody>
      </p:sp>
      <p:sp>
        <p:nvSpPr>
          <p:cNvPr id="597684466" name="Commutateurs (de niveau 3)…"/>
          <p:cNvSpPr txBox="1"/>
          <p:nvPr/>
        </p:nvSpPr>
        <p:spPr bwMode="auto">
          <a:xfrm>
            <a:off x="6447240" y="5118034"/>
            <a:ext cx="4502170" cy="137160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/>
          <a:p>
            <a:pPr algn="l">
              <a:defRPr sz="2400">
                <a:solidFill>
                  <a:schemeClr val="accent1"/>
                </a:solidFill>
              </a:defRPr>
            </a:pPr>
            <a:r>
              <a:rPr/>
              <a:t>Commutateurs (de niveau 3)</a:t>
            </a:r>
            <a:endParaRPr/>
          </a:p>
          <a:p>
            <a:pPr algn="l">
              <a:defRPr sz="2400">
                <a:solidFill>
                  <a:schemeClr val="accent1"/>
                </a:solidFill>
              </a:defRPr>
            </a:pPr>
            <a:r>
              <a:rPr/>
              <a:t>- Simples et rapides</a:t>
            </a:r>
            <a:endParaRPr/>
          </a:p>
          <a:p>
            <a:pPr algn="l">
              <a:defRPr sz="2400">
                <a:solidFill>
                  <a:schemeClr val="accent1"/>
                </a:solidFill>
              </a:defRPr>
            </a:pPr>
            <a:r>
              <a:rPr/>
              <a:t>- Plan de données seulement</a:t>
            </a:r>
            <a:endParaRPr/>
          </a:p>
          <a:p>
            <a:pPr algn="l">
              <a:defRPr sz="2400">
                <a:solidFill>
                  <a:schemeClr val="accent1"/>
                </a:solidFill>
              </a:defRPr>
            </a:pPr>
            <a:r>
              <a:rPr/>
              <a:t>- Ne sont plus des routeurs</a:t>
            </a:r>
            <a:endParaRPr/>
          </a:p>
        </p:txBody>
      </p:sp>
      <p:pic>
        <p:nvPicPr>
          <p:cNvPr id="1605035184" name="droppedImage.png" descr="droppedImage.png"/>
          <p:cNvPicPr>
            <a:picLocks noChangeAspect="1"/>
          </p:cNvPicPr>
          <p:nvPr/>
        </p:nvPicPr>
        <p:blipFill>
          <a:blip r:embed="rId5"/>
          <a:srcRect l="19053" t="0" r="0" b="7224"/>
          <a:stretch/>
        </p:blipFill>
        <p:spPr bwMode="auto">
          <a:xfrm>
            <a:off x="3759940" y="4630122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16343841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594384" y="4647859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800250165" name="Line"/>
          <p:cNvSpPr/>
          <p:nvPr/>
        </p:nvSpPr>
        <p:spPr bwMode="auto">
          <a:xfrm>
            <a:off x="4783487" y="4842621"/>
            <a:ext cx="1605291" cy="0"/>
          </a:xfrm>
          <a:prstGeom prst="line">
            <a:avLst/>
          </a:prstGeom>
          <a:ln w="381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96929237" name="Fin des routeurs (et du routage dynamique)"/>
          <p:cNvSpPr txBox="1"/>
          <p:nvPr/>
        </p:nvSpPr>
        <p:spPr bwMode="auto">
          <a:xfrm>
            <a:off x="3574776" y="5078578"/>
            <a:ext cx="2601754" cy="105156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2400"/>
            </a:lvl1pPr>
          </a:lstStyle>
          <a:p>
            <a:pPr>
              <a:defRPr/>
            </a:pPr>
            <a:r>
              <a:rPr/>
              <a:t>Fin des routeurs (et du routage dynamique)</a:t>
            </a:r>
            <a:endParaRPr/>
          </a:p>
        </p:txBody>
      </p:sp>
      <p:sp>
        <p:nvSpPr>
          <p:cNvPr id="633765300" name="Rounded Rectangle"/>
          <p:cNvSpPr/>
          <p:nvPr/>
        </p:nvSpPr>
        <p:spPr bwMode="auto">
          <a:xfrm>
            <a:off x="720922" y="4580652"/>
            <a:ext cx="935354" cy="523942"/>
          </a:xfrm>
          <a:prstGeom prst="roundRect">
            <a:avLst>
              <a:gd name="adj" fmla="val 17529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68513981" name="Line"/>
          <p:cNvSpPr/>
          <p:nvPr/>
        </p:nvSpPr>
        <p:spPr bwMode="auto">
          <a:xfrm flipV="1">
            <a:off x="3903273" y="4586727"/>
            <a:ext cx="658442" cy="493832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79150084" name="Line"/>
          <p:cNvSpPr/>
          <p:nvPr/>
        </p:nvSpPr>
        <p:spPr bwMode="auto">
          <a:xfrm flipH="1" flipV="1">
            <a:off x="3903273" y="4586727"/>
            <a:ext cx="658442" cy="493832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1776472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81AF961B-E15D-0FEC-0ECD-F172FC5E0F93}" type="slidenum">
              <a:rPr/>
              <a:t/>
            </a:fld>
            <a:endParaRPr/>
          </a:p>
        </p:txBody>
      </p:sp>
      <p:pic>
        <p:nvPicPr>
          <p:cNvPr id="1920124371" name="droppedImage.png" descr="droppedImage.png"/>
          <p:cNvPicPr>
            <a:picLocks noChangeAspect="1"/>
          </p:cNvPicPr>
          <p:nvPr/>
        </p:nvPicPr>
        <p:blipFill>
          <a:blip r:embed="rId5"/>
          <a:srcRect l="19053" t="0" r="0" b="7224"/>
          <a:stretch/>
        </p:blipFill>
        <p:spPr bwMode="auto">
          <a:xfrm>
            <a:off x="10453468" y="2574513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279871243" name="droppedImage.png" descr="droppedImage.png"/>
          <p:cNvPicPr>
            <a:picLocks noChangeAspect="1"/>
          </p:cNvPicPr>
          <p:nvPr/>
        </p:nvPicPr>
        <p:blipFill>
          <a:blip r:embed="rId5"/>
          <a:srcRect l="19053" t="0" r="0" b="7224"/>
          <a:stretch/>
        </p:blipFill>
        <p:spPr bwMode="auto">
          <a:xfrm>
            <a:off x="7445829" y="1884902"/>
            <a:ext cx="944881" cy="4250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398449457" name="droppedImage.png" descr="droppedImage.png"/>
          <p:cNvPicPr>
            <a:picLocks noChangeAspect="1"/>
          </p:cNvPicPr>
          <p:nvPr/>
        </p:nvPicPr>
        <p:blipFill>
          <a:blip r:embed="rId5"/>
          <a:srcRect l="19053" t="0" r="0" b="7224"/>
          <a:stretch/>
        </p:blipFill>
        <p:spPr bwMode="auto">
          <a:xfrm>
            <a:off x="6045474" y="2716418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698745061" name="droppedImage.png" descr="droppedImage.png"/>
          <p:cNvPicPr>
            <a:picLocks noChangeAspect="1"/>
          </p:cNvPicPr>
          <p:nvPr/>
        </p:nvPicPr>
        <p:blipFill>
          <a:blip r:embed="rId5"/>
          <a:srcRect l="19053" t="0" r="0" b="7224"/>
          <a:stretch/>
        </p:blipFill>
        <p:spPr bwMode="auto">
          <a:xfrm>
            <a:off x="7887789" y="3309057"/>
            <a:ext cx="944881" cy="425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7" fill="norm" stroke="1" extrusionOk="0">
                <a:moveTo>
                  <a:pt x="15688" y="0"/>
                </a:moveTo>
                <a:cubicBezTo>
                  <a:pt x="11844" y="0"/>
                  <a:pt x="9758" y="49"/>
                  <a:pt x="9722" y="145"/>
                </a:cubicBezTo>
                <a:cubicBezTo>
                  <a:pt x="9692" y="227"/>
                  <a:pt x="9377" y="290"/>
                  <a:pt x="9025" y="290"/>
                </a:cubicBezTo>
                <a:cubicBezTo>
                  <a:pt x="8673" y="290"/>
                  <a:pt x="7895" y="389"/>
                  <a:pt x="7283" y="508"/>
                </a:cubicBezTo>
                <a:cubicBezTo>
                  <a:pt x="3564" y="1236"/>
                  <a:pt x="837" y="2993"/>
                  <a:pt x="218" y="5063"/>
                </a:cubicBezTo>
                <a:lnTo>
                  <a:pt x="0" y="5771"/>
                </a:lnTo>
                <a:lnTo>
                  <a:pt x="11" y="6642"/>
                </a:lnTo>
                <a:cubicBezTo>
                  <a:pt x="23" y="6996"/>
                  <a:pt x="32" y="7788"/>
                  <a:pt x="44" y="8276"/>
                </a:cubicBezTo>
                <a:cubicBezTo>
                  <a:pt x="61" y="8831"/>
                  <a:pt x="72" y="9625"/>
                  <a:pt x="87" y="10381"/>
                </a:cubicBezTo>
                <a:cubicBezTo>
                  <a:pt x="91" y="10637"/>
                  <a:pt x="94" y="10699"/>
                  <a:pt x="98" y="10980"/>
                </a:cubicBezTo>
                <a:lnTo>
                  <a:pt x="120" y="12650"/>
                </a:lnTo>
                <a:cubicBezTo>
                  <a:pt x="129" y="13420"/>
                  <a:pt x="147" y="13989"/>
                  <a:pt x="152" y="14827"/>
                </a:cubicBezTo>
                <a:lnTo>
                  <a:pt x="163" y="15753"/>
                </a:lnTo>
                <a:lnTo>
                  <a:pt x="174" y="16533"/>
                </a:lnTo>
                <a:lnTo>
                  <a:pt x="544" y="17096"/>
                </a:lnTo>
                <a:cubicBezTo>
                  <a:pt x="639" y="17238"/>
                  <a:pt x="757" y="17380"/>
                  <a:pt x="893" y="17531"/>
                </a:cubicBezTo>
                <a:cubicBezTo>
                  <a:pt x="936" y="17580"/>
                  <a:pt x="987" y="17628"/>
                  <a:pt x="1034" y="17677"/>
                </a:cubicBezTo>
                <a:cubicBezTo>
                  <a:pt x="2058" y="18739"/>
                  <a:pt x="3939" y="19933"/>
                  <a:pt x="5640" y="20562"/>
                </a:cubicBezTo>
                <a:cubicBezTo>
                  <a:pt x="5645" y="20564"/>
                  <a:pt x="5645" y="20578"/>
                  <a:pt x="5650" y="20580"/>
                </a:cubicBezTo>
                <a:cubicBezTo>
                  <a:pt x="5862" y="20659"/>
                  <a:pt x="6088" y="20710"/>
                  <a:pt x="6304" y="20780"/>
                </a:cubicBezTo>
                <a:cubicBezTo>
                  <a:pt x="7828" y="21258"/>
                  <a:pt x="9554" y="21545"/>
                  <a:pt x="11203" y="21597"/>
                </a:cubicBezTo>
                <a:cubicBezTo>
                  <a:pt x="11516" y="21597"/>
                  <a:pt x="11832" y="21600"/>
                  <a:pt x="12139" y="21579"/>
                </a:cubicBezTo>
                <a:cubicBezTo>
                  <a:pt x="12248" y="21571"/>
                  <a:pt x="12283" y="21584"/>
                  <a:pt x="12379" y="21579"/>
                </a:cubicBezTo>
                <a:cubicBezTo>
                  <a:pt x="13016" y="21544"/>
                  <a:pt x="13601" y="21486"/>
                  <a:pt x="13946" y="21415"/>
                </a:cubicBezTo>
                <a:cubicBezTo>
                  <a:pt x="15900" y="21012"/>
                  <a:pt x="17780" y="20158"/>
                  <a:pt x="19031" y="19110"/>
                </a:cubicBezTo>
                <a:cubicBezTo>
                  <a:pt x="19714" y="18538"/>
                  <a:pt x="20765" y="17350"/>
                  <a:pt x="21099" y="16769"/>
                </a:cubicBezTo>
                <a:lnTo>
                  <a:pt x="21339" y="16352"/>
                </a:lnTo>
                <a:lnTo>
                  <a:pt x="21393" y="12178"/>
                </a:lnTo>
                <a:cubicBezTo>
                  <a:pt x="21423" y="9879"/>
                  <a:pt x="21483" y="7955"/>
                  <a:pt x="21524" y="7913"/>
                </a:cubicBezTo>
                <a:cubicBezTo>
                  <a:pt x="21565" y="7870"/>
                  <a:pt x="21600" y="6076"/>
                  <a:pt x="21600" y="3920"/>
                </a:cubicBezTo>
                <a:lnTo>
                  <a:pt x="21600" y="0"/>
                </a:lnTo>
                <a:lnTo>
                  <a:pt x="15688" y="0"/>
                </a:lnTo>
                <a:close/>
              </a:path>
            </a:pathLst>
          </a:cu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1634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079150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597684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96851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0025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6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87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grpId="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0124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44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7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019427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510688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1437594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13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1122501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12039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15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63376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1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1996925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17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21122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1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9" fill="hold"/>
                                        <p:tgtEl>
                                          <p:spTgt spid="34780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19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175918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2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98444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2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764444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7594661" grpId="12" animBg="1"/>
      <p:bldP spid="2019427964" grpId="10" animBg="1"/>
      <p:bldP spid="1510688317" grpId="11" animBg="1"/>
      <p:bldP spid="1122501296" grpId="13" animBg="1"/>
      <p:bldP spid="347804081" grpId="18" animBg="1"/>
      <p:bldP spid="1996925278" grpId="16" animBg="1"/>
      <p:bldP spid="1759181098" grpId="19" animBg="1"/>
      <p:bldP spid="211221090" grpId="17" animBg="1"/>
      <p:bldP spid="1120390631" grpId="14" animBg="1"/>
      <p:bldP spid="984447189" grpId="20" animBg="1"/>
      <p:bldP spid="1764444905" grpId="21" animBg="1"/>
      <p:bldP spid="597684466" grpId="3" animBg="1"/>
      <p:bldP spid="816343841" grpId="1" animBg="1"/>
      <p:bldP spid="800250165" grpId="5" animBg="1"/>
      <p:bldP spid="633765300" grpId="15" animBg="1"/>
      <p:bldP spid="1968513981" grpId="4" animBg="1"/>
      <p:bldP spid="1079150084" grpId="2" animBg="1"/>
      <p:bldP spid="1920124371" grpId="7" animBg="1"/>
      <p:bldP spid="1279871243" grpId="6" animBg="1"/>
      <p:bldP spid="398449457" grpId="8" animBg="1"/>
      <p:bldP spid="1698745061" grpId="9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4527226" name="Routeurs et commutateur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Routeurs et commutateurs</a:t>
            </a:r>
            <a:endParaRPr/>
          </a:p>
        </p:txBody>
      </p:sp>
      <p:sp>
        <p:nvSpPr>
          <p:cNvPr id="1658300856" name="Les routeurs des réseaux IP traditionnels ont 2 fonctions…"/>
          <p:cNvSpPr txBox="1">
            <a:spLocks noGrp="1"/>
          </p:cNvSpPr>
          <p:nvPr>
            <p:ph type="body" idx="1"/>
          </p:nvPr>
        </p:nvSpPr>
        <p:spPr bwMode="auto">
          <a:xfrm flipH="0" flipV="0">
            <a:off x="838198" y="1825624"/>
            <a:ext cx="10780890" cy="4530724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65000" lnSpcReduction="7000"/>
          </a:bodyPr>
          <a:lstStyle/>
          <a:p>
            <a:pPr>
              <a:lnSpc>
                <a:spcPct val="80000"/>
              </a:lnSpc>
              <a:spcBef>
                <a:spcPts val="1499"/>
              </a:spcBef>
              <a:defRPr sz="2400"/>
            </a:pPr>
            <a:r>
              <a:rPr>
                <a:solidFill>
                  <a:schemeClr val="tx1"/>
                </a:solidFill>
              </a:rPr>
              <a:t>L</a:t>
            </a:r>
            <a:r>
              <a:rPr>
                <a:solidFill>
                  <a:schemeClr val="tx1"/>
                </a:solidFill>
              </a:rPr>
              <a:t>es </a:t>
            </a:r>
            <a:r>
              <a:rPr>
                <a:solidFill>
                  <a:schemeClr val="tx1"/>
                </a:solidFill>
              </a:rPr>
              <a:t>routeurs</a:t>
            </a:r>
            <a:r>
              <a:rPr>
                <a:solidFill>
                  <a:schemeClr val="tx1"/>
                </a:solidFill>
              </a:rPr>
              <a:t> des réseaux IP</a:t>
            </a:r>
            <a:r>
              <a:rPr>
                <a:solidFill>
                  <a:schemeClr val="tx1"/>
                </a:solidFill>
              </a:rPr>
              <a:t> traditionnels</a:t>
            </a:r>
            <a:r>
              <a:rPr>
                <a:solidFill>
                  <a:schemeClr val="tx1"/>
                </a:solidFill>
              </a:rPr>
              <a:t> ont 2 fonctions </a:t>
            </a:r>
            <a:endParaRPr>
              <a:solidFill>
                <a:srgbClr val="002060"/>
              </a:solidFill>
            </a:endParaRPr>
          </a:p>
          <a:p>
            <a:pPr lvl="1">
              <a:lnSpc>
                <a:spcPct val="80000"/>
              </a:lnSpc>
              <a:spcBef>
                <a:spcPts val="1499"/>
              </a:spcBef>
              <a:defRPr sz="2400">
                <a:solidFill>
                  <a:schemeClr val="accent5"/>
                </a:solidFill>
              </a:defRPr>
            </a:pPr>
            <a:r>
              <a:rPr>
                <a:solidFill>
                  <a:srgbClr val="C00000"/>
                </a:solidFill>
              </a:rPr>
              <a:t>Commutation</a:t>
            </a:r>
            <a:endParaRPr/>
          </a:p>
          <a:p>
            <a:pPr lvl="2">
              <a:lnSpc>
                <a:spcPct val="80000"/>
              </a:lnSpc>
              <a:spcBef>
                <a:spcPts val="1499"/>
              </a:spcBef>
              <a:defRPr sz="2400">
                <a:solidFill>
                  <a:schemeClr val="accent5"/>
                </a:solidFill>
              </a:defRPr>
            </a:pPr>
            <a:r>
              <a:rPr/>
              <a:t>Lire l’en-tête des paquets</a:t>
            </a:r>
            <a:endParaRPr/>
          </a:p>
          <a:p>
            <a:pPr lvl="2">
              <a:lnSpc>
                <a:spcPct val="80000"/>
              </a:lnSpc>
              <a:spcBef>
                <a:spcPts val="1499"/>
              </a:spcBef>
              <a:defRPr sz="2400"/>
            </a:pPr>
            <a:r>
              <a:rPr/>
              <a:t>Consulter la table d’acheminement (routage)</a:t>
            </a:r>
            <a:endParaRPr/>
          </a:p>
          <a:p>
            <a:pPr lvl="2">
              <a:lnSpc>
                <a:spcPct val="80000"/>
              </a:lnSpc>
              <a:spcBef>
                <a:spcPts val="1499"/>
              </a:spcBef>
              <a:defRPr sz="2400"/>
            </a:pPr>
            <a:r>
              <a:rPr/>
              <a:t>Commuter le paquet</a:t>
            </a:r>
            <a:endParaRPr/>
          </a:p>
          <a:p>
            <a:pPr lvl="1">
              <a:lnSpc>
                <a:spcPct val="80000"/>
              </a:lnSpc>
              <a:spcBef>
                <a:spcPts val="1499"/>
              </a:spcBef>
              <a:defRPr sz="2400">
                <a:solidFill>
                  <a:schemeClr val="accent5"/>
                </a:solidFill>
              </a:defRPr>
            </a:pPr>
            <a:r>
              <a:rPr>
                <a:solidFill>
                  <a:srgbClr val="C00000"/>
                </a:solidFill>
              </a:rPr>
              <a:t>Routage</a:t>
            </a:r>
            <a:endParaRPr/>
          </a:p>
          <a:p>
            <a:pPr lvl="2">
              <a:lnSpc>
                <a:spcPct val="80000"/>
              </a:lnSpc>
              <a:spcBef>
                <a:spcPts val="1499"/>
              </a:spcBef>
              <a:defRPr sz="2400"/>
            </a:pPr>
            <a:r>
              <a:rPr/>
              <a:t>Echanger avec les autres routeurs</a:t>
            </a:r>
            <a:endParaRPr/>
          </a:p>
          <a:p>
            <a:pPr lvl="2">
              <a:lnSpc>
                <a:spcPct val="80000"/>
              </a:lnSpc>
              <a:spcBef>
                <a:spcPts val="1499"/>
              </a:spcBef>
              <a:defRPr sz="2400"/>
            </a:pPr>
            <a:r>
              <a:rPr/>
              <a:t>Exécuter un protocole de routage</a:t>
            </a:r>
            <a:endParaRPr/>
          </a:p>
          <a:p>
            <a:pPr lvl="2">
              <a:lnSpc>
                <a:spcPct val="80000"/>
              </a:lnSpc>
              <a:spcBef>
                <a:spcPts val="1499"/>
              </a:spcBef>
              <a:defRPr sz="2400"/>
            </a:pPr>
            <a:r>
              <a:rPr/>
              <a:t>Remplir les tables d’acheminement</a:t>
            </a:r>
            <a:endParaRPr/>
          </a:p>
          <a:p>
            <a:pPr lvl="0">
              <a:lnSpc>
                <a:spcPct val="80000"/>
              </a:lnSpc>
              <a:spcBef>
                <a:spcPts val="1499"/>
              </a:spcBef>
              <a:defRPr sz="2400"/>
            </a:pPr>
            <a:r>
              <a:rPr>
                <a:solidFill>
                  <a:schemeClr val="tx1"/>
                </a:solidFill>
              </a:rPr>
              <a:t>Les commutateurs des </a:t>
            </a:r>
            <a:r>
              <a:rPr>
                <a:solidFill>
                  <a:schemeClr val="tx1"/>
                </a:solidFill>
              </a:rPr>
              <a:t>réseaux SDN</a:t>
            </a:r>
            <a:r>
              <a:rPr>
                <a:solidFill>
                  <a:schemeClr val="tx1"/>
                </a:solidFill>
              </a:rPr>
              <a:t> ont 1 seule fonction</a:t>
            </a:r>
            <a:endParaRPr/>
          </a:p>
          <a:p>
            <a:pPr marL="977899" lvl="1" indent="-380999">
              <a:lnSpc>
                <a:spcPct val="80000"/>
              </a:lnSpc>
              <a:spcBef>
                <a:spcPts val="1499"/>
              </a:spcBef>
              <a:defRPr sz="2400"/>
            </a:pPr>
            <a:r>
              <a:rPr>
                <a:solidFill>
                  <a:srgbClr val="C00000"/>
                </a:solidFill>
              </a:rPr>
              <a:t>Commutation</a:t>
            </a:r>
            <a:endParaRPr>
              <a:solidFill>
                <a:srgbClr val="C00000"/>
              </a:solidFill>
            </a:endParaRPr>
          </a:p>
          <a:p>
            <a:pPr marL="977899" lvl="1" indent="-380999">
              <a:lnSpc>
                <a:spcPct val="80000"/>
              </a:lnSpc>
              <a:spcBef>
                <a:spcPts val="1499"/>
              </a:spcBef>
              <a:defRPr sz="2400"/>
            </a:pPr>
            <a:r>
              <a:rPr>
                <a:solidFill>
                  <a:srgbClr val="C00000"/>
                </a:solidFill>
              </a:rPr>
              <a:t>Mais ils sont </a:t>
            </a:r>
            <a:r>
              <a:rPr>
                <a:solidFill>
                  <a:srgbClr val="C00000"/>
                </a:solidFill>
              </a:rPr>
              <a:t>programmables</a:t>
            </a:r>
            <a:endParaRPr/>
          </a:p>
        </p:txBody>
      </p:sp>
      <p:sp>
        <p:nvSpPr>
          <p:cNvPr id="917629290" name="Plan de données"/>
          <p:cNvSpPr txBox="1"/>
          <p:nvPr/>
        </p:nvSpPr>
        <p:spPr bwMode="auto">
          <a:xfrm>
            <a:off x="10596133" y="2313680"/>
            <a:ext cx="1645921" cy="4800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>
              <a:defRPr sz="1900"/>
            </a:lvl1pPr>
          </a:lstStyle>
          <a:p>
            <a:pPr>
              <a:defRPr/>
            </a:pPr>
            <a:r>
              <a:rPr/>
              <a:t>Plan de données</a:t>
            </a:r>
            <a:endParaRPr/>
          </a:p>
        </p:txBody>
      </p:sp>
      <p:sp>
        <p:nvSpPr>
          <p:cNvPr id="1707412840" name="Line"/>
          <p:cNvSpPr/>
          <p:nvPr/>
        </p:nvSpPr>
        <p:spPr bwMode="auto">
          <a:xfrm>
            <a:off x="10421655" y="1983042"/>
            <a:ext cx="1" cy="1354263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799" tIns="50799" rIns="50799" bIns="50799" anchor="ctr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52119097" name="Line"/>
          <p:cNvSpPr/>
          <p:nvPr/>
        </p:nvSpPr>
        <p:spPr bwMode="auto">
          <a:xfrm>
            <a:off x="10421655" y="3785751"/>
            <a:ext cx="1" cy="125298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799" tIns="50799" rIns="50799" bIns="50799" anchor="ctr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925735642" name="Plan de contrôle"/>
          <p:cNvSpPr txBox="1"/>
          <p:nvPr/>
        </p:nvSpPr>
        <p:spPr bwMode="auto">
          <a:xfrm>
            <a:off x="10596133" y="4172211"/>
            <a:ext cx="1645921" cy="4800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>
              <a:defRPr sz="1900"/>
            </a:lvl1pPr>
          </a:lstStyle>
          <a:p>
            <a:pPr>
              <a:defRPr/>
            </a:pPr>
            <a:r>
              <a:rPr/>
              <a:t>Plan de contrôle</a:t>
            </a:r>
            <a:endParaRPr/>
          </a:p>
        </p:txBody>
      </p:sp>
      <p:sp>
        <p:nvSpPr>
          <p:cNvPr id="1947184820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695C1FDF-F61B-2306-F42B-6C208F031843}" type="slidenum">
              <a:rPr/>
              <a:t/>
            </a:fld>
            <a:endParaRPr/>
          </a:p>
        </p:txBody>
      </p:sp>
      <p:sp>
        <p:nvSpPr>
          <p:cNvPr id="899711823" name="Plan de données"/>
          <p:cNvSpPr txBox="1"/>
          <p:nvPr/>
        </p:nvSpPr>
        <p:spPr bwMode="auto">
          <a:xfrm>
            <a:off x="10596133" y="5612637"/>
            <a:ext cx="1645921" cy="48006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>
              <a:defRPr sz="1900"/>
            </a:lvl1pPr>
          </a:lstStyle>
          <a:p>
            <a:pPr>
              <a:defRPr/>
            </a:pPr>
            <a:r>
              <a:rPr/>
              <a:t>Plan de données</a:t>
            </a:r>
            <a:endParaRPr/>
          </a:p>
        </p:txBody>
      </p:sp>
      <p:sp>
        <p:nvSpPr>
          <p:cNvPr id="748134749" name="Line"/>
          <p:cNvSpPr/>
          <p:nvPr/>
        </p:nvSpPr>
        <p:spPr bwMode="auto">
          <a:xfrm>
            <a:off x="10405882" y="5487177"/>
            <a:ext cx="1" cy="73098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799" tIns="50799" rIns="50799" bIns="50799" anchor="ctr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34016702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B90B4D2-B75F-5F64-259C-EB3CD3DE2E6F}" type="datetime1">
              <a:rPr lang="fr-FR"/>
              <a:t/>
            </a:fld>
            <a:endParaRPr/>
          </a:p>
        </p:txBody>
      </p:sp>
      <p:sp>
        <p:nvSpPr>
          <p:cNvPr id="127964149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7956138" name="Comment instruire les commutateurs SDN ?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Comment instruire les commutateurs SDN ?</a:t>
            </a:r>
            <a:endParaRPr/>
          </a:p>
        </p:txBody>
      </p:sp>
      <p:sp>
        <p:nvSpPr>
          <p:cNvPr id="562886573" name="Mode Réactif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5000" lnSpcReduction="5000"/>
          </a:bodyPr>
          <a:lstStyle/>
          <a:p>
            <a:pPr marL="551814" indent="-351154" defTabSz="361188">
              <a:spcBef>
                <a:spcPts val="1399"/>
              </a:spcBef>
              <a:defRPr sz="2200"/>
            </a:pPr>
            <a:r>
              <a:rPr/>
              <a:t>Mod</a:t>
            </a:r>
            <a:r>
              <a:rPr>
                <a:solidFill>
                  <a:schemeClr val="tx1"/>
                </a:solidFill>
              </a:rPr>
              <a:t>e </a:t>
            </a:r>
            <a:r>
              <a:rPr>
                <a:solidFill>
                  <a:schemeClr val="tx1"/>
                </a:solidFill>
              </a:rPr>
              <a:t>Réactif</a:t>
            </a:r>
            <a:r>
              <a:rPr>
                <a:solidFill>
                  <a:schemeClr val="tx1"/>
                </a:solidFill>
              </a:rPr>
              <a:t> </a:t>
            </a:r>
            <a:endParaRPr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/>
              <a:t>1er </a:t>
            </a:r>
            <a:r>
              <a:rPr/>
              <a:t>paquet</a:t>
            </a:r>
            <a:r>
              <a:rPr/>
              <a:t> d’un </a:t>
            </a:r>
            <a:r>
              <a:rPr/>
              <a:t>flot</a:t>
            </a:r>
            <a:r>
              <a:rPr/>
              <a:t> : le comm. </a:t>
            </a:r>
            <a:r>
              <a:rPr/>
              <a:t>interroge</a:t>
            </a:r>
            <a:r>
              <a:rPr/>
              <a:t> le </a:t>
            </a:r>
            <a:r>
              <a:rPr/>
              <a:t>contrôleur</a:t>
            </a:r>
            <a:r>
              <a:rPr/>
              <a:t> </a:t>
            </a:r>
            <a:endParaRPr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/>
              <a:t>Le </a:t>
            </a:r>
            <a:r>
              <a:rPr/>
              <a:t>contrôleur</a:t>
            </a:r>
            <a:r>
              <a:rPr/>
              <a:t> </a:t>
            </a:r>
            <a:r>
              <a:rPr/>
              <a:t>décide</a:t>
            </a:r>
            <a:r>
              <a:rPr/>
              <a:t> et </a:t>
            </a:r>
            <a:r>
              <a:rPr/>
              <a:t>en</a:t>
            </a:r>
            <a:r>
              <a:rPr/>
              <a:t> </a:t>
            </a:r>
            <a:r>
              <a:rPr/>
              <a:t>informe</a:t>
            </a:r>
            <a:r>
              <a:rPr/>
              <a:t> les </a:t>
            </a:r>
            <a:r>
              <a:rPr/>
              <a:t>commutateurs</a:t>
            </a:r>
            <a:r>
              <a:rPr/>
              <a:t> </a:t>
            </a:r>
            <a:r>
              <a:rPr/>
              <a:t>concernés</a:t>
            </a:r>
            <a:r>
              <a:rPr/>
              <a:t> </a:t>
            </a:r>
            <a:endParaRPr/>
          </a:p>
          <a:p>
            <a:pPr marL="1093596" lvl="2" indent="-351154" defTabSz="361188">
              <a:spcBef>
                <a:spcPts val="1399"/>
              </a:spcBef>
              <a:defRPr sz="2200"/>
            </a:pPr>
            <a:r>
              <a:rPr/>
              <a:t>Ajoute</a:t>
            </a:r>
            <a:r>
              <a:rPr/>
              <a:t> </a:t>
            </a:r>
            <a:r>
              <a:rPr/>
              <a:t>d’une</a:t>
            </a:r>
            <a:r>
              <a:rPr/>
              <a:t> nouvelle </a:t>
            </a:r>
            <a:r>
              <a:rPr/>
              <a:t>règle</a:t>
            </a:r>
            <a:r>
              <a:rPr/>
              <a:t> dans les tables </a:t>
            </a:r>
            <a:r>
              <a:rPr/>
              <a:t>d’acheminement</a:t>
            </a:r>
            <a:endParaRPr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/>
              <a:t>Réduit</a:t>
            </a:r>
            <a:r>
              <a:rPr/>
              <a:t> la taille des tables </a:t>
            </a:r>
            <a:r>
              <a:rPr/>
              <a:t>mais</a:t>
            </a:r>
            <a:r>
              <a:rPr/>
              <a:t> </a:t>
            </a:r>
            <a:r>
              <a:rPr/>
              <a:t>surcoût</a:t>
            </a:r>
            <a:r>
              <a:rPr/>
              <a:t> </a:t>
            </a:r>
            <a:r>
              <a:rPr/>
              <a:t>additionnel</a:t>
            </a:r>
            <a:endParaRPr/>
          </a:p>
          <a:p>
            <a:pPr marL="551814" indent="-351154" defTabSz="361188">
              <a:spcBef>
                <a:spcPts val="1399"/>
              </a:spcBef>
              <a:defRPr sz="2200"/>
            </a:pPr>
            <a:r>
              <a:rPr/>
              <a:t>Mo</a:t>
            </a:r>
            <a:r>
              <a:rPr>
                <a:solidFill>
                  <a:schemeClr val="tx1"/>
                </a:solidFill>
              </a:rPr>
              <a:t>de </a:t>
            </a:r>
            <a:r>
              <a:rPr>
                <a:solidFill>
                  <a:schemeClr val="tx1"/>
                </a:solidFill>
              </a:rPr>
              <a:t>Pro-</a:t>
            </a:r>
            <a:r>
              <a:rPr>
                <a:solidFill>
                  <a:schemeClr val="tx1"/>
                </a:solidFill>
              </a:rPr>
              <a:t>actif</a:t>
            </a:r>
            <a:r>
              <a:rPr>
                <a:solidFill>
                  <a:schemeClr val="tx1"/>
                </a:solidFill>
              </a:rPr>
              <a:t> </a:t>
            </a:r>
            <a:endParaRPr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/>
              <a:t>Le </a:t>
            </a:r>
            <a:r>
              <a:rPr/>
              <a:t>contrôleur</a:t>
            </a:r>
            <a:r>
              <a:rPr/>
              <a:t> </a:t>
            </a:r>
            <a:r>
              <a:rPr/>
              <a:t>pré-remplit</a:t>
            </a:r>
            <a:r>
              <a:rPr/>
              <a:t> les tables </a:t>
            </a:r>
            <a:r>
              <a:rPr/>
              <a:t>d’acheminement</a:t>
            </a:r>
            <a:r>
              <a:rPr/>
              <a:t> dans les </a:t>
            </a:r>
            <a:r>
              <a:rPr/>
              <a:t>commutateurs</a:t>
            </a:r>
            <a:endParaRPr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/>
              <a:t>Suppose des </a:t>
            </a:r>
            <a:r>
              <a:rPr/>
              <a:t>règles</a:t>
            </a:r>
            <a:r>
              <a:rPr/>
              <a:t> </a:t>
            </a:r>
            <a:r>
              <a:rPr/>
              <a:t>agrégées</a:t>
            </a:r>
            <a:r>
              <a:rPr/>
              <a:t> pour </a:t>
            </a:r>
            <a:r>
              <a:rPr/>
              <a:t>traiter</a:t>
            </a:r>
            <a:r>
              <a:rPr/>
              <a:t> </a:t>
            </a:r>
            <a:r>
              <a:rPr/>
              <a:t>tous</a:t>
            </a:r>
            <a:r>
              <a:rPr/>
              <a:t> les </a:t>
            </a:r>
            <a:r>
              <a:rPr/>
              <a:t>cas</a:t>
            </a:r>
            <a:r>
              <a:rPr/>
              <a:t> possibles</a:t>
            </a:r>
            <a:endParaRPr lang="fr-FR"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 lang="fr-FR"/>
              <a:t>Mise à jour fréquente</a:t>
            </a:r>
            <a:endParaRPr lang="fr-FR"/>
          </a:p>
          <a:p>
            <a:pPr marL="551814" indent="-351154" defTabSz="361188">
              <a:spcBef>
                <a:spcPts val="1399"/>
              </a:spcBef>
              <a:defRPr sz="2200"/>
            </a:pPr>
            <a:r>
              <a:rPr/>
              <a:t>Souvent</a:t>
            </a:r>
            <a:r>
              <a:rPr/>
              <a:t> les 2 modes co-</a:t>
            </a:r>
            <a:r>
              <a:rPr/>
              <a:t>habitent</a:t>
            </a:r>
            <a:endParaRPr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/>
              <a:t>Ensemble de </a:t>
            </a:r>
            <a:r>
              <a:rPr/>
              <a:t>règles</a:t>
            </a:r>
            <a:r>
              <a:rPr/>
              <a:t> </a:t>
            </a:r>
            <a:r>
              <a:rPr/>
              <a:t>pré-établies</a:t>
            </a:r>
            <a:r>
              <a:rPr/>
              <a:t> + exceptions</a:t>
            </a:r>
            <a:endParaRPr/>
          </a:p>
        </p:txBody>
      </p:sp>
      <p:sp>
        <p:nvSpPr>
          <p:cNvPr id="18582939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67532E5-E2C0-DA59-4119-327FDC274F0B}" type="slidenum">
              <a:rPr/>
              <a:t/>
            </a:fld>
            <a:endParaRPr/>
          </a:p>
        </p:txBody>
      </p:sp>
      <p:sp>
        <p:nvSpPr>
          <p:cNvPr id="107337533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BA953B8-6ACA-2F20-37F6-AA570CB8FE3F}" type="datetime1">
              <a:rPr lang="fr-FR"/>
              <a:t/>
            </a:fld>
            <a:endParaRPr/>
          </a:p>
        </p:txBody>
      </p:sp>
      <p:sp>
        <p:nvSpPr>
          <p:cNvPr id="162091631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55869" name="Contrôleur SD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Contrôleur SDN</a:t>
            </a:r>
            <a:endParaRPr/>
          </a:p>
        </p:txBody>
      </p:sp>
      <p:sp>
        <p:nvSpPr>
          <p:cNvPr id="1931999294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B35F7E6-7B0B-0976-30E3-DC93B7839ED4}" type="slidenum">
              <a:rPr/>
              <a:t/>
            </a:fld>
            <a:endParaRPr/>
          </a:p>
        </p:txBody>
      </p:sp>
      <p:sp>
        <p:nvSpPr>
          <p:cNvPr id="336416356" name="Rounded Rectangle"/>
          <p:cNvSpPr/>
          <p:nvPr/>
        </p:nvSpPr>
        <p:spPr bwMode="auto">
          <a:xfrm flipH="0" flipV="0">
            <a:off x="1646704" y="1520190"/>
            <a:ext cx="7846530" cy="2226394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254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75072623" name="Application 1"/>
          <p:cNvSpPr/>
          <p:nvPr/>
        </p:nvSpPr>
        <p:spPr bwMode="auto">
          <a:xfrm flipH="0" flipV="0">
            <a:off x="1805454" y="1680210"/>
            <a:ext cx="2395681" cy="888653"/>
          </a:xfrm>
          <a:prstGeom prst="roundRect">
            <a:avLst>
              <a:gd name="adj" fmla="val 23642"/>
            </a:avLst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Application 1</a:t>
            </a:r>
            <a:endParaRPr/>
          </a:p>
        </p:txBody>
      </p:sp>
      <p:sp>
        <p:nvSpPr>
          <p:cNvPr id="452625680" name="OS"/>
          <p:cNvSpPr/>
          <p:nvPr/>
        </p:nvSpPr>
        <p:spPr bwMode="auto">
          <a:xfrm>
            <a:off x="3677224" y="3052495"/>
            <a:ext cx="5240873" cy="519619"/>
          </a:xfrm>
          <a:prstGeom prst="roundRect">
            <a:avLst>
              <a:gd name="adj" fmla="val 31077"/>
            </a:avLst>
          </a:prstGeom>
          <a:solidFill>
            <a:schemeClr val="accent3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OS</a:t>
            </a:r>
            <a:endParaRPr/>
          </a:p>
        </p:txBody>
      </p:sp>
      <p:sp>
        <p:nvSpPr>
          <p:cNvPr id="1098412623" name="- Topologie du réseau (changements)…"/>
          <p:cNvSpPr txBox="1"/>
          <p:nvPr/>
        </p:nvSpPr>
        <p:spPr bwMode="auto">
          <a:xfrm>
            <a:off x="120117" y="4991360"/>
            <a:ext cx="6058120" cy="146304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l">
              <a:defRPr sz="2600"/>
            </a:pPr>
            <a:r>
              <a:rPr/>
              <a:t>- </a:t>
            </a:r>
            <a:r>
              <a:rPr>
                <a:solidFill>
                  <a:schemeClr val="accent5"/>
                </a:solidFill>
              </a:rPr>
              <a:t>Topologie</a:t>
            </a:r>
            <a:r>
              <a:rPr/>
              <a:t> du </a:t>
            </a:r>
            <a:r>
              <a:rPr/>
              <a:t>réseau</a:t>
            </a:r>
            <a:r>
              <a:rPr/>
              <a:t> (</a:t>
            </a:r>
            <a:r>
              <a:rPr/>
              <a:t>changements</a:t>
            </a:r>
            <a:r>
              <a:rPr/>
              <a:t>)</a:t>
            </a:r>
            <a:endParaRPr/>
          </a:p>
          <a:p>
            <a:pPr algn="l">
              <a:defRPr sz="2600"/>
            </a:pPr>
            <a:r>
              <a:rPr/>
              <a:t>- </a:t>
            </a:r>
            <a:r>
              <a:rPr>
                <a:solidFill>
                  <a:schemeClr val="accent5"/>
                </a:solidFill>
              </a:rPr>
              <a:t>Statistiques</a:t>
            </a:r>
            <a:r>
              <a:rPr/>
              <a:t> sur le </a:t>
            </a:r>
            <a:r>
              <a:rPr/>
              <a:t>trafic</a:t>
            </a:r>
            <a:endParaRPr/>
          </a:p>
          <a:p>
            <a:pPr algn="l">
              <a:defRPr sz="2600"/>
            </a:pPr>
            <a:r>
              <a:rPr/>
              <a:t>- </a:t>
            </a:r>
            <a:r>
              <a:rPr>
                <a:solidFill>
                  <a:schemeClr val="accent5"/>
                </a:solidFill>
              </a:rPr>
              <a:t>1er </a:t>
            </a:r>
            <a:r>
              <a:rPr>
                <a:solidFill>
                  <a:schemeClr val="accent5"/>
                </a:solidFill>
              </a:rPr>
              <a:t>paquets</a:t>
            </a:r>
            <a:r>
              <a:rPr/>
              <a:t> des </a:t>
            </a:r>
            <a:r>
              <a:rPr/>
              <a:t>flots</a:t>
            </a:r>
            <a:r>
              <a:rPr/>
              <a:t> (mode </a:t>
            </a:r>
            <a:r>
              <a:rPr/>
              <a:t>réactif</a:t>
            </a:r>
            <a:r>
              <a:rPr/>
              <a:t>)</a:t>
            </a:r>
            <a:endParaRPr/>
          </a:p>
        </p:txBody>
      </p:sp>
      <p:sp>
        <p:nvSpPr>
          <p:cNvPr id="1861697492" name="- Instructions/Règles à instaurer/révoquer pour l’acheminement des données destinées aux commutateurs"/>
          <p:cNvSpPr txBox="1"/>
          <p:nvPr/>
        </p:nvSpPr>
        <p:spPr bwMode="auto">
          <a:xfrm>
            <a:off x="6748826" y="5150232"/>
            <a:ext cx="5533097" cy="146304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l">
              <a:defRPr sz="2600"/>
            </a:pPr>
            <a:r>
              <a:rPr/>
              <a:t>- </a:t>
            </a:r>
            <a:r>
              <a:rPr>
                <a:solidFill>
                  <a:schemeClr val="accent5"/>
                </a:solidFill>
              </a:rPr>
              <a:t>Instructions/</a:t>
            </a:r>
            <a:r>
              <a:rPr>
                <a:solidFill>
                  <a:schemeClr val="accent5"/>
                </a:solidFill>
              </a:rPr>
              <a:t>Règles</a:t>
            </a:r>
            <a:r>
              <a:rPr/>
              <a:t> à </a:t>
            </a:r>
            <a:r>
              <a:rPr/>
              <a:t>instaurer</a:t>
            </a:r>
            <a:r>
              <a:rPr/>
              <a:t>/</a:t>
            </a:r>
            <a:r>
              <a:rPr/>
              <a:t>révoquer</a:t>
            </a:r>
            <a:r>
              <a:rPr/>
              <a:t> pour </a:t>
            </a:r>
            <a:r>
              <a:rPr/>
              <a:t>l’acheminement</a:t>
            </a:r>
            <a:r>
              <a:rPr/>
              <a:t> des </a:t>
            </a:r>
            <a:r>
              <a:rPr/>
              <a:t>données</a:t>
            </a:r>
            <a:r>
              <a:rPr/>
              <a:t> </a:t>
            </a:r>
            <a:r>
              <a:rPr/>
              <a:t>destinées</a:t>
            </a:r>
            <a:r>
              <a:rPr/>
              <a:t> aux </a:t>
            </a:r>
            <a:r>
              <a:rPr/>
              <a:t>commutateurs</a:t>
            </a:r>
            <a:endParaRPr/>
          </a:p>
        </p:txBody>
      </p:sp>
      <p:sp>
        <p:nvSpPr>
          <p:cNvPr id="1204413424" name="Connection Line"/>
          <p:cNvSpPr/>
          <p:nvPr/>
        </p:nvSpPr>
        <p:spPr bwMode="auto">
          <a:xfrm>
            <a:off x="7765302" y="3768751"/>
            <a:ext cx="1439942" cy="1381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6420" y="11566"/>
                  <a:pt x="9220" y="4366"/>
                  <a:pt x="0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672723" name="Connection Line"/>
          <p:cNvSpPr/>
          <p:nvPr/>
        </p:nvSpPr>
        <p:spPr bwMode="auto">
          <a:xfrm>
            <a:off x="3407792" y="3760925"/>
            <a:ext cx="998249" cy="1230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2234" y="5795"/>
                  <a:pt x="5034" y="12995"/>
                  <a:pt x="0" y="21600"/>
                </a:cubicBez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91599" name="Contrôleur SDN"/>
          <p:cNvSpPr txBox="1"/>
          <p:nvPr/>
        </p:nvSpPr>
        <p:spPr bwMode="auto">
          <a:xfrm>
            <a:off x="143847" y="2173475"/>
            <a:ext cx="2894680" cy="650599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>
              <a:defRPr/>
            </a:pPr>
            <a:r>
              <a:rPr/>
              <a:t>Contrôleur</a:t>
            </a:r>
            <a:endParaRPr/>
          </a:p>
          <a:p>
            <a:pPr>
              <a:defRPr/>
            </a:pPr>
            <a:r>
              <a:rPr/>
              <a:t>SDN</a:t>
            </a:r>
            <a:endParaRPr/>
          </a:p>
        </p:txBody>
      </p:sp>
      <p:sp>
        <p:nvSpPr>
          <p:cNvPr id="1104099944" name="Entrées"/>
          <p:cNvSpPr txBox="1"/>
          <p:nvPr/>
        </p:nvSpPr>
        <p:spPr bwMode="auto">
          <a:xfrm>
            <a:off x="1277716" y="4196662"/>
            <a:ext cx="1635204" cy="50292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/>
          <a:p>
            <a:pPr>
              <a:defRPr/>
            </a:pPr>
            <a:r>
              <a:rPr/>
              <a:t>Entrées</a:t>
            </a:r>
            <a:endParaRPr/>
          </a:p>
        </p:txBody>
      </p:sp>
      <p:sp>
        <p:nvSpPr>
          <p:cNvPr id="1932135153" name="Sorties"/>
          <p:cNvSpPr txBox="1"/>
          <p:nvPr/>
        </p:nvSpPr>
        <p:spPr bwMode="auto">
          <a:xfrm>
            <a:off x="9501022" y="4117225"/>
            <a:ext cx="1523048" cy="50292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/>
          <a:p>
            <a:pPr>
              <a:defRPr/>
            </a:pPr>
            <a:r>
              <a:rPr/>
              <a:t>Sorties</a:t>
            </a:r>
            <a:endParaRPr/>
          </a:p>
        </p:txBody>
      </p:sp>
      <p:sp>
        <p:nvSpPr>
          <p:cNvPr id="1717362287" name="Application monolithique remplacée par des modules spécialisés"/>
          <p:cNvSpPr txBox="1"/>
          <p:nvPr/>
        </p:nvSpPr>
        <p:spPr bwMode="auto">
          <a:xfrm>
            <a:off x="9558955" y="1594725"/>
            <a:ext cx="2603860" cy="180594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2600"/>
            </a:lvl1pPr>
          </a:lstStyle>
          <a:p>
            <a:pPr>
              <a:defRPr/>
            </a:pPr>
            <a:r>
              <a:rPr/>
              <a:t>Application monolithique remplacée par des modules spécialisés</a:t>
            </a:r>
            <a:endParaRPr/>
          </a:p>
        </p:txBody>
      </p:sp>
      <p:sp>
        <p:nvSpPr>
          <p:cNvPr id="1717587372" name="Application 1"/>
          <p:cNvSpPr/>
          <p:nvPr/>
        </p:nvSpPr>
        <p:spPr bwMode="auto">
          <a:xfrm flipH="0" flipV="0">
            <a:off x="4339104" y="1688291"/>
            <a:ext cx="2395680" cy="888652"/>
          </a:xfrm>
          <a:prstGeom prst="roundRect">
            <a:avLst>
              <a:gd name="adj" fmla="val 23642"/>
            </a:avLst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Application </a:t>
            </a:r>
            <a:r>
              <a:rPr/>
              <a:t>2</a:t>
            </a:r>
            <a:endParaRPr/>
          </a:p>
        </p:txBody>
      </p:sp>
      <p:sp>
        <p:nvSpPr>
          <p:cNvPr id="596570598" name="Application 1"/>
          <p:cNvSpPr/>
          <p:nvPr/>
        </p:nvSpPr>
        <p:spPr bwMode="auto">
          <a:xfrm flipH="0" flipV="0">
            <a:off x="6944913" y="1696372"/>
            <a:ext cx="2395680" cy="888652"/>
          </a:xfrm>
          <a:prstGeom prst="roundRect">
            <a:avLst>
              <a:gd name="adj" fmla="val 23642"/>
            </a:avLst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Application </a:t>
            </a:r>
            <a:r>
              <a:rPr/>
              <a:t>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0409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41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71736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932135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697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41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8412623" grpId="0" animBg="1"/>
      <p:bldP spid="1861697492" grpId="0" animBg="1"/>
      <p:bldP spid="1204413424" grpId="0" animBg="1"/>
      <p:bldP spid="1976672723" grpId="0" animBg="1"/>
      <p:bldP spid="1104099944" grpId="2" animBg="1"/>
      <p:bldP spid="1932135153" grpId="3" animBg="1"/>
      <p:bldP spid="1717362287" grpId="4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4202060" name="Commutateurs commerciaux                    académiques"/>
          <p:cNvSpPr/>
          <p:nvPr/>
        </p:nvSpPr>
        <p:spPr bwMode="auto">
          <a:xfrm>
            <a:off x="208490" y="4766997"/>
            <a:ext cx="8908317" cy="1654740"/>
          </a:xfrm>
          <a:prstGeom prst="roundRect">
            <a:avLst>
              <a:gd name="adj" fmla="val 14268"/>
            </a:avLst>
          </a:prstGeom>
          <a:solidFill>
            <a:schemeClr val="accent5">
              <a:hueOff val="-444211"/>
              <a:satOff val="-14915"/>
              <a:lumOff val="22857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/>
          <a:lstStyle>
            <a:lvl1pPr algn="l"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Commutateurs commerciaux                    académiques</a:t>
            </a:r>
            <a:endParaRPr/>
          </a:p>
        </p:txBody>
      </p:sp>
      <p:sp>
        <p:nvSpPr>
          <p:cNvPr id="1215933657" name="La pile SD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La pile SDN</a:t>
            </a:r>
            <a:endParaRPr/>
          </a:p>
        </p:txBody>
      </p:sp>
      <p:sp>
        <p:nvSpPr>
          <p:cNvPr id="127689710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00F948B6-E907-586B-D472-22A0EB75381B}" type="slidenum">
              <a:rPr/>
              <a:t/>
            </a:fld>
            <a:endParaRPr/>
          </a:p>
        </p:txBody>
      </p:sp>
      <p:sp>
        <p:nvSpPr>
          <p:cNvPr id="2030794943" name="HP, NEC, Pronto, Juniper…"/>
          <p:cNvSpPr/>
          <p:nvPr/>
        </p:nvSpPr>
        <p:spPr bwMode="auto">
          <a:xfrm>
            <a:off x="950678" y="5170833"/>
            <a:ext cx="2804760" cy="1131570"/>
          </a:xfrm>
          <a:prstGeom prst="roundRect">
            <a:avLst>
              <a:gd name="adj" fmla="val 20560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HP, NEC, Pronto, Juniper…</a:t>
            </a:r>
            <a:endParaRPr/>
          </a:p>
        </p:txBody>
      </p:sp>
      <p:sp>
        <p:nvSpPr>
          <p:cNvPr id="1928465466" name="Commutateurs…"/>
          <p:cNvSpPr txBox="1"/>
          <p:nvPr/>
        </p:nvSpPr>
        <p:spPr bwMode="auto">
          <a:xfrm>
            <a:off x="9179294" y="5160027"/>
            <a:ext cx="2961465" cy="86868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>
              <a:defRPr sz="2900"/>
            </a:pPr>
            <a:r>
              <a:rPr/>
              <a:t>Commutateurs</a:t>
            </a:r>
            <a:endParaRPr/>
          </a:p>
          <a:p>
            <a:pPr>
              <a:defRPr sz="2900"/>
            </a:pPr>
            <a:r>
              <a:rPr/>
              <a:t>OpenFlow</a:t>
            </a:r>
            <a:endParaRPr/>
          </a:p>
        </p:txBody>
      </p:sp>
      <p:sp>
        <p:nvSpPr>
          <p:cNvPr id="210933151" name="Rounded Rectangle"/>
          <p:cNvSpPr/>
          <p:nvPr/>
        </p:nvSpPr>
        <p:spPr bwMode="auto">
          <a:xfrm>
            <a:off x="208490" y="3933434"/>
            <a:ext cx="8908317" cy="723055"/>
          </a:xfrm>
          <a:prstGeom prst="roundRect">
            <a:avLst>
              <a:gd name="adj" fmla="val 15906"/>
            </a:avLst>
          </a:prstGeom>
          <a:solidFill>
            <a:schemeClr val="accent1">
              <a:satOff val="-3355"/>
              <a:lumOff val="26614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/>
          <a:lstStyle/>
          <a:p>
            <a:pPr algn="l">
              <a:defRPr sz="2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44952647" name="Tranche logicielle"/>
          <p:cNvSpPr txBox="1"/>
          <p:nvPr/>
        </p:nvSpPr>
        <p:spPr bwMode="auto">
          <a:xfrm>
            <a:off x="9179294" y="3910156"/>
            <a:ext cx="2961465" cy="493981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 lang="fr-FR"/>
              <a:t>Interface Sud</a:t>
            </a:r>
            <a:endParaRPr/>
          </a:p>
        </p:txBody>
      </p:sp>
      <p:sp>
        <p:nvSpPr>
          <p:cNvPr id="1780565874" name="FlowVisor"/>
          <p:cNvSpPr/>
          <p:nvPr/>
        </p:nvSpPr>
        <p:spPr bwMode="auto">
          <a:xfrm>
            <a:off x="3113172" y="4029397"/>
            <a:ext cx="2804762" cy="530340"/>
          </a:xfrm>
          <a:prstGeom prst="roundRect">
            <a:avLst>
              <a:gd name="adj" fmla="val 20560"/>
            </a:avLst>
          </a:prstGeom>
          <a:solidFill>
            <a:schemeClr val="accent1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fr-FR"/>
              <a:t>OpenFlow</a:t>
            </a:r>
            <a:endParaRPr/>
          </a:p>
        </p:txBody>
      </p:sp>
      <p:sp>
        <p:nvSpPr>
          <p:cNvPr id="416524488" name="Rounded Rectangle"/>
          <p:cNvSpPr/>
          <p:nvPr/>
        </p:nvSpPr>
        <p:spPr bwMode="auto">
          <a:xfrm>
            <a:off x="211259" y="2866923"/>
            <a:ext cx="8908317" cy="998686"/>
          </a:xfrm>
          <a:prstGeom prst="roundRect">
            <a:avLst>
              <a:gd name="adj" fmla="val 21302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/>
          <a:lstStyle/>
          <a:p>
            <a:pPr algn="l">
              <a:defRPr sz="2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06691643" name="Contrôleur"/>
          <p:cNvSpPr txBox="1"/>
          <p:nvPr/>
        </p:nvSpPr>
        <p:spPr bwMode="auto">
          <a:xfrm>
            <a:off x="9374366" y="3126236"/>
            <a:ext cx="2961464" cy="48006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/>
              <a:t>Contrôleur</a:t>
            </a:r>
            <a:endParaRPr/>
          </a:p>
        </p:txBody>
      </p:sp>
      <p:sp>
        <p:nvSpPr>
          <p:cNvPr id="2001189455" name="NOX"/>
          <p:cNvSpPr/>
          <p:nvPr/>
        </p:nvSpPr>
        <p:spPr bwMode="auto">
          <a:xfrm>
            <a:off x="440494" y="2961490"/>
            <a:ext cx="1049324" cy="805180"/>
          </a:xfrm>
          <a:prstGeom prst="roundRect">
            <a:avLst>
              <a:gd name="adj" fmla="val 21035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NOX</a:t>
            </a:r>
            <a:endParaRPr/>
          </a:p>
        </p:txBody>
      </p:sp>
      <p:sp>
        <p:nvSpPr>
          <p:cNvPr id="76977211" name="Beacon"/>
          <p:cNvSpPr/>
          <p:nvPr/>
        </p:nvSpPr>
        <p:spPr bwMode="auto">
          <a:xfrm>
            <a:off x="1589798" y="2957118"/>
            <a:ext cx="1190296" cy="805182"/>
          </a:xfrm>
          <a:prstGeom prst="roundRect">
            <a:avLst>
              <a:gd name="adj" fmla="val 20560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Beacon</a:t>
            </a:r>
            <a:endParaRPr/>
          </a:p>
        </p:txBody>
      </p:sp>
      <p:sp>
        <p:nvSpPr>
          <p:cNvPr id="870762496" name="Onos"/>
          <p:cNvSpPr/>
          <p:nvPr/>
        </p:nvSpPr>
        <p:spPr bwMode="auto">
          <a:xfrm>
            <a:off x="5489917" y="2961490"/>
            <a:ext cx="1068128" cy="805180"/>
          </a:xfrm>
          <a:prstGeom prst="roundRect">
            <a:avLst>
              <a:gd name="adj" fmla="val 20664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Onos</a:t>
            </a:r>
            <a:endParaRPr/>
          </a:p>
        </p:txBody>
      </p:sp>
      <p:sp>
        <p:nvSpPr>
          <p:cNvPr id="1678646286" name="Open…"/>
          <p:cNvSpPr/>
          <p:nvPr/>
        </p:nvSpPr>
        <p:spPr bwMode="auto">
          <a:xfrm>
            <a:off x="2884635" y="2961490"/>
            <a:ext cx="1318556" cy="805180"/>
          </a:xfrm>
          <a:prstGeom prst="roundRect">
            <a:avLst>
              <a:gd name="adj" fmla="val 20560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/>
              <a:t>Open</a:t>
            </a: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/>
              <a:t>Daylight</a:t>
            </a:r>
            <a:endParaRPr/>
          </a:p>
        </p:txBody>
      </p:sp>
      <p:sp>
        <p:nvSpPr>
          <p:cNvPr id="1903083195" name="…"/>
          <p:cNvSpPr/>
          <p:nvPr/>
        </p:nvSpPr>
        <p:spPr bwMode="auto">
          <a:xfrm>
            <a:off x="7835481" y="2961490"/>
            <a:ext cx="1049324" cy="805180"/>
          </a:xfrm>
          <a:prstGeom prst="roundRect">
            <a:avLst>
              <a:gd name="adj" fmla="val 21035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…</a:t>
            </a:r>
            <a:endParaRPr/>
          </a:p>
        </p:txBody>
      </p:sp>
      <p:sp>
        <p:nvSpPr>
          <p:cNvPr id="501976973" name="Rounded Rectangle"/>
          <p:cNvSpPr/>
          <p:nvPr/>
        </p:nvSpPr>
        <p:spPr bwMode="auto">
          <a:xfrm>
            <a:off x="211259" y="1152159"/>
            <a:ext cx="8908317" cy="998686"/>
          </a:xfrm>
          <a:prstGeom prst="roundRect">
            <a:avLst>
              <a:gd name="adj" fmla="val 20298"/>
            </a:avLst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/>
          <a:lstStyle/>
          <a:p>
            <a:pPr algn="l">
              <a:defRPr sz="2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5074708" name="Applications"/>
          <p:cNvSpPr txBox="1"/>
          <p:nvPr/>
        </p:nvSpPr>
        <p:spPr bwMode="auto">
          <a:xfrm>
            <a:off x="9281855" y="1411472"/>
            <a:ext cx="2961465" cy="48006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/>
              <a:t>Applications</a:t>
            </a:r>
            <a:endParaRPr/>
          </a:p>
        </p:txBody>
      </p:sp>
      <p:sp>
        <p:nvSpPr>
          <p:cNvPr id="1901231334" name="Simple Switch"/>
          <p:cNvSpPr/>
          <p:nvPr/>
        </p:nvSpPr>
        <p:spPr bwMode="auto">
          <a:xfrm>
            <a:off x="437835" y="1248912"/>
            <a:ext cx="1697843" cy="805180"/>
          </a:xfrm>
          <a:prstGeom prst="roundRect">
            <a:avLst>
              <a:gd name="adj" fmla="val 20560"/>
            </a:avLst>
          </a:prstGeom>
          <a:solidFill>
            <a:schemeClr val="accent2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Simple Switch</a:t>
            </a:r>
            <a:endParaRPr/>
          </a:p>
        </p:txBody>
      </p:sp>
      <p:sp>
        <p:nvSpPr>
          <p:cNvPr id="1418414294" name="CloudNaaS"/>
          <p:cNvSpPr/>
          <p:nvPr/>
        </p:nvSpPr>
        <p:spPr bwMode="auto">
          <a:xfrm>
            <a:off x="2292040" y="1248912"/>
            <a:ext cx="1950843" cy="805180"/>
          </a:xfrm>
          <a:prstGeom prst="roundRect">
            <a:avLst>
              <a:gd name="adj" fmla="val 20560"/>
            </a:avLst>
          </a:prstGeom>
          <a:solidFill>
            <a:schemeClr val="accent2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CloudNaaS</a:t>
            </a:r>
            <a:endParaRPr/>
          </a:p>
        </p:txBody>
      </p:sp>
      <p:sp>
        <p:nvSpPr>
          <p:cNvPr id="236959095" name="Stratos"/>
          <p:cNvSpPr/>
          <p:nvPr/>
        </p:nvSpPr>
        <p:spPr bwMode="auto">
          <a:xfrm>
            <a:off x="4399247" y="1244539"/>
            <a:ext cx="1190296" cy="805182"/>
          </a:xfrm>
          <a:prstGeom prst="roundRect">
            <a:avLst>
              <a:gd name="adj" fmla="val 20560"/>
            </a:avLst>
          </a:prstGeom>
          <a:solidFill>
            <a:schemeClr val="accent2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Stratos</a:t>
            </a:r>
            <a:endParaRPr/>
          </a:p>
        </p:txBody>
      </p:sp>
      <p:sp>
        <p:nvSpPr>
          <p:cNvPr id="684699010" name="…"/>
          <p:cNvSpPr/>
          <p:nvPr/>
        </p:nvSpPr>
        <p:spPr bwMode="auto">
          <a:xfrm>
            <a:off x="5745906" y="1244539"/>
            <a:ext cx="1049324" cy="805182"/>
          </a:xfrm>
          <a:prstGeom prst="roundRect">
            <a:avLst>
              <a:gd name="adj" fmla="val 21035"/>
            </a:avLst>
          </a:prstGeom>
          <a:solidFill>
            <a:schemeClr val="accent2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…</a:t>
            </a:r>
            <a:endParaRPr/>
          </a:p>
        </p:txBody>
      </p:sp>
      <p:sp>
        <p:nvSpPr>
          <p:cNvPr id="2143024907" name="OpenVSwitch"/>
          <p:cNvSpPr/>
          <p:nvPr/>
        </p:nvSpPr>
        <p:spPr bwMode="auto">
          <a:xfrm>
            <a:off x="5917934" y="5153135"/>
            <a:ext cx="2387441" cy="385740"/>
          </a:xfrm>
          <a:prstGeom prst="roundRect">
            <a:avLst>
              <a:gd name="adj" fmla="val 29676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OpenVSwitch</a:t>
            </a:r>
            <a:endParaRPr/>
          </a:p>
        </p:txBody>
      </p:sp>
      <p:sp>
        <p:nvSpPr>
          <p:cNvPr id="686403895" name="NetFPGA"/>
          <p:cNvSpPr/>
          <p:nvPr/>
        </p:nvSpPr>
        <p:spPr bwMode="auto">
          <a:xfrm>
            <a:off x="5917934" y="5589468"/>
            <a:ext cx="2387441" cy="385740"/>
          </a:xfrm>
          <a:prstGeom prst="roundRect">
            <a:avLst>
              <a:gd name="adj" fmla="val 32257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NetFPGA</a:t>
            </a:r>
            <a:endParaRPr/>
          </a:p>
        </p:txBody>
      </p:sp>
      <p:sp>
        <p:nvSpPr>
          <p:cNvPr id="1731733076" name="…"/>
          <p:cNvSpPr/>
          <p:nvPr/>
        </p:nvSpPr>
        <p:spPr bwMode="auto">
          <a:xfrm>
            <a:off x="5917934" y="6018663"/>
            <a:ext cx="2387441" cy="371878"/>
          </a:xfrm>
          <a:prstGeom prst="roundRect">
            <a:avLst>
              <a:gd name="adj" fmla="val 33046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…</a:t>
            </a:r>
            <a:endParaRPr/>
          </a:p>
        </p:txBody>
      </p:sp>
      <p:sp>
        <p:nvSpPr>
          <p:cNvPr id="2077203206" name="Flood…"/>
          <p:cNvSpPr/>
          <p:nvPr/>
        </p:nvSpPr>
        <p:spPr bwMode="auto">
          <a:xfrm>
            <a:off x="4307732" y="2961490"/>
            <a:ext cx="1068129" cy="805180"/>
          </a:xfrm>
          <a:prstGeom prst="roundRect">
            <a:avLst>
              <a:gd name="adj" fmla="val 20664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2200">
                <a:solidFill>
                  <a:srgbClr val="FFFFFF"/>
                </a:solidFill>
              </a:defRPr>
            </a:pPr>
            <a:r>
              <a:rPr/>
              <a:t>Flood</a:t>
            </a:r>
            <a:endParaRPr/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/>
              <a:t>Light</a:t>
            </a:r>
            <a:endParaRPr/>
          </a:p>
        </p:txBody>
      </p:sp>
      <p:sp>
        <p:nvSpPr>
          <p:cNvPr id="812640693" name="Ryu"/>
          <p:cNvSpPr/>
          <p:nvPr/>
        </p:nvSpPr>
        <p:spPr bwMode="auto">
          <a:xfrm>
            <a:off x="6672100" y="2961490"/>
            <a:ext cx="1049324" cy="805180"/>
          </a:xfrm>
          <a:prstGeom prst="roundRect">
            <a:avLst>
              <a:gd name="adj" fmla="val 21035"/>
            </a:avLst>
          </a:prstGeom>
          <a:solidFill>
            <a:schemeClr val="accent4">
              <a:hueOff val="384618"/>
              <a:satOff val="3869"/>
              <a:lumOff val="580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Ryu</a:t>
            </a:r>
            <a:endParaRPr/>
          </a:p>
        </p:txBody>
      </p:sp>
      <p:sp>
        <p:nvSpPr>
          <p:cNvPr id="247564950" name="Rounded Rectangle"/>
          <p:cNvSpPr/>
          <p:nvPr/>
        </p:nvSpPr>
        <p:spPr bwMode="auto">
          <a:xfrm>
            <a:off x="208490" y="2211180"/>
            <a:ext cx="8908317" cy="587919"/>
          </a:xfrm>
          <a:prstGeom prst="roundRect">
            <a:avLst>
              <a:gd name="adj" fmla="val 15906"/>
            </a:avLst>
          </a:prstGeom>
          <a:solidFill>
            <a:schemeClr val="accent1">
              <a:satOff val="-3355"/>
              <a:lumOff val="26614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/>
          <a:lstStyle/>
          <a:p>
            <a:pPr algn="l">
              <a:defRPr sz="22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63047425" name="Tranche logicielle"/>
          <p:cNvSpPr txBox="1"/>
          <p:nvPr/>
        </p:nvSpPr>
        <p:spPr bwMode="auto">
          <a:xfrm>
            <a:off x="9281855" y="2313651"/>
            <a:ext cx="2961465" cy="493981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 lang="fr-FR"/>
              <a:t>Interface Nord</a:t>
            </a:r>
            <a:endParaRPr/>
          </a:p>
        </p:txBody>
      </p:sp>
      <p:sp>
        <p:nvSpPr>
          <p:cNvPr id="236849660" name="FlowVisor"/>
          <p:cNvSpPr/>
          <p:nvPr/>
        </p:nvSpPr>
        <p:spPr bwMode="auto">
          <a:xfrm>
            <a:off x="3123597" y="2289807"/>
            <a:ext cx="2804762" cy="394551"/>
          </a:xfrm>
          <a:prstGeom prst="roundRect">
            <a:avLst>
              <a:gd name="adj" fmla="val 20560"/>
            </a:avLst>
          </a:prstGeom>
          <a:solidFill>
            <a:schemeClr val="accent1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fr-FR"/>
              <a:t>Pas normalisée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131055" name="Pla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>
              <a:defRPr/>
            </a:pPr>
            <a:r>
              <a:rPr/>
              <a:t>Plan</a:t>
            </a:r>
            <a:endParaRPr/>
          </a:p>
        </p:txBody>
      </p:sp>
      <p:sp>
        <p:nvSpPr>
          <p:cNvPr id="133807607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/>
            </a:pPr>
            <a:fld id="{779812CC-2DFA-22CF-F9FE-52B2287D5FE0}" type="slidenum">
              <a:rPr/>
              <a:t/>
            </a:fld>
            <a:endParaRPr/>
          </a:p>
        </p:txBody>
      </p:sp>
      <p:sp>
        <p:nvSpPr>
          <p:cNvPr id="209462836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009EDB-3191-11CD-3932-BFF98B9183F7}" type="datetime1">
              <a:rPr lang="fr-FR"/>
              <a:t/>
            </a:fld>
            <a:endParaRPr/>
          </a:p>
        </p:txBody>
      </p:sp>
      <p:sp>
        <p:nvSpPr>
          <p:cNvPr id="33997669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524635747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>
                <a:solidFill>
                  <a:srgbClr val="FF2600"/>
                </a:solidFill>
              </a:defRPr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Introduction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Plan de contrôle &amp; Plan de données</a:t>
            </a:r>
            <a:endParaRPr sz="2800" b="0" u="none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1" i="0" u="sng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OpenFlow et P4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 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NFV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Network slicing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Défis restants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082800" name="Format des règles pour le traitement des paquets (plan de données)…"/>
          <p:cNvSpPr txBox="1">
            <a:spLocks noGrp="1"/>
          </p:cNvSpPr>
          <p:nvPr>
            <p:ph type="body" idx="1"/>
          </p:nvPr>
        </p:nvSpPr>
        <p:spPr bwMode="auto">
          <a:xfrm>
            <a:off x="1188720" y="1090692"/>
            <a:ext cx="9814558" cy="3661504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defRPr/>
            </a:pPr>
            <a:r>
              <a:rPr/>
              <a:t>Format des règles pour le traitement des paquets (</a:t>
            </a:r>
            <a:r>
              <a:rPr>
                <a:solidFill>
                  <a:schemeClr val="accent1"/>
                </a:solidFill>
              </a:rPr>
              <a:t>plan de données</a:t>
            </a:r>
            <a:r>
              <a:rPr/>
              <a:t>)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>
                <a:solidFill>
                  <a:schemeClr val="accent5"/>
                </a:solidFill>
              </a:rPr>
              <a:t>correspondance </a:t>
            </a:r>
            <a:r>
              <a:rPr/>
              <a:t>: selon les en-têtes des paquets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>
                <a:solidFill>
                  <a:schemeClr val="accent5"/>
                </a:solidFill>
              </a:rPr>
              <a:t>action </a:t>
            </a:r>
            <a:r>
              <a:rPr/>
              <a:t>: supprimer, expédier, modifier ou transmettre au contrôleur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>
                <a:solidFill>
                  <a:schemeClr val="accent5"/>
                </a:solidFill>
              </a:rPr>
              <a:t>priorité </a:t>
            </a:r>
            <a:r>
              <a:rPr/>
              <a:t>: arbitrer si plusieurs correspondances possibles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>
                <a:solidFill>
                  <a:schemeClr val="accent5"/>
                </a:solidFill>
              </a:rPr>
              <a:t>compteur </a:t>
            </a:r>
            <a:r>
              <a:rPr/>
              <a:t>: #octets and #paquets pour chaque règle</a:t>
            </a:r>
            <a:endParaRPr/>
          </a:p>
        </p:txBody>
      </p:sp>
      <p:sp>
        <p:nvSpPr>
          <p:cNvPr id="1763893830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959509" y="6526530"/>
            <a:ext cx="257740" cy="2514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EC475F2-624F-577E-54EA-22EFB40B90DC}" type="slidenum">
              <a:rPr/>
              <a:t/>
            </a:fld>
            <a:endParaRPr/>
          </a:p>
        </p:txBody>
      </p:sp>
      <p:sp>
        <p:nvSpPr>
          <p:cNvPr id="1398357771" name="Line"/>
          <p:cNvSpPr/>
          <p:nvPr/>
        </p:nvSpPr>
        <p:spPr bwMode="auto">
          <a:xfrm flipH="1">
            <a:off x="4651412" y="4883391"/>
            <a:ext cx="1606924" cy="0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95631037" name="Line"/>
          <p:cNvSpPr/>
          <p:nvPr/>
        </p:nvSpPr>
        <p:spPr bwMode="auto">
          <a:xfrm flipH="1">
            <a:off x="6275770" y="4883391"/>
            <a:ext cx="1413745" cy="0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452822608" name="Image" descr="Image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577379" y="4697609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5771919" name="src=1.2.*.*, dest=3.4.5.* → drop…"/>
          <p:cNvSpPr txBox="1"/>
          <p:nvPr/>
        </p:nvSpPr>
        <p:spPr bwMode="auto">
          <a:xfrm>
            <a:off x="1188720" y="5246175"/>
            <a:ext cx="9814558" cy="1337505"/>
          </a:xfrm>
          <a:prstGeom prst="rect">
            <a:avLst/>
          </a:prstGeom>
          <a:ln w="12700">
            <a:miter lim="400000"/>
          </a:ln>
        </p:spPr>
        <p:txBody>
          <a:bodyPr lIns="38099" tIns="38099" rIns="38099" bIns="38099" anchor="ctr"/>
          <a:lstStyle/>
          <a:p>
            <a:pPr marL="482599" indent="-228600" algn="l">
              <a:lnSpc>
                <a:spcPct val="60000"/>
              </a:lnSpc>
              <a:spcBef>
                <a:spcPts val="1799"/>
              </a:spcBef>
              <a:buSzPct val="100000"/>
              <a:buAutoNum type="arabicPeriod"/>
              <a:defRPr sz="2000">
                <a:latin typeface="Courier"/>
                <a:ea typeface="Courier"/>
                <a:cs typeface="Courier"/>
              </a:defRPr>
            </a:pPr>
            <a:r>
              <a:rPr/>
              <a:t>  src=1.2.*.*, dest=3.4.5.* → drop</a:t>
            </a:r>
            <a:endParaRPr/>
          </a:p>
          <a:p>
            <a:pPr marL="482599" indent="-228600" algn="l">
              <a:lnSpc>
                <a:spcPct val="60000"/>
              </a:lnSpc>
              <a:spcBef>
                <a:spcPts val="1799"/>
              </a:spcBef>
              <a:buSzPct val="100000"/>
              <a:buAutoNum type="arabicPeriod"/>
              <a:defRPr sz="2000">
                <a:latin typeface="Courier"/>
                <a:ea typeface="Courier"/>
                <a:cs typeface="Courier"/>
              </a:defRPr>
            </a:pPr>
            <a:r>
              <a:rPr/>
              <a:t>  src=*.*.*.*, dest=3.4.*.* → forward(2)</a:t>
            </a:r>
            <a:endParaRPr/>
          </a:p>
          <a:p>
            <a:pPr marL="482599" indent="-228600" algn="l">
              <a:lnSpc>
                <a:spcPct val="60000"/>
              </a:lnSpc>
              <a:spcBef>
                <a:spcPts val="1799"/>
              </a:spcBef>
              <a:buSzPct val="100000"/>
              <a:buAutoNum type="arabicPeriod"/>
              <a:defRPr sz="2000">
                <a:latin typeface="Courier"/>
                <a:ea typeface="Courier"/>
                <a:cs typeface="Courier"/>
              </a:defRPr>
            </a:pPr>
            <a:r>
              <a:rPr/>
              <a:t>  src=10.1.2.3, dest=*.*.*.* → send to controller</a:t>
            </a:r>
            <a:endParaRPr/>
          </a:p>
        </p:txBody>
      </p:sp>
      <p:pic>
        <p:nvPicPr>
          <p:cNvPr id="1600025469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031780" y="147967"/>
            <a:ext cx="4145281" cy="82296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671804" name="2 langages de programmatio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2 langages de programmation</a:t>
            </a:r>
            <a:endParaRPr/>
          </a:p>
        </p:txBody>
      </p:sp>
      <p:sp>
        <p:nvSpPr>
          <p:cNvPr id="733849066" name="OpenFlow : programmation du plan de contrôle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OpenFlow : programmation du plan de contrôle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P4 : programmation du plan de données</a:t>
            </a:r>
            <a:endParaRPr/>
          </a:p>
        </p:txBody>
      </p:sp>
      <p:sp>
        <p:nvSpPr>
          <p:cNvPr id="83956956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CF8AD2F4-6738-012A-1290-382CC721E40E}" type="slidenum">
              <a:rPr/>
              <a:t/>
            </a:fld>
            <a:endParaRPr/>
          </a:p>
        </p:txBody>
      </p:sp>
      <p:pic>
        <p:nvPicPr>
          <p:cNvPr id="386152160" name="131px-P4-programming-language-logo.png" descr="131px-P4-programming-language-logo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655819" y="3916482"/>
            <a:ext cx="1996439" cy="14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4171745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581399" y="2254167"/>
            <a:ext cx="4145278" cy="822960"/>
          </a:xfrm>
          <a:prstGeom prst="rect">
            <a:avLst/>
          </a:prstGeom>
          <a:ln w="12700">
            <a:miter lim="400000"/>
          </a:ln>
        </p:spPr>
      </p:pic>
      <p:sp>
        <p:nvSpPr>
          <p:cNvPr id="101314412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0E98621-BBD1-B0CC-8EE6-6CDC63EE6F7E}" type="datetime1">
              <a:rPr lang="fr-FR"/>
              <a:t/>
            </a:fld>
            <a:endParaRPr/>
          </a:p>
        </p:txBody>
      </p:sp>
      <p:sp>
        <p:nvSpPr>
          <p:cNvPr id="58298296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8111339" name="Unifie différents types d’équipement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Unifie différents types d’équipements</a:t>
            </a:r>
            <a:endParaRPr/>
          </a:p>
        </p:txBody>
      </p:sp>
      <p:sp>
        <p:nvSpPr>
          <p:cNvPr id="153708779" name="Routeur…"/>
          <p:cNvSpPr txBox="1">
            <a:spLocks noGrp="1"/>
          </p:cNvSpPr>
          <p:nvPr>
            <p:ph type="body" idx="1"/>
          </p:nvPr>
        </p:nvSpPr>
        <p:spPr bwMode="auto">
          <a:xfrm>
            <a:off x="1188720" y="1145812"/>
            <a:ext cx="9963778" cy="5389597"/>
          </a:xfrm>
          <a:prstGeom prst="rect">
            <a:avLst/>
          </a:prstGeom>
        </p:spPr>
        <p:txBody>
          <a:bodyPr numCol="2" spcCol="415156" anchor="t">
            <a:normAutofit lnSpcReduction="10000"/>
          </a:bodyPr>
          <a:lstStyle/>
          <a:p>
            <a:pPr>
              <a:lnSpc>
                <a:spcPct val="80000"/>
              </a:lnSpc>
              <a:defRPr/>
            </a:pPr>
            <a:r>
              <a:rPr>
                <a:solidFill>
                  <a:schemeClr val="accent5"/>
                </a:solidFill>
              </a:rPr>
              <a:t>Routeur</a:t>
            </a:r>
            <a:r>
              <a:rPr/>
              <a:t> 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/>
              <a:t>correspondance: plus long préfixe IP partagé (BPM)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/>
              <a:t>action: réexpédier sur un lien</a:t>
            </a:r>
            <a:endParaRPr/>
          </a:p>
          <a:p>
            <a:pPr>
              <a:lnSpc>
                <a:spcPct val="80000"/>
              </a:lnSpc>
              <a:defRPr/>
            </a:pPr>
            <a:r>
              <a:rPr>
                <a:solidFill>
                  <a:schemeClr val="accent5"/>
                </a:solidFill>
              </a:rPr>
              <a:t>Commutateur</a:t>
            </a:r>
            <a:r>
              <a:rPr/>
              <a:t> (“Switch”)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/>
              <a:t>correspondance: adresse MAC destination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/>
              <a:t>action: réexpédier ou innonder</a:t>
            </a:r>
            <a:endParaRPr/>
          </a:p>
          <a:p>
            <a:pPr>
              <a:lnSpc>
                <a:spcPct val="80000"/>
              </a:lnSpc>
              <a:defRPr/>
            </a:pPr>
            <a:r>
              <a:rPr>
                <a:solidFill>
                  <a:schemeClr val="accent5"/>
                </a:solidFill>
              </a:rPr>
              <a:t>Pare Feu</a:t>
            </a:r>
            <a:r>
              <a:rPr/>
              <a:t> (“Firewall”) 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/>
              <a:t>correspondance: adresses IP et #ports (TCP/UDP)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/>
              <a:t>action: autoriser ou refuser</a:t>
            </a:r>
            <a:endParaRPr/>
          </a:p>
          <a:p>
            <a:pPr>
              <a:lnSpc>
                <a:spcPct val="80000"/>
              </a:lnSpc>
              <a:defRPr/>
            </a:pPr>
            <a:r>
              <a:rPr>
                <a:solidFill>
                  <a:schemeClr val="accent5"/>
                </a:solidFill>
              </a:rPr>
              <a:t>NAT</a:t>
            </a:r>
            <a:r>
              <a:rPr/>
              <a:t> 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/>
              <a:t>correspondance: adresse IP et #port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/>
              <a:t>action: réécritr les adresses et ports</a:t>
            </a:r>
            <a:endParaRPr/>
          </a:p>
          <a:p>
            <a:pPr>
              <a:lnSpc>
                <a:spcPct val="80000"/>
              </a:lnSpc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Equilibreur de charges</a:t>
            </a:r>
            <a:endParaRPr/>
          </a:p>
          <a:p>
            <a:pPr lvl="1">
              <a:lnSpc>
                <a:spcPct val="80000"/>
              </a:lnSpc>
              <a:defRPr/>
            </a:pPr>
            <a:r>
              <a:rPr/>
              <a:t>…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1761118" name="Format d’une règle OpenFlow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/>
              <a:t>SDN en pratique : construction de la table des flux des </a:t>
            </a:r>
            <a:r>
              <a:rPr lang="fr-FR"/>
              <a:t>switchs</a:t>
            </a:r>
            <a:endParaRPr/>
          </a:p>
        </p:txBody>
      </p:sp>
      <p:cxnSp>
        <p:nvCxnSpPr>
          <p:cNvPr id="734163173" name="Connecteur droit 1"/>
          <p:cNvCxnSpPr>
            <a:endCxn id="1664267404" idx="2"/>
          </p:cNvCxnSpPr>
          <p:nvPr/>
        </p:nvCxnSpPr>
        <p:spPr bwMode="auto">
          <a:xfrm flipV="1">
            <a:off x="3176733" y="2425797"/>
            <a:ext cx="1189638" cy="934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28409479" name="Groupe 2"/>
          <p:cNvGrpSpPr/>
          <p:nvPr/>
        </p:nvGrpSpPr>
        <p:grpSpPr bwMode="auto">
          <a:xfrm>
            <a:off x="3084503" y="1602837"/>
            <a:ext cx="1830507" cy="822960"/>
            <a:chOff x="4453697" y="1537377"/>
            <a:chExt cx="1830507" cy="822960"/>
          </a:xfrm>
        </p:grpSpPr>
        <p:sp>
          <p:nvSpPr>
            <p:cNvPr id="75893178" name="ZoneTexte 3"/>
            <p:cNvSpPr txBox="1"/>
            <p:nvPr/>
          </p:nvSpPr>
          <p:spPr bwMode="auto">
            <a:xfrm>
              <a:off x="4453697" y="1700528"/>
              <a:ext cx="825457" cy="5262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/>
                <a:t>c1</a:t>
              </a:r>
              <a:endParaRPr/>
            </a:p>
          </p:txBody>
        </p:sp>
        <p:pic>
          <p:nvPicPr>
            <p:cNvPr id="1664267404" name="Graphique 4" descr="Ordinateur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 bwMode="auto">
            <a:xfrm>
              <a:off x="5186925" y="1537377"/>
              <a:ext cx="1097280" cy="822960"/>
            </a:xfrm>
            <a:prstGeom prst="rect">
              <a:avLst/>
            </a:prstGeom>
          </p:spPr>
        </p:pic>
      </p:grpSp>
      <p:cxnSp>
        <p:nvCxnSpPr>
          <p:cNvPr id="748791174" name="Connecteur droit 5"/>
          <p:cNvCxnSpPr>
            <a:endCxn id="1664267404" idx="2"/>
          </p:cNvCxnSpPr>
          <p:nvPr/>
        </p:nvCxnSpPr>
        <p:spPr bwMode="auto">
          <a:xfrm flipH="1" flipV="1">
            <a:off x="4366370" y="2425797"/>
            <a:ext cx="802653" cy="9799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9248665" name="Flèche : droite 6"/>
          <p:cNvSpPr/>
          <p:nvPr/>
        </p:nvSpPr>
        <p:spPr bwMode="auto">
          <a:xfrm rot="18973268">
            <a:off x="3312952" y="2865108"/>
            <a:ext cx="671258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58339272" name="Flèche : droite 7"/>
          <p:cNvSpPr/>
          <p:nvPr/>
        </p:nvSpPr>
        <p:spPr bwMode="auto">
          <a:xfrm rot="8015999">
            <a:off x="3458486" y="2748341"/>
            <a:ext cx="718488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cxnSp>
        <p:nvCxnSpPr>
          <p:cNvPr id="1681245961" name="Connecteur droit 8"/>
          <p:cNvCxnSpPr>
            <a:endCxn id="649433360" idx="1"/>
          </p:cNvCxnSpPr>
          <p:nvPr/>
        </p:nvCxnSpPr>
        <p:spPr bwMode="auto">
          <a:xfrm flipV="1">
            <a:off x="5651425" y="3597872"/>
            <a:ext cx="327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85204255" name="Groupe 9"/>
          <p:cNvGrpSpPr/>
          <p:nvPr/>
        </p:nvGrpSpPr>
        <p:grpSpPr bwMode="auto">
          <a:xfrm>
            <a:off x="2390600" y="3405724"/>
            <a:ext cx="1412741" cy="458318"/>
            <a:chOff x="3509010" y="2366010"/>
            <a:chExt cx="1874520" cy="625792"/>
          </a:xfrm>
        </p:grpSpPr>
        <p:sp>
          <p:nvSpPr>
            <p:cNvPr id="59660221" name="Rectangle 10"/>
            <p:cNvSpPr/>
            <p:nvPr/>
          </p:nvSpPr>
          <p:spPr bwMode="auto">
            <a:xfrm>
              <a:off x="3509010" y="2597467"/>
              <a:ext cx="1257300" cy="3943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cxnSp>
          <p:nvCxnSpPr>
            <p:cNvPr id="1090926681" name="Connecteur droit 11"/>
            <p:cNvCxnSpPr/>
            <p:nvPr/>
          </p:nvCxnSpPr>
          <p:spPr bwMode="auto">
            <a:xfrm flipV="1">
              <a:off x="3509010" y="2366010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7353610" name="Connecteur droit 12"/>
            <p:cNvCxnSpPr/>
            <p:nvPr/>
          </p:nvCxnSpPr>
          <p:spPr bwMode="auto">
            <a:xfrm flipV="1">
              <a:off x="4766310" y="2366010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2107436" name="Connecteur droit 13"/>
            <p:cNvCxnSpPr/>
            <p:nvPr/>
          </p:nvCxnSpPr>
          <p:spPr bwMode="auto">
            <a:xfrm flipV="1">
              <a:off x="4777740" y="2760345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5507411" name="Connecteur droit 14"/>
            <p:cNvCxnSpPr/>
            <p:nvPr/>
          </p:nvCxnSpPr>
          <p:spPr bwMode="auto">
            <a:xfrm>
              <a:off x="4114800" y="2366010"/>
              <a:ext cx="12573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4101177" name="Connecteur droit 15"/>
            <p:cNvCxnSpPr/>
            <p:nvPr/>
          </p:nvCxnSpPr>
          <p:spPr bwMode="auto">
            <a:xfrm>
              <a:off x="5372100" y="2366010"/>
              <a:ext cx="0" cy="394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3190857" name="Connecteur droit avec flèche 16"/>
            <p:cNvCxnSpPr/>
            <p:nvPr/>
          </p:nvCxnSpPr>
          <p:spPr bwMode="auto">
            <a:xfrm>
              <a:off x="4297680" y="2426017"/>
              <a:ext cx="6629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8805752" name="Connecteur droit avec flèche 17"/>
            <p:cNvCxnSpPr/>
            <p:nvPr/>
          </p:nvCxnSpPr>
          <p:spPr bwMode="auto">
            <a:xfrm flipH="1">
              <a:off x="3966211" y="2511741"/>
              <a:ext cx="68579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32621038" name="ZoneTexte 18"/>
          <p:cNvSpPr txBox="1"/>
          <p:nvPr/>
        </p:nvSpPr>
        <p:spPr bwMode="auto">
          <a:xfrm>
            <a:off x="1153408" y="3959084"/>
            <a:ext cx="535753" cy="332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fr-FR"/>
          </a:p>
        </p:txBody>
      </p:sp>
      <p:sp>
        <p:nvSpPr>
          <p:cNvPr id="1217714033" name="ZoneTexte 19"/>
          <p:cNvSpPr txBox="1"/>
          <p:nvPr/>
        </p:nvSpPr>
        <p:spPr bwMode="auto">
          <a:xfrm>
            <a:off x="6192837" y="3939166"/>
            <a:ext cx="535753" cy="332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b="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fr-FR"/>
          </a:p>
        </p:txBody>
      </p:sp>
      <p:sp>
        <p:nvSpPr>
          <p:cNvPr id="1240412530" name="ZoneTexte 20"/>
          <p:cNvSpPr txBox="1"/>
          <p:nvPr/>
        </p:nvSpPr>
        <p:spPr bwMode="auto">
          <a:xfrm>
            <a:off x="2735172" y="3948597"/>
            <a:ext cx="535753" cy="332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b="0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fr-FR"/>
          </a:p>
        </p:txBody>
      </p:sp>
      <p:cxnSp>
        <p:nvCxnSpPr>
          <p:cNvPr id="1264989887" name="Connecteur droit 21"/>
          <p:cNvCxnSpPr>
            <a:stCxn id="59660221" idx="1"/>
            <a:endCxn id="2073430346" idx="3"/>
          </p:cNvCxnSpPr>
          <p:nvPr/>
        </p:nvCxnSpPr>
        <p:spPr bwMode="auto">
          <a:xfrm flipH="1">
            <a:off x="1833463" y="3719641"/>
            <a:ext cx="5571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73430346" name="Graphique 22" descr="Écra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 bwMode="auto">
          <a:xfrm>
            <a:off x="971226" y="3343556"/>
            <a:ext cx="862237" cy="773140"/>
          </a:xfrm>
          <a:prstGeom prst="rect">
            <a:avLst/>
          </a:prstGeom>
        </p:spPr>
      </p:pic>
      <p:pic>
        <p:nvPicPr>
          <p:cNvPr id="649433360" name="Graphique 23" descr="Écran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5979298" y="3211302"/>
            <a:ext cx="862237" cy="773138"/>
          </a:xfrm>
          <a:prstGeom prst="rect">
            <a:avLst/>
          </a:prstGeom>
        </p:spPr>
      </p:pic>
      <p:grpSp>
        <p:nvGrpSpPr>
          <p:cNvPr id="1753984751" name="Groupe 24"/>
          <p:cNvGrpSpPr/>
          <p:nvPr/>
        </p:nvGrpSpPr>
        <p:grpSpPr bwMode="auto">
          <a:xfrm>
            <a:off x="4238683" y="3418729"/>
            <a:ext cx="1412741" cy="458318"/>
            <a:chOff x="3509010" y="2366010"/>
            <a:chExt cx="1874520" cy="625792"/>
          </a:xfrm>
        </p:grpSpPr>
        <p:sp>
          <p:nvSpPr>
            <p:cNvPr id="752154605" name="Rectangle 25"/>
            <p:cNvSpPr/>
            <p:nvPr/>
          </p:nvSpPr>
          <p:spPr bwMode="auto">
            <a:xfrm>
              <a:off x="3509010" y="2597467"/>
              <a:ext cx="1257300" cy="3943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cxnSp>
          <p:nvCxnSpPr>
            <p:cNvPr id="1554989592" name="Connecteur droit 26"/>
            <p:cNvCxnSpPr/>
            <p:nvPr/>
          </p:nvCxnSpPr>
          <p:spPr bwMode="auto">
            <a:xfrm flipV="1">
              <a:off x="3509010" y="2366010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9619675" name="Connecteur droit 27"/>
            <p:cNvCxnSpPr/>
            <p:nvPr/>
          </p:nvCxnSpPr>
          <p:spPr bwMode="auto">
            <a:xfrm flipV="1">
              <a:off x="4766310" y="2366010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35526009" name="Connecteur droit 28"/>
            <p:cNvCxnSpPr/>
            <p:nvPr/>
          </p:nvCxnSpPr>
          <p:spPr bwMode="auto">
            <a:xfrm flipV="1">
              <a:off x="4777740" y="2760345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1241917" name="Connecteur droit 29"/>
            <p:cNvCxnSpPr/>
            <p:nvPr/>
          </p:nvCxnSpPr>
          <p:spPr bwMode="auto">
            <a:xfrm>
              <a:off x="4114800" y="2366010"/>
              <a:ext cx="12573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7281317" name="Connecteur droit 30"/>
            <p:cNvCxnSpPr/>
            <p:nvPr/>
          </p:nvCxnSpPr>
          <p:spPr bwMode="auto">
            <a:xfrm>
              <a:off x="5372100" y="2366010"/>
              <a:ext cx="0" cy="394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8330929" name="Connecteur droit avec flèche 31"/>
            <p:cNvCxnSpPr/>
            <p:nvPr/>
          </p:nvCxnSpPr>
          <p:spPr bwMode="auto">
            <a:xfrm>
              <a:off x="4297680" y="2426017"/>
              <a:ext cx="6629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6398947" name="Connecteur droit avec flèche 32"/>
            <p:cNvCxnSpPr/>
            <p:nvPr/>
          </p:nvCxnSpPr>
          <p:spPr bwMode="auto">
            <a:xfrm flipH="1">
              <a:off x="3966211" y="2511741"/>
              <a:ext cx="68579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834421056" name="ZoneTexte 33"/>
          <p:cNvSpPr txBox="1"/>
          <p:nvPr/>
        </p:nvSpPr>
        <p:spPr bwMode="auto">
          <a:xfrm>
            <a:off x="4466961" y="3959744"/>
            <a:ext cx="535753" cy="332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b="0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fr-FR"/>
          </a:p>
        </p:txBody>
      </p:sp>
      <p:cxnSp>
        <p:nvCxnSpPr>
          <p:cNvPr id="167783639" name="Connecteur droit 34"/>
          <p:cNvCxnSpPr>
            <a:stCxn id="752154605" idx="1"/>
            <a:endCxn id="59660221" idx="3"/>
          </p:cNvCxnSpPr>
          <p:nvPr/>
        </p:nvCxnSpPr>
        <p:spPr bwMode="auto">
          <a:xfrm flipH="1" flipV="1">
            <a:off x="3338170" y="3719641"/>
            <a:ext cx="900512" cy="0"/>
          </a:xfrm>
          <a:prstGeom prst="line">
            <a:avLst/>
          </a:prstGeom>
          <a:ln cmpd="dbl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87647516" name="Flèche : droite 35"/>
          <p:cNvSpPr/>
          <p:nvPr/>
        </p:nvSpPr>
        <p:spPr bwMode="auto">
          <a:xfrm>
            <a:off x="1884058" y="3597872"/>
            <a:ext cx="420131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69210921" name="Flèche : droite 36"/>
          <p:cNvSpPr/>
          <p:nvPr/>
        </p:nvSpPr>
        <p:spPr bwMode="auto">
          <a:xfrm>
            <a:off x="3862686" y="3586555"/>
            <a:ext cx="304050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482820078" name="Flèche : droite 37"/>
          <p:cNvSpPr/>
          <p:nvPr/>
        </p:nvSpPr>
        <p:spPr bwMode="auto">
          <a:xfrm>
            <a:off x="5694747" y="3474428"/>
            <a:ext cx="223997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13946276" name="Flèche : droite 38"/>
          <p:cNvSpPr/>
          <p:nvPr/>
        </p:nvSpPr>
        <p:spPr bwMode="auto">
          <a:xfrm flipH="1">
            <a:off x="5693883" y="3490481"/>
            <a:ext cx="233475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65703489" name="Flèche : droite 39"/>
          <p:cNvSpPr/>
          <p:nvPr/>
        </p:nvSpPr>
        <p:spPr bwMode="auto">
          <a:xfrm flipH="1">
            <a:off x="3897084" y="3575239"/>
            <a:ext cx="224860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11250457" name="Flèche : droite 40"/>
          <p:cNvSpPr/>
          <p:nvPr/>
        </p:nvSpPr>
        <p:spPr bwMode="auto">
          <a:xfrm flipH="1">
            <a:off x="1886900" y="3586555"/>
            <a:ext cx="365870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18863603" name="Flèche : droite 41"/>
          <p:cNvSpPr/>
          <p:nvPr/>
        </p:nvSpPr>
        <p:spPr bwMode="auto">
          <a:xfrm rot="14310239">
            <a:off x="4449746" y="2802609"/>
            <a:ext cx="671258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542824521" name="Flèche : droite 42"/>
          <p:cNvSpPr/>
          <p:nvPr/>
        </p:nvSpPr>
        <p:spPr bwMode="auto">
          <a:xfrm rot="3529087">
            <a:off x="4313309" y="2674822"/>
            <a:ext cx="718488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20264636" name="Mode Réactif…"/>
          <p:cNvSpPr txBox="1">
            <a:spLocks noGrp="1"/>
          </p:cNvSpPr>
          <p:nvPr>
            <p:ph type="body" idx="1"/>
          </p:nvPr>
        </p:nvSpPr>
        <p:spPr bwMode="auto">
          <a:xfrm>
            <a:off x="7328064" y="1701378"/>
            <a:ext cx="5181599" cy="4351338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pPr marL="551814" indent="-351154" defTabSz="361188">
              <a:spcBef>
                <a:spcPts val="1399"/>
              </a:spcBef>
              <a:defRPr sz="2200"/>
            </a:pPr>
            <a:r>
              <a:rPr lang="fr-FR"/>
              <a:t>Packet In</a:t>
            </a:r>
            <a:endParaRPr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 lang="fr-FR"/>
              <a:t>Correspondance : Destination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fr-FR"/>
              <a:t> depuis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fr-FR" b="0"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 lang="fr-FR" b="1"/>
              <a:t>Requête du switch</a:t>
            </a:r>
            <a:endParaRPr b="1"/>
          </a:p>
        </p:txBody>
      </p:sp>
      <p:sp>
        <p:nvSpPr>
          <p:cNvPr id="1979968824" name="Mode Réactif…"/>
          <p:cNvSpPr txBox="1"/>
          <p:nvPr/>
        </p:nvSpPr>
        <p:spPr bwMode="auto">
          <a:xfrm>
            <a:off x="7328064" y="3380704"/>
            <a:ext cx="4440778" cy="2092754"/>
          </a:xfrm>
          <a:prstGeom prst="rect">
            <a:avLst/>
          </a:prstGeom>
          <a:ln w="12700">
            <a:miter lim="400000"/>
          </a:ln>
        </p:spPr>
        <p:txBody>
          <a:bodyPr lIns="38099" tIns="38099" rIns="38099" bIns="38099" anchor="ctr">
            <a:normAutofit fontScale="92500"/>
          </a:bodyPr>
          <a:lstStyle>
            <a:lvl1pPr marL="6984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71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10413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21000"/>
              <a:buFontTx/>
              <a:buChar char="-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2pPr>
            <a:lvl3pPr marL="13842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3pPr>
            <a:lvl4pPr marL="17398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80000"/>
              <a:buFontTx/>
              <a:buChar char="-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4pPr>
            <a:lvl5pPr marL="20827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5pPr>
            <a:lvl6pPr marL="24256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6pPr>
            <a:lvl7pPr marL="27685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7pPr>
            <a:lvl8pPr marL="31114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8pPr>
            <a:lvl9pPr marL="3454398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551814" indent="-351154" defTabSz="361188">
              <a:spcBef>
                <a:spcPts val="1399"/>
              </a:spcBef>
              <a:defRPr sz="2200"/>
            </a:pPr>
            <a:r>
              <a:rPr lang="fr-FR" sz="2200"/>
              <a:t>Flow Mod</a:t>
            </a:r>
            <a:endParaRPr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 lang="fr-FR" sz="2200"/>
              <a:t>Correspondance : Destination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ar-AE" sz="2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ar-AE" sz="22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ar-AE" sz="22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r>
              <a:rPr lang="ar-AE" sz="2200"/>
              <a:t> </a:t>
            </a:r>
            <a:r>
              <a:rPr lang="fr-FR" sz="2200"/>
              <a:t>depuis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ar-AE" sz="220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ar-AE" sz="220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ar-AE" sz="22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fr-FR" sz="2200" i="1"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 lang="fr-FR" sz="2200"/>
              <a:t>Action : transmettre à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b="0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fr-FR" sz="2200"/>
          </a:p>
          <a:p>
            <a:pPr marL="822704" lvl="1" indent="-351154" defTabSz="361188">
              <a:spcBef>
                <a:spcPts val="1399"/>
              </a:spcBef>
              <a:defRPr sz="2200"/>
            </a:pPr>
            <a:r>
              <a:rPr lang="fr-FR" sz="2200" b="1"/>
              <a:t>Direction du contrôleur</a:t>
            </a:r>
            <a:endParaRPr lang="ar-AE" sz="2200" b="1"/>
          </a:p>
        </p:txBody>
      </p:sp>
      <p:graphicFrame>
        <p:nvGraphicFramePr>
          <p:cNvPr id="596674050" name="Tableau 46"/>
          <p:cNvGraphicFramePr>
            <a:graphicFrameLocks xmlns:a="http://schemas.openxmlformats.org/drawingml/2006/main"/>
          </p:cNvGraphicFramePr>
          <p:nvPr/>
        </p:nvGraphicFramePr>
        <p:xfrm>
          <a:off x="768442" y="4695484"/>
          <a:ext cx="3724340" cy="914400"/>
        </p:xfrm>
        <a:graphic>
          <a:graphicData uri="http://schemas.openxmlformats.org/drawingml/2006/table">
            <a:tbl>
              <a:tblPr firstRow="1" firstCol="0" lastRow="0" lastCol="0" bandRow="1" bandCol="0"/>
              <a:tblGrid>
                <a:gridCol w="1241446"/>
                <a:gridCol w="1241446"/>
                <a:gridCol w="1241446"/>
              </a:tblGrid>
              <a:tr h="28634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Src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Dst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Action</a:t>
                      </a:r>
                      <a:endParaRPr/>
                    </a:p>
                  </a:txBody>
                  <a:tcPr/>
                </a:tc>
              </a:tr>
              <a:tr h="286348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</a:tr>
              <a:tr h="286348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35789829" name="Tableau 48"/>
          <p:cNvGraphicFramePr>
            <a:graphicFrameLocks xmlns:a="http://schemas.openxmlformats.org/drawingml/2006/main"/>
          </p:cNvGraphicFramePr>
          <p:nvPr/>
        </p:nvGraphicFramePr>
        <p:xfrm>
          <a:off x="769343" y="4696962"/>
          <a:ext cx="3724340" cy="609599"/>
        </p:xfrm>
        <a:graphic>
          <a:graphicData uri="http://schemas.openxmlformats.org/drawingml/2006/table">
            <a:tbl>
              <a:tblPr firstRow="1" firstCol="0" lastRow="0" lastCol="0" bandRow="1" bandCol="0"/>
              <a:tblGrid>
                <a:gridCol w="1241446"/>
                <a:gridCol w="1241446"/>
                <a:gridCol w="1241446"/>
              </a:tblGrid>
              <a:tr h="28634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Src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Dst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Action</a:t>
                      </a:r>
                      <a:endParaRPr/>
                    </a:p>
                  </a:txBody>
                  <a:tcPr/>
                </a:tc>
              </a:tr>
              <a:tr h="286348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0872076" name="Tableau 47"/>
          <p:cNvGraphicFramePr>
            <a:graphicFrameLocks xmlns:a="http://schemas.openxmlformats.org/drawingml/2006/main"/>
          </p:cNvGraphicFramePr>
          <p:nvPr/>
        </p:nvGraphicFramePr>
        <p:xfrm>
          <a:off x="770247" y="4693408"/>
          <a:ext cx="3724340" cy="304799"/>
        </p:xfrm>
        <a:graphic>
          <a:graphicData uri="http://schemas.openxmlformats.org/drawingml/2006/table">
            <a:tbl>
              <a:tblPr firstRow="1" firstCol="0" lastRow="0" lastCol="0" bandRow="1" bandCol="0"/>
              <a:tblGrid>
                <a:gridCol w="1241446"/>
                <a:gridCol w="1241446"/>
                <a:gridCol w="1241446"/>
              </a:tblGrid>
              <a:tr h="28634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Src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Dst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Action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63668760" name="Mode Réactif…"/>
          <p:cNvSpPr txBox="1"/>
          <p:nvPr/>
        </p:nvSpPr>
        <p:spPr bwMode="auto">
          <a:xfrm>
            <a:off x="4093932" y="5984532"/>
            <a:ext cx="4440778" cy="579470"/>
          </a:xfrm>
          <a:prstGeom prst="rect">
            <a:avLst/>
          </a:prstGeom>
          <a:ln w="12700">
            <a:miter lim="400000"/>
          </a:ln>
        </p:spPr>
        <p:txBody>
          <a:bodyPr lIns="38099" tIns="38099" rIns="38099" bIns="38099" anchor="ctr">
            <a:normAutofit fontScale="92500"/>
          </a:bodyPr>
          <a:lstStyle>
            <a:lvl1pPr marL="6984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71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10413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21000"/>
              <a:buFontTx/>
              <a:buChar char="-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2pPr>
            <a:lvl3pPr marL="13842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3pPr>
            <a:lvl4pPr marL="17398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80000"/>
              <a:buFontTx/>
              <a:buChar char="-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4pPr>
            <a:lvl5pPr marL="20827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5pPr>
            <a:lvl6pPr marL="24256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6pPr>
            <a:lvl7pPr marL="27685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7pPr>
            <a:lvl8pPr marL="31114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8pPr>
            <a:lvl9pPr marL="3454398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200659" indent="0" defTabSz="361188">
              <a:spcBef>
                <a:spcPts val="1399"/>
              </a:spcBef>
              <a:buNone/>
              <a:defRPr sz="2200"/>
            </a:pPr>
            <a:r>
              <a:rPr lang="fr-FR" sz="2200" b="1"/>
              <a:t>En réalité, l’action correspond au port relié au switch </a:t>
            </a: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b="0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ar-AE" sz="2200" b="1"/>
          </a:p>
        </p:txBody>
      </p:sp>
      <p:sp>
        <p:nvSpPr>
          <p:cNvPr id="88239155" name="Ellipse 50"/>
          <p:cNvSpPr/>
          <p:nvPr/>
        </p:nvSpPr>
        <p:spPr bwMode="auto">
          <a:xfrm>
            <a:off x="3615353" y="5101257"/>
            <a:ext cx="532317" cy="293440"/>
          </a:xfrm>
          <a:prstGeom prst="ellips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099" rtlCol="0" anchor="ctr">
            <a:spAutoFit/>
          </a:bodyPr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fr-FR" sz="3000" b="0" i="0" u="none" strike="noStrike" cap="none" spc="0">
              <a:ln>
                <a:noFill/>
              </a:ln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969160568" name="Ellipse 51"/>
          <p:cNvSpPr/>
          <p:nvPr/>
        </p:nvSpPr>
        <p:spPr bwMode="auto">
          <a:xfrm>
            <a:off x="10500222" y="4632900"/>
            <a:ext cx="518158" cy="373864"/>
          </a:xfrm>
          <a:prstGeom prst="ellips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099" rtlCol="0" anchor="ctr">
            <a:spAutoFit/>
          </a:bodyPr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fr-FR" sz="3000" b="0" i="0" u="none" strike="noStrike" cap="none" spc="0">
              <a:ln>
                <a:noFill/>
              </a:ln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cxnSp>
        <p:nvCxnSpPr>
          <p:cNvPr id="2077720798" name="Connecteur droit avec flèche 53"/>
          <p:cNvCxnSpPr>
            <a:stCxn id="88239155" idx="5"/>
            <a:endCxn id="1963668760" idx="0"/>
          </p:cNvCxnSpPr>
          <p:nvPr/>
        </p:nvCxnSpPr>
        <p:spPr bwMode="auto">
          <a:xfrm rot="5399976" flipH="0" flipV="1">
            <a:off x="4875614" y="4545824"/>
            <a:ext cx="632807" cy="2244606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cxnSp>
        <p:nvCxnSpPr>
          <p:cNvPr id="147553655" name="Connecteur droit avec flèche 57"/>
          <p:cNvCxnSpPr>
            <a:stCxn id="969160568" idx="3"/>
            <a:endCxn id="1963668760" idx="0"/>
          </p:cNvCxnSpPr>
          <p:nvPr/>
        </p:nvCxnSpPr>
        <p:spPr bwMode="auto">
          <a:xfrm rot="5399976" flipH="0" flipV="0">
            <a:off x="7928954" y="3337381"/>
            <a:ext cx="1032518" cy="4261783"/>
          </a:xfrm>
          <a:prstGeom prst="straightConnector1">
            <a:avLst/>
          </a:prstGeom>
          <a:noFill/>
          <a:ln w="38100" cap="flat">
            <a:solidFill>
              <a:srgbClr val="000000"/>
            </a:solidFill>
            <a:prstDash val="solid"/>
            <a:miter lim="400000"/>
            <a:tailEnd type="triangle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</p:cxnSp>
      <p:sp>
        <p:nvSpPr>
          <p:cNvPr id="1792809111" name="Rectangle 45"/>
          <p:cNvSpPr/>
          <p:nvPr/>
        </p:nvSpPr>
        <p:spPr bwMode="auto">
          <a:xfrm flipH="0" flipV="0">
            <a:off x="768442" y="4596489"/>
            <a:ext cx="1851156" cy="533759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099" rtlCol="0" anchor="ctr">
            <a:spAutoFit/>
          </a:bodyPr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fr-FR" sz="3000" b="0" i="0" u="none" strike="noStrike" cap="none" spc="0">
              <a:ln>
                <a:noFill/>
              </a:ln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529457001" name="Mode Réactif…"/>
          <p:cNvSpPr txBox="1"/>
          <p:nvPr/>
        </p:nvSpPr>
        <p:spPr bwMode="auto">
          <a:xfrm>
            <a:off x="344597" y="5570501"/>
            <a:ext cx="3565364" cy="579470"/>
          </a:xfrm>
          <a:prstGeom prst="rect">
            <a:avLst/>
          </a:prstGeom>
          <a:ln w="12700">
            <a:miter lim="400000"/>
          </a:ln>
        </p:spPr>
        <p:txBody>
          <a:bodyPr lIns="38099" tIns="38099" rIns="38099" bIns="38099" anchor="ctr">
            <a:normAutofit lnSpcReduction="10000"/>
          </a:bodyPr>
          <a:lstStyle>
            <a:lvl1pPr marL="6984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71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10413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21000"/>
              <a:buFontTx/>
              <a:buChar char="-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2pPr>
            <a:lvl3pPr marL="13842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3pPr>
            <a:lvl4pPr marL="17398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80000"/>
              <a:buFontTx/>
              <a:buChar char="-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4pPr>
            <a:lvl5pPr marL="20827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5pPr>
            <a:lvl6pPr marL="24256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6pPr>
            <a:lvl7pPr marL="27685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7pPr>
            <a:lvl8pPr marL="31114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8pPr>
            <a:lvl9pPr marL="3454398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200659" indent="0" defTabSz="361188">
              <a:spcBef>
                <a:spcPts val="1399"/>
              </a:spcBef>
              <a:buNone/>
              <a:defRPr sz="2200"/>
            </a:pPr>
            <a:r>
              <a:rPr lang="fr-FR" sz="2200" b="1"/>
              <a:t>Partie Correspondance pour identifier le flux</a:t>
            </a:r>
            <a:endParaRPr lang="ar-AE" sz="2200" b="1"/>
          </a:p>
        </p:txBody>
      </p:sp>
      <p:sp>
        <p:nvSpPr>
          <p:cNvPr id="1924830282" name="Rectangle 54"/>
          <p:cNvSpPr/>
          <p:nvPr/>
        </p:nvSpPr>
        <p:spPr bwMode="auto">
          <a:xfrm flipH="0" flipV="0">
            <a:off x="3191979" y="4584899"/>
            <a:ext cx="930685" cy="533759"/>
          </a:xfrm>
          <a:prstGeom prst="rect">
            <a:avLst/>
          </a:prstGeom>
          <a:noFill/>
          <a:ln w="25400" cap="flat">
            <a:solidFill>
              <a:schemeClr val="tx1"/>
            </a:solidFill>
            <a:prstDash val="solid"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099" rtlCol="0" anchor="ctr">
            <a:spAutoFit/>
          </a:bodyPr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fr-FR" sz="3000" b="0" i="0" u="none" strike="noStrike" cap="none" spc="0">
              <a:ln>
                <a:noFill/>
              </a:ln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902540174" name="Mode Réactif…"/>
          <p:cNvSpPr txBox="1"/>
          <p:nvPr/>
        </p:nvSpPr>
        <p:spPr bwMode="auto">
          <a:xfrm>
            <a:off x="2432794" y="5567278"/>
            <a:ext cx="3565364" cy="579470"/>
          </a:xfrm>
          <a:prstGeom prst="rect">
            <a:avLst/>
          </a:prstGeom>
          <a:ln w="12700">
            <a:miter lim="400000"/>
          </a:ln>
        </p:spPr>
        <p:txBody>
          <a:bodyPr lIns="38099" tIns="38099" rIns="38099" bIns="38099" anchor="ctr">
            <a:normAutofit lnSpcReduction="10000"/>
          </a:bodyPr>
          <a:lstStyle>
            <a:lvl1pPr marL="6984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71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marL="10413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21000"/>
              <a:buFontTx/>
              <a:buChar char="-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2pPr>
            <a:lvl3pPr marL="13842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10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3pPr>
            <a:lvl4pPr marL="17398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80000"/>
              <a:buFontTx/>
              <a:buChar char="-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4pPr>
            <a:lvl5pPr marL="20827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5pPr>
            <a:lvl6pPr marL="24256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6pPr>
            <a:lvl7pPr marL="27685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7pPr>
            <a:lvl8pPr marL="3111499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8pPr>
            <a:lvl9pPr marL="3454398" marR="0" indent="-444499" algn="l" defTabSz="457200">
              <a:lnSpc>
                <a:spcPct val="90000"/>
              </a:lnSpc>
              <a:spcBef>
                <a:spcPts val="1799"/>
              </a:spcBef>
              <a:spcAft>
                <a:spcPts val="0"/>
              </a:spcAft>
              <a:buClrTx/>
              <a:buSzPct val="60000"/>
              <a:buFontTx/>
              <a:buChar char="•"/>
              <a:defRPr sz="2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9pPr>
          </a:lstStyle>
          <a:p>
            <a:pPr marL="200659" indent="0" defTabSz="361188">
              <a:spcBef>
                <a:spcPts val="1399"/>
              </a:spcBef>
              <a:buNone/>
              <a:defRPr sz="2200"/>
            </a:pPr>
            <a:r>
              <a:rPr lang="fr-FR" sz="2200" b="1"/>
              <a:t>Partie Action pour dire quoi faire avec ce flux</a:t>
            </a:r>
            <a:endParaRPr lang="ar-AE" sz="2200" b="1"/>
          </a:p>
        </p:txBody>
      </p:sp>
      <p:sp>
        <p:nvSpPr>
          <p:cNvPr id="177646676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33D0A4-77A9-A5CE-879E-120CACC28642}" type="datetime1">
              <a:rPr lang="fr-FR"/>
              <a:t/>
            </a:fld>
            <a:endParaRPr/>
          </a:p>
        </p:txBody>
      </p:sp>
      <p:sp>
        <p:nvSpPr>
          <p:cNvPr id="119367606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114079939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DB27775B-1642-8AF7-9888-E77CF9FA8F21}" type="slidenum">
              <a:rPr lang="fr-FR"/>
              <a:t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80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5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83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54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809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457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647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4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483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54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264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264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0264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4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3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9688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9688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9688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9688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78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3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21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210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86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86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82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82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2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86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394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82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820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70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24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33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5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67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36687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55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720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3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16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248665" grpId="0" animBg="1"/>
      <p:bldP spid="1129248665" grpId="1" animBg="1"/>
      <p:bldP spid="1129248665" grpId="2" animBg="1"/>
      <p:bldP spid="358339272" grpId="0" animBg="1"/>
      <p:bldP spid="358339272" grpId="1" animBg="1"/>
      <p:bldP spid="358339272" grpId="2" animBg="1"/>
      <p:bldP spid="1587647516" grpId="0" animBg="1"/>
      <p:bldP spid="1169210921" grpId="0" animBg="1"/>
      <p:bldP spid="1169210921" grpId="1" animBg="1"/>
      <p:bldP spid="482820078" grpId="0" animBg="1"/>
      <p:bldP spid="482820078" grpId="1" animBg="1"/>
      <p:bldP spid="1913946276" grpId="0" animBg="1"/>
      <p:bldP spid="765703489" grpId="0" animBg="1"/>
      <p:bldP spid="211250457" grpId="0" animBg="1"/>
      <p:bldP spid="1118863603" grpId="0" animBg="1"/>
      <p:bldP spid="1118863603" grpId="1" animBg="1"/>
      <p:bldP spid="1118863603" grpId="2" animBg="1"/>
      <p:bldP spid="1542824521" grpId="0" animBg="1"/>
      <p:bldP spid="1542824521" grpId="1" animBg="1"/>
      <p:bldP spid="1542824521" grpId="2" animBg="1"/>
      <p:bldP spid="1820264636" grpId="0" uiExpand="1" build="p"/>
      <p:bldP spid="88239155" grpId="0" animBg="1"/>
      <p:bldP spid="969160568" grpId="0" animBg="1"/>
      <p:bldP spid="1792809111" grpId="0" animBg="1"/>
      <p:bldP spid="1792809111" grpId="1" animBg="1"/>
      <p:bldP spid="529457001" grpId="0" animBg="1"/>
      <p:bldP spid="529457001" grpId="1" animBg="1"/>
      <p:bldP spid="1924830282" grpId="0" animBg="1"/>
      <p:bldP spid="1924830282" grpId="1" animBg="1"/>
      <p:bldP spid="902540174" grpId="0" animBg="1"/>
      <p:bldP spid="902540174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501053" name="Format d’une règle OpenFlow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/>
              <a:t>SDN en pratique : utilisation de la table des flux des </a:t>
            </a:r>
            <a:r>
              <a:rPr lang="fr-FR"/>
              <a:t>switchs</a:t>
            </a:r>
            <a:endParaRPr/>
          </a:p>
        </p:txBody>
      </p:sp>
      <p:cxnSp>
        <p:nvCxnSpPr>
          <p:cNvPr id="1075384514" name="Connecteur droit 1"/>
          <p:cNvCxnSpPr>
            <a:endCxn id="816611071" idx="2"/>
          </p:cNvCxnSpPr>
          <p:nvPr/>
        </p:nvCxnSpPr>
        <p:spPr bwMode="auto">
          <a:xfrm flipV="1">
            <a:off x="3176733" y="2425797"/>
            <a:ext cx="1189638" cy="93403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57021222" name="Groupe 2"/>
          <p:cNvGrpSpPr/>
          <p:nvPr/>
        </p:nvGrpSpPr>
        <p:grpSpPr bwMode="auto">
          <a:xfrm>
            <a:off x="3084503" y="1602837"/>
            <a:ext cx="1830507" cy="822960"/>
            <a:chOff x="4453697" y="1537377"/>
            <a:chExt cx="1830507" cy="822960"/>
          </a:xfrm>
        </p:grpSpPr>
        <p:sp>
          <p:nvSpPr>
            <p:cNvPr id="70311713" name="ZoneTexte 3"/>
            <p:cNvSpPr txBox="1"/>
            <p:nvPr/>
          </p:nvSpPr>
          <p:spPr bwMode="auto">
            <a:xfrm>
              <a:off x="4453697" y="1700528"/>
              <a:ext cx="825457" cy="52629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/>
                <a:t>c1</a:t>
              </a:r>
              <a:endParaRPr/>
            </a:p>
          </p:txBody>
        </p:sp>
        <p:pic>
          <p:nvPicPr>
            <p:cNvPr id="816611071" name="Graphique 4" descr="Ordinateur"/>
            <p:cNvPicPr>
              <a:picLocks noChangeAspect="1"/>
            </p:cNvPicPr>
            <p:nvPr/>
          </p:nvPicPr>
          <p:blipFill>
            <a:blip r:embed="rId3"/>
            <a:stretch/>
          </p:blipFill>
          <p:spPr bwMode="auto">
            <a:xfrm>
              <a:off x="5186925" y="1537377"/>
              <a:ext cx="1097280" cy="822960"/>
            </a:xfrm>
            <a:prstGeom prst="rect">
              <a:avLst/>
            </a:prstGeom>
          </p:spPr>
        </p:pic>
      </p:grpSp>
      <p:cxnSp>
        <p:nvCxnSpPr>
          <p:cNvPr id="1937349979" name="Connecteur droit 5"/>
          <p:cNvCxnSpPr>
            <a:endCxn id="816611071" idx="2"/>
          </p:cNvCxnSpPr>
          <p:nvPr/>
        </p:nvCxnSpPr>
        <p:spPr bwMode="auto">
          <a:xfrm flipH="1" flipV="1">
            <a:off x="4366370" y="2425797"/>
            <a:ext cx="802653" cy="97992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9042724" name="Connecteur droit 8"/>
          <p:cNvCxnSpPr>
            <a:endCxn id="1210754486" idx="1"/>
          </p:cNvCxnSpPr>
          <p:nvPr/>
        </p:nvCxnSpPr>
        <p:spPr bwMode="auto">
          <a:xfrm flipV="1">
            <a:off x="5651425" y="3597872"/>
            <a:ext cx="327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69535368" name="Groupe 9"/>
          <p:cNvGrpSpPr/>
          <p:nvPr/>
        </p:nvGrpSpPr>
        <p:grpSpPr bwMode="auto">
          <a:xfrm>
            <a:off x="2390600" y="3405724"/>
            <a:ext cx="1412741" cy="458318"/>
            <a:chOff x="3509010" y="2366010"/>
            <a:chExt cx="1874520" cy="625792"/>
          </a:xfrm>
        </p:grpSpPr>
        <p:sp>
          <p:nvSpPr>
            <p:cNvPr id="363515415" name="Rectangle 10"/>
            <p:cNvSpPr/>
            <p:nvPr/>
          </p:nvSpPr>
          <p:spPr bwMode="auto">
            <a:xfrm>
              <a:off x="3509010" y="2597467"/>
              <a:ext cx="1257300" cy="3943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cxnSp>
          <p:nvCxnSpPr>
            <p:cNvPr id="1402652623" name="Connecteur droit 11"/>
            <p:cNvCxnSpPr/>
            <p:nvPr/>
          </p:nvCxnSpPr>
          <p:spPr bwMode="auto">
            <a:xfrm flipV="1">
              <a:off x="3509010" y="2366010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34890985" name="Connecteur droit 12"/>
            <p:cNvCxnSpPr/>
            <p:nvPr/>
          </p:nvCxnSpPr>
          <p:spPr bwMode="auto">
            <a:xfrm flipV="1">
              <a:off x="4766310" y="2366010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5315325" name="Connecteur droit 13"/>
            <p:cNvCxnSpPr/>
            <p:nvPr/>
          </p:nvCxnSpPr>
          <p:spPr bwMode="auto">
            <a:xfrm flipV="1">
              <a:off x="4777740" y="2760345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4688983" name="Connecteur droit 14"/>
            <p:cNvCxnSpPr/>
            <p:nvPr/>
          </p:nvCxnSpPr>
          <p:spPr bwMode="auto">
            <a:xfrm>
              <a:off x="4114800" y="2366010"/>
              <a:ext cx="12573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8677953" name="Connecteur droit 15"/>
            <p:cNvCxnSpPr/>
            <p:nvPr/>
          </p:nvCxnSpPr>
          <p:spPr bwMode="auto">
            <a:xfrm>
              <a:off x="5372100" y="2366010"/>
              <a:ext cx="0" cy="394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1358221" name="Connecteur droit avec flèche 16"/>
            <p:cNvCxnSpPr/>
            <p:nvPr/>
          </p:nvCxnSpPr>
          <p:spPr bwMode="auto">
            <a:xfrm>
              <a:off x="4297680" y="2426017"/>
              <a:ext cx="6629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87270748" name="Connecteur droit avec flèche 17"/>
            <p:cNvCxnSpPr/>
            <p:nvPr/>
          </p:nvCxnSpPr>
          <p:spPr bwMode="auto">
            <a:xfrm flipH="1">
              <a:off x="3966211" y="2511741"/>
              <a:ext cx="68579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20219234" name="ZoneTexte 18"/>
          <p:cNvSpPr txBox="1"/>
          <p:nvPr/>
        </p:nvSpPr>
        <p:spPr bwMode="auto">
          <a:xfrm>
            <a:off x="1153408" y="3959084"/>
            <a:ext cx="535753" cy="332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fr-FR"/>
          </a:p>
        </p:txBody>
      </p:sp>
      <p:sp>
        <p:nvSpPr>
          <p:cNvPr id="88247867" name="ZoneTexte 19"/>
          <p:cNvSpPr txBox="1"/>
          <p:nvPr/>
        </p:nvSpPr>
        <p:spPr bwMode="auto">
          <a:xfrm>
            <a:off x="6192837" y="3939166"/>
            <a:ext cx="535753" cy="332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b="0" i="1">
                              <a:latin typeface="Cambria Math"/>
                            </a:rPr>
                            <m:t>h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fr-FR"/>
          </a:p>
        </p:txBody>
      </p:sp>
      <p:sp>
        <p:nvSpPr>
          <p:cNvPr id="569462728" name="ZoneTexte 20"/>
          <p:cNvSpPr txBox="1"/>
          <p:nvPr/>
        </p:nvSpPr>
        <p:spPr bwMode="auto">
          <a:xfrm>
            <a:off x="2735172" y="3948597"/>
            <a:ext cx="535753" cy="332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b="0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fr-FR"/>
          </a:p>
        </p:txBody>
      </p:sp>
      <p:cxnSp>
        <p:nvCxnSpPr>
          <p:cNvPr id="797595426" name="Connecteur droit 21"/>
          <p:cNvCxnSpPr>
            <a:stCxn id="363515415" idx="1"/>
            <a:endCxn id="210610734" idx="3"/>
          </p:cNvCxnSpPr>
          <p:nvPr/>
        </p:nvCxnSpPr>
        <p:spPr bwMode="auto">
          <a:xfrm flipH="1">
            <a:off x="1833463" y="3719641"/>
            <a:ext cx="55713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0610734" name="Graphique 22" descr="Écran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71226" y="3343556"/>
            <a:ext cx="862237" cy="773140"/>
          </a:xfrm>
          <a:prstGeom prst="rect">
            <a:avLst/>
          </a:prstGeom>
        </p:spPr>
      </p:pic>
      <p:pic>
        <p:nvPicPr>
          <p:cNvPr id="1210754486" name="Graphique 23" descr="Écran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979298" y="3211302"/>
            <a:ext cx="862237" cy="773138"/>
          </a:xfrm>
          <a:prstGeom prst="rect">
            <a:avLst/>
          </a:prstGeom>
        </p:spPr>
      </p:pic>
      <p:grpSp>
        <p:nvGrpSpPr>
          <p:cNvPr id="810874672" name="Groupe 24"/>
          <p:cNvGrpSpPr/>
          <p:nvPr/>
        </p:nvGrpSpPr>
        <p:grpSpPr bwMode="auto">
          <a:xfrm>
            <a:off x="4238683" y="3418729"/>
            <a:ext cx="1412741" cy="458318"/>
            <a:chOff x="3509010" y="2366010"/>
            <a:chExt cx="1874520" cy="625792"/>
          </a:xfrm>
        </p:grpSpPr>
        <p:sp>
          <p:nvSpPr>
            <p:cNvPr id="1627364133" name="Rectangle 25"/>
            <p:cNvSpPr/>
            <p:nvPr/>
          </p:nvSpPr>
          <p:spPr bwMode="auto">
            <a:xfrm>
              <a:off x="3509010" y="2597467"/>
              <a:ext cx="1257300" cy="3943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cxnSp>
          <p:nvCxnSpPr>
            <p:cNvPr id="1368215397" name="Connecteur droit 26"/>
            <p:cNvCxnSpPr/>
            <p:nvPr/>
          </p:nvCxnSpPr>
          <p:spPr bwMode="auto">
            <a:xfrm flipV="1">
              <a:off x="3509010" y="2366010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615711" name="Connecteur droit 27"/>
            <p:cNvCxnSpPr/>
            <p:nvPr/>
          </p:nvCxnSpPr>
          <p:spPr bwMode="auto">
            <a:xfrm flipV="1">
              <a:off x="4766310" y="2366010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2594467" name="Connecteur droit 28"/>
            <p:cNvCxnSpPr/>
            <p:nvPr/>
          </p:nvCxnSpPr>
          <p:spPr bwMode="auto">
            <a:xfrm flipV="1">
              <a:off x="4777740" y="2760345"/>
              <a:ext cx="605790" cy="23145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81396504" name="Connecteur droit 29"/>
            <p:cNvCxnSpPr/>
            <p:nvPr/>
          </p:nvCxnSpPr>
          <p:spPr bwMode="auto">
            <a:xfrm>
              <a:off x="4114800" y="2366010"/>
              <a:ext cx="12573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0021355" name="Connecteur droit 30"/>
            <p:cNvCxnSpPr/>
            <p:nvPr/>
          </p:nvCxnSpPr>
          <p:spPr bwMode="auto">
            <a:xfrm>
              <a:off x="5372100" y="2366010"/>
              <a:ext cx="0" cy="394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7604262" name="Connecteur droit avec flèche 31"/>
            <p:cNvCxnSpPr/>
            <p:nvPr/>
          </p:nvCxnSpPr>
          <p:spPr bwMode="auto">
            <a:xfrm>
              <a:off x="4297680" y="2426017"/>
              <a:ext cx="6629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4576423" name="Connecteur droit avec flèche 32"/>
            <p:cNvCxnSpPr/>
            <p:nvPr/>
          </p:nvCxnSpPr>
          <p:spPr bwMode="auto">
            <a:xfrm flipH="1">
              <a:off x="3966211" y="2511741"/>
              <a:ext cx="68579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08995633" name="ZoneTexte 33"/>
          <p:cNvSpPr txBox="1"/>
          <p:nvPr/>
        </p:nvSpPr>
        <p:spPr bwMode="auto">
          <a:xfrm>
            <a:off x="4466961" y="3959744"/>
            <a:ext cx="535753" cy="332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defRPr/>
            </a:pPr>
            <mc:AlternateContent xmlns:mc="http://schemas.openxmlformats.org/markup-compatibility/2006" xmlns:m="http://schemas.openxmlformats.org/officeDocument/2006/math">
              <mc:Choice xmlns:a14="http://schemas.microsoft.com/office/drawing/2010/main" Requires="a14">
                <a14:m>
                  <m:oMathPara>
                    <m:oMathParaPr/>
                    <m:oMath>
                      <m:sSub>
                        <m:sSubPr>
                          <m:ctrlPr>
                            <a:rPr lang="fr-FR" i="1"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sSubPr>
                        <m:e>
                          <m:r>
                            <m:rPr/>
                            <a:rPr lang="fr-FR" b="0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m:rPr/>
                            <a:rPr lang="fr-FR" b="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</mc:Choice>
              <mc:Fallback/>
            </mc:AlternateContent>
            <a:endParaRPr lang="fr-FR"/>
          </a:p>
        </p:txBody>
      </p:sp>
      <p:cxnSp>
        <p:nvCxnSpPr>
          <p:cNvPr id="217589111" name="Connecteur droit 34"/>
          <p:cNvCxnSpPr>
            <a:stCxn id="1627364133" idx="1"/>
            <a:endCxn id="363515415" idx="3"/>
          </p:cNvCxnSpPr>
          <p:nvPr/>
        </p:nvCxnSpPr>
        <p:spPr bwMode="auto">
          <a:xfrm flipH="1" flipV="1">
            <a:off x="3338170" y="3719641"/>
            <a:ext cx="900512" cy="0"/>
          </a:xfrm>
          <a:prstGeom prst="line">
            <a:avLst/>
          </a:prstGeom>
          <a:ln cmpd="dbl">
            <a:solidFill>
              <a:schemeClr val="tx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3049131" name="Flèche : droite 35"/>
          <p:cNvSpPr/>
          <p:nvPr/>
        </p:nvSpPr>
        <p:spPr bwMode="auto">
          <a:xfrm>
            <a:off x="1884058" y="3597872"/>
            <a:ext cx="420131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85108255" name="Flèche : droite 36"/>
          <p:cNvSpPr/>
          <p:nvPr/>
        </p:nvSpPr>
        <p:spPr bwMode="auto">
          <a:xfrm>
            <a:off x="3862686" y="3586555"/>
            <a:ext cx="304050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77821471" name="Flèche : droite 37"/>
          <p:cNvSpPr/>
          <p:nvPr/>
        </p:nvSpPr>
        <p:spPr bwMode="auto">
          <a:xfrm>
            <a:off x="5694747" y="3474428"/>
            <a:ext cx="223997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53034639" name="Flèche : droite 38"/>
          <p:cNvSpPr/>
          <p:nvPr/>
        </p:nvSpPr>
        <p:spPr bwMode="auto">
          <a:xfrm flipH="1">
            <a:off x="5693883" y="3490481"/>
            <a:ext cx="233475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012286496" name="Flèche : droite 39"/>
          <p:cNvSpPr/>
          <p:nvPr/>
        </p:nvSpPr>
        <p:spPr bwMode="auto">
          <a:xfrm flipH="1">
            <a:off x="3897084" y="3575239"/>
            <a:ext cx="224860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50257659" name="Flèche : droite 40"/>
          <p:cNvSpPr/>
          <p:nvPr/>
        </p:nvSpPr>
        <p:spPr bwMode="auto">
          <a:xfrm flipH="1">
            <a:off x="1886900" y="3586555"/>
            <a:ext cx="365870" cy="266169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aphicFrame>
        <p:nvGraphicFramePr>
          <p:cNvPr id="1898517429" name="Tableau 46"/>
          <p:cNvGraphicFramePr>
            <a:graphicFrameLocks xmlns:a="http://schemas.openxmlformats.org/drawingml/2006/main"/>
          </p:cNvGraphicFramePr>
          <p:nvPr/>
        </p:nvGraphicFramePr>
        <p:xfrm>
          <a:off x="768442" y="4695484"/>
          <a:ext cx="3724340" cy="914400"/>
        </p:xfrm>
        <a:graphic>
          <a:graphicData uri="http://schemas.openxmlformats.org/drawingml/2006/table">
            <a:tbl>
              <a:tblPr firstRow="1" firstCol="0" lastRow="0" lastCol="0" bandRow="1" bandCol="0"/>
              <a:tblGrid>
                <a:gridCol w="1241446"/>
                <a:gridCol w="1241446"/>
                <a:gridCol w="1241446"/>
              </a:tblGrid>
              <a:tr h="28634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Src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Dst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Action</a:t>
                      </a:r>
                      <a:endParaRPr/>
                    </a:p>
                  </a:txBody>
                  <a:tcPr/>
                </a:tc>
              </a:tr>
              <a:tr h="286348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</a:tr>
              <a:tr h="286348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20296392" name="Tableau 48"/>
          <p:cNvGraphicFramePr>
            <a:graphicFrameLocks xmlns:a="http://schemas.openxmlformats.org/drawingml/2006/main"/>
          </p:cNvGraphicFramePr>
          <p:nvPr/>
        </p:nvGraphicFramePr>
        <p:xfrm>
          <a:off x="769343" y="4696962"/>
          <a:ext cx="3724340" cy="609599"/>
        </p:xfrm>
        <a:graphic>
          <a:graphicData uri="http://schemas.openxmlformats.org/drawingml/2006/table">
            <a:tbl>
              <a:tblPr firstRow="1" firstCol="0" lastRow="0" lastCol="0" bandRow="1" bandCol="0"/>
              <a:tblGrid>
                <a:gridCol w="1241446"/>
                <a:gridCol w="1241446"/>
                <a:gridCol w="1241446"/>
              </a:tblGrid>
              <a:tr h="28634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Src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Dst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Action</a:t>
                      </a:r>
                      <a:endParaRPr/>
                    </a:p>
                  </a:txBody>
                  <a:tcPr/>
                </a:tc>
              </a:tr>
              <a:tr h="286348"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i="1">
                                        <a:latin typeface="Cambria Math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mc:AlternateContent xmlns:mc="http://schemas.openxmlformats.org/markup-compatibility/2006" xmlns:m="http://schemas.openxmlformats.org/officeDocument/2006/math">
                        <mc:Choice xmlns:a14="http://schemas.microsoft.com/office/drawing/2010/main" Requires="a14">
                          <a14:m>
                            <m:oMathPara>
                              <m:oMathParaPr/>
                              <m:oMath>
                                <m:sSub>
                                  <m:sSubPr>
                                    <m:ctrlPr>
                                      <a:rPr lang="fr-FR" b="0" i="1">
                                        <a:latin typeface="Cambria Math"/>
                                        <a:ea typeface="Cambria Math"/>
                                        <a:cs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m:rPr/>
                                      <a:rPr lang="fr-FR" b="0" i="1">
                                        <a:latin typeface="Cambria Math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</mc:Choice>
                        <mc:Fallback/>
                      </mc:AlternateContent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18267129" name="Tableau 47"/>
          <p:cNvGraphicFramePr>
            <a:graphicFrameLocks xmlns:a="http://schemas.openxmlformats.org/drawingml/2006/main"/>
          </p:cNvGraphicFramePr>
          <p:nvPr/>
        </p:nvGraphicFramePr>
        <p:xfrm>
          <a:off x="770247" y="4693408"/>
          <a:ext cx="3724340" cy="304799"/>
        </p:xfrm>
        <a:graphic>
          <a:graphicData uri="http://schemas.openxmlformats.org/drawingml/2006/table">
            <a:tbl>
              <a:tblPr firstRow="1" firstCol="0" lastRow="0" lastCol="0" bandRow="1" bandCol="0"/>
              <a:tblGrid>
                <a:gridCol w="1241446"/>
                <a:gridCol w="1241446"/>
                <a:gridCol w="1241446"/>
              </a:tblGrid>
              <a:tr h="28634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Src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Dst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Action</a:t>
                      </a:r>
                      <a:endParaRPr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73721230" name="Ellipse 50"/>
          <p:cNvSpPr/>
          <p:nvPr/>
        </p:nvSpPr>
        <p:spPr bwMode="auto">
          <a:xfrm flipH="0" flipV="0">
            <a:off x="476177" y="4817573"/>
            <a:ext cx="3890913" cy="754689"/>
          </a:xfrm>
          <a:prstGeom prst="ellips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rot="0" spcFirstLastPara="1" vertOverflow="overflow" horzOverflow="overflow" vert="horz" wrap="square" lIns="38099" tIns="38099" rIns="38099" bIns="38099" numCol="1" spcCol="38099" rtlCol="0" anchor="ctr">
            <a:spAutoFit/>
          </a:bodyPr>
          <a:lstStyle/>
          <a:p>
            <a:pPr marL="0" marR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fr-FR" sz="3000" b="0" i="0" u="none" strike="noStrike" cap="none" spc="0">
              <a:ln>
                <a:noFill/>
              </a:ln>
              <a:solidFill>
                <a:srgbClr val="FFFFFF"/>
              </a:solidFill>
              <a:latin typeface="Gill Sans"/>
              <a:ea typeface="Gill Sans"/>
              <a:cs typeface="Gill Sans"/>
            </a:endParaRPr>
          </a:p>
        </p:txBody>
      </p:sp>
      <p:sp>
        <p:nvSpPr>
          <p:cNvPr id="1414311566" name="Mode Réactif…"/>
          <p:cNvSpPr txBox="1">
            <a:spLocks noGrp="1"/>
          </p:cNvSpPr>
          <p:nvPr>
            <p:ph type="body" idx="1"/>
          </p:nvPr>
        </p:nvSpPr>
        <p:spPr bwMode="auto">
          <a:xfrm>
            <a:off x="7328064" y="1763680"/>
            <a:ext cx="4440778" cy="277812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551814" indent="-351154" defTabSz="361188">
              <a:spcBef>
                <a:spcPts val="1399"/>
              </a:spcBef>
              <a:defRPr sz="2200"/>
            </a:pPr>
            <a:r>
              <a:rPr lang="fr-FR"/>
              <a:t>Le contrôleur avait écrit la règle</a:t>
            </a:r>
            <a:endParaRPr/>
          </a:p>
          <a:p>
            <a:pPr marL="894714" lvl="1" indent="-351154" defTabSz="361188">
              <a:spcBef>
                <a:spcPts val="1399"/>
              </a:spcBef>
              <a:defRPr sz="2200"/>
            </a:pPr>
            <a:r>
              <a:rPr lang="fr-FR"/>
              <a:t>Application de la règle et pas besoin de passer par une requête</a:t>
            </a:r>
            <a:endParaRPr/>
          </a:p>
          <a:p>
            <a:pPr marL="894714" lvl="1" indent="-351154" defTabSz="361188">
              <a:spcBef>
                <a:spcPts val="1399"/>
              </a:spcBef>
              <a:defRPr sz="2200"/>
            </a:pPr>
            <a:r>
              <a:rPr lang="fr-FR"/>
              <a:t>En réalité, les règles ne sont pas éternelles (temps de vie ou suppression manuelle par le contrôleur)</a:t>
            </a:r>
            <a:endParaRPr/>
          </a:p>
          <a:p>
            <a:pPr marL="894714" lvl="1" indent="-351154" defTabSz="361188">
              <a:spcBef>
                <a:spcPts val="1399"/>
              </a:spcBef>
              <a:defRPr sz="2200"/>
            </a:pPr>
            <a:r>
              <a:rPr lang="fr-FR"/>
              <a:t>Paramètre supplémentaire : </a:t>
            </a:r>
            <a:r>
              <a:rPr lang="fr-FR"/>
              <a:t>Idle</a:t>
            </a:r>
            <a:r>
              <a:rPr lang="fr-FR"/>
              <a:t> time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049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10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108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82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2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034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82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228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57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115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115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115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3115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3049131" grpId="0" animBg="1"/>
      <p:bldP spid="1385108255" grpId="0" animBg="1"/>
      <p:bldP spid="1385108255" grpId="1" animBg="1"/>
      <p:bldP spid="777821471" grpId="0" animBg="1"/>
      <p:bldP spid="777821471" grpId="1" animBg="1"/>
      <p:bldP spid="753034639" grpId="0" animBg="1"/>
      <p:bldP spid="1012286496" grpId="0" animBg="1"/>
      <p:bldP spid="850257659" grpId="0" animBg="1"/>
      <p:bldP spid="1073721230" grpId="0" animBg="1"/>
      <p:bldP spid="1073721230" grpId="1" animBg="1"/>
      <p:bldP spid="1414311566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414058" name="Format d’une règle OpenFlow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Format d’une règle OpenFlow</a:t>
            </a:r>
            <a:endParaRPr/>
          </a:p>
        </p:txBody>
      </p:sp>
      <p:graphicFrame>
        <p:nvGraphicFramePr>
          <p:cNvPr id="1974926316" name="Table"/>
          <p:cNvGraphicFramePr>
            <a:graphicFrameLocks xmlns:a="http://schemas.openxmlformats.org/drawingml/2006/main"/>
          </p:cNvGraphicFramePr>
          <p:nvPr/>
        </p:nvGraphicFramePr>
        <p:xfrm>
          <a:off x="494810" y="5459523"/>
          <a:ext cx="9386109" cy="1365987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938610"/>
                <a:gridCol w="938610"/>
                <a:gridCol w="938610"/>
                <a:gridCol w="938610"/>
                <a:gridCol w="938610"/>
                <a:gridCol w="938610"/>
                <a:gridCol w="938610"/>
                <a:gridCol w="938610"/>
                <a:gridCol w="938610"/>
                <a:gridCol w="938610"/>
              </a:tblGrid>
              <a:tr h="680188">
                <a:tc rowSpan="2"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Port commutateur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 rowSpan="2"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VLAN ID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MAC src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MAC dst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Eth type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IP src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IP dst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IP prot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#port src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#port dst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</a:tr>
              <a:tr h="680188">
                <a:tc vMerge="1">
                  <a:txBody>
                    <a:bodyPr/>
                    <a:p>
                      <a:pPr>
                        <a:defRPr/>
                      </a:pPr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p>
                      <a:pPr>
                        <a:defRPr/>
                      </a:pPr>
                      <a:endParaRPr lang="fr-FR"/>
                    </a:p>
                  </a:txBody>
                  <a:tcPr/>
                </a:tc>
                <a:tc gridSpan="3"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Couche 2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3"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Couche 3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  <a:tc gridSpan="2"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Couche 4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 hMerge="1">
                  <a:txBody>
                    <a:bodyPr/>
                    <a:p>
                      <a:endParaRPr/>
                    </a:p>
                  </a:txBody>
                </a:tc>
              </a:tr>
            </a:tbl>
          </a:graphicData>
        </a:graphic>
      </p:graphicFrame>
      <p:graphicFrame>
        <p:nvGraphicFramePr>
          <p:cNvPr id="921531798" name="Table"/>
          <p:cNvGraphicFramePr>
            <a:graphicFrameLocks xmlns:a="http://schemas.openxmlformats.org/drawingml/2006/main"/>
          </p:cNvGraphicFramePr>
          <p:nvPr/>
        </p:nvGraphicFramePr>
        <p:xfrm>
          <a:off x="488935" y="1566873"/>
          <a:ext cx="4672625" cy="91779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557540"/>
                <a:gridCol w="1557540"/>
                <a:gridCol w="1557540"/>
              </a:tblGrid>
              <a:tr h="917791"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 spc="-139"/>
                        <a:t>Correspondance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2">
                        <a:hueOff val="-2473792"/>
                        <a:satOff val="-50209"/>
                        <a:lumOff val="23543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Action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3">
                        <a:satOff val="18648"/>
                        <a:lumOff val="5971"/>
                      </a:schemeClr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Compteur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5">
                        <a:hueOff val="-444211"/>
                        <a:satOff val="-14915"/>
                        <a:lumOff val="22857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3801651" name="Table"/>
          <p:cNvGraphicFramePr>
            <a:graphicFrameLocks xmlns:a="http://schemas.openxmlformats.org/drawingml/2006/main"/>
          </p:cNvGraphicFramePr>
          <p:nvPr/>
        </p:nvGraphicFramePr>
        <p:xfrm>
          <a:off x="1298075" y="3491478"/>
          <a:ext cx="5423856" cy="22860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5423856"/>
              </a:tblGrid>
              <a:tr h="319629">
                <a:tc>
                  <a:txBody>
                    <a:bodyPr/>
                    <a:p>
                      <a:pPr algn="l"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1.  Expédier le paquet sur le(s) port(s)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3">
                        <a:satOff val="18648"/>
                        <a:lumOff val="5971"/>
                      </a:schemeClr>
                    </a:solidFill>
                  </a:tcPr>
                </a:tc>
              </a:tr>
              <a:tr h="319629">
                <a:tc>
                  <a:txBody>
                    <a:bodyPr/>
                    <a:p>
                      <a:pPr algn="l"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2.  Encapsuler and expédier le paquet au contrôleur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3">
                        <a:satOff val="18648"/>
                        <a:lumOff val="5971"/>
                      </a:schemeClr>
                    </a:solidFill>
                  </a:tcPr>
                </a:tc>
              </a:tr>
              <a:tr h="319629">
                <a:tc>
                  <a:txBody>
                    <a:bodyPr/>
                    <a:p>
                      <a:pPr algn="l"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3.  Supprimer le paquet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3">
                        <a:satOff val="18648"/>
                        <a:lumOff val="5971"/>
                      </a:schemeClr>
                    </a:solidFill>
                  </a:tcPr>
                </a:tc>
              </a:tr>
              <a:tr h="319629">
                <a:tc>
                  <a:txBody>
                    <a:bodyPr/>
                    <a:p>
                      <a:pPr algn="l"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4.  Envoyer au “pipeline” de traitement habituel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3">
                        <a:satOff val="18648"/>
                        <a:lumOff val="5971"/>
                      </a:schemeClr>
                    </a:solidFill>
                  </a:tcPr>
                </a:tc>
              </a:tr>
              <a:tr h="319629">
                <a:tc>
                  <a:txBody>
                    <a:bodyPr/>
                    <a:p>
                      <a:pPr algn="l"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>
                          <a:solidFill>
                            <a:srgbClr val="A6AAA9"/>
                          </a:solidFill>
                        </a:rPr>
                        <a:t>5.  Modifier certains champs de l’en-tête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3">
                        <a:satOff val="18648"/>
                        <a:lumOff val="5971"/>
                      </a:schemeClr>
                    </a:solidFill>
                  </a:tcPr>
                </a:tc>
              </a:tr>
              <a:tr h="319629">
                <a:tc>
                  <a:txBody>
                    <a:bodyPr/>
                    <a:p>
                      <a:pPr algn="l"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>
                          <a:solidFill>
                            <a:srgbClr val="A6AAA9"/>
                          </a:solidFill>
                        </a:rPr>
                        <a:t>6.  Chiffrer certaines données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3">
                        <a:satOff val="18648"/>
                        <a:lumOff val="5971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91122518" name="Table"/>
          <p:cNvGraphicFramePr>
            <a:graphicFrameLocks xmlns:a="http://schemas.openxmlformats.org/drawingml/2006/main"/>
          </p:cNvGraphicFramePr>
          <p:nvPr/>
        </p:nvGraphicFramePr>
        <p:xfrm>
          <a:off x="5397722" y="2841990"/>
          <a:ext cx="3915441" cy="452712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3915441"/>
              </a:tblGrid>
              <a:tr h="452714">
                <a:tc>
                  <a:txBody>
                    <a:bodyPr/>
                    <a:p>
                      <a:pPr algn="l"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2000"/>
                        <a:t>unités : paquets et octets traités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chemeClr val="accent5">
                        <a:hueOff val="-444211"/>
                        <a:satOff val="-14915"/>
                        <a:lumOff val="22857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752587915" name="Line"/>
          <p:cNvSpPr/>
          <p:nvPr/>
        </p:nvSpPr>
        <p:spPr bwMode="auto">
          <a:xfrm flipV="1">
            <a:off x="493021" y="2390096"/>
            <a:ext cx="1" cy="3065640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61403510" name="Line"/>
          <p:cNvSpPr/>
          <p:nvPr/>
        </p:nvSpPr>
        <p:spPr bwMode="auto">
          <a:xfrm flipV="1">
            <a:off x="2514205" y="2393579"/>
            <a:ext cx="1" cy="1078094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20861836" name="Line"/>
          <p:cNvSpPr/>
          <p:nvPr/>
        </p:nvSpPr>
        <p:spPr bwMode="auto">
          <a:xfrm flipV="1">
            <a:off x="5414110" y="2401723"/>
            <a:ext cx="1" cy="430304"/>
          </a:xfrm>
          <a:prstGeom prst="line">
            <a:avLst/>
          </a:prstGeom>
          <a:ln w="38100">
            <a:solidFill>
              <a:srgbClr val="000000"/>
            </a:solidFill>
            <a:miter lim="400000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00545739" name="avec Type 1"/>
          <p:cNvSpPr txBox="1"/>
          <p:nvPr/>
        </p:nvSpPr>
        <p:spPr bwMode="auto">
          <a:xfrm>
            <a:off x="7981535" y="4750721"/>
            <a:ext cx="1524983" cy="35433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000"/>
            </a:lvl1pPr>
          </a:lstStyle>
          <a:p>
            <a:pPr>
              <a:defRPr/>
            </a:pPr>
            <a:r>
              <a:rPr/>
              <a:t>avec Type 1</a:t>
            </a:r>
            <a:endParaRPr/>
          </a:p>
        </p:txBody>
      </p:sp>
      <p:sp>
        <p:nvSpPr>
          <p:cNvPr id="1930339685" name="Line"/>
          <p:cNvSpPr/>
          <p:nvPr/>
        </p:nvSpPr>
        <p:spPr bwMode="auto">
          <a:xfrm flipV="1">
            <a:off x="7941911" y="4626864"/>
            <a:ext cx="1" cy="602046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05144824" name="pour assurer la rétro-comptabilité dans un réseau non OpenFlow"/>
          <p:cNvSpPr txBox="1"/>
          <p:nvPr/>
        </p:nvSpPr>
        <p:spPr bwMode="auto">
          <a:xfrm>
            <a:off x="8980878" y="3687108"/>
            <a:ext cx="3290661" cy="88011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2000"/>
            </a:lvl1pPr>
          </a:lstStyle>
          <a:p>
            <a:pPr>
              <a:defRPr/>
            </a:pPr>
            <a:r>
              <a:rPr/>
              <a:t>pour assurer la rétro-comptabilité dans un réseau non OpenFlow</a:t>
            </a:r>
            <a:endParaRPr/>
          </a:p>
        </p:txBody>
      </p:sp>
      <p:sp>
        <p:nvSpPr>
          <p:cNvPr id="121768973" name="Line"/>
          <p:cNvSpPr/>
          <p:nvPr/>
        </p:nvSpPr>
        <p:spPr bwMode="auto">
          <a:xfrm flipH="1">
            <a:off x="7897604" y="4053456"/>
            <a:ext cx="1519618" cy="406885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49749" name="Exemple de règles OpenFlow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Exemple de règles OpenFlow</a:t>
            </a:r>
            <a:endParaRPr/>
          </a:p>
        </p:txBody>
      </p:sp>
      <p:graphicFrame>
        <p:nvGraphicFramePr>
          <p:cNvPr id="310016606" name="Table"/>
          <p:cNvGraphicFramePr>
            <a:graphicFrameLocks xmlns:a="http://schemas.openxmlformats.org/drawingml/2006/main"/>
          </p:cNvGraphicFramePr>
          <p:nvPr/>
        </p:nvGraphicFramePr>
        <p:xfrm>
          <a:off x="857294" y="1595805"/>
          <a:ext cx="9414636" cy="4926137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941533"/>
                <a:gridCol w="721818"/>
                <a:gridCol w="624053"/>
                <a:gridCol w="828956"/>
                <a:gridCol w="836386"/>
                <a:gridCol w="526565"/>
                <a:gridCol w="939172"/>
                <a:gridCol w="827307"/>
                <a:gridCol w="448051"/>
                <a:gridCol w="584506"/>
                <a:gridCol w="564381"/>
                <a:gridCol w="1571900"/>
              </a:tblGrid>
              <a:tr h="703734"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Fonction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Port entrée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VLAN ID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MAC src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MAC dst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Eth type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IP src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IP dst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IP prot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#port src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#port dst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200" b="1"/>
                        <a:t>Action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</a:tr>
              <a:tr h="703734"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Routeur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5.6.*.*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Port6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</a:tr>
              <a:tr h="703734"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Comm. (paquet)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00:1f..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Port 6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</a:tr>
              <a:tr h="703734"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Comm. VLAN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Vlan1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00:1f..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Port6, Port 7, Port 8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</a:tr>
              <a:tr h="703734"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Pare-feu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22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Drop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</a:tr>
              <a:tr h="703734"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Comm. flux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Port 3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Vlan1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00:20..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00:1f..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300">
                          <a:latin typeface="Courier"/>
                          <a:ea typeface="Courier"/>
                          <a:cs typeface="Courier"/>
                        </a:defRPr>
                      </a:pPr>
                      <a:r>
                        <a:rPr sz="200">
                          <a:solidFill>
                            <a:srgbClr val="FFFFFF"/>
                          </a:solidFill>
                        </a:rPr>
                        <a:t>1</a:t>
                      </a:r>
                      <a:r>
                        <a:rPr/>
                        <a:t>0800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1.2.3.4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5.6.*.*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4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17264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Port 6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</a:tr>
              <a:tr h="703734"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???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10.1.2.3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*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defTabSz="914400">
                        <a:tabLst>
                          <a:tab pos="914400" algn="l"/>
                        </a:tabLst>
                        <a:defRPr sz="1800"/>
                      </a:pPr>
                      <a:r>
                        <a:rPr sz="1300">
                          <a:latin typeface="Courier"/>
                          <a:ea typeface="Courier"/>
                          <a:cs typeface="Courier"/>
                        </a:rPr>
                        <a:t>Send to controller</a:t>
                      </a:r>
                      <a:endParaRPr/>
                    </a:p>
                  </a:txBody>
                  <a:tcPr marL="38099" marR="38099" marT="38099" marB="38099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58084761" name="Permet d’émuler les fonctions de presque tous les équipements réseaux"/>
          <p:cNvSpPr txBox="1"/>
          <p:nvPr/>
        </p:nvSpPr>
        <p:spPr bwMode="auto">
          <a:xfrm>
            <a:off x="87164" y="6299260"/>
            <a:ext cx="12017671" cy="43434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2600"/>
            </a:lvl1pPr>
          </a:lstStyle>
          <a:p>
            <a:pPr>
              <a:defRPr/>
            </a:pPr>
            <a:r>
              <a:rPr/>
              <a:t>Permet d’émuler les fonctions de presque tous les équipements réseaux</a:t>
            </a:r>
            <a:endParaRPr/>
          </a:p>
        </p:txBody>
      </p:sp>
      <p:sp>
        <p:nvSpPr>
          <p:cNvPr id="1788856467" name="Proactives"/>
          <p:cNvSpPr txBox="1"/>
          <p:nvPr/>
        </p:nvSpPr>
        <p:spPr bwMode="auto">
          <a:xfrm rot="16199969">
            <a:off x="-350126" y="3160394"/>
            <a:ext cx="1645921" cy="2400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>
              <a:defRPr sz="19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/>
              <a:t>Proactives</a:t>
            </a:r>
            <a:endParaRPr/>
          </a:p>
        </p:txBody>
      </p:sp>
      <p:sp>
        <p:nvSpPr>
          <p:cNvPr id="1947621180" name="Line"/>
          <p:cNvSpPr/>
          <p:nvPr/>
        </p:nvSpPr>
        <p:spPr bwMode="auto">
          <a:xfrm flipH="1">
            <a:off x="737453" y="2248475"/>
            <a:ext cx="1" cy="3115429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799" tIns="50799" rIns="50799" bIns="50799" anchor="ctr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93410750" name="Réactives"/>
          <p:cNvSpPr txBox="1"/>
          <p:nvPr/>
        </p:nvSpPr>
        <p:spPr bwMode="auto">
          <a:xfrm rot="16199969">
            <a:off x="-296145" y="5566185"/>
            <a:ext cx="1253354" cy="24003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spAutoFit/>
          </a:bodyPr>
          <a:lstStyle>
            <a:lvl1pPr algn="l">
              <a:defRPr sz="19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/>
              <a:t>Réactives</a:t>
            </a:r>
            <a:endParaRPr/>
          </a:p>
        </p:txBody>
      </p:sp>
      <p:sp>
        <p:nvSpPr>
          <p:cNvPr id="53153789" name="Line"/>
          <p:cNvSpPr/>
          <p:nvPr/>
        </p:nvSpPr>
        <p:spPr bwMode="auto">
          <a:xfrm flipH="1">
            <a:off x="737453" y="5436339"/>
            <a:ext cx="1" cy="734187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799" tIns="50799" rIns="50799" bIns="50799" anchor="ctr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734681" name="Pla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>
              <a:defRPr/>
            </a:pPr>
            <a:r>
              <a:rPr/>
              <a:t>Plan</a:t>
            </a:r>
            <a:endParaRPr/>
          </a:p>
        </p:txBody>
      </p:sp>
      <p:sp>
        <p:nvSpPr>
          <p:cNvPr id="14138136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/>
            </a:pPr>
            <a:fld id="{9F0061B9-1524-E827-5603-E2D4DBC68864}" type="slidenum">
              <a:rPr/>
              <a:t/>
            </a:fld>
            <a:endParaRPr/>
          </a:p>
        </p:txBody>
      </p:sp>
      <p:sp>
        <p:nvSpPr>
          <p:cNvPr id="191086190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0F9833A-484E-75EA-542A-EEFB383FC51D}" type="datetime1">
              <a:rPr lang="fr-FR"/>
              <a:t/>
            </a:fld>
            <a:endParaRPr/>
          </a:p>
        </p:txBody>
      </p:sp>
      <p:sp>
        <p:nvSpPr>
          <p:cNvPr id="39774157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906739609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>
                <a:solidFill>
                  <a:srgbClr val="FF2600"/>
                </a:solidFill>
              </a:defRPr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Introduction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Plan de contrôle &amp; Plan de données</a:t>
            </a:r>
            <a:endParaRPr sz="2800" b="0" u="none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OpenFlow et P4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1" i="0" u="sng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 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NFV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Network slicing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Défis restants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340399" name="Exemple d’applications SD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Exemple d’applications SDN</a:t>
            </a:r>
            <a:endParaRPr/>
          </a:p>
        </p:txBody>
      </p:sp>
      <p:sp>
        <p:nvSpPr>
          <p:cNvPr id="827904821" name="Contrôle d’accès dynamique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Contrôle d’accès dynamique</a:t>
            </a:r>
            <a:endParaRPr/>
          </a:p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Mobilité sans interruption</a:t>
            </a:r>
            <a:endParaRPr/>
          </a:p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Equilibrage de charge des serveurs</a:t>
            </a:r>
            <a:endParaRPr/>
          </a:p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Utilisation de plusieurs points d’accès sans fil</a:t>
            </a:r>
            <a:endParaRPr/>
          </a:p>
        </p:txBody>
      </p:sp>
      <p:sp>
        <p:nvSpPr>
          <p:cNvPr id="162264430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2914F38-6201-2292-0B9F-A153098C339B}" type="slidenum">
              <a:rPr/>
              <a:t/>
            </a:fld>
            <a:endParaRPr/>
          </a:p>
        </p:txBody>
      </p:sp>
      <p:sp>
        <p:nvSpPr>
          <p:cNvPr id="101409538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4E5CEA1-87AA-B4BF-F02D-09AD871D8977}" type="datetime1">
              <a:rPr lang="fr-FR"/>
              <a:t/>
            </a:fld>
            <a:endParaRPr/>
          </a:p>
        </p:txBody>
      </p:sp>
      <p:sp>
        <p:nvSpPr>
          <p:cNvPr id="127096816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2854901" name="Contrôle d’accès dynamiqu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Contrôle d’accès dynamique</a:t>
            </a:r>
            <a:endParaRPr/>
          </a:p>
        </p:txBody>
      </p:sp>
      <p:sp>
        <p:nvSpPr>
          <p:cNvPr id="146765838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D8D65A8F-CE8E-0BE3-64DE-F6D95EEB56F0}" type="slidenum">
              <a:rPr/>
              <a:t/>
            </a:fld>
            <a:endParaRPr/>
          </a:p>
        </p:txBody>
      </p:sp>
      <p:grpSp>
        <p:nvGrpSpPr>
          <p:cNvPr id="1492426962" name="Group"/>
          <p:cNvGrpSpPr/>
          <p:nvPr/>
        </p:nvGrpSpPr>
        <p:grpSpPr bwMode="auto">
          <a:xfrm>
            <a:off x="2527369" y="2482880"/>
            <a:ext cx="7245547" cy="4178239"/>
            <a:chOff x="0" y="0"/>
            <a:chExt cx="7245545" cy="4178238"/>
          </a:xfrm>
        </p:grpSpPr>
        <p:pic>
          <p:nvPicPr>
            <p:cNvPr id="1826858538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835170959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369631422" name="Inspecte le premier paquet d’une connexion (flux)…"/>
          <p:cNvSpPr txBox="1"/>
          <p:nvPr/>
        </p:nvSpPr>
        <p:spPr bwMode="auto">
          <a:xfrm>
            <a:off x="2329093" y="1354763"/>
            <a:ext cx="9814561" cy="1892463"/>
          </a:xfrm>
          <a:prstGeom prst="rect">
            <a:avLst/>
          </a:prstGeom>
          <a:ln w="12700">
            <a:miter lim="400000"/>
          </a:ln>
        </p:spPr>
        <p:txBody>
          <a:bodyPr lIns="38099" tIns="38099" rIns="38099" bIns="38099" anchor="ctr"/>
          <a:lstStyle/>
          <a:p>
            <a:pPr marL="698499" indent="-444499" algn="l">
              <a:lnSpc>
                <a:spcPct val="90000"/>
              </a:lnSpc>
              <a:spcBef>
                <a:spcPts val="1799"/>
              </a:spcBef>
              <a:buSzPct val="171000"/>
              <a:buChar char="•"/>
              <a:defRPr sz="2800"/>
            </a:pPr>
            <a:r>
              <a:rPr/>
              <a:t>Inspecte le </a:t>
            </a:r>
            <a:r>
              <a:rPr>
                <a:solidFill>
                  <a:schemeClr val="accent5"/>
                </a:solidFill>
              </a:rPr>
              <a:t>premier paquet</a:t>
            </a:r>
            <a:r>
              <a:rPr/>
              <a:t> d’une connexion (flux)</a:t>
            </a:r>
            <a:endParaRPr/>
          </a:p>
          <a:p>
            <a:pPr marL="698499" indent="-444499" algn="l">
              <a:lnSpc>
                <a:spcPct val="90000"/>
              </a:lnSpc>
              <a:spcBef>
                <a:spcPts val="1799"/>
              </a:spcBef>
              <a:buSzPct val="171000"/>
              <a:buChar char="•"/>
              <a:defRPr sz="2800"/>
            </a:pPr>
            <a:r>
              <a:rPr/>
              <a:t>Consulte la </a:t>
            </a:r>
            <a:r>
              <a:rPr>
                <a:solidFill>
                  <a:schemeClr val="accent5"/>
                </a:solidFill>
              </a:rPr>
              <a:t>politique de contrôle d’accès</a:t>
            </a:r>
            <a:endParaRPr/>
          </a:p>
          <a:p>
            <a:pPr marL="698499" indent="-444499" algn="l">
              <a:lnSpc>
                <a:spcPct val="90000"/>
              </a:lnSpc>
              <a:spcBef>
                <a:spcPts val="1799"/>
              </a:spcBef>
              <a:buSzPct val="171000"/>
              <a:buChar char="•"/>
              <a:defRPr sz="2800"/>
            </a:pPr>
            <a:r>
              <a:rPr/>
              <a:t>Implémente les règles pour bloquer ou router le trafic</a:t>
            </a:r>
            <a:endParaRPr/>
          </a:p>
        </p:txBody>
      </p:sp>
      <p:sp>
        <p:nvSpPr>
          <p:cNvPr id="1068241244" name="Line"/>
          <p:cNvSpPr/>
          <p:nvPr/>
        </p:nvSpPr>
        <p:spPr bwMode="auto">
          <a:xfrm>
            <a:off x="5661429" y="4133354"/>
            <a:ext cx="415875" cy="1354539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15603567" name="Line"/>
          <p:cNvSpPr/>
          <p:nvPr/>
        </p:nvSpPr>
        <p:spPr bwMode="auto">
          <a:xfrm flipH="1">
            <a:off x="4439257" y="3973334"/>
            <a:ext cx="1468559" cy="87510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448791564" name="Line"/>
          <p:cNvSpPr/>
          <p:nvPr/>
        </p:nvSpPr>
        <p:spPr bwMode="auto">
          <a:xfrm flipH="1">
            <a:off x="6238800" y="4897092"/>
            <a:ext cx="1995146" cy="62562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88087054" name="Line"/>
          <p:cNvSpPr/>
          <p:nvPr/>
        </p:nvSpPr>
        <p:spPr bwMode="auto">
          <a:xfrm flipH="1" flipV="1">
            <a:off x="5818570" y="4097998"/>
            <a:ext cx="2722288" cy="62577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63393892" name="Line"/>
          <p:cNvSpPr/>
          <p:nvPr/>
        </p:nvSpPr>
        <p:spPr bwMode="auto">
          <a:xfrm flipH="1" flipV="1">
            <a:off x="4249352" y="5099896"/>
            <a:ext cx="1472429" cy="44805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77999234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181139" y="3939352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694141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623099" y="5414853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849236102" name="Line"/>
          <p:cNvSpPr/>
          <p:nvPr/>
        </p:nvSpPr>
        <p:spPr bwMode="auto">
          <a:xfrm flipH="1" flipV="1">
            <a:off x="9103921" y="4814057"/>
            <a:ext cx="870812" cy="101973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763897775" name="Line"/>
          <p:cNvSpPr/>
          <p:nvPr/>
        </p:nvSpPr>
        <p:spPr bwMode="auto">
          <a:xfrm flipH="1">
            <a:off x="2874968" y="5043934"/>
            <a:ext cx="1123102" cy="112938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70181658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703320" y="4750882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431345286" name="Image" descr="Image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096648" y="5934866"/>
            <a:ext cx="1082388" cy="811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701506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107220" y="4636582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267660092" name="Line"/>
          <p:cNvSpPr/>
          <p:nvPr/>
        </p:nvSpPr>
        <p:spPr bwMode="auto">
          <a:xfrm>
            <a:off x="3187251" y="5066136"/>
            <a:ext cx="6600524" cy="980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962" fill="norm" stroke="1" extrusionOk="0">
                <a:moveTo>
                  <a:pt x="0" y="17962"/>
                </a:moveTo>
                <a:cubicBezTo>
                  <a:pt x="539" y="14586"/>
                  <a:pt x="1071" y="11209"/>
                  <a:pt x="1596" y="7825"/>
                </a:cubicBezTo>
                <a:cubicBezTo>
                  <a:pt x="1881" y="5993"/>
                  <a:pt x="2183" y="4093"/>
                  <a:pt x="2665" y="3229"/>
                </a:cubicBezTo>
                <a:cubicBezTo>
                  <a:pt x="3646" y="1470"/>
                  <a:pt x="4602" y="4509"/>
                  <a:pt x="5461" y="7320"/>
                </a:cubicBezTo>
                <a:cubicBezTo>
                  <a:pt x="6732" y="11484"/>
                  <a:pt x="8224" y="14883"/>
                  <a:pt x="9797" y="14318"/>
                </a:cubicBezTo>
                <a:cubicBezTo>
                  <a:pt x="12931" y="13194"/>
                  <a:pt x="15143" y="-3638"/>
                  <a:pt x="18359" y="719"/>
                </a:cubicBezTo>
                <a:cubicBezTo>
                  <a:pt x="19057" y="1665"/>
                  <a:pt x="19624" y="3590"/>
                  <a:pt x="20119" y="5674"/>
                </a:cubicBezTo>
                <a:cubicBezTo>
                  <a:pt x="20682" y="8041"/>
                  <a:pt x="21182" y="10733"/>
                  <a:pt x="21600" y="13740"/>
                </a:cubicBez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62921937" name="droppedImage.png" descr="dropped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934547" y="5647552"/>
            <a:ext cx="702090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259065864" name="Line"/>
          <p:cNvSpPr/>
          <p:nvPr/>
        </p:nvSpPr>
        <p:spPr bwMode="auto">
          <a:xfrm>
            <a:off x="2093508" y="3386886"/>
            <a:ext cx="1649668" cy="25631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6" h="21600" fill="norm" stroke="1" extrusionOk="0">
                <a:moveTo>
                  <a:pt x="9686" y="21600"/>
                </a:moveTo>
                <a:cubicBezTo>
                  <a:pt x="11685" y="20184"/>
                  <a:pt x="13782" y="18833"/>
                  <a:pt x="15978" y="17537"/>
                </a:cubicBezTo>
                <a:cubicBezTo>
                  <a:pt x="18606" y="15986"/>
                  <a:pt x="21600" y="14339"/>
                  <a:pt x="21472" y="12230"/>
                </a:cubicBezTo>
                <a:cubicBezTo>
                  <a:pt x="21314" y="9622"/>
                  <a:pt x="16569" y="7954"/>
                  <a:pt x="12501" y="6354"/>
                </a:cubicBezTo>
                <a:cubicBezTo>
                  <a:pt x="7844" y="4522"/>
                  <a:pt x="3637" y="2400"/>
                  <a:pt x="0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38591769" name="???"/>
          <p:cNvSpPr txBox="1"/>
          <p:nvPr/>
        </p:nvSpPr>
        <p:spPr bwMode="auto">
          <a:xfrm>
            <a:off x="2190654" y="3823146"/>
            <a:ext cx="563464" cy="45720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/>
              <a:t>???</a:t>
            </a:r>
            <a:endParaRPr/>
          </a:p>
        </p:txBody>
      </p:sp>
      <p:sp>
        <p:nvSpPr>
          <p:cNvPr id="1732344841" name="route"/>
          <p:cNvSpPr txBox="1"/>
          <p:nvPr/>
        </p:nvSpPr>
        <p:spPr bwMode="auto">
          <a:xfrm>
            <a:off x="5704459" y="5801295"/>
            <a:ext cx="1090822" cy="45720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/>
              <a:t>route</a:t>
            </a:r>
            <a:endParaRPr/>
          </a:p>
        </p:txBody>
      </p:sp>
      <p:sp>
        <p:nvSpPr>
          <p:cNvPr id="1025383737" name="Rounded Rectangle"/>
          <p:cNvSpPr/>
          <p:nvPr/>
        </p:nvSpPr>
        <p:spPr bwMode="auto">
          <a:xfrm flipH="0" flipV="0">
            <a:off x="561728" y="2542726"/>
            <a:ext cx="1796388" cy="783283"/>
          </a:xfrm>
          <a:prstGeom prst="roundRect">
            <a:avLst>
              <a:gd name="adj" fmla="val 17529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21262344" name="Contrôleur SDN"/>
          <p:cNvSpPr txBox="1"/>
          <p:nvPr/>
        </p:nvSpPr>
        <p:spPr bwMode="auto">
          <a:xfrm>
            <a:off x="812525" y="2648617"/>
            <a:ext cx="1616769" cy="57150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1800"/>
            </a:lvl1pPr>
          </a:lstStyle>
          <a:p>
            <a:pPr>
              <a:defRPr/>
            </a:pPr>
            <a:r>
              <a:rPr/>
              <a:t>Contrôleur SDN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9065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2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038591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67660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732344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660092" grpId="3" animBg="1"/>
      <p:bldP spid="259065864" grpId="1" animBg="1"/>
      <p:bldP spid="2038591769" grpId="2" animBg="1"/>
      <p:bldP spid="1732344841" grpId="4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832962" name="Mobilité sans interruptio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Mobilité sans interruption</a:t>
            </a:r>
            <a:endParaRPr/>
          </a:p>
        </p:txBody>
      </p:sp>
      <p:sp>
        <p:nvSpPr>
          <p:cNvPr id="100071383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B64B6BA7-9ABB-5D66-DCE4-0F7EFE308B2C}" type="slidenum">
              <a:rPr/>
              <a:t/>
            </a:fld>
            <a:endParaRPr/>
          </a:p>
        </p:txBody>
      </p:sp>
      <p:grpSp>
        <p:nvGrpSpPr>
          <p:cNvPr id="1176352765" name="Group"/>
          <p:cNvGrpSpPr/>
          <p:nvPr/>
        </p:nvGrpSpPr>
        <p:grpSpPr bwMode="auto">
          <a:xfrm>
            <a:off x="2527369" y="2482880"/>
            <a:ext cx="7245547" cy="4178239"/>
            <a:chOff x="0" y="0"/>
            <a:chExt cx="7245545" cy="4178238"/>
          </a:xfrm>
        </p:grpSpPr>
        <p:pic>
          <p:nvPicPr>
            <p:cNvPr id="1366121323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9490946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550292161" name="Découvre que l’hôte s’est déplacé…"/>
          <p:cNvSpPr txBox="1"/>
          <p:nvPr/>
        </p:nvSpPr>
        <p:spPr bwMode="auto">
          <a:xfrm>
            <a:off x="2329093" y="1354763"/>
            <a:ext cx="9814561" cy="1892463"/>
          </a:xfrm>
          <a:prstGeom prst="rect">
            <a:avLst/>
          </a:prstGeom>
          <a:ln w="12700">
            <a:miter lim="400000"/>
          </a:ln>
        </p:spPr>
        <p:txBody>
          <a:bodyPr lIns="38099" tIns="38099" rIns="38099" bIns="38099" anchor="ctr"/>
          <a:lstStyle/>
          <a:p>
            <a:pPr marL="698499" indent="-444499" algn="l">
              <a:lnSpc>
                <a:spcPct val="90000"/>
              </a:lnSpc>
              <a:spcBef>
                <a:spcPts val="1799"/>
              </a:spcBef>
              <a:buSzPct val="171000"/>
              <a:buChar char="•"/>
              <a:defRPr sz="2800"/>
            </a:pPr>
            <a:r>
              <a:rPr/>
              <a:t>Découvre que l’hôte s’est déplacé</a:t>
            </a:r>
            <a:endParaRPr/>
          </a:p>
          <a:p>
            <a:pPr marL="698499" indent="-444499" algn="l">
              <a:lnSpc>
                <a:spcPct val="90000"/>
              </a:lnSpc>
              <a:spcBef>
                <a:spcPts val="1799"/>
              </a:spcBef>
              <a:buSzPct val="171000"/>
              <a:buChar char="•"/>
              <a:defRPr sz="2800"/>
            </a:pPr>
            <a:r>
              <a:rPr/>
              <a:t>Modifie les règles pour </a:t>
            </a:r>
            <a:r>
              <a:rPr>
                <a:solidFill>
                  <a:schemeClr val="accent5"/>
                </a:solidFill>
              </a:rPr>
              <a:t>re-router</a:t>
            </a:r>
            <a:r>
              <a:rPr/>
              <a:t> son trafic</a:t>
            </a:r>
            <a:endParaRPr/>
          </a:p>
        </p:txBody>
      </p:sp>
      <p:sp>
        <p:nvSpPr>
          <p:cNvPr id="1751133571" name="Line"/>
          <p:cNvSpPr/>
          <p:nvPr/>
        </p:nvSpPr>
        <p:spPr bwMode="auto">
          <a:xfrm>
            <a:off x="5661429" y="4133354"/>
            <a:ext cx="415875" cy="1354539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749598321" name="Line"/>
          <p:cNvSpPr/>
          <p:nvPr/>
        </p:nvSpPr>
        <p:spPr bwMode="auto">
          <a:xfrm flipH="1">
            <a:off x="4439257" y="3973334"/>
            <a:ext cx="1468559" cy="87510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41698698" name="Line"/>
          <p:cNvSpPr/>
          <p:nvPr/>
        </p:nvSpPr>
        <p:spPr bwMode="auto">
          <a:xfrm flipH="1">
            <a:off x="6238800" y="4897092"/>
            <a:ext cx="1995146" cy="62562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588820494" name="Line"/>
          <p:cNvSpPr/>
          <p:nvPr/>
        </p:nvSpPr>
        <p:spPr bwMode="auto">
          <a:xfrm flipH="1" flipV="1">
            <a:off x="5818570" y="4097998"/>
            <a:ext cx="2722288" cy="62577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014657367" name="Line"/>
          <p:cNvSpPr/>
          <p:nvPr/>
        </p:nvSpPr>
        <p:spPr bwMode="auto">
          <a:xfrm flipH="1" flipV="1">
            <a:off x="4249352" y="5099896"/>
            <a:ext cx="1472429" cy="44805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437064665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623099" y="5414853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1700335651" name="Line"/>
          <p:cNvSpPr/>
          <p:nvPr/>
        </p:nvSpPr>
        <p:spPr bwMode="auto">
          <a:xfrm flipH="1" flipV="1">
            <a:off x="9103921" y="4814057"/>
            <a:ext cx="870812" cy="101973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659614530" name="Line"/>
          <p:cNvSpPr/>
          <p:nvPr/>
        </p:nvSpPr>
        <p:spPr bwMode="auto">
          <a:xfrm flipH="1">
            <a:off x="2956040" y="5043934"/>
            <a:ext cx="1042031" cy="1020539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070803423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703320" y="4750882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78872413" name="Image" descr="Image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096648" y="5934866"/>
            <a:ext cx="1082388" cy="811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738475130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107220" y="4636582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47438297" name="Line"/>
          <p:cNvSpPr/>
          <p:nvPr/>
        </p:nvSpPr>
        <p:spPr bwMode="auto">
          <a:xfrm>
            <a:off x="3187251" y="5066136"/>
            <a:ext cx="6600524" cy="9808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962" fill="norm" stroke="1" extrusionOk="0">
                <a:moveTo>
                  <a:pt x="0" y="17962"/>
                </a:moveTo>
                <a:cubicBezTo>
                  <a:pt x="539" y="14586"/>
                  <a:pt x="1071" y="11209"/>
                  <a:pt x="1596" y="7825"/>
                </a:cubicBezTo>
                <a:cubicBezTo>
                  <a:pt x="1881" y="5993"/>
                  <a:pt x="2183" y="4093"/>
                  <a:pt x="2665" y="3229"/>
                </a:cubicBezTo>
                <a:cubicBezTo>
                  <a:pt x="3646" y="1470"/>
                  <a:pt x="4602" y="4509"/>
                  <a:pt x="5461" y="7320"/>
                </a:cubicBezTo>
                <a:cubicBezTo>
                  <a:pt x="6732" y="11484"/>
                  <a:pt x="8224" y="14883"/>
                  <a:pt x="9797" y="14318"/>
                </a:cubicBezTo>
                <a:cubicBezTo>
                  <a:pt x="12931" y="13194"/>
                  <a:pt x="15143" y="-3638"/>
                  <a:pt x="18359" y="719"/>
                </a:cubicBezTo>
                <a:cubicBezTo>
                  <a:pt x="19057" y="1665"/>
                  <a:pt x="19624" y="3590"/>
                  <a:pt x="20119" y="5674"/>
                </a:cubicBezTo>
                <a:cubicBezTo>
                  <a:pt x="20682" y="8041"/>
                  <a:pt x="21182" y="10733"/>
                  <a:pt x="21600" y="13740"/>
                </a:cubicBez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34749816" name="droppedImage.png" descr="dropped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934547" y="5647552"/>
            <a:ext cx="702090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643994604" name="avant"/>
          <p:cNvSpPr txBox="1"/>
          <p:nvPr/>
        </p:nvSpPr>
        <p:spPr bwMode="auto">
          <a:xfrm>
            <a:off x="5648173" y="5824849"/>
            <a:ext cx="1028730" cy="45720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/>
              <a:t>avant</a:t>
            </a:r>
            <a:endParaRPr/>
          </a:p>
        </p:txBody>
      </p:sp>
      <p:sp>
        <p:nvSpPr>
          <p:cNvPr id="488638959" name="???"/>
          <p:cNvSpPr txBox="1"/>
          <p:nvPr/>
        </p:nvSpPr>
        <p:spPr bwMode="auto">
          <a:xfrm>
            <a:off x="4352715" y="3274898"/>
            <a:ext cx="563464" cy="45720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/>
              <a:t>???</a:t>
            </a:r>
            <a:endParaRPr/>
          </a:p>
        </p:txBody>
      </p:sp>
      <p:sp>
        <p:nvSpPr>
          <p:cNvPr id="1783215952" name="Line"/>
          <p:cNvSpPr/>
          <p:nvPr/>
        </p:nvSpPr>
        <p:spPr bwMode="auto">
          <a:xfrm flipH="1">
            <a:off x="6005871" y="3488652"/>
            <a:ext cx="999550" cy="562735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443666052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181139" y="3939352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8092262" name="Image" descr="Image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386843" y="3114414"/>
            <a:ext cx="1082388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569547056" name="après"/>
          <p:cNvSpPr txBox="1"/>
          <p:nvPr/>
        </p:nvSpPr>
        <p:spPr bwMode="auto">
          <a:xfrm>
            <a:off x="7909485" y="3902189"/>
            <a:ext cx="1066026" cy="45720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/>
              <a:t>après</a:t>
            </a:r>
            <a:endParaRPr/>
          </a:p>
        </p:txBody>
      </p:sp>
      <p:sp>
        <p:nvSpPr>
          <p:cNvPr id="644806042" name="Line"/>
          <p:cNvSpPr/>
          <p:nvPr/>
        </p:nvSpPr>
        <p:spPr bwMode="auto">
          <a:xfrm>
            <a:off x="6452572" y="3832376"/>
            <a:ext cx="3685469" cy="18299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5" h="21600" fill="norm" stroke="1" extrusionOk="0">
                <a:moveTo>
                  <a:pt x="1166" y="0"/>
                </a:moveTo>
                <a:cubicBezTo>
                  <a:pt x="411" y="222"/>
                  <a:pt x="-95" y="1305"/>
                  <a:pt x="15" y="2460"/>
                </a:cubicBezTo>
                <a:cubicBezTo>
                  <a:pt x="78" y="3123"/>
                  <a:pt x="329" y="3659"/>
                  <a:pt x="655" y="4107"/>
                </a:cubicBezTo>
                <a:cubicBezTo>
                  <a:pt x="1787" y="5660"/>
                  <a:pt x="3476" y="5916"/>
                  <a:pt x="5086" y="6013"/>
                </a:cubicBezTo>
                <a:cubicBezTo>
                  <a:pt x="8365" y="6211"/>
                  <a:pt x="11605" y="6905"/>
                  <a:pt x="14443" y="9107"/>
                </a:cubicBezTo>
                <a:cubicBezTo>
                  <a:pt x="17749" y="11671"/>
                  <a:pt x="20308" y="16115"/>
                  <a:pt x="21505" y="21600"/>
                </a:cubicBez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40677262" name="Line"/>
          <p:cNvSpPr/>
          <p:nvPr/>
        </p:nvSpPr>
        <p:spPr bwMode="auto">
          <a:xfrm>
            <a:off x="2391184" y="3337343"/>
            <a:ext cx="4060604" cy="551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596" fill="norm" stroke="1" extrusionOk="0">
                <a:moveTo>
                  <a:pt x="21600" y="10978"/>
                </a:moveTo>
                <a:cubicBezTo>
                  <a:pt x="19629" y="15786"/>
                  <a:pt x="17533" y="19101"/>
                  <a:pt x="15375" y="20429"/>
                </a:cubicBezTo>
                <a:cubicBezTo>
                  <a:pt x="13474" y="21600"/>
                  <a:pt x="4450" y="16799"/>
                  <a:pt x="0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33173738" name="Rounded Rectangle"/>
          <p:cNvSpPr/>
          <p:nvPr/>
        </p:nvSpPr>
        <p:spPr bwMode="auto">
          <a:xfrm flipH="0" flipV="0">
            <a:off x="561727" y="2542725"/>
            <a:ext cx="1796387" cy="783282"/>
          </a:xfrm>
          <a:prstGeom prst="roundRect">
            <a:avLst>
              <a:gd name="adj" fmla="val 17529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00263133" name="Contrôleur SDN"/>
          <p:cNvSpPr txBox="1"/>
          <p:nvPr/>
        </p:nvSpPr>
        <p:spPr bwMode="auto">
          <a:xfrm>
            <a:off x="812525" y="2648617"/>
            <a:ext cx="1616769" cy="57150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1800"/>
            </a:lvl1pPr>
          </a:lstStyle>
          <a:p>
            <a:pPr>
              <a:defRPr/>
            </a:pPr>
            <a:r>
              <a:rPr/>
              <a:t>Contrôleur SDN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8092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99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4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7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174067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6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88638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7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56954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38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8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64480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72413" grpId="4" animBg="1"/>
      <p:bldP spid="47438297" grpId="2" animBg="1"/>
      <p:bldP spid="643994604" grpId="3" animBg="1"/>
      <p:bldP spid="488638959" grpId="6" animBg="1"/>
      <p:bldP spid="1148092262" grpId="1" animBg="1"/>
      <p:bldP spid="569547056" grpId="7" animBg="1"/>
      <p:bldP spid="644806042" grpId="8" animBg="1"/>
      <p:bldP spid="1740677262" grpId="5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244097" name="Rounded Rectangle"/>
          <p:cNvSpPr/>
          <p:nvPr/>
        </p:nvSpPr>
        <p:spPr bwMode="auto">
          <a:xfrm flipH="0" flipV="0">
            <a:off x="561727" y="2542725"/>
            <a:ext cx="1796387" cy="783282"/>
          </a:xfrm>
          <a:prstGeom prst="roundRect">
            <a:avLst>
              <a:gd name="adj" fmla="val 17529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36898640" name="Equilibrage de charge des serveur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Equilibrage de charge des serveurs</a:t>
            </a:r>
            <a:endParaRPr/>
          </a:p>
        </p:txBody>
      </p:sp>
      <p:sp>
        <p:nvSpPr>
          <p:cNvPr id="185206503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4C2FA7D-F78A-889D-EA87-C685264B100A}" type="slidenum">
              <a:rPr/>
              <a:t/>
            </a:fld>
            <a:endParaRPr/>
          </a:p>
        </p:txBody>
      </p:sp>
      <p:grpSp>
        <p:nvGrpSpPr>
          <p:cNvPr id="146032598" name="Group"/>
          <p:cNvGrpSpPr/>
          <p:nvPr/>
        </p:nvGrpSpPr>
        <p:grpSpPr bwMode="auto">
          <a:xfrm>
            <a:off x="2527369" y="2482880"/>
            <a:ext cx="7245547" cy="4178239"/>
            <a:chOff x="0" y="0"/>
            <a:chExt cx="7245545" cy="4178238"/>
          </a:xfrm>
        </p:grpSpPr>
        <p:pic>
          <p:nvPicPr>
            <p:cNvPr id="1765676641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81939651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622549184" name="Pré-implémente les politiques d’équilibrage de charge…"/>
          <p:cNvSpPr txBox="1"/>
          <p:nvPr/>
        </p:nvSpPr>
        <p:spPr bwMode="auto">
          <a:xfrm>
            <a:off x="1651867" y="1354763"/>
            <a:ext cx="10491787" cy="1099233"/>
          </a:xfrm>
          <a:prstGeom prst="rect">
            <a:avLst/>
          </a:prstGeom>
          <a:ln w="12700">
            <a:miter lim="400000"/>
          </a:ln>
        </p:spPr>
        <p:txBody>
          <a:bodyPr lIns="38099" tIns="38099" rIns="38099" bIns="38099" anchor="ctr"/>
          <a:lstStyle/>
          <a:p>
            <a:pPr marL="698499" indent="-444499" algn="l">
              <a:lnSpc>
                <a:spcPct val="90000"/>
              </a:lnSpc>
              <a:spcBef>
                <a:spcPts val="1799"/>
              </a:spcBef>
              <a:buSzPct val="171000"/>
              <a:buChar char="•"/>
              <a:defRPr sz="2800"/>
            </a:pPr>
            <a:r>
              <a:rPr/>
              <a:t>Pré-implémente les politiques d’</a:t>
            </a:r>
            <a:r>
              <a:rPr>
                <a:solidFill>
                  <a:schemeClr val="accent5"/>
                </a:solidFill>
              </a:rPr>
              <a:t>équilibrage de charge</a:t>
            </a:r>
            <a:endParaRPr/>
          </a:p>
          <a:p>
            <a:pPr marL="698499" indent="-444499" algn="l">
              <a:lnSpc>
                <a:spcPct val="90000"/>
              </a:lnSpc>
              <a:spcBef>
                <a:spcPts val="1799"/>
              </a:spcBef>
              <a:buSzPct val="171000"/>
              <a:buChar char="•"/>
              <a:defRPr sz="2800"/>
            </a:pPr>
            <a:r>
              <a:rPr/>
              <a:t>Scinde le trafic en fonction de la @IP source</a:t>
            </a:r>
            <a:endParaRPr/>
          </a:p>
        </p:txBody>
      </p:sp>
      <p:sp>
        <p:nvSpPr>
          <p:cNvPr id="1623939334" name="Line"/>
          <p:cNvSpPr/>
          <p:nvPr/>
        </p:nvSpPr>
        <p:spPr bwMode="auto">
          <a:xfrm>
            <a:off x="5661429" y="4133354"/>
            <a:ext cx="415875" cy="1354539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98018822" name="Line"/>
          <p:cNvSpPr/>
          <p:nvPr/>
        </p:nvSpPr>
        <p:spPr bwMode="auto">
          <a:xfrm flipH="1">
            <a:off x="4439257" y="3973334"/>
            <a:ext cx="1468559" cy="87510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10259582" name="Line"/>
          <p:cNvSpPr/>
          <p:nvPr/>
        </p:nvSpPr>
        <p:spPr bwMode="auto">
          <a:xfrm flipH="1">
            <a:off x="6238800" y="4897092"/>
            <a:ext cx="1995146" cy="62562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77940249" name="Line"/>
          <p:cNvSpPr/>
          <p:nvPr/>
        </p:nvSpPr>
        <p:spPr bwMode="auto">
          <a:xfrm flipH="1" flipV="1">
            <a:off x="5818570" y="4097998"/>
            <a:ext cx="2722288" cy="62577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44082735" name="Line"/>
          <p:cNvSpPr/>
          <p:nvPr/>
        </p:nvSpPr>
        <p:spPr bwMode="auto">
          <a:xfrm flipH="1" flipV="1">
            <a:off x="4249352" y="5099896"/>
            <a:ext cx="1472429" cy="44805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389291619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623099" y="5414853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1819717703" name="Line"/>
          <p:cNvSpPr/>
          <p:nvPr/>
        </p:nvSpPr>
        <p:spPr bwMode="auto">
          <a:xfrm flipH="1" flipV="1">
            <a:off x="9103921" y="4814057"/>
            <a:ext cx="870812" cy="101973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900721980" name="Line"/>
          <p:cNvSpPr/>
          <p:nvPr/>
        </p:nvSpPr>
        <p:spPr bwMode="auto">
          <a:xfrm flipH="1">
            <a:off x="2063496" y="5043934"/>
            <a:ext cx="1934573" cy="97865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873296788" name="Image" descr="Image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335284" y="5741001"/>
            <a:ext cx="1082388" cy="811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5570152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107220" y="4636582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132665871" name="Line"/>
          <p:cNvSpPr/>
          <p:nvPr/>
        </p:nvSpPr>
        <p:spPr bwMode="auto">
          <a:xfrm>
            <a:off x="2564445" y="5067319"/>
            <a:ext cx="7223330" cy="8529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7652" fill="norm" stroke="1" extrusionOk="0">
                <a:moveTo>
                  <a:pt x="0" y="17652"/>
                </a:moveTo>
                <a:cubicBezTo>
                  <a:pt x="786" y="15579"/>
                  <a:pt x="1525" y="13056"/>
                  <a:pt x="2202" y="10126"/>
                </a:cubicBezTo>
                <a:cubicBezTo>
                  <a:pt x="2842" y="7357"/>
                  <a:pt x="3465" y="4136"/>
                  <a:pt x="4297" y="3495"/>
                </a:cubicBezTo>
                <a:cubicBezTo>
                  <a:pt x="5223" y="2781"/>
                  <a:pt x="6066" y="5372"/>
                  <a:pt x="6852" y="7952"/>
                </a:cubicBezTo>
                <a:cubicBezTo>
                  <a:pt x="8070" y="11948"/>
                  <a:pt x="9383" y="15988"/>
                  <a:pt x="10815" y="15578"/>
                </a:cubicBezTo>
                <a:cubicBezTo>
                  <a:pt x="13687" y="14755"/>
                  <a:pt x="15694" y="-3948"/>
                  <a:pt x="18638" y="759"/>
                </a:cubicBezTo>
                <a:cubicBezTo>
                  <a:pt x="19277" y="1780"/>
                  <a:pt x="19794" y="3885"/>
                  <a:pt x="20247" y="6158"/>
                </a:cubicBezTo>
                <a:cubicBezTo>
                  <a:pt x="20761" y="8740"/>
                  <a:pt x="21217" y="11673"/>
                  <a:pt x="21600" y="14948"/>
                </a:cubicBez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833895920" name="droppedImage.png" descr="dropped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934547" y="5647552"/>
            <a:ext cx="702090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1583009482" name="route 2"/>
          <p:cNvSpPr txBox="1"/>
          <p:nvPr/>
        </p:nvSpPr>
        <p:spPr bwMode="auto">
          <a:xfrm>
            <a:off x="5530960" y="5828553"/>
            <a:ext cx="1422739" cy="45720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/>
              <a:t>route 2</a:t>
            </a:r>
            <a:endParaRPr/>
          </a:p>
        </p:txBody>
      </p:sp>
      <p:sp>
        <p:nvSpPr>
          <p:cNvPr id="1203843859" name="src=1*"/>
          <p:cNvSpPr txBox="1"/>
          <p:nvPr/>
        </p:nvSpPr>
        <p:spPr bwMode="auto">
          <a:xfrm>
            <a:off x="542827" y="5274508"/>
            <a:ext cx="1951087" cy="508750"/>
          </a:xfrm>
          <a:prstGeom prst="rect">
            <a:avLst/>
          </a:prstGeom>
          <a:ln w="12700">
            <a:miter lim="400000"/>
          </a:ln>
        </p:spPr>
        <p:txBody>
          <a:bodyPr lIns="38099" tIns="38099" rIns="38099" bIns="38099" anchor="ctr"/>
          <a:lstStyle>
            <a:lvl1pPr indent="253999" algn="l">
              <a:lnSpc>
                <a:spcPct val="60000"/>
              </a:lnSpc>
              <a:spcBef>
                <a:spcPts val="1799"/>
              </a:spcBef>
              <a:defRPr sz="2000">
                <a:latin typeface="Courier"/>
                <a:ea typeface="Courier"/>
                <a:cs typeface="Courier"/>
              </a:defRPr>
            </a:lvl1pPr>
          </a:lstStyle>
          <a:p>
            <a:pPr>
              <a:defRPr/>
            </a:pPr>
            <a:r>
              <a:rPr/>
              <a:t>  src=1*</a:t>
            </a:r>
            <a:endParaRPr/>
          </a:p>
        </p:txBody>
      </p:sp>
      <p:sp>
        <p:nvSpPr>
          <p:cNvPr id="1359892486" name="route 1"/>
          <p:cNvSpPr txBox="1"/>
          <p:nvPr/>
        </p:nvSpPr>
        <p:spPr bwMode="auto">
          <a:xfrm>
            <a:off x="3526221" y="3726178"/>
            <a:ext cx="1422739" cy="45720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80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/>
              <a:t>route 1</a:t>
            </a:r>
            <a:endParaRPr/>
          </a:p>
        </p:txBody>
      </p:sp>
      <p:sp>
        <p:nvSpPr>
          <p:cNvPr id="857628043" name="Line"/>
          <p:cNvSpPr/>
          <p:nvPr/>
        </p:nvSpPr>
        <p:spPr bwMode="auto">
          <a:xfrm>
            <a:off x="2341546" y="3186077"/>
            <a:ext cx="4379445" cy="16218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19" fill="norm" stroke="1" extrusionOk="0">
                <a:moveTo>
                  <a:pt x="0" y="19942"/>
                </a:moveTo>
                <a:cubicBezTo>
                  <a:pt x="2621" y="21600"/>
                  <a:pt x="5458" y="21336"/>
                  <a:pt x="7989" y="19200"/>
                </a:cubicBezTo>
                <a:cubicBezTo>
                  <a:pt x="11076" y="16592"/>
                  <a:pt x="13362" y="11512"/>
                  <a:pt x="15945" y="7311"/>
                </a:cubicBezTo>
                <a:cubicBezTo>
                  <a:pt x="17689" y="4475"/>
                  <a:pt x="19585" y="2023"/>
                  <a:pt x="21600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44635181" name="Line"/>
          <p:cNvSpPr/>
          <p:nvPr/>
        </p:nvSpPr>
        <p:spPr bwMode="auto">
          <a:xfrm flipH="1">
            <a:off x="2053027" y="4855176"/>
            <a:ext cx="1840845" cy="1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112412939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703320" y="4750882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7217734" name="Image" descr="Image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283348" y="4593135"/>
            <a:ext cx="1082388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408713999" name="src=0*"/>
          <p:cNvSpPr txBox="1"/>
          <p:nvPr/>
        </p:nvSpPr>
        <p:spPr bwMode="auto">
          <a:xfrm>
            <a:off x="709989" y="4048741"/>
            <a:ext cx="1951087" cy="508750"/>
          </a:xfrm>
          <a:prstGeom prst="rect">
            <a:avLst/>
          </a:prstGeom>
          <a:ln w="12700">
            <a:miter lim="400000"/>
          </a:ln>
        </p:spPr>
        <p:txBody>
          <a:bodyPr lIns="38099" tIns="38099" rIns="38099" bIns="38099" anchor="ctr"/>
          <a:lstStyle>
            <a:lvl1pPr indent="253999" algn="l">
              <a:lnSpc>
                <a:spcPct val="60000"/>
              </a:lnSpc>
              <a:spcBef>
                <a:spcPts val="1799"/>
              </a:spcBef>
              <a:defRPr sz="2000">
                <a:latin typeface="Courier"/>
                <a:ea typeface="Courier"/>
                <a:cs typeface="Courier"/>
              </a:defRPr>
            </a:lvl1pPr>
          </a:lstStyle>
          <a:p>
            <a:pPr>
              <a:defRPr/>
            </a:pPr>
            <a:r>
              <a:rPr/>
              <a:t>  src=0*</a:t>
            </a:r>
            <a:endParaRPr/>
          </a:p>
        </p:txBody>
      </p:sp>
      <p:sp>
        <p:nvSpPr>
          <p:cNvPr id="895922015" name="Line"/>
          <p:cNvSpPr/>
          <p:nvPr/>
        </p:nvSpPr>
        <p:spPr bwMode="auto">
          <a:xfrm flipH="1">
            <a:off x="5764005" y="3144065"/>
            <a:ext cx="1060837" cy="795627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532978391" name="droppedImage.png" descr="dropped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730094" y="2401221"/>
            <a:ext cx="702091" cy="811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9119204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181139" y="3939352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901635417" name="Contrôleur SDN"/>
          <p:cNvSpPr txBox="1"/>
          <p:nvPr/>
        </p:nvSpPr>
        <p:spPr bwMode="auto">
          <a:xfrm>
            <a:off x="812525" y="2648617"/>
            <a:ext cx="1616769" cy="57150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1800"/>
            </a:lvl1pPr>
          </a:lstStyle>
          <a:p>
            <a:pPr>
              <a:defRPr/>
            </a:pPr>
            <a:r>
              <a:rPr/>
              <a:t>Contrôleur SDN</a:t>
            </a:r>
            <a:endParaRPr/>
          </a:p>
        </p:txBody>
      </p:sp>
      <p:sp>
        <p:nvSpPr>
          <p:cNvPr id="911312661" name="Serveur répliqué"/>
          <p:cNvSpPr txBox="1"/>
          <p:nvPr/>
        </p:nvSpPr>
        <p:spPr bwMode="auto">
          <a:xfrm>
            <a:off x="7618520" y="2648617"/>
            <a:ext cx="2742487" cy="44577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800" i="1"/>
            </a:lvl1pPr>
          </a:lstStyle>
          <a:p>
            <a:pPr>
              <a:defRPr/>
            </a:pPr>
            <a:r>
              <a:rPr/>
              <a:t>Serveur répliqué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386138" name="Rounded Rectangle"/>
          <p:cNvSpPr/>
          <p:nvPr/>
        </p:nvSpPr>
        <p:spPr bwMode="auto">
          <a:xfrm flipH="0" flipV="0">
            <a:off x="561727" y="2542725"/>
            <a:ext cx="1796387" cy="783282"/>
          </a:xfrm>
          <a:prstGeom prst="roundRect">
            <a:avLst>
              <a:gd name="adj" fmla="val 17529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23622169" name="Equilibrage de charge des serveur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/>
              <a:t>Détection d’attaque</a:t>
            </a:r>
            <a:endParaRPr/>
          </a:p>
        </p:txBody>
      </p:sp>
      <p:sp>
        <p:nvSpPr>
          <p:cNvPr id="1224958244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8F7DF01-D974-3C9B-144A-D4A0DED10C09}" type="slidenum">
              <a:rPr/>
              <a:t/>
            </a:fld>
            <a:endParaRPr/>
          </a:p>
        </p:txBody>
      </p:sp>
      <p:grpSp>
        <p:nvGrpSpPr>
          <p:cNvPr id="1359372760" name="Group"/>
          <p:cNvGrpSpPr/>
          <p:nvPr/>
        </p:nvGrpSpPr>
        <p:grpSpPr bwMode="auto">
          <a:xfrm>
            <a:off x="2527369" y="2482880"/>
            <a:ext cx="7245547" cy="4178239"/>
            <a:chOff x="0" y="0"/>
            <a:chExt cx="7245545" cy="4178238"/>
          </a:xfrm>
        </p:grpSpPr>
        <p:pic>
          <p:nvPicPr>
            <p:cNvPr id="455765177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032148804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162589217" name="Pré-implémente les politiques d’équilibrage de charge…"/>
          <p:cNvSpPr txBox="1"/>
          <p:nvPr/>
        </p:nvSpPr>
        <p:spPr bwMode="auto">
          <a:xfrm>
            <a:off x="1651867" y="1354763"/>
            <a:ext cx="10491787" cy="1099233"/>
          </a:xfrm>
          <a:prstGeom prst="rect">
            <a:avLst/>
          </a:prstGeom>
          <a:ln w="12700">
            <a:miter lim="400000"/>
          </a:ln>
        </p:spPr>
        <p:txBody>
          <a:bodyPr lIns="38099" tIns="38099" rIns="38099" bIns="38099" anchor="ctr"/>
          <a:lstStyle/>
          <a:p>
            <a:pPr marL="698499" indent="-444499" algn="l">
              <a:lnSpc>
                <a:spcPct val="90000"/>
              </a:lnSpc>
              <a:spcBef>
                <a:spcPts val="1799"/>
              </a:spcBef>
              <a:buSzPct val="171000"/>
              <a:buChar char="•"/>
              <a:defRPr sz="2800"/>
            </a:pPr>
            <a:r>
              <a:rPr lang="fr-FR"/>
              <a:t>Analyse des statistiques pour rechercher des anomalies</a:t>
            </a:r>
            <a:endParaRPr/>
          </a:p>
        </p:txBody>
      </p:sp>
      <p:sp>
        <p:nvSpPr>
          <p:cNvPr id="1669555701" name="Line"/>
          <p:cNvSpPr/>
          <p:nvPr/>
        </p:nvSpPr>
        <p:spPr bwMode="auto">
          <a:xfrm>
            <a:off x="5661429" y="4133354"/>
            <a:ext cx="415875" cy="1354539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984417726" name="Line"/>
          <p:cNvSpPr/>
          <p:nvPr/>
        </p:nvSpPr>
        <p:spPr bwMode="auto">
          <a:xfrm flipH="1">
            <a:off x="4439257" y="3973334"/>
            <a:ext cx="1468559" cy="87510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317504021" name="Line"/>
          <p:cNvSpPr/>
          <p:nvPr/>
        </p:nvSpPr>
        <p:spPr bwMode="auto">
          <a:xfrm flipH="1">
            <a:off x="6238800" y="4897092"/>
            <a:ext cx="1995146" cy="62562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895676815" name="Line"/>
          <p:cNvSpPr/>
          <p:nvPr/>
        </p:nvSpPr>
        <p:spPr bwMode="auto">
          <a:xfrm flipH="1" flipV="1">
            <a:off x="5818570" y="4097998"/>
            <a:ext cx="2722288" cy="62577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493505274" name="Line"/>
          <p:cNvSpPr/>
          <p:nvPr/>
        </p:nvSpPr>
        <p:spPr bwMode="auto">
          <a:xfrm flipH="1" flipV="1">
            <a:off x="4249352" y="5099896"/>
            <a:ext cx="1472429" cy="44805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837214980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623099" y="5414853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1514442269" name="Line"/>
          <p:cNvSpPr/>
          <p:nvPr/>
        </p:nvSpPr>
        <p:spPr bwMode="auto">
          <a:xfrm flipH="1" flipV="1">
            <a:off x="9103921" y="4814057"/>
            <a:ext cx="870812" cy="101973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690488674" name="Line"/>
          <p:cNvSpPr/>
          <p:nvPr/>
        </p:nvSpPr>
        <p:spPr bwMode="auto">
          <a:xfrm flipH="1">
            <a:off x="2063496" y="5043934"/>
            <a:ext cx="1934573" cy="97865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086706948" name="Image" descr="Image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335284" y="5741001"/>
            <a:ext cx="1082388" cy="811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911187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107220" y="4636582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307098" name="droppedImage.png" descr="dropped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934547" y="5647552"/>
            <a:ext cx="702090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1122502570" name="Line"/>
          <p:cNvSpPr/>
          <p:nvPr/>
        </p:nvSpPr>
        <p:spPr bwMode="auto">
          <a:xfrm>
            <a:off x="2341546" y="3186077"/>
            <a:ext cx="4379445" cy="162181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19" fill="norm" stroke="1" extrusionOk="0">
                <a:moveTo>
                  <a:pt x="0" y="19942"/>
                </a:moveTo>
                <a:cubicBezTo>
                  <a:pt x="2621" y="21600"/>
                  <a:pt x="5458" y="21336"/>
                  <a:pt x="7989" y="19200"/>
                </a:cubicBezTo>
                <a:cubicBezTo>
                  <a:pt x="11076" y="16592"/>
                  <a:pt x="13362" y="11512"/>
                  <a:pt x="15945" y="7311"/>
                </a:cubicBezTo>
                <a:cubicBezTo>
                  <a:pt x="17689" y="4475"/>
                  <a:pt x="19585" y="2023"/>
                  <a:pt x="21600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37419189" name="Line"/>
          <p:cNvSpPr/>
          <p:nvPr/>
        </p:nvSpPr>
        <p:spPr bwMode="auto">
          <a:xfrm flipH="1">
            <a:off x="2053027" y="4855176"/>
            <a:ext cx="1840845" cy="1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061075145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703320" y="4750882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3701931" name="Image" descr="Image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321737" y="4604443"/>
            <a:ext cx="1082388" cy="811791"/>
          </a:xfrm>
          <a:prstGeom prst="rect">
            <a:avLst/>
          </a:prstGeom>
          <a:ln w="12700">
            <a:miter lim="400000"/>
          </a:ln>
        </p:spPr>
      </p:pic>
      <p:sp>
        <p:nvSpPr>
          <p:cNvPr id="320641030" name="Line"/>
          <p:cNvSpPr/>
          <p:nvPr/>
        </p:nvSpPr>
        <p:spPr bwMode="auto">
          <a:xfrm flipH="1">
            <a:off x="5764005" y="3144065"/>
            <a:ext cx="1060837" cy="795627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600118218" name="droppedImage.png" descr="dropped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730094" y="2401221"/>
            <a:ext cx="702091" cy="811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828833644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181139" y="3939352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0530960" name="Contrôleur SDN"/>
          <p:cNvSpPr txBox="1"/>
          <p:nvPr/>
        </p:nvSpPr>
        <p:spPr bwMode="auto">
          <a:xfrm>
            <a:off x="812525" y="2648617"/>
            <a:ext cx="1616769" cy="57150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1800"/>
            </a:lvl1pPr>
          </a:lstStyle>
          <a:p>
            <a:pPr>
              <a:defRPr/>
            </a:pPr>
            <a:r>
              <a:rPr/>
              <a:t>Contrôleur SDN</a:t>
            </a:r>
            <a:endParaRPr/>
          </a:p>
        </p:txBody>
      </p:sp>
      <p:sp>
        <p:nvSpPr>
          <p:cNvPr id="1545590757" name="Serveur répliqué"/>
          <p:cNvSpPr txBox="1"/>
          <p:nvPr/>
        </p:nvSpPr>
        <p:spPr bwMode="auto">
          <a:xfrm>
            <a:off x="7569439" y="2519935"/>
            <a:ext cx="971420" cy="48013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800" i="1"/>
            </a:lvl1pPr>
          </a:lstStyle>
          <a:p>
            <a:pPr>
              <a:defRPr/>
            </a:pPr>
            <a:r>
              <a:rPr lang="fr-FR"/>
              <a:t>Cible</a:t>
            </a:r>
            <a:endParaRPr/>
          </a:p>
        </p:txBody>
      </p:sp>
      <p:sp>
        <p:nvSpPr>
          <p:cNvPr id="966783347" name="Line"/>
          <p:cNvSpPr/>
          <p:nvPr/>
        </p:nvSpPr>
        <p:spPr bwMode="auto">
          <a:xfrm>
            <a:off x="2358117" y="3262131"/>
            <a:ext cx="4460948" cy="2961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19" fill="norm" stroke="1" extrusionOk="0">
                <a:moveTo>
                  <a:pt x="0" y="19942"/>
                </a:moveTo>
                <a:cubicBezTo>
                  <a:pt x="2621" y="21600"/>
                  <a:pt x="5458" y="21336"/>
                  <a:pt x="7989" y="19200"/>
                </a:cubicBezTo>
                <a:cubicBezTo>
                  <a:pt x="11076" y="16592"/>
                  <a:pt x="13362" y="11512"/>
                  <a:pt x="15945" y="7311"/>
                </a:cubicBezTo>
                <a:cubicBezTo>
                  <a:pt x="17689" y="4475"/>
                  <a:pt x="19585" y="2023"/>
                  <a:pt x="21600" y="0"/>
                </a:cubicBez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1314629" name="Serveur répliqué"/>
          <p:cNvSpPr txBox="1"/>
          <p:nvPr/>
        </p:nvSpPr>
        <p:spPr bwMode="auto">
          <a:xfrm>
            <a:off x="96156" y="5282651"/>
            <a:ext cx="2079416" cy="48013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800" i="1"/>
            </a:lvl1pPr>
          </a:lstStyle>
          <a:p>
            <a:pPr>
              <a:defRPr/>
            </a:pPr>
            <a:r>
              <a:rPr lang="fr-FR"/>
              <a:t>Attaquants</a:t>
            </a:r>
            <a:endParaRPr/>
          </a:p>
        </p:txBody>
      </p:sp>
      <p:pic>
        <p:nvPicPr>
          <p:cNvPr id="1887552417" name="Image 4" descr="Une image contenant ligne, capture d’écran, Tracé, diagramme&#10;&#10;Description générée automatiquement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2625483" y="2275516"/>
            <a:ext cx="1948354" cy="1064594"/>
          </a:xfrm>
          <a:prstGeom prst="rect">
            <a:avLst/>
          </a:prstGeom>
        </p:spPr>
      </p:pic>
      <p:sp>
        <p:nvSpPr>
          <p:cNvPr id="874186483" name="Line"/>
          <p:cNvSpPr/>
          <p:nvPr/>
        </p:nvSpPr>
        <p:spPr bwMode="auto">
          <a:xfrm flipH="1">
            <a:off x="1936764" y="3338184"/>
            <a:ext cx="2339993" cy="14325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19" fill="norm" stroke="1" extrusionOk="0">
                <a:moveTo>
                  <a:pt x="0" y="19942"/>
                </a:moveTo>
                <a:cubicBezTo>
                  <a:pt x="2621" y="21600"/>
                  <a:pt x="5458" y="21336"/>
                  <a:pt x="7989" y="19200"/>
                </a:cubicBezTo>
                <a:cubicBezTo>
                  <a:pt x="11076" y="16592"/>
                  <a:pt x="13362" y="11512"/>
                  <a:pt x="15945" y="7311"/>
                </a:cubicBezTo>
                <a:cubicBezTo>
                  <a:pt x="17689" y="4475"/>
                  <a:pt x="19585" y="2023"/>
                  <a:pt x="21600" y="0"/>
                </a:cubicBezTo>
              </a:path>
            </a:pathLst>
          </a:custGeom>
          <a:ln w="25400">
            <a:solidFill>
              <a:srgbClr val="00B050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97982695" name="Line"/>
          <p:cNvSpPr/>
          <p:nvPr/>
        </p:nvSpPr>
        <p:spPr bwMode="auto">
          <a:xfrm flipH="1">
            <a:off x="1936764" y="3338184"/>
            <a:ext cx="3235271" cy="765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19" fill="norm" stroke="1" extrusionOk="0">
                <a:moveTo>
                  <a:pt x="0" y="19942"/>
                </a:moveTo>
                <a:cubicBezTo>
                  <a:pt x="2621" y="21600"/>
                  <a:pt x="5458" y="21336"/>
                  <a:pt x="7989" y="19200"/>
                </a:cubicBezTo>
                <a:cubicBezTo>
                  <a:pt x="11076" y="16592"/>
                  <a:pt x="13362" y="11512"/>
                  <a:pt x="15945" y="7311"/>
                </a:cubicBezTo>
                <a:cubicBezTo>
                  <a:pt x="17689" y="4475"/>
                  <a:pt x="19585" y="2023"/>
                  <a:pt x="21600" y="0"/>
                </a:cubicBezTo>
              </a:path>
            </a:pathLst>
          </a:custGeom>
          <a:ln w="25400">
            <a:solidFill>
              <a:srgbClr val="00B050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02139763" name="Line"/>
          <p:cNvSpPr/>
          <p:nvPr/>
        </p:nvSpPr>
        <p:spPr bwMode="auto">
          <a:xfrm flipH="1">
            <a:off x="1936764" y="3373754"/>
            <a:ext cx="6170455" cy="14306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19" fill="norm" stroke="1" extrusionOk="0">
                <a:moveTo>
                  <a:pt x="0" y="19942"/>
                </a:moveTo>
                <a:cubicBezTo>
                  <a:pt x="2621" y="21600"/>
                  <a:pt x="5458" y="21336"/>
                  <a:pt x="7989" y="19200"/>
                </a:cubicBezTo>
                <a:cubicBezTo>
                  <a:pt x="11076" y="16592"/>
                  <a:pt x="13362" y="11512"/>
                  <a:pt x="15945" y="7311"/>
                </a:cubicBezTo>
                <a:cubicBezTo>
                  <a:pt x="17689" y="4475"/>
                  <a:pt x="19585" y="2023"/>
                  <a:pt x="21600" y="0"/>
                </a:cubicBezTo>
              </a:path>
            </a:pathLst>
          </a:custGeom>
          <a:ln w="25400">
            <a:solidFill>
              <a:srgbClr val="00B050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84179625" name="Line"/>
          <p:cNvSpPr/>
          <p:nvPr/>
        </p:nvSpPr>
        <p:spPr bwMode="auto">
          <a:xfrm flipH="1">
            <a:off x="1936762" y="3373754"/>
            <a:ext cx="3739926" cy="21373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19" fill="norm" stroke="1" extrusionOk="0">
                <a:moveTo>
                  <a:pt x="0" y="19942"/>
                </a:moveTo>
                <a:cubicBezTo>
                  <a:pt x="2621" y="21600"/>
                  <a:pt x="5458" y="21336"/>
                  <a:pt x="7989" y="19200"/>
                </a:cubicBezTo>
                <a:cubicBezTo>
                  <a:pt x="11076" y="16592"/>
                  <a:pt x="13362" y="11512"/>
                  <a:pt x="15945" y="7311"/>
                </a:cubicBezTo>
                <a:cubicBezTo>
                  <a:pt x="17689" y="4475"/>
                  <a:pt x="19585" y="2023"/>
                  <a:pt x="21600" y="0"/>
                </a:cubicBezTo>
              </a:path>
            </a:pathLst>
          </a:custGeom>
          <a:ln w="25400">
            <a:solidFill>
              <a:srgbClr val="00B050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7137651" name="Serveur répliqué"/>
          <p:cNvSpPr txBox="1"/>
          <p:nvPr/>
        </p:nvSpPr>
        <p:spPr bwMode="auto">
          <a:xfrm>
            <a:off x="289126" y="3641862"/>
            <a:ext cx="2150588" cy="48013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800" i="1"/>
            </a:lvl1pPr>
          </a:lstStyle>
          <a:p>
            <a:pPr>
              <a:defRPr/>
            </a:pPr>
            <a:r>
              <a:rPr lang="fr-FR"/>
              <a:t>Statistiques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186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13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179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55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982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3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4186483" grpId="0" animBg="1"/>
      <p:bldP spid="1897982695" grpId="0" animBg="1"/>
      <p:bldP spid="1802139763" grpId="0" animBg="1"/>
      <p:bldP spid="1884179625" grpId="0" animBg="1"/>
      <p:bldP spid="34713765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2590699" name="SDN &amp; OpenFlow dans le mond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SDN &amp; OpenFlow dans le monde</a:t>
            </a:r>
            <a:endParaRPr/>
          </a:p>
        </p:txBody>
      </p:sp>
      <p:sp>
        <p:nvSpPr>
          <p:cNvPr id="366487307" name="Open Networking Foundation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516889" indent="-328928" defTabSz="338326">
              <a:spcBef>
                <a:spcPts val="1299"/>
              </a:spcBef>
              <a:buClr>
                <a:srgbClr val="000000"/>
              </a:buClr>
              <a:defRPr sz="2050">
                <a:solidFill>
                  <a:schemeClr val="accent5"/>
                </a:solidFill>
              </a:defRPr>
            </a:pPr>
            <a:r>
              <a:rPr>
                <a:solidFill>
                  <a:schemeClr val="tx1"/>
                </a:solidFill>
              </a:rPr>
              <a:t>Open Networking Foundation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/>
              <a:t>Google, Facebook, Microsoft, Yahoo, Verizon, Deutsche Telekom, et beaucoup </a:t>
            </a:r>
            <a:r>
              <a:rPr/>
              <a:t>d’autres</a:t>
            </a:r>
            <a:endParaRPr/>
          </a:p>
          <a:p>
            <a:pPr marL="370585" lvl="0" indent="-328928" defTabSz="338326">
              <a:spcBef>
                <a:spcPts val="1299"/>
              </a:spcBef>
              <a:defRPr sz="2050"/>
            </a:pPr>
            <a:r>
              <a:rPr/>
              <a:t>Commercialisation</a:t>
            </a:r>
            <a:r>
              <a:rPr/>
              <a:t> de </a:t>
            </a:r>
            <a:r>
              <a:rPr/>
              <a:t>commutateurs</a:t>
            </a:r>
            <a:r>
              <a:rPr/>
              <a:t> OpenFlow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/>
              <a:t>HP, NEC, Quanta, Dell, IBM, Juniper,…</a:t>
            </a:r>
            <a:endParaRPr/>
          </a:p>
          <a:p>
            <a:pPr marL="516889" indent="-328928" defTabSz="338326">
              <a:spcBef>
                <a:spcPts val="1299"/>
              </a:spcBef>
              <a:buClr>
                <a:srgbClr val="000000"/>
              </a:buClr>
              <a:defRPr sz="2050">
                <a:solidFill>
                  <a:schemeClr val="accent5"/>
                </a:solidFill>
              </a:defRPr>
            </a:pPr>
            <a:r>
              <a:rPr>
                <a:solidFill>
                  <a:schemeClr val="tx1"/>
                </a:solidFill>
              </a:rPr>
              <a:t>Network OS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/>
              <a:t>NOX, Beacon, Floodlight, Nettle, ONIX, Frenetic</a:t>
            </a:r>
            <a:endParaRPr/>
          </a:p>
          <a:p>
            <a:pPr marL="516889" indent="-328928" defTabSz="338326">
              <a:spcBef>
                <a:spcPts val="1299"/>
              </a:spcBef>
              <a:buClr>
                <a:srgbClr val="000000"/>
              </a:buClr>
              <a:defRPr sz="2050">
                <a:solidFill>
                  <a:schemeClr val="accent5"/>
                </a:solidFill>
              </a:defRPr>
            </a:pPr>
            <a:r>
              <a:rPr>
                <a:solidFill>
                  <a:schemeClr val="tx1"/>
                </a:solidFill>
              </a:rPr>
              <a:t>Déploiement</a:t>
            </a:r>
            <a:r>
              <a:rPr>
                <a:solidFill>
                  <a:schemeClr val="tx1"/>
                </a:solidFill>
              </a:rPr>
              <a:t> </a:t>
            </a:r>
            <a:r>
              <a:rPr>
                <a:solidFill>
                  <a:schemeClr val="tx1"/>
                </a:solidFill>
              </a:rPr>
              <a:t>actuel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/>
              <a:t>Plusieurs</a:t>
            </a:r>
            <a:r>
              <a:rPr/>
              <a:t> campus et </a:t>
            </a:r>
            <a:r>
              <a:rPr/>
              <a:t>réseaux</a:t>
            </a:r>
            <a:r>
              <a:rPr/>
              <a:t> </a:t>
            </a:r>
            <a:r>
              <a:rPr/>
              <a:t>commerciaux</a:t>
            </a:r>
            <a:r>
              <a:rPr/>
              <a:t> (2018)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/>
              <a:t>Google (2021)</a:t>
            </a:r>
            <a:endParaRPr/>
          </a:p>
          <a:p>
            <a:pPr marL="1024381" lvl="2" indent="-328928" defTabSz="338326">
              <a:spcBef>
                <a:spcPts val="1299"/>
              </a:spcBef>
              <a:defRPr sz="2050"/>
            </a:pPr>
            <a:r>
              <a:rPr/>
              <a:t>Réseau</a:t>
            </a:r>
            <a:r>
              <a:rPr/>
              <a:t> B2 : MPLS </a:t>
            </a:r>
            <a:r>
              <a:rPr/>
              <a:t>accès</a:t>
            </a:r>
            <a:r>
              <a:rPr/>
              <a:t> clients </a:t>
            </a:r>
            <a:r>
              <a:rPr/>
              <a:t>vers</a:t>
            </a:r>
            <a:r>
              <a:rPr/>
              <a:t> </a:t>
            </a:r>
            <a:r>
              <a:rPr/>
              <a:t>ses</a:t>
            </a:r>
            <a:r>
              <a:rPr/>
              <a:t> datacenters</a:t>
            </a:r>
            <a:endParaRPr/>
          </a:p>
          <a:p>
            <a:pPr marL="1024381" lvl="2" indent="-328928" defTabSz="338326">
              <a:spcBef>
                <a:spcPts val="1299"/>
              </a:spcBef>
              <a:defRPr sz="2050"/>
            </a:pPr>
            <a:r>
              <a:rPr/>
              <a:t>Réseau</a:t>
            </a:r>
            <a:r>
              <a:rPr/>
              <a:t> B4 : SDN pour </a:t>
            </a:r>
            <a:r>
              <a:rPr/>
              <a:t>l’interconnexion</a:t>
            </a:r>
            <a:r>
              <a:rPr/>
              <a:t> entre </a:t>
            </a:r>
            <a:r>
              <a:rPr/>
              <a:t>ses</a:t>
            </a:r>
            <a:r>
              <a:rPr/>
              <a:t> datacenters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/>
              <a:t>CISCO : solution ACI (Application Centric Infrastructure) pour les datacenters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/>
              <a:t>SD-WAN et 5G</a:t>
            </a:r>
            <a:endParaRPr/>
          </a:p>
        </p:txBody>
      </p:sp>
      <p:sp>
        <p:nvSpPr>
          <p:cNvPr id="40076264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36208ED-86E6-CD02-06E7-AA5901E89396}" type="datetime1">
              <a:rPr lang="fr-FR"/>
              <a:t/>
            </a:fld>
            <a:endParaRPr/>
          </a:p>
        </p:txBody>
      </p:sp>
      <p:sp>
        <p:nvSpPr>
          <p:cNvPr id="1228938416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93270290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05C5AD2-B0D5-FE78-F880-E0FF6D3EA5A0}" type="slidenum">
              <a:rPr lang="fr-FR"/>
              <a:t/>
            </a:fld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7858902" name="Contrôleur SD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fr-FR"/>
              <a:t>Enjeu en SDN : sécurité</a:t>
            </a:r>
            <a:endParaRPr/>
          </a:p>
        </p:txBody>
      </p:sp>
      <p:sp>
        <p:nvSpPr>
          <p:cNvPr id="1980609974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C131C7C-AD7E-1FFE-A1AA-CA0CCFE0E33D}" type="slidenum">
              <a:rPr/>
              <a:t/>
            </a:fld>
            <a:endParaRPr/>
          </a:p>
        </p:txBody>
      </p:sp>
      <p:pic>
        <p:nvPicPr>
          <p:cNvPr id="687144161" name="Image 4" descr="Une image contenant texte, diagramme, ligne, capture d’écran&#10;&#10;Description générée automatiquement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00604" y="1502736"/>
            <a:ext cx="8102347" cy="3674023"/>
          </a:xfrm>
          <a:prstGeom prst="rect">
            <a:avLst/>
          </a:prstGeom>
        </p:spPr>
      </p:pic>
      <p:sp>
        <p:nvSpPr>
          <p:cNvPr id="136785745" name="ZoneTexte 6"/>
          <p:cNvSpPr txBox="1"/>
          <p:nvPr/>
        </p:nvSpPr>
        <p:spPr bwMode="auto">
          <a:xfrm>
            <a:off x="1457515" y="5304647"/>
            <a:ext cx="8788526" cy="119109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none"/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sz="2000"/>
              <a:t>Kreutz, D., Ramos, F. M., &amp; </a:t>
            </a:r>
            <a:r>
              <a:rPr lang="en-US" sz="2000"/>
              <a:t>Verissimo</a:t>
            </a:r>
            <a:r>
              <a:rPr lang="en-US" sz="2000"/>
              <a:t>, P. (2013, August). Towards secure and dependable software-defined networks. In </a:t>
            </a:r>
            <a:r>
              <a:rPr lang="en-US" sz="2000" i="1"/>
              <a:t>Proceedings of the second ACM SIGCOMM workshop on Hot topics in software defined networking</a:t>
            </a:r>
            <a:r>
              <a:rPr lang="en-US" sz="2000"/>
              <a:t> (pp. 55-60).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3278578" name="Contrôleur SD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Contrôleur SDN</a:t>
            </a:r>
            <a:endParaRPr/>
          </a:p>
        </p:txBody>
      </p:sp>
      <p:sp>
        <p:nvSpPr>
          <p:cNvPr id="493220109" name="Un ou plusieurs ?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Un </a:t>
            </a:r>
            <a:r>
              <a:rPr/>
              <a:t>ou</a:t>
            </a:r>
            <a:r>
              <a:rPr/>
              <a:t> </a:t>
            </a:r>
            <a:r>
              <a:rPr/>
              <a:t>plusieurs</a:t>
            </a:r>
            <a:r>
              <a:rPr/>
              <a:t> ?</a:t>
            </a:r>
            <a:endParaRPr/>
          </a:p>
          <a:p>
            <a:pPr lvl="1"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passage à </a:t>
            </a:r>
            <a:r>
              <a:rPr/>
              <a:t>l’échelle</a:t>
            </a:r>
            <a:endParaRPr/>
          </a:p>
          <a:p>
            <a:pPr lvl="1"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 lang="fr-FR"/>
              <a:t>F</a:t>
            </a:r>
            <a:r>
              <a:rPr/>
              <a:t>iabilité</a:t>
            </a:r>
            <a:r>
              <a:rPr lang="fr-FR"/>
              <a:t> (un unique point de défaillance)</a:t>
            </a:r>
            <a:endParaRPr/>
          </a:p>
          <a:p>
            <a:pPr lvl="1"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 lang="fr-FR"/>
              <a:t>Vulnérabilité (cyber sécurité)</a:t>
            </a:r>
            <a:endParaRPr/>
          </a:p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Réplication</a:t>
            </a:r>
            <a:r>
              <a:rPr/>
              <a:t> </a:t>
            </a:r>
            <a:r>
              <a:rPr/>
              <a:t>ou</a:t>
            </a:r>
            <a:r>
              <a:rPr/>
              <a:t> partition (arborescence) </a:t>
            </a:r>
            <a:endParaRPr/>
          </a:p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Où</a:t>
            </a:r>
            <a:r>
              <a:rPr/>
              <a:t> les </a:t>
            </a:r>
            <a:r>
              <a:rPr/>
              <a:t>situer</a:t>
            </a:r>
            <a:r>
              <a:rPr/>
              <a:t> ? </a:t>
            </a:r>
            <a:r>
              <a:rPr lang="fr-FR"/>
              <a:t>Comment les faire communiquer ?</a:t>
            </a:r>
            <a:endParaRPr/>
          </a:p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 lang="fr-FR"/>
              <a:t>Comment </a:t>
            </a:r>
            <a:r>
              <a:rPr lang="fr-FR"/>
              <a:t>garantir une qualité de service malgré la latence introduite</a:t>
            </a:r>
            <a:endParaRPr/>
          </a:p>
        </p:txBody>
      </p:sp>
      <p:sp>
        <p:nvSpPr>
          <p:cNvPr id="32738534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3F35A13-4F2B-7642-EE52-E7DF2BF81B66}" type="slidenum">
              <a:rPr/>
              <a:t/>
            </a:fld>
            <a:endParaRPr/>
          </a:p>
        </p:txBody>
      </p:sp>
      <p:sp>
        <p:nvSpPr>
          <p:cNvPr id="38817694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A59CE79-4C64-6187-4969-ABED4BF3D8C0}" type="datetime1">
              <a:rPr lang="fr-FR"/>
              <a:t/>
            </a:fld>
            <a:endParaRPr/>
          </a:p>
        </p:txBody>
      </p:sp>
      <p:sp>
        <p:nvSpPr>
          <p:cNvPr id="1006783563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418137" name="Rounded Rectangle"/>
          <p:cNvSpPr/>
          <p:nvPr/>
        </p:nvSpPr>
        <p:spPr bwMode="auto">
          <a:xfrm>
            <a:off x="126605" y="1421352"/>
            <a:ext cx="3690316" cy="1832601"/>
          </a:xfrm>
          <a:prstGeom prst="roundRect">
            <a:avLst>
              <a:gd name="adj" fmla="val 18467"/>
            </a:avLst>
          </a:prstGeom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10000"/>
              </a:lnSpc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52960061" name="Contrôleur distribué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Contrôleur</a:t>
            </a:r>
            <a:r>
              <a:rPr/>
              <a:t> </a:t>
            </a:r>
            <a:r>
              <a:rPr/>
              <a:t>distribué</a:t>
            </a:r>
            <a:endParaRPr/>
          </a:p>
        </p:txBody>
      </p:sp>
      <p:sp>
        <p:nvSpPr>
          <p:cNvPr id="1185145593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959509" y="6526530"/>
            <a:ext cx="257740" cy="2514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CFB1B79-D8F5-9DF4-6A23-E579F68B03C8}" type="slidenum">
              <a:rPr/>
              <a:t/>
            </a:fld>
            <a:endParaRPr/>
          </a:p>
        </p:txBody>
      </p:sp>
      <p:grpSp>
        <p:nvGrpSpPr>
          <p:cNvPr id="1019267116" name="Group"/>
          <p:cNvGrpSpPr/>
          <p:nvPr/>
        </p:nvGrpSpPr>
        <p:grpSpPr bwMode="auto">
          <a:xfrm>
            <a:off x="2527369" y="2482880"/>
            <a:ext cx="7245547" cy="4178239"/>
            <a:chOff x="0" y="0"/>
            <a:chExt cx="7245545" cy="4178238"/>
          </a:xfrm>
        </p:grpSpPr>
        <p:pic>
          <p:nvPicPr>
            <p:cNvPr id="1109683115" name="droppedImage.tiff" descr="droppedImage.tiff"/>
            <p:cNvPicPr/>
            <p:nvPr/>
          </p:nvPicPr>
          <p:blipFill>
            <a:blip r:embed="rId3"/>
            <a:stretch/>
          </p:blipFill>
          <p:spPr bwMode="auto">
            <a:xfrm>
              <a:off x="0" y="0"/>
              <a:ext cx="7245547" cy="41782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95834547" name="Rectangle"/>
            <p:cNvSpPr/>
            <p:nvPr/>
          </p:nvSpPr>
          <p:spPr bwMode="auto">
            <a:xfrm>
              <a:off x="2952883" y="1392950"/>
              <a:ext cx="1857112" cy="1883830"/>
            </a:xfrm>
            <a:prstGeom prst="rect">
              <a:avLst/>
            </a:prstGeom>
            <a:solidFill>
              <a:srgbClr val="C2D9EF"/>
            </a:solidFill>
            <a:ln w="254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48681462" name="Line"/>
          <p:cNvSpPr/>
          <p:nvPr/>
        </p:nvSpPr>
        <p:spPr bwMode="auto">
          <a:xfrm>
            <a:off x="5661429" y="4133354"/>
            <a:ext cx="415875" cy="1354539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08586630" name="Line"/>
          <p:cNvSpPr/>
          <p:nvPr/>
        </p:nvSpPr>
        <p:spPr bwMode="auto">
          <a:xfrm flipH="1">
            <a:off x="4439257" y="3973334"/>
            <a:ext cx="1468559" cy="875103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008141699" name="Line"/>
          <p:cNvSpPr/>
          <p:nvPr/>
        </p:nvSpPr>
        <p:spPr bwMode="auto">
          <a:xfrm flipH="1">
            <a:off x="6238800" y="4897092"/>
            <a:ext cx="1995146" cy="62562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915116994" name="Line"/>
          <p:cNvSpPr/>
          <p:nvPr/>
        </p:nvSpPr>
        <p:spPr bwMode="auto">
          <a:xfrm flipH="1" flipV="1">
            <a:off x="5818570" y="4097998"/>
            <a:ext cx="2722288" cy="62577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238520502" name="Line"/>
          <p:cNvSpPr/>
          <p:nvPr/>
        </p:nvSpPr>
        <p:spPr bwMode="auto">
          <a:xfrm flipH="1" flipV="1">
            <a:off x="4249352" y="5099896"/>
            <a:ext cx="1472429" cy="44805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1794211156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181139" y="3939352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1772061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623099" y="5414853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1501653019" name="Line"/>
          <p:cNvSpPr/>
          <p:nvPr/>
        </p:nvSpPr>
        <p:spPr bwMode="auto">
          <a:xfrm flipH="1" flipV="1">
            <a:off x="9103921" y="4814057"/>
            <a:ext cx="870812" cy="1019734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172691376" name="Line"/>
          <p:cNvSpPr/>
          <p:nvPr/>
        </p:nvSpPr>
        <p:spPr bwMode="auto">
          <a:xfrm flipH="1">
            <a:off x="2874968" y="5043934"/>
            <a:ext cx="1123102" cy="1129386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75916359" name="Image" descr="Image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096648" y="5934866"/>
            <a:ext cx="1082388" cy="811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1318108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107220" y="4636582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936207364" name="droppedImage.png" descr="droppedImage.png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9934547" y="5647552"/>
            <a:ext cx="702090" cy="81179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0672314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703320" y="4750882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840135576" name="Application du contrôleur"/>
          <p:cNvSpPr/>
          <p:nvPr/>
        </p:nvSpPr>
        <p:spPr bwMode="auto">
          <a:xfrm>
            <a:off x="458778" y="1532725"/>
            <a:ext cx="3025970" cy="949797"/>
          </a:xfrm>
          <a:prstGeom prst="roundRect">
            <a:avLst>
              <a:gd name="adj" fmla="val 29217"/>
            </a:avLst>
          </a:prstGeom>
          <a:solidFill>
            <a:schemeClr val="accent1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>
            <a:lvl1pPr>
              <a:lnSpc>
                <a:spcPct val="110000"/>
              </a:lnSpc>
              <a:defRPr sz="3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Application du contrôleur</a:t>
            </a:r>
            <a:endParaRPr/>
          </a:p>
        </p:txBody>
      </p:sp>
      <p:sp>
        <p:nvSpPr>
          <p:cNvPr id="1389370821" name="Network OS"/>
          <p:cNvSpPr/>
          <p:nvPr/>
        </p:nvSpPr>
        <p:spPr bwMode="auto">
          <a:xfrm>
            <a:off x="350230" y="2559832"/>
            <a:ext cx="3243065" cy="552282"/>
          </a:xfrm>
          <a:prstGeom prst="roundRect">
            <a:avLst>
              <a:gd name="adj" fmla="val 24861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Network OS</a:t>
            </a:r>
            <a:endParaRPr/>
          </a:p>
        </p:txBody>
      </p:sp>
      <p:sp>
        <p:nvSpPr>
          <p:cNvPr id="52929406" name="Rounded Rectangle"/>
          <p:cNvSpPr/>
          <p:nvPr/>
        </p:nvSpPr>
        <p:spPr bwMode="auto">
          <a:xfrm>
            <a:off x="8310485" y="1421352"/>
            <a:ext cx="3690316" cy="1832601"/>
          </a:xfrm>
          <a:prstGeom prst="roundRect">
            <a:avLst>
              <a:gd name="adj" fmla="val 18467"/>
            </a:avLst>
          </a:prstGeom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/>
          <a:p>
            <a:pPr>
              <a:lnSpc>
                <a:spcPct val="110000"/>
              </a:lnSpc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60551834" name="Application du contrôleur"/>
          <p:cNvSpPr/>
          <p:nvPr/>
        </p:nvSpPr>
        <p:spPr bwMode="auto">
          <a:xfrm>
            <a:off x="8642658" y="1532725"/>
            <a:ext cx="3025970" cy="949797"/>
          </a:xfrm>
          <a:prstGeom prst="roundRect">
            <a:avLst>
              <a:gd name="adj" fmla="val 29217"/>
            </a:avLst>
          </a:prstGeom>
          <a:solidFill>
            <a:schemeClr val="accent1"/>
          </a:solidFill>
          <a:ln w="12700">
            <a:solidFill>
              <a:srgbClr val="000000"/>
            </a:solidFill>
            <a:miter lim="400000"/>
          </a:ln>
        </p:spPr>
        <p:txBody>
          <a:bodyPr lIns="0" tIns="0" rIns="0" bIns="0" anchor="ctr"/>
          <a:lstStyle>
            <a:lvl1pPr>
              <a:lnSpc>
                <a:spcPct val="110000"/>
              </a:lnSpc>
              <a:defRPr sz="3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Application du contrôleur</a:t>
            </a:r>
            <a:endParaRPr/>
          </a:p>
        </p:txBody>
      </p:sp>
      <p:sp>
        <p:nvSpPr>
          <p:cNvPr id="1851802043" name="Network OS"/>
          <p:cNvSpPr/>
          <p:nvPr/>
        </p:nvSpPr>
        <p:spPr bwMode="auto">
          <a:xfrm>
            <a:off x="8534110" y="2559832"/>
            <a:ext cx="3243065" cy="552282"/>
          </a:xfrm>
          <a:prstGeom prst="roundRect">
            <a:avLst>
              <a:gd name="adj" fmla="val 24861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3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Network OS</a:t>
            </a:r>
            <a:endParaRPr/>
          </a:p>
        </p:txBody>
      </p:sp>
      <p:sp>
        <p:nvSpPr>
          <p:cNvPr id="427388388" name="Line"/>
          <p:cNvSpPr/>
          <p:nvPr/>
        </p:nvSpPr>
        <p:spPr bwMode="auto">
          <a:xfrm flipH="1">
            <a:off x="3602676" y="2881696"/>
            <a:ext cx="4857037" cy="1"/>
          </a:xfrm>
          <a:prstGeom prst="line">
            <a:avLst/>
          </a:prstGeom>
          <a:ln w="25400">
            <a:solidFill>
              <a:srgbClr val="85888D"/>
            </a:solidFill>
            <a:miter lim="400000"/>
            <a:headEnd type="triangle"/>
            <a:tailEnd type="triangle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265436795" name="partitionne et réplique"/>
          <p:cNvSpPr txBox="1"/>
          <p:nvPr/>
        </p:nvSpPr>
        <p:spPr bwMode="auto">
          <a:xfrm>
            <a:off x="3975768" y="2466090"/>
            <a:ext cx="4175872" cy="48006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/>
              <a:t>partitionne et réplique</a:t>
            </a:r>
            <a:endParaRPr/>
          </a:p>
        </p:txBody>
      </p:sp>
      <p:sp>
        <p:nvSpPr>
          <p:cNvPr id="2036499963" name="Pour faciliter le passage à l’échelle et la fiabilité"/>
          <p:cNvSpPr txBox="1"/>
          <p:nvPr/>
        </p:nvSpPr>
        <p:spPr bwMode="auto">
          <a:xfrm>
            <a:off x="4011030" y="1210305"/>
            <a:ext cx="4040332" cy="125730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/>
              <a:t>Pour </a:t>
            </a:r>
            <a:r>
              <a:rPr/>
              <a:t>faciliter</a:t>
            </a:r>
            <a:r>
              <a:rPr/>
              <a:t> le passage à </a:t>
            </a:r>
            <a:r>
              <a:rPr/>
              <a:t>l’échelle</a:t>
            </a:r>
            <a:r>
              <a:rPr/>
              <a:t> et la </a:t>
            </a:r>
            <a:r>
              <a:rPr/>
              <a:t>fiabilité</a:t>
            </a:r>
            <a:endParaRPr/>
          </a:p>
        </p:txBody>
      </p:sp>
      <p:sp>
        <p:nvSpPr>
          <p:cNvPr id="797145482" name="Pour faciliter le passage à l’échelle et la fiabilité"/>
          <p:cNvSpPr txBox="1"/>
          <p:nvPr/>
        </p:nvSpPr>
        <p:spPr bwMode="auto">
          <a:xfrm>
            <a:off x="59715" y="3429000"/>
            <a:ext cx="4040332" cy="895629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 lang="fr-FR"/>
              <a:t>Hiérarchique ?</a:t>
            </a:r>
            <a:endParaRPr/>
          </a:p>
          <a:p>
            <a:pPr>
              <a:defRPr/>
            </a:pPr>
            <a:r>
              <a:rPr lang="fr-FR"/>
              <a:t>Horizontale 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229078" name="Pla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>
              <a:defRPr/>
            </a:pPr>
            <a:r>
              <a:rPr/>
              <a:t>Plan</a:t>
            </a:r>
            <a:endParaRPr/>
          </a:p>
        </p:txBody>
      </p:sp>
      <p:sp>
        <p:nvSpPr>
          <p:cNvPr id="1131749018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/>
            </a:pPr>
            <a:fld id="{9A412DDA-3A56-BDFD-01B5-632A090E7EE8}" type="slidenum">
              <a:rPr/>
              <a:t/>
            </a:fld>
            <a:endParaRPr/>
          </a:p>
        </p:txBody>
      </p:sp>
      <p:sp>
        <p:nvSpPr>
          <p:cNvPr id="200916892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EA7C57-4F74-C26D-4D5E-B77AACEC7D20}" type="datetime1">
              <a:rPr lang="fr-FR"/>
              <a:t/>
            </a:fld>
            <a:endParaRPr/>
          </a:p>
        </p:txBody>
      </p:sp>
      <p:sp>
        <p:nvSpPr>
          <p:cNvPr id="1051665613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742901027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>
                <a:solidFill>
                  <a:srgbClr val="FF2600"/>
                </a:solidFill>
              </a:defRPr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Introduction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Plan de contrôle &amp; Plan de données</a:t>
            </a:r>
            <a:endParaRPr sz="2800" b="0" u="none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OpenFlow et P4</a:t>
            </a:r>
            <a:endParaRPr sz="2800" b="0" u="none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 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1" i="0" u="sng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NFV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Network slicing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Défis restants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4669605" name="Screen Shot 2017-08-09 at 15.00.32.png" descr="Screen Shot 2017-08-09 at 15.00.32.png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5513" y="2793982"/>
            <a:ext cx="7482700" cy="3528518"/>
          </a:xfrm>
          <a:prstGeom prst="rect">
            <a:avLst/>
          </a:prstGeom>
          <a:ln w="12700">
            <a:miter lim="400000"/>
          </a:ln>
        </p:spPr>
      </p:pic>
      <p:sp>
        <p:nvSpPr>
          <p:cNvPr id="1544997090" name="Network Functions Virtualizatio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Network Functions Virtualization</a:t>
            </a:r>
            <a:endParaRPr/>
          </a:p>
        </p:txBody>
      </p:sp>
      <p:sp>
        <p:nvSpPr>
          <p:cNvPr id="1534225855" name="Remplacer les équipements réseaux matériels (fermés, chers et peu évolutifs)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838198" y="1425040"/>
            <a:ext cx="10515600" cy="4351338"/>
          </a:xfrm>
          <a:prstGeom prst="rect">
            <a:avLst/>
          </a:prstGeom>
        </p:spPr>
        <p:txBody>
          <a:bodyPr/>
          <a:lstStyle/>
          <a:p>
            <a:pPr marL="447039" indent="-284478" defTabSz="292606">
              <a:spcBef>
                <a:spcPts val="1099"/>
              </a:spcBef>
              <a:defRPr sz="1800"/>
            </a:pPr>
            <a:r>
              <a:rPr>
                <a:solidFill>
                  <a:schemeClr val="accent5"/>
                </a:solidFill>
              </a:rPr>
              <a:t>Remplacer</a:t>
            </a:r>
            <a:r>
              <a:rPr/>
              <a:t> les </a:t>
            </a:r>
            <a:r>
              <a:rPr>
                <a:solidFill>
                  <a:schemeClr val="accent5"/>
                </a:solidFill>
              </a:rPr>
              <a:t>équipements réseaux matériels</a:t>
            </a:r>
            <a:r>
              <a:rPr/>
              <a:t> (fermés, chers et peu évolutifs)</a:t>
            </a:r>
            <a:endParaRPr/>
          </a:p>
          <a:p>
            <a:pPr marL="666495" lvl="1" indent="-284478" defTabSz="292606">
              <a:spcBef>
                <a:spcPts val="1099"/>
              </a:spcBef>
              <a:defRPr sz="1800"/>
            </a:pPr>
            <a:r>
              <a:rPr/>
              <a:t>par du </a:t>
            </a:r>
            <a:r>
              <a:rPr>
                <a:solidFill>
                  <a:schemeClr val="accent5"/>
                </a:solidFill>
              </a:rPr>
              <a:t>logiciel spécialisé</a:t>
            </a:r>
            <a:r>
              <a:rPr/>
              <a:t> s’exécutant sur du matériel standard  (architecture x86)</a:t>
            </a:r>
            <a:endParaRPr/>
          </a:p>
          <a:p>
            <a:pPr marL="447039" indent="-284479" defTabSz="292606">
              <a:lnSpc>
                <a:spcPct val="80000"/>
              </a:lnSpc>
              <a:spcBef>
                <a:spcPts val="999"/>
              </a:spcBef>
              <a:defRPr sz="1800"/>
            </a:pPr>
            <a:r>
              <a:rPr>
                <a:solidFill>
                  <a:schemeClr val="accent5"/>
                </a:solidFill>
              </a:rPr>
              <a:t>Softwarization</a:t>
            </a:r>
            <a:r>
              <a:rPr/>
              <a:t> du réseau</a:t>
            </a:r>
            <a:endParaRPr/>
          </a:p>
          <a:p>
            <a:pPr marL="666495" lvl="1" indent="-284478" defTabSz="292606">
              <a:lnSpc>
                <a:spcPct val="80000"/>
              </a:lnSpc>
              <a:spcBef>
                <a:spcPts val="999"/>
              </a:spcBef>
              <a:defRPr sz="1800"/>
            </a:pPr>
            <a:r>
              <a:rPr/>
              <a:t>Fonction VNF (Virtualized Network Function) : émule une fonction réseau</a:t>
            </a:r>
            <a:endParaRPr/>
          </a:p>
        </p:txBody>
      </p:sp>
      <p:sp>
        <p:nvSpPr>
          <p:cNvPr id="129092594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E2944950-4BDE-2FA7-0155-C4DFAC0678F2}" type="slidenum">
              <a:rPr/>
              <a:t/>
            </a:fld>
            <a:endParaRPr/>
          </a:p>
        </p:txBody>
      </p:sp>
      <p:sp>
        <p:nvSpPr>
          <p:cNvPr id="189833007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A27CD37-2D9B-516C-7BF7-03B012A34AC6}" type="datetime1">
              <a:rPr lang="fr-FR"/>
              <a:t/>
            </a:fld>
            <a:endParaRPr/>
          </a:p>
        </p:txBody>
      </p:sp>
      <p:sp>
        <p:nvSpPr>
          <p:cNvPr id="1093443703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1833732" name="Image" descr="Image"/>
          <p:cNvPicPr/>
          <p:nvPr/>
        </p:nvPicPr>
        <p:blipFill>
          <a:blip r:embed="rId3"/>
          <a:stretch/>
        </p:blipFill>
        <p:spPr bwMode="auto">
          <a:xfrm>
            <a:off x="-165312" y="1514818"/>
            <a:ext cx="4437501" cy="3630609"/>
          </a:xfrm>
          <a:prstGeom prst="rect">
            <a:avLst/>
          </a:prstGeom>
          <a:ln w="12700">
            <a:miter lim="400000"/>
          </a:ln>
        </p:spPr>
      </p:pic>
      <p:sp>
        <p:nvSpPr>
          <p:cNvPr id="1006089554" name="Routeurs &amp; Commutateur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Routeurs &amp; Commutateurs</a:t>
            </a:r>
            <a:endParaRPr/>
          </a:p>
        </p:txBody>
      </p:sp>
      <p:sp>
        <p:nvSpPr>
          <p:cNvPr id="13092652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4C2192B5-E74B-C17E-07E0-5DBB99665A59}" type="slidenum">
              <a:rPr/>
              <a:t/>
            </a:fld>
            <a:endParaRPr/>
          </a:p>
        </p:txBody>
      </p:sp>
      <p:sp>
        <p:nvSpPr>
          <p:cNvPr id="1167164578" name="Horizontal…"/>
          <p:cNvSpPr txBox="1"/>
          <p:nvPr/>
        </p:nvSpPr>
        <p:spPr bwMode="auto">
          <a:xfrm>
            <a:off x="7441323" y="5126580"/>
            <a:ext cx="3779878" cy="164592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/>
          <a:p>
            <a:pPr>
              <a:defRPr sz="2900"/>
            </a:pPr>
            <a:r>
              <a:rPr/>
              <a:t>Horizontal</a:t>
            </a:r>
            <a:endParaRPr/>
          </a:p>
          <a:p>
            <a:pPr>
              <a:defRPr sz="2900"/>
            </a:pPr>
            <a:r>
              <a:rPr/>
              <a:t>interfaces ouvertes,</a:t>
            </a:r>
            <a:endParaRPr/>
          </a:p>
          <a:p>
            <a:pPr>
              <a:defRPr sz="2900"/>
            </a:pPr>
            <a:r>
              <a:rPr/>
              <a:t>innovation rapide,</a:t>
            </a:r>
            <a:endParaRPr/>
          </a:p>
          <a:p>
            <a:pPr>
              <a:defRPr sz="2900"/>
            </a:pPr>
            <a:r>
              <a:rPr/>
              <a:t>nombreux acteurs</a:t>
            </a:r>
            <a:endParaRPr/>
          </a:p>
        </p:txBody>
      </p:sp>
      <p:sp>
        <p:nvSpPr>
          <p:cNvPr id="1756209105" name="—— Interface ouverte ——"/>
          <p:cNvSpPr txBox="1"/>
          <p:nvPr/>
        </p:nvSpPr>
        <p:spPr bwMode="auto">
          <a:xfrm>
            <a:off x="6707709" y="2046315"/>
            <a:ext cx="5247106" cy="48006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/>
              <a:t>—— Interface ouverte ——</a:t>
            </a:r>
            <a:endParaRPr/>
          </a:p>
        </p:txBody>
      </p:sp>
      <p:sp>
        <p:nvSpPr>
          <p:cNvPr id="1053048928" name="—— Interface ouverte ——"/>
          <p:cNvSpPr txBox="1"/>
          <p:nvPr/>
        </p:nvSpPr>
        <p:spPr bwMode="auto">
          <a:xfrm>
            <a:off x="6704627" y="3429932"/>
            <a:ext cx="5247107" cy="48006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/>
              <a:t>—— Interface ouverte ——</a:t>
            </a:r>
            <a:endParaRPr/>
          </a:p>
        </p:txBody>
      </p:sp>
      <p:sp>
        <p:nvSpPr>
          <p:cNvPr id="1562921428" name="Plan de contrôle"/>
          <p:cNvSpPr/>
          <p:nvPr/>
        </p:nvSpPr>
        <p:spPr bwMode="auto">
          <a:xfrm>
            <a:off x="6687713" y="2612756"/>
            <a:ext cx="1319860" cy="622278"/>
          </a:xfrm>
          <a:prstGeom prst="roundRect">
            <a:avLst>
              <a:gd name="adj" fmla="val 22064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lnSpc>
                <a:spcPct val="80000"/>
              </a:lnSpc>
              <a:defRPr sz="2200" spc="-43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Plan de contrôle</a:t>
            </a:r>
            <a:endParaRPr/>
          </a:p>
        </p:txBody>
      </p:sp>
      <p:sp>
        <p:nvSpPr>
          <p:cNvPr id="1525227445" name="Plan de contrôle"/>
          <p:cNvSpPr/>
          <p:nvPr/>
        </p:nvSpPr>
        <p:spPr bwMode="auto">
          <a:xfrm>
            <a:off x="10621144" y="2612756"/>
            <a:ext cx="1319859" cy="622278"/>
          </a:xfrm>
          <a:prstGeom prst="roundRect">
            <a:avLst>
              <a:gd name="adj" fmla="val 22064"/>
            </a:avLst>
          </a:prstGeom>
          <a:solidFill>
            <a:schemeClr val="accent6">
              <a:satOff val="24555"/>
              <a:lumOff val="22232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lnSpc>
                <a:spcPct val="80000"/>
              </a:lnSpc>
              <a:defRPr sz="2200" spc="-43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Plan de contrôle</a:t>
            </a:r>
            <a:endParaRPr/>
          </a:p>
        </p:txBody>
      </p:sp>
      <p:sp>
        <p:nvSpPr>
          <p:cNvPr id="770940815" name="Plan de contrôle"/>
          <p:cNvSpPr/>
          <p:nvPr/>
        </p:nvSpPr>
        <p:spPr bwMode="auto">
          <a:xfrm>
            <a:off x="8654428" y="2612756"/>
            <a:ext cx="1319860" cy="622278"/>
          </a:xfrm>
          <a:prstGeom prst="roundRect">
            <a:avLst>
              <a:gd name="adj" fmla="val 22064"/>
            </a:avLst>
          </a:prstGeom>
          <a:solidFill>
            <a:schemeClr val="accent2">
              <a:hueOff val="-2473792"/>
              <a:satOff val="-50209"/>
              <a:lumOff val="23543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lnSpc>
                <a:spcPct val="80000"/>
              </a:lnSpc>
              <a:defRPr sz="2200" spc="-43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Plan de contrôle</a:t>
            </a:r>
            <a:endParaRPr/>
          </a:p>
        </p:txBody>
      </p:sp>
      <p:sp>
        <p:nvSpPr>
          <p:cNvPr id="474661001" name="VNF"/>
          <p:cNvSpPr/>
          <p:nvPr/>
        </p:nvSpPr>
        <p:spPr bwMode="auto">
          <a:xfrm>
            <a:off x="11176612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>
                <a:solidFill>
                  <a:srgbClr val="A6AAA9"/>
                </a:solidFill>
              </a:defRPr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959996005" name="ou"/>
          <p:cNvSpPr txBox="1"/>
          <p:nvPr/>
        </p:nvSpPr>
        <p:spPr bwMode="auto">
          <a:xfrm>
            <a:off x="8030003" y="2646388"/>
            <a:ext cx="601996" cy="48006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/>
              <a:t>ou</a:t>
            </a:r>
            <a:endParaRPr/>
          </a:p>
        </p:txBody>
      </p:sp>
      <p:sp>
        <p:nvSpPr>
          <p:cNvPr id="1094615058" name="ou"/>
          <p:cNvSpPr txBox="1"/>
          <p:nvPr/>
        </p:nvSpPr>
        <p:spPr bwMode="auto">
          <a:xfrm>
            <a:off x="9982551" y="2646388"/>
            <a:ext cx="601996" cy="48006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/>
              <a:t>ou</a:t>
            </a:r>
            <a:endParaRPr/>
          </a:p>
        </p:txBody>
      </p:sp>
      <p:sp>
        <p:nvSpPr>
          <p:cNvPr id="1947046508" name="VNF"/>
          <p:cNvSpPr/>
          <p:nvPr/>
        </p:nvSpPr>
        <p:spPr bwMode="auto">
          <a:xfrm>
            <a:off x="10752445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>
                <a:solidFill>
                  <a:srgbClr val="A6AAA9"/>
                </a:solidFill>
              </a:defRPr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1997424629" name="VNF"/>
          <p:cNvSpPr/>
          <p:nvPr/>
        </p:nvSpPr>
        <p:spPr bwMode="auto">
          <a:xfrm>
            <a:off x="10306056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>
                <a:solidFill>
                  <a:srgbClr val="A6AAA9"/>
                </a:solidFill>
              </a:defRPr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1061150113" name="VNF"/>
          <p:cNvSpPr/>
          <p:nvPr/>
        </p:nvSpPr>
        <p:spPr bwMode="auto">
          <a:xfrm>
            <a:off x="9876902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>
                <a:solidFill>
                  <a:srgbClr val="A6AAA9"/>
                </a:solidFill>
              </a:defRPr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2020924742" name="VNF"/>
          <p:cNvSpPr/>
          <p:nvPr/>
        </p:nvSpPr>
        <p:spPr bwMode="auto">
          <a:xfrm>
            <a:off x="9437494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>
                <a:solidFill>
                  <a:srgbClr val="A6AAA9"/>
                </a:solidFill>
              </a:defRPr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671812515" name="VNF"/>
          <p:cNvSpPr/>
          <p:nvPr/>
        </p:nvSpPr>
        <p:spPr bwMode="auto">
          <a:xfrm>
            <a:off x="9008341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>
                <a:solidFill>
                  <a:srgbClr val="A6AAA9"/>
                </a:solidFill>
              </a:defRPr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1811332587" name="VNF"/>
          <p:cNvSpPr/>
          <p:nvPr/>
        </p:nvSpPr>
        <p:spPr bwMode="auto">
          <a:xfrm>
            <a:off x="8568933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>
                <a:solidFill>
                  <a:srgbClr val="A6AAA9"/>
                </a:solidFill>
              </a:defRPr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1630729186" name="VNF"/>
          <p:cNvSpPr/>
          <p:nvPr/>
        </p:nvSpPr>
        <p:spPr bwMode="auto">
          <a:xfrm>
            <a:off x="8129525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>
                <a:solidFill>
                  <a:srgbClr val="A6AAA9"/>
                </a:solidFill>
              </a:defRPr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339493754" name="VNF"/>
          <p:cNvSpPr/>
          <p:nvPr/>
        </p:nvSpPr>
        <p:spPr bwMode="auto">
          <a:xfrm>
            <a:off x="7690119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>
                <a:solidFill>
                  <a:srgbClr val="A6AAA9"/>
                </a:solidFill>
              </a:defRPr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1559183598" name="VNF"/>
          <p:cNvSpPr/>
          <p:nvPr/>
        </p:nvSpPr>
        <p:spPr bwMode="auto">
          <a:xfrm>
            <a:off x="7260964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>
                <a:solidFill>
                  <a:srgbClr val="A6AAA9"/>
                </a:solidFill>
              </a:defRPr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811646809" name="VNF"/>
          <p:cNvSpPr/>
          <p:nvPr/>
        </p:nvSpPr>
        <p:spPr bwMode="auto">
          <a:xfrm>
            <a:off x="6846698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>
                <a:solidFill>
                  <a:srgbClr val="A6AAA9"/>
                </a:solidFill>
              </a:defRPr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304638431" name="VNF"/>
          <p:cNvSpPr/>
          <p:nvPr/>
        </p:nvSpPr>
        <p:spPr bwMode="auto">
          <a:xfrm>
            <a:off x="6400895" y="1308372"/>
            <a:ext cx="751628" cy="622278"/>
          </a:xfrm>
          <a:prstGeom prst="roundRect">
            <a:avLst>
              <a:gd name="adj" fmla="val 24356"/>
            </a:avLst>
          </a:prstGeom>
          <a:solidFill>
            <a:schemeClr val="accent3">
              <a:satOff val="18648"/>
              <a:lumOff val="5971"/>
            </a:schemeClr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defRPr sz="2000"/>
            </a:lvl1pPr>
          </a:lstStyle>
          <a:p>
            <a:pPr>
              <a:defRPr/>
            </a:pPr>
            <a:r>
              <a:rPr/>
              <a:t>VNF</a:t>
            </a:r>
            <a:endParaRPr/>
          </a:p>
        </p:txBody>
      </p:sp>
      <p:sp>
        <p:nvSpPr>
          <p:cNvPr id="241160506" name="Arrow"/>
          <p:cNvSpPr/>
          <p:nvPr/>
        </p:nvSpPr>
        <p:spPr bwMode="auto">
          <a:xfrm>
            <a:off x="4726408" y="3501281"/>
            <a:ext cx="1524000" cy="849846"/>
          </a:xfrm>
          <a:prstGeom prst="rightArrow">
            <a:avLst>
              <a:gd name="adj1" fmla="val 48125"/>
              <a:gd name="adj2" fmla="val 58900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 scaled="1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02438277" name="Arrow"/>
          <p:cNvSpPr/>
          <p:nvPr/>
        </p:nvSpPr>
        <p:spPr bwMode="auto">
          <a:xfrm>
            <a:off x="4708740" y="1988658"/>
            <a:ext cx="1524000" cy="849846"/>
          </a:xfrm>
          <a:prstGeom prst="rightArrow">
            <a:avLst>
              <a:gd name="adj1" fmla="val 48125"/>
              <a:gd name="adj2" fmla="val 58900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 scaled="1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16062163" name="Arrow"/>
          <p:cNvSpPr/>
          <p:nvPr/>
        </p:nvSpPr>
        <p:spPr bwMode="auto">
          <a:xfrm>
            <a:off x="4708740" y="5013904"/>
            <a:ext cx="1524000" cy="849846"/>
          </a:xfrm>
          <a:prstGeom prst="rightArrow">
            <a:avLst>
              <a:gd name="adj1" fmla="val 48125"/>
              <a:gd name="adj2" fmla="val 58900"/>
            </a:avLst>
          </a:prstGeom>
          <a:gradFill>
            <a:gsLst>
              <a:gs pos="0">
                <a:srgbClr val="FBFBFB"/>
              </a:gs>
              <a:gs pos="100000">
                <a:srgbClr val="BEBEBE"/>
              </a:gs>
            </a:gsLst>
            <a:lin ang="5400000" scaled="1"/>
          </a:gradFill>
          <a:ln w="12700">
            <a:miter lim="400000"/>
          </a:ln>
          <a:effectLst>
            <a:outerShdw blurRad="38100" dist="25400" dir="5400000" rotWithShape="0">
              <a:srgbClr val="000000">
                <a:alpha val="50000"/>
              </a:srgbClr>
            </a:outerShdw>
          </a:effectLst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021552318" name="Image" descr="Image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150720" y="4334172"/>
            <a:ext cx="2360560" cy="633708"/>
          </a:xfrm>
          <a:prstGeom prst="rect">
            <a:avLst/>
          </a:prstGeom>
          <a:ln w="12700">
            <a:miter lim="400000"/>
          </a:ln>
        </p:spPr>
      </p:pic>
      <p:sp>
        <p:nvSpPr>
          <p:cNvPr id="481130620" name="Circuits intégrés commerciaux"/>
          <p:cNvSpPr/>
          <p:nvPr/>
        </p:nvSpPr>
        <p:spPr bwMode="auto">
          <a:xfrm>
            <a:off x="8988123" y="4104166"/>
            <a:ext cx="2612221" cy="622278"/>
          </a:xfrm>
          <a:prstGeom prst="roundRect">
            <a:avLst>
              <a:gd name="adj" fmla="val 22064"/>
            </a:avLst>
          </a:prstGeom>
          <a:solidFill>
            <a:schemeClr val="accent1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lnSpc>
                <a:spcPct val="80000"/>
              </a:lnSpc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Circuits intégrés commerciaux</a:t>
            </a:r>
            <a:endParaRPr/>
          </a:p>
        </p:txBody>
      </p:sp>
      <p:sp>
        <p:nvSpPr>
          <p:cNvPr id="43703119" name="Hardware spécialisé"/>
          <p:cNvSpPr/>
          <p:nvPr/>
        </p:nvSpPr>
        <p:spPr bwMode="auto">
          <a:xfrm>
            <a:off x="709950" y="4021122"/>
            <a:ext cx="2612223" cy="622278"/>
          </a:xfrm>
          <a:prstGeom prst="roundRect">
            <a:avLst>
              <a:gd name="adj" fmla="val 22064"/>
            </a:avLst>
          </a:prstGeom>
          <a:solidFill>
            <a:schemeClr val="accent1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lnSpc>
                <a:spcPct val="80000"/>
              </a:lnSpc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Hardware spécialisé</a:t>
            </a:r>
            <a:endParaRPr/>
          </a:p>
        </p:txBody>
      </p:sp>
      <p:sp>
        <p:nvSpPr>
          <p:cNvPr id="992837292" name="Plan de contrôle spécialisé"/>
          <p:cNvSpPr/>
          <p:nvPr/>
        </p:nvSpPr>
        <p:spPr bwMode="auto">
          <a:xfrm>
            <a:off x="709950" y="3190313"/>
            <a:ext cx="2612223" cy="622278"/>
          </a:xfrm>
          <a:prstGeom prst="roundRect">
            <a:avLst>
              <a:gd name="adj" fmla="val 22064"/>
            </a:avLst>
          </a:prstGeom>
          <a:solidFill>
            <a:schemeClr val="accent1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lnSpc>
                <a:spcPct val="80000"/>
              </a:lnSpc>
              <a:defRPr sz="2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Plan de contrôle spécialisé</a:t>
            </a:r>
            <a:endParaRPr/>
          </a:p>
        </p:txBody>
      </p:sp>
      <p:sp>
        <p:nvSpPr>
          <p:cNvPr id="1914873225" name="Fonctionnalités…"/>
          <p:cNvSpPr/>
          <p:nvPr/>
        </p:nvSpPr>
        <p:spPr bwMode="auto">
          <a:xfrm>
            <a:off x="709950" y="2359504"/>
            <a:ext cx="2612223" cy="622278"/>
          </a:xfrm>
          <a:prstGeom prst="roundRect">
            <a:avLst>
              <a:gd name="adj" fmla="val 22064"/>
            </a:avLst>
          </a:prstGeom>
          <a:solidFill>
            <a:schemeClr val="accent1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lnSpc>
                <a:spcPct val="80000"/>
              </a:lnSpc>
              <a:defRPr sz="2200">
                <a:solidFill>
                  <a:srgbClr val="FFFFFF"/>
                </a:solidFill>
              </a:defRPr>
            </a:pPr>
            <a:r>
              <a:rPr/>
              <a:t>Fonctionnalités</a:t>
            </a:r>
            <a:endParaRPr/>
          </a:p>
          <a:p>
            <a:pPr>
              <a:lnSpc>
                <a:spcPct val="80000"/>
              </a:lnSpc>
              <a:defRPr sz="2200">
                <a:solidFill>
                  <a:srgbClr val="FFFFFF"/>
                </a:solidFill>
              </a:defRPr>
            </a:pPr>
            <a:r>
              <a:rPr/>
              <a:t>spécialisées</a:t>
            </a:r>
            <a:endParaRPr/>
          </a:p>
        </p:txBody>
      </p:sp>
      <p:sp>
        <p:nvSpPr>
          <p:cNvPr id="1484737494" name="Intégration verticale,…"/>
          <p:cNvSpPr txBox="1"/>
          <p:nvPr/>
        </p:nvSpPr>
        <p:spPr bwMode="auto">
          <a:xfrm>
            <a:off x="165888" y="5300901"/>
            <a:ext cx="4727218" cy="1297278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>
              <a:defRPr sz="2900"/>
            </a:pPr>
            <a:r>
              <a:rPr/>
              <a:t>Intégration</a:t>
            </a:r>
            <a:r>
              <a:rPr/>
              <a:t> </a:t>
            </a:r>
            <a:r>
              <a:rPr/>
              <a:t>verticale</a:t>
            </a:r>
            <a:r>
              <a:rPr/>
              <a:t>, </a:t>
            </a:r>
            <a:endParaRPr/>
          </a:p>
          <a:p>
            <a:pPr>
              <a:defRPr sz="2900"/>
            </a:pPr>
            <a:r>
              <a:rPr/>
              <a:t>fermé, propriétaire, </a:t>
            </a:r>
            <a:endParaRPr/>
          </a:p>
          <a:p>
            <a:pPr>
              <a:defRPr sz="2900"/>
            </a:pPr>
            <a:r>
              <a:rPr/>
              <a:t>innovation lent</a:t>
            </a:r>
            <a:r>
              <a:rPr lang="fr-FR"/>
              <a:t>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5260065" name="Un réseau plus agile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Un réseau plus agile </a:t>
            </a:r>
            <a:endParaRPr/>
          </a:p>
        </p:txBody>
      </p:sp>
      <p:sp>
        <p:nvSpPr>
          <p:cNvPr id="668512179" name="Les fonction VNF peuvent être hébergées dans une VM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marL="516889" indent="-328929" defTabSz="338326">
              <a:lnSpc>
                <a:spcPct val="80000"/>
              </a:lnSpc>
              <a:spcBef>
                <a:spcPts val="1099"/>
              </a:spcBef>
              <a:defRPr sz="2050"/>
            </a:pPr>
            <a:r>
              <a:rPr>
                <a:solidFill>
                  <a:schemeClr val="tx1">
                    <a:lumMod val="90000"/>
                    <a:lumOff val="5000"/>
                  </a:schemeClr>
                </a:solidFill>
              </a:rPr>
              <a:t>Les</a:t>
            </a:r>
            <a:r>
              <a:rPr>
                <a:solidFill>
                  <a:schemeClr val="tx1">
                    <a:lumMod val="90000"/>
                    <a:lumOff val="5000"/>
                  </a:schemeClr>
                </a:solidFill>
              </a:rPr>
              <a:t> fonction VNF</a:t>
            </a:r>
            <a:r>
              <a:rPr>
                <a:solidFill>
                  <a:schemeClr val="tx1">
                    <a:lumMod val="90000"/>
                    <a:lumOff val="5000"/>
                  </a:schemeClr>
                </a:solidFill>
              </a:rPr>
              <a:t> peuvent être hébergées </a:t>
            </a:r>
            <a:r>
              <a:rPr>
                <a:solidFill>
                  <a:schemeClr val="tx1">
                    <a:lumMod val="90000"/>
                    <a:lumOff val="5000"/>
                  </a:schemeClr>
                </a:solidFill>
              </a:rPr>
              <a:t>dans une VM</a:t>
            </a:r>
            <a:endParaRPr/>
          </a:p>
          <a:p>
            <a:pPr marL="770635" lvl="1" indent="-328928" defTabSz="338326">
              <a:lnSpc>
                <a:spcPct val="80000"/>
              </a:lnSpc>
              <a:spcBef>
                <a:spcPts val="1099"/>
              </a:spcBef>
              <a:defRPr sz="2050"/>
            </a:pPr>
            <a:r>
              <a:rPr/>
              <a:t>Possible d’allumer/déplacer/éteindre les fonctions selon la demande</a:t>
            </a:r>
            <a:endParaRPr/>
          </a:p>
          <a:p>
            <a:pPr marL="1024381" lvl="2" indent="-328928" defTabSz="338326">
              <a:lnSpc>
                <a:spcPct val="80000"/>
              </a:lnSpc>
              <a:spcBef>
                <a:spcPts val="1099"/>
              </a:spcBef>
              <a:defRPr sz="2050"/>
            </a:pPr>
            <a:r>
              <a:rPr/>
              <a:t>Migration de VM, Proximité des clients (Folllow-the-sun)</a:t>
            </a:r>
            <a:endParaRPr/>
          </a:p>
          <a:p>
            <a:pPr marL="516889" indent="-328928" defTabSz="338326">
              <a:spcBef>
                <a:spcPts val="1299"/>
              </a:spcBef>
              <a:defRPr sz="2050"/>
            </a:pPr>
            <a:r>
              <a:rPr>
                <a:solidFill>
                  <a:schemeClr val="tx1"/>
                </a:solidFill>
              </a:rPr>
              <a:t>Exemples</a:t>
            </a:r>
            <a:r>
              <a:rPr>
                <a:solidFill>
                  <a:schemeClr val="tx1"/>
                </a:solidFill>
              </a:rPr>
              <a:t> de </a:t>
            </a:r>
            <a:r>
              <a:rPr>
                <a:solidFill>
                  <a:schemeClr val="tx1"/>
                </a:solidFill>
              </a:rPr>
              <a:t>fonctions VNF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>
                <a:solidFill>
                  <a:schemeClr val="accent5"/>
                </a:solidFill>
              </a:rPr>
              <a:t>Commutation</a:t>
            </a:r>
            <a:r>
              <a:rPr/>
              <a:t>: switch, routeur, NAT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>
                <a:solidFill>
                  <a:schemeClr val="accent1">
                    <a:lumMod val="75000"/>
                  </a:schemeClr>
                </a:solidFill>
              </a:rPr>
              <a:t>Noeuds des réseaux mobiles</a:t>
            </a:r>
            <a:r>
              <a:rPr/>
              <a:t> : NodeB, eNodeB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>
                <a:solidFill>
                  <a:schemeClr val="accent1">
                    <a:lumMod val="75000"/>
                  </a:schemeClr>
                </a:solidFill>
              </a:rPr>
              <a:t>Noeuds résidentiels </a:t>
            </a:r>
            <a:r>
              <a:rPr/>
              <a:t>: routeur domestique et box internet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>
                <a:solidFill>
                  <a:schemeClr val="accent5"/>
                </a:solidFill>
              </a:rPr>
              <a:t>Passerelles</a:t>
            </a:r>
            <a:r>
              <a:rPr/>
              <a:t> : IPSec/SSM VPN gateways, IPv4-IPv6 conversion, encapsulation, tunelling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>
                <a:solidFill>
                  <a:schemeClr val="accent5"/>
                </a:solidFill>
              </a:rPr>
              <a:t>Analyse de traffic</a:t>
            </a:r>
            <a:r>
              <a:rPr/>
              <a:t> : DPI, mesure de QoE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>
                <a:solidFill>
                  <a:schemeClr val="accent1">
                    <a:lumMod val="75000"/>
                  </a:schemeClr>
                </a:solidFill>
              </a:rPr>
              <a:t>Converged and network-wide functions </a:t>
            </a:r>
            <a:r>
              <a:rPr/>
              <a:t>: serveurs AAA, policy control, charging platforms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>
                <a:solidFill>
                  <a:schemeClr val="accent1">
                    <a:lumMod val="75000"/>
                  </a:schemeClr>
                </a:solidFill>
              </a:rPr>
              <a:t>Optimisation des applications </a:t>
            </a:r>
            <a:r>
              <a:rPr/>
              <a:t>: CDN, serveur cache, équilibreur de charge, accélérateur applicatif</a:t>
            </a:r>
            <a:endParaRPr/>
          </a:p>
          <a:p>
            <a:pPr marL="770635" lvl="1" indent="-328928" defTabSz="338326">
              <a:spcBef>
                <a:spcPts val="1299"/>
              </a:spcBef>
              <a:defRPr sz="2050"/>
            </a:pPr>
            <a:r>
              <a:rPr>
                <a:solidFill>
                  <a:schemeClr val="accent5"/>
                </a:solidFill>
              </a:rPr>
              <a:t>Fonctions de sécurité</a:t>
            </a:r>
            <a:r>
              <a:rPr/>
              <a:t> : firewall, anti-virus, IDS/IPS, filtre anti-spam</a:t>
            </a:r>
            <a:endParaRPr/>
          </a:p>
        </p:txBody>
      </p:sp>
      <p:sp>
        <p:nvSpPr>
          <p:cNvPr id="1683952904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2748BCE8-1BF3-F580-BA8D-4C947833F70D}" type="slidenum">
              <a:rPr/>
              <a:t/>
            </a:fld>
            <a:endParaRPr/>
          </a:p>
        </p:txBody>
      </p:sp>
      <p:sp>
        <p:nvSpPr>
          <p:cNvPr id="92152750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BB66F98-F44B-3C1A-A0CE-2A20E16A533D}" type="datetime1">
              <a:rPr lang="fr-FR"/>
              <a:t/>
            </a:fld>
            <a:endParaRPr/>
          </a:p>
        </p:txBody>
      </p:sp>
      <p:sp>
        <p:nvSpPr>
          <p:cNvPr id="91638648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7057107" name="Exemples de fonction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Exemples de fonctions</a:t>
            </a:r>
            <a:endParaRPr/>
          </a:p>
        </p:txBody>
      </p:sp>
      <p:sp>
        <p:nvSpPr>
          <p:cNvPr id="1325420371" name="Commutateur simple…"/>
          <p:cNvSpPr txBox="1">
            <a:spLocks noGrp="1"/>
          </p:cNvSpPr>
          <p:nvPr>
            <p:ph type="body" sz="half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lnSpc>
                <a:spcPct val="70000"/>
              </a:lnSpc>
              <a:defRPr sz="1800"/>
            </a:pPr>
            <a:r>
              <a:rPr/>
              <a:t>Commutateur simple </a:t>
            </a:r>
            <a:endParaRPr/>
          </a:p>
          <a:p>
            <a:pPr lvl="1">
              <a:lnSpc>
                <a:spcPct val="70000"/>
              </a:lnSpc>
              <a:defRPr sz="1800"/>
            </a:pPr>
            <a:r>
              <a:rPr/>
              <a:t>Aussi appelé vSwitch</a:t>
            </a:r>
            <a:endParaRPr/>
          </a:p>
          <a:p>
            <a:pPr lvl="1">
              <a:lnSpc>
                <a:spcPct val="70000"/>
              </a:lnSpc>
              <a:defRPr sz="1800"/>
            </a:pPr>
            <a:r>
              <a:rPr/>
              <a:t>Typiquement déployé sur l’hyperviseur (ou une  VM)</a:t>
            </a:r>
            <a:endParaRPr/>
          </a:p>
          <a:p>
            <a:pPr lvl="1">
              <a:lnSpc>
                <a:spcPct val="70000"/>
              </a:lnSpc>
              <a:defRPr sz="1800"/>
            </a:pPr>
            <a:r>
              <a:rPr/>
              <a:t>Exemple de logiciel : Open vSwitch</a:t>
            </a:r>
            <a:endParaRPr/>
          </a:p>
          <a:p>
            <a:pPr lvl="1">
              <a:lnSpc>
                <a:spcPct val="70000"/>
              </a:lnSpc>
              <a:defRPr sz="1800"/>
            </a:pPr>
            <a:r>
              <a:rPr/>
              <a:t>Exemple de librairie spécialisée : DPDK, netmap</a:t>
            </a:r>
            <a:endParaRPr/>
          </a:p>
          <a:p>
            <a:pPr lvl="1">
              <a:lnSpc>
                <a:spcPct val="70000"/>
              </a:lnSpc>
              <a:defRPr sz="1800"/>
            </a:pPr>
            <a:r>
              <a:rPr/>
              <a:t>Performances : débit de plusieurs dizaine de Gbps</a:t>
            </a:r>
            <a:endParaRPr/>
          </a:p>
          <a:p>
            <a:pPr marL="539749" indent="-285750">
              <a:lnSpc>
                <a:spcPct val="70000"/>
              </a:lnSpc>
              <a:defRPr sz="1800"/>
            </a:pPr>
            <a:r>
              <a:rPr/>
              <a:t>Exemple d’un vSwitch avec 3 VMs</a:t>
            </a:r>
            <a:endParaRPr/>
          </a:p>
        </p:txBody>
      </p:sp>
      <p:grpSp>
        <p:nvGrpSpPr>
          <p:cNvPr id="298869301" name="Group"/>
          <p:cNvGrpSpPr/>
          <p:nvPr/>
        </p:nvGrpSpPr>
        <p:grpSpPr bwMode="auto">
          <a:xfrm>
            <a:off x="9204143" y="6016771"/>
            <a:ext cx="2927582" cy="770297"/>
            <a:chOff x="0" y="25054"/>
            <a:chExt cx="2927581" cy="770296"/>
          </a:xfrm>
        </p:grpSpPr>
        <p:sp>
          <p:nvSpPr>
            <p:cNvPr id="884122599" name="Rounded Rectangle"/>
            <p:cNvSpPr/>
            <p:nvPr/>
          </p:nvSpPr>
          <p:spPr bwMode="auto">
            <a:xfrm>
              <a:off x="0" y="25054"/>
              <a:ext cx="2927582" cy="770297"/>
            </a:xfrm>
            <a:prstGeom prst="roundRect">
              <a:avLst>
                <a:gd name="adj" fmla="val 26272"/>
              </a:avLst>
            </a:prstGeom>
            <a:noFill/>
            <a:ln w="12700" cap="flat">
              <a:noFill/>
              <a:miter lim="400000"/>
            </a:ln>
            <a:effectLst>
              <a:outerShdw blurRad="381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/>
            </a:p>
          </p:txBody>
        </p:sp>
        <p:sp>
          <p:nvSpPr>
            <p:cNvPr id="30821681" name="Logical Ports"/>
            <p:cNvSpPr txBox="1"/>
            <p:nvPr/>
          </p:nvSpPr>
          <p:spPr bwMode="auto">
            <a:xfrm>
              <a:off x="1040150" y="114298"/>
              <a:ext cx="1569169" cy="331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799" tIns="50799" rIns="50799" bIns="50799" numCol="1" anchor="ctr">
              <a:spAutoFit/>
            </a:bodyPr>
            <a:lstStyle>
              <a:lvl1pPr defTabSz="584199">
                <a:defRPr sz="1800"/>
              </a:lvl1pPr>
            </a:lstStyle>
            <a:p>
              <a:pPr>
                <a:defRPr/>
              </a:pPr>
              <a:r>
                <a:rPr/>
                <a:t>Logical Ports</a:t>
              </a:r>
              <a:endParaRPr/>
            </a:p>
          </p:txBody>
        </p:sp>
        <p:sp>
          <p:nvSpPr>
            <p:cNvPr id="637557748" name="Rounded Rectangle"/>
            <p:cNvSpPr/>
            <p:nvPr/>
          </p:nvSpPr>
          <p:spPr bwMode="auto">
            <a:xfrm>
              <a:off x="112098" y="503703"/>
              <a:ext cx="457128" cy="185699"/>
            </a:xfrm>
            <a:prstGeom prst="roundRect">
              <a:avLst>
                <a:gd name="adj" fmla="val 28798"/>
              </a:avLst>
            </a:prstGeom>
            <a:solidFill>
              <a:schemeClr val="accent1">
                <a:satOff val="-3355"/>
                <a:lumOff val="26614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1738600606" name="Rounded Rectangle"/>
            <p:cNvSpPr/>
            <p:nvPr/>
          </p:nvSpPr>
          <p:spPr bwMode="auto">
            <a:xfrm>
              <a:off x="112098" y="187094"/>
              <a:ext cx="350684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686240350" name="Physical Ports"/>
            <p:cNvSpPr txBox="1"/>
            <p:nvPr/>
          </p:nvSpPr>
          <p:spPr bwMode="auto">
            <a:xfrm>
              <a:off x="1040150" y="430819"/>
              <a:ext cx="1659315" cy="331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799" tIns="50799" rIns="50799" bIns="50799" numCol="1" anchor="ctr">
              <a:spAutoFit/>
            </a:bodyPr>
            <a:lstStyle>
              <a:lvl1pPr defTabSz="584199">
                <a:defRPr sz="1800"/>
              </a:lvl1pPr>
            </a:lstStyle>
            <a:p>
              <a:pPr>
                <a:defRPr/>
              </a:pPr>
              <a:r>
                <a:rPr/>
                <a:t>Physical Ports</a:t>
              </a:r>
              <a:endParaRPr/>
            </a:p>
          </p:txBody>
        </p:sp>
      </p:grpSp>
      <p:grpSp>
        <p:nvGrpSpPr>
          <p:cNvPr id="743742561" name="Group"/>
          <p:cNvGrpSpPr/>
          <p:nvPr/>
        </p:nvGrpSpPr>
        <p:grpSpPr bwMode="auto">
          <a:xfrm>
            <a:off x="5707379" y="4155768"/>
            <a:ext cx="4797466" cy="2251177"/>
            <a:chOff x="0" y="0"/>
            <a:chExt cx="4797464" cy="2251177"/>
          </a:xfrm>
        </p:grpSpPr>
        <p:sp>
          <p:nvSpPr>
            <p:cNvPr id="1697793167" name="Rounded Rectangle"/>
            <p:cNvSpPr/>
            <p:nvPr/>
          </p:nvSpPr>
          <p:spPr bwMode="auto">
            <a:xfrm>
              <a:off x="0" y="48741"/>
              <a:ext cx="3904661" cy="1752073"/>
            </a:xfrm>
            <a:prstGeom prst="roundRect">
              <a:avLst>
                <a:gd name="adj" fmla="val 11508"/>
              </a:avLst>
            </a:prstGeom>
            <a:solidFill>
              <a:schemeClr val="accent3">
                <a:satOff val="18648"/>
                <a:lumOff val="5971"/>
                <a:alpha val="77844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/>
            </a:p>
          </p:txBody>
        </p:sp>
        <p:sp>
          <p:nvSpPr>
            <p:cNvPr id="1115088792" name="VM 2"/>
            <p:cNvSpPr/>
            <p:nvPr/>
          </p:nvSpPr>
          <p:spPr bwMode="auto">
            <a:xfrm>
              <a:off x="1420711" y="183478"/>
              <a:ext cx="1063236" cy="534510"/>
            </a:xfrm>
            <a:prstGeom prst="roundRect">
              <a:avLst>
                <a:gd name="adj" fmla="val 22621"/>
              </a:avLst>
            </a:prstGeom>
            <a:solidFill>
              <a:schemeClr val="accent5">
                <a:hueOff val="-444211"/>
                <a:satOff val="-14915"/>
                <a:lumOff val="2285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>
              <a:lvl1pPr defTabSz="584199">
                <a:lnSpc>
                  <a:spcPct val="130000"/>
                </a:lnSpc>
                <a:defRPr sz="1900"/>
              </a:lvl1pPr>
            </a:lstStyle>
            <a:p>
              <a:pPr>
                <a:defRPr/>
              </a:pPr>
              <a:r>
                <a:rPr/>
                <a:t>VM 2</a:t>
              </a:r>
              <a:endParaRPr/>
            </a:p>
          </p:txBody>
        </p:sp>
        <p:sp>
          <p:nvSpPr>
            <p:cNvPr id="1882943935" name="VM 3"/>
            <p:cNvSpPr/>
            <p:nvPr/>
          </p:nvSpPr>
          <p:spPr bwMode="auto">
            <a:xfrm>
              <a:off x="2607160" y="161838"/>
              <a:ext cx="1062541" cy="550197"/>
            </a:xfrm>
            <a:prstGeom prst="roundRect">
              <a:avLst>
                <a:gd name="adj" fmla="val 21887"/>
              </a:avLst>
            </a:prstGeom>
            <a:solidFill>
              <a:schemeClr val="accent5">
                <a:hueOff val="-444211"/>
                <a:satOff val="-14915"/>
                <a:lumOff val="2285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>
              <a:lvl1pPr defTabSz="584199">
                <a:lnSpc>
                  <a:spcPct val="130000"/>
                </a:lnSpc>
                <a:defRPr sz="1900"/>
              </a:lvl1pPr>
            </a:lstStyle>
            <a:p>
              <a:pPr>
                <a:defRPr/>
              </a:pPr>
              <a:r>
                <a:rPr/>
                <a:t>VM 3</a:t>
              </a:r>
              <a:endParaRPr/>
            </a:p>
          </p:txBody>
        </p:sp>
        <p:sp>
          <p:nvSpPr>
            <p:cNvPr id="154641216" name="VM 1"/>
            <p:cNvSpPr/>
            <p:nvPr/>
          </p:nvSpPr>
          <p:spPr bwMode="auto">
            <a:xfrm>
              <a:off x="236530" y="183478"/>
              <a:ext cx="1073710" cy="534510"/>
            </a:xfrm>
            <a:prstGeom prst="roundRect">
              <a:avLst>
                <a:gd name="adj" fmla="val 22296"/>
              </a:avLst>
            </a:prstGeom>
            <a:solidFill>
              <a:schemeClr val="accent5">
                <a:hueOff val="-444211"/>
                <a:satOff val="-14915"/>
                <a:lumOff val="22857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>
              <a:lvl1pPr defTabSz="584199">
                <a:lnSpc>
                  <a:spcPct val="130000"/>
                </a:lnSpc>
                <a:defRPr sz="1900"/>
              </a:lvl1pPr>
            </a:lstStyle>
            <a:p>
              <a:pPr>
                <a:defRPr/>
              </a:pPr>
              <a:r>
                <a:rPr/>
                <a:t>VM 1</a:t>
              </a:r>
              <a:endParaRPr/>
            </a:p>
          </p:txBody>
        </p:sp>
        <p:sp>
          <p:nvSpPr>
            <p:cNvPr id="1076939783" name="Rounded Rectangle"/>
            <p:cNvSpPr/>
            <p:nvPr/>
          </p:nvSpPr>
          <p:spPr bwMode="auto">
            <a:xfrm>
              <a:off x="352954" y="612592"/>
              <a:ext cx="350685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106097244" name="Rounded Rectangle"/>
            <p:cNvSpPr/>
            <p:nvPr/>
          </p:nvSpPr>
          <p:spPr bwMode="auto">
            <a:xfrm>
              <a:off x="1570144" y="612592"/>
              <a:ext cx="350684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959960040" name="Rounded Rectangle"/>
            <p:cNvSpPr/>
            <p:nvPr/>
          </p:nvSpPr>
          <p:spPr bwMode="auto">
            <a:xfrm>
              <a:off x="1996255" y="612592"/>
              <a:ext cx="350684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1599081748" name="Rounded Rectangle"/>
            <p:cNvSpPr/>
            <p:nvPr/>
          </p:nvSpPr>
          <p:spPr bwMode="auto">
            <a:xfrm>
              <a:off x="3201582" y="611258"/>
              <a:ext cx="350685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1927591722" name="Rounded Rectangle"/>
            <p:cNvSpPr/>
            <p:nvPr/>
          </p:nvSpPr>
          <p:spPr bwMode="auto">
            <a:xfrm>
              <a:off x="234959" y="1106136"/>
              <a:ext cx="3434742" cy="655909"/>
            </a:xfrm>
            <a:prstGeom prst="roundRect">
              <a:avLst>
                <a:gd name="adj" fmla="val 18169"/>
              </a:avLst>
            </a:prstGeom>
            <a:solidFill>
              <a:schemeClr val="accent4">
                <a:hueOff val="384618"/>
                <a:satOff val="3869"/>
                <a:lumOff val="5802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130000"/>
                </a:lnSpc>
                <a:defRPr sz="2100">
                  <a:solidFill>
                    <a:schemeClr val="accent1"/>
                  </a:solidFill>
                  <a:latin typeface="Helvetica Light"/>
                  <a:ea typeface="Helvetica Light"/>
                  <a:cs typeface="Helvetica Light"/>
                </a:defRPr>
              </a:pPr>
              <a:endParaRPr/>
            </a:p>
          </p:txBody>
        </p:sp>
        <p:sp>
          <p:nvSpPr>
            <p:cNvPr id="1731364478" name="Physical Machine"/>
            <p:cNvSpPr txBox="1"/>
            <p:nvPr/>
          </p:nvSpPr>
          <p:spPr bwMode="auto">
            <a:xfrm rot="5399976">
              <a:off x="3409363" y="717177"/>
              <a:ext cx="2288523" cy="3657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799" tIns="50799" rIns="50799" bIns="50799" numCol="1" anchor="ctr">
              <a:spAutoFit/>
            </a:bodyPr>
            <a:lstStyle>
              <a:lvl1pPr defTabSz="584199">
                <a:defRPr sz="2100"/>
              </a:lvl1pPr>
            </a:lstStyle>
            <a:p>
              <a:pPr>
                <a:defRPr/>
              </a:pPr>
              <a:r>
                <a:rPr/>
                <a:t>Physical Machine</a:t>
              </a:r>
              <a:endParaRPr/>
            </a:p>
          </p:txBody>
        </p:sp>
        <p:sp>
          <p:nvSpPr>
            <p:cNvPr id="1101617308" name="Line"/>
            <p:cNvSpPr/>
            <p:nvPr/>
          </p:nvSpPr>
          <p:spPr bwMode="auto">
            <a:xfrm flipH="1">
              <a:off x="532786" y="723466"/>
              <a:ext cx="1" cy="308610"/>
            </a:xfrm>
            <a:prstGeom prst="line">
              <a:avLst/>
            </a:prstGeom>
            <a:noFill/>
            <a:ln w="25400" cap="flat">
              <a:solidFill>
                <a:srgbClr val="25D364"/>
              </a:solidFill>
              <a:prstDash val="solid"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/>
            </a:p>
          </p:txBody>
        </p:sp>
        <p:sp>
          <p:nvSpPr>
            <p:cNvPr id="604645113" name="Line"/>
            <p:cNvSpPr/>
            <p:nvPr/>
          </p:nvSpPr>
          <p:spPr bwMode="auto">
            <a:xfrm>
              <a:off x="1745486" y="723466"/>
              <a:ext cx="1" cy="308610"/>
            </a:xfrm>
            <a:prstGeom prst="line">
              <a:avLst/>
            </a:prstGeom>
            <a:noFill/>
            <a:ln w="25400" cap="flat">
              <a:solidFill>
                <a:srgbClr val="25D364"/>
              </a:solidFill>
              <a:prstDash val="solid"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/>
            </a:p>
          </p:txBody>
        </p:sp>
        <p:sp>
          <p:nvSpPr>
            <p:cNvPr id="2125161736" name="Rounded Rectangle"/>
            <p:cNvSpPr/>
            <p:nvPr/>
          </p:nvSpPr>
          <p:spPr bwMode="auto">
            <a:xfrm>
              <a:off x="377615" y="983875"/>
              <a:ext cx="350684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1836497730" name="Rounded Rectangle"/>
            <p:cNvSpPr/>
            <p:nvPr/>
          </p:nvSpPr>
          <p:spPr bwMode="auto">
            <a:xfrm>
              <a:off x="3186148" y="983875"/>
              <a:ext cx="350685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1678808818" name="Line"/>
            <p:cNvSpPr/>
            <p:nvPr/>
          </p:nvSpPr>
          <p:spPr bwMode="auto">
            <a:xfrm>
              <a:off x="2180338" y="723466"/>
              <a:ext cx="1" cy="308610"/>
            </a:xfrm>
            <a:prstGeom prst="line">
              <a:avLst/>
            </a:prstGeom>
            <a:noFill/>
            <a:ln w="25400" cap="flat">
              <a:solidFill>
                <a:srgbClr val="25D364"/>
              </a:solidFill>
              <a:prstDash val="solid"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/>
            </a:p>
          </p:txBody>
        </p:sp>
        <p:sp>
          <p:nvSpPr>
            <p:cNvPr id="1830723065" name="Line"/>
            <p:cNvSpPr/>
            <p:nvPr/>
          </p:nvSpPr>
          <p:spPr bwMode="auto">
            <a:xfrm>
              <a:off x="3379727" y="723466"/>
              <a:ext cx="1" cy="308610"/>
            </a:xfrm>
            <a:prstGeom prst="line">
              <a:avLst/>
            </a:prstGeom>
            <a:noFill/>
            <a:ln w="25400" cap="flat">
              <a:solidFill>
                <a:srgbClr val="25D364"/>
              </a:solidFill>
              <a:prstDash val="solid"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/>
            </a:p>
          </p:txBody>
        </p:sp>
        <p:sp>
          <p:nvSpPr>
            <p:cNvPr id="1501343374" name="Rounded Rectangle"/>
            <p:cNvSpPr/>
            <p:nvPr/>
          </p:nvSpPr>
          <p:spPr bwMode="auto">
            <a:xfrm>
              <a:off x="910072" y="1664242"/>
              <a:ext cx="457129" cy="185699"/>
            </a:xfrm>
            <a:prstGeom prst="roundRect">
              <a:avLst>
                <a:gd name="adj" fmla="val 28798"/>
              </a:avLst>
            </a:prstGeom>
            <a:solidFill>
              <a:schemeClr val="accent1">
                <a:satOff val="-3355"/>
                <a:lumOff val="26614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926039806" name="Rounded Rectangle"/>
            <p:cNvSpPr/>
            <p:nvPr/>
          </p:nvSpPr>
          <p:spPr bwMode="auto">
            <a:xfrm>
              <a:off x="2482538" y="1664242"/>
              <a:ext cx="457129" cy="185699"/>
            </a:xfrm>
            <a:prstGeom prst="roundRect">
              <a:avLst>
                <a:gd name="adj" fmla="val 28798"/>
              </a:avLst>
            </a:prstGeom>
            <a:solidFill>
              <a:schemeClr val="accent1">
                <a:satOff val="-3355"/>
                <a:lumOff val="26614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211523301" name="Rounded Rectangle"/>
            <p:cNvSpPr/>
            <p:nvPr/>
          </p:nvSpPr>
          <p:spPr bwMode="auto">
            <a:xfrm>
              <a:off x="1570144" y="983875"/>
              <a:ext cx="350684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1115082699" name="Rounded Rectangle"/>
            <p:cNvSpPr/>
            <p:nvPr/>
          </p:nvSpPr>
          <p:spPr bwMode="auto">
            <a:xfrm>
              <a:off x="1996255" y="983875"/>
              <a:ext cx="350684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1077476863" name="Rounded Rectangle"/>
            <p:cNvSpPr/>
            <p:nvPr/>
          </p:nvSpPr>
          <p:spPr bwMode="auto">
            <a:xfrm>
              <a:off x="808144" y="612592"/>
              <a:ext cx="350684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630752389" name="Line"/>
            <p:cNvSpPr/>
            <p:nvPr/>
          </p:nvSpPr>
          <p:spPr bwMode="auto">
            <a:xfrm>
              <a:off x="983486" y="723466"/>
              <a:ext cx="1" cy="308610"/>
            </a:xfrm>
            <a:prstGeom prst="line">
              <a:avLst/>
            </a:prstGeom>
            <a:noFill/>
            <a:ln w="25400" cap="flat">
              <a:solidFill>
                <a:srgbClr val="25D364"/>
              </a:solidFill>
              <a:prstDash val="solid"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/>
            </a:p>
          </p:txBody>
        </p:sp>
        <p:sp>
          <p:nvSpPr>
            <p:cNvPr id="691842136" name="Rounded Rectangle"/>
            <p:cNvSpPr/>
            <p:nvPr/>
          </p:nvSpPr>
          <p:spPr bwMode="auto">
            <a:xfrm>
              <a:off x="808144" y="983875"/>
              <a:ext cx="350684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1324921500" name="Rounded Rectangle"/>
            <p:cNvSpPr/>
            <p:nvPr/>
          </p:nvSpPr>
          <p:spPr bwMode="auto">
            <a:xfrm>
              <a:off x="2728384" y="612592"/>
              <a:ext cx="350684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2009093573" name="Line"/>
            <p:cNvSpPr/>
            <p:nvPr/>
          </p:nvSpPr>
          <p:spPr bwMode="auto">
            <a:xfrm>
              <a:off x="2903726" y="723466"/>
              <a:ext cx="1" cy="308610"/>
            </a:xfrm>
            <a:prstGeom prst="line">
              <a:avLst/>
            </a:prstGeom>
            <a:noFill/>
            <a:ln w="25400" cap="flat">
              <a:solidFill>
                <a:srgbClr val="25D364"/>
              </a:solidFill>
              <a:prstDash val="solid"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/>
            </a:p>
          </p:txBody>
        </p:sp>
        <p:sp>
          <p:nvSpPr>
            <p:cNvPr id="1572977506" name="Rounded Rectangle"/>
            <p:cNvSpPr/>
            <p:nvPr/>
          </p:nvSpPr>
          <p:spPr bwMode="auto">
            <a:xfrm>
              <a:off x="2728384" y="995305"/>
              <a:ext cx="350684" cy="185879"/>
            </a:xfrm>
            <a:prstGeom prst="roundRect">
              <a:avLst>
                <a:gd name="adj" fmla="val 28798"/>
              </a:avLst>
            </a:prstGeom>
            <a:solidFill>
              <a:srgbClr val="2AD257"/>
            </a:solidFill>
            <a:ln w="12700" cap="flat">
              <a:noFill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lnSpc>
                  <a:spcPct val="90000"/>
                </a:lnSpc>
                <a:defRPr sz="1700" b="1">
                  <a:solidFill>
                    <a:srgbClr val="FFFFFF"/>
                  </a:solidFill>
                  <a:latin typeface="Helvetica"/>
                  <a:ea typeface="Helvetica"/>
                  <a:cs typeface="Helvetica"/>
                </a:defRPr>
              </a:pPr>
              <a:endParaRPr/>
            </a:p>
          </p:txBody>
        </p:sp>
        <p:sp>
          <p:nvSpPr>
            <p:cNvPr id="817054502" name="Line"/>
            <p:cNvSpPr/>
            <p:nvPr/>
          </p:nvSpPr>
          <p:spPr bwMode="auto">
            <a:xfrm flipV="1">
              <a:off x="1139246" y="1800115"/>
              <a:ext cx="1" cy="451062"/>
            </a:xfrm>
            <a:prstGeom prst="line">
              <a:avLst/>
            </a:prstGeom>
            <a:noFill/>
            <a:ln w="25400" cap="flat">
              <a:solidFill>
                <a:schemeClr val="accent1">
                  <a:satOff val="-3355"/>
                  <a:lumOff val="26614"/>
                </a:schemeClr>
              </a:solidFill>
              <a:prstDash val="solid"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/>
            </a:p>
          </p:txBody>
        </p:sp>
        <p:sp>
          <p:nvSpPr>
            <p:cNvPr id="1693087955" name="Line"/>
            <p:cNvSpPr/>
            <p:nvPr/>
          </p:nvSpPr>
          <p:spPr bwMode="auto">
            <a:xfrm flipV="1">
              <a:off x="2711102" y="1800115"/>
              <a:ext cx="1" cy="451062"/>
            </a:xfrm>
            <a:prstGeom prst="line">
              <a:avLst/>
            </a:prstGeom>
            <a:noFill/>
            <a:ln w="25400" cap="flat">
              <a:solidFill>
                <a:schemeClr val="accent1">
                  <a:satOff val="-3355"/>
                  <a:lumOff val="26614"/>
                </a:schemeClr>
              </a:solidFill>
              <a:prstDash val="solid"/>
              <a:miter lim="400000"/>
            </a:ln>
            <a:effectLst/>
          </p:spPr>
          <p:txBody>
            <a:bodyPr wrap="square" lIns="50799" tIns="50799" rIns="50799" bIns="50799" numCol="1" anchor="ctr">
              <a:noAutofit/>
            </a:bodyPr>
            <a:lstStyle/>
            <a:p>
              <a:pPr defTabSz="584199">
                <a:defRPr sz="24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</a:defRPr>
              </a:pPr>
              <a:endParaRPr/>
            </a:p>
          </p:txBody>
        </p:sp>
        <p:cxnSp>
          <p:nvCxnSpPr>
            <p:cNvPr id="273086753" name="Connection Line"/>
            <p:cNvCxnSpPr>
              <a:stCxn id="1501343374" idx="0"/>
              <a:endCxn id="2125161736" idx="0"/>
            </p:cNvCxnSpPr>
            <p:nvPr/>
          </p:nvCxnSpPr>
          <p:spPr bwMode="auto">
            <a:xfrm flipH="1" flipV="1">
              <a:off x="552957" y="1076814"/>
              <a:ext cx="585680" cy="680278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590430548" name="Connection Line"/>
            <p:cNvCxnSpPr>
              <a:stCxn id="926039806" idx="0"/>
              <a:endCxn id="1836497730" idx="0"/>
            </p:cNvCxnSpPr>
            <p:nvPr/>
          </p:nvCxnSpPr>
          <p:spPr bwMode="auto">
            <a:xfrm flipV="1">
              <a:off x="2711102" y="1076814"/>
              <a:ext cx="650388" cy="680278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150343546" name="Connection Line"/>
            <p:cNvCxnSpPr>
              <a:stCxn id="211523301" idx="0"/>
              <a:endCxn id="1572977506" idx="0"/>
            </p:cNvCxnSpPr>
            <p:nvPr/>
          </p:nvCxnSpPr>
          <p:spPr bwMode="auto">
            <a:xfrm>
              <a:off x="1745486" y="1076814"/>
              <a:ext cx="1158240" cy="11430"/>
            </a:xfrm>
            <a:prstGeom prst="straightConnector1">
              <a:avLst/>
            </a:prstGeom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sp>
          <p:nvSpPr>
            <p:cNvPr id="2002366792" name="vSwitch"/>
            <p:cNvSpPr txBox="1"/>
            <p:nvPr/>
          </p:nvSpPr>
          <p:spPr bwMode="auto">
            <a:xfrm>
              <a:off x="1406679" y="1348159"/>
              <a:ext cx="1036380" cy="331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799" tIns="50799" rIns="50799" bIns="50799" numCol="1" anchor="ctr">
              <a:spAutoFit/>
            </a:bodyPr>
            <a:lstStyle>
              <a:lvl1pPr defTabSz="584199">
                <a:lnSpc>
                  <a:spcPct val="130000"/>
                </a:lnSpc>
                <a:defRPr sz="1900"/>
              </a:lvl1pPr>
            </a:lstStyle>
            <a:p>
              <a:pPr>
                <a:defRPr/>
              </a:pPr>
              <a:r>
                <a:rPr/>
                <a:t>vSwitch</a:t>
              </a:r>
              <a:endParaRPr/>
            </a:p>
          </p:txBody>
        </p:sp>
        <p:pic>
          <p:nvPicPr>
            <p:cNvPr id="1706210000" name="Image" descr="Image"/>
            <p:cNvPicPr/>
            <p:nvPr/>
          </p:nvPicPr>
          <p:blipFill>
            <a:blip r:embed="rId3"/>
            <a:stretch/>
          </p:blipFill>
          <p:spPr bwMode="auto">
            <a:xfrm rot="10799989">
              <a:off x="3956750" y="0"/>
              <a:ext cx="140222" cy="18001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677845977" name="Rest of the Network"/>
          <p:cNvSpPr txBox="1"/>
          <p:nvPr/>
        </p:nvSpPr>
        <p:spPr bwMode="auto">
          <a:xfrm>
            <a:off x="8753027" y="7299044"/>
            <a:ext cx="3328781" cy="42291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 defTabSz="584199">
              <a:defRPr sz="2400">
                <a:latin typeface="Helvetica Light"/>
                <a:ea typeface="Helvetica Light"/>
                <a:cs typeface="Helvetica Light"/>
              </a:defRPr>
            </a:lvl1pPr>
          </a:lstStyle>
          <a:p>
            <a:pPr>
              <a:defRPr/>
            </a:pPr>
            <a:r>
              <a:rPr/>
              <a:t>Rest of the Network</a:t>
            </a:r>
            <a:endParaRPr/>
          </a:p>
        </p:txBody>
      </p:sp>
      <p:grpSp>
        <p:nvGrpSpPr>
          <p:cNvPr id="332408291" name="Group"/>
          <p:cNvGrpSpPr/>
          <p:nvPr/>
        </p:nvGrpSpPr>
        <p:grpSpPr bwMode="auto">
          <a:xfrm>
            <a:off x="918152" y="4165894"/>
            <a:ext cx="3691353" cy="1795903"/>
            <a:chOff x="0" y="0"/>
            <a:chExt cx="3691352" cy="1795903"/>
          </a:xfrm>
        </p:grpSpPr>
        <p:grpSp>
          <p:nvGrpSpPr>
            <p:cNvPr id="410092323" name="Group"/>
            <p:cNvGrpSpPr/>
            <p:nvPr/>
          </p:nvGrpSpPr>
          <p:grpSpPr bwMode="auto">
            <a:xfrm>
              <a:off x="392318" y="0"/>
              <a:ext cx="1047575" cy="490587"/>
              <a:chOff x="0" y="0"/>
              <a:chExt cx="1047574" cy="490585"/>
            </a:xfrm>
          </p:grpSpPr>
          <p:sp>
            <p:nvSpPr>
              <p:cNvPr id="2052502087" name="Shape"/>
              <p:cNvSpPr/>
              <p:nvPr/>
            </p:nvSpPr>
            <p:spPr bwMode="auto">
              <a:xfrm>
                <a:off x="911" y="0"/>
                <a:ext cx="1046664" cy="4905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16595" y="21600"/>
                    </a:lnTo>
                    <a:lnTo>
                      <a:pt x="21600" y="15299"/>
                    </a:lnTo>
                    <a:lnTo>
                      <a:pt x="21467" y="114"/>
                    </a:lnTo>
                    <a:lnTo>
                      <a:pt x="4877" y="0"/>
                    </a:lnTo>
                    <a:lnTo>
                      <a:pt x="29" y="521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5">
                  <a:hueOff val="-444211"/>
                  <a:satOff val="-14915"/>
                  <a:lumOff val="22857"/>
                </a:schemeClr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777323806" name="Line"/>
              <p:cNvSpPr/>
              <p:nvPr/>
            </p:nvSpPr>
            <p:spPr bwMode="auto">
              <a:xfrm>
                <a:off x="0" y="129588"/>
                <a:ext cx="784902" cy="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40573379" name="Line"/>
              <p:cNvSpPr/>
              <p:nvPr/>
            </p:nvSpPr>
            <p:spPr bwMode="auto">
              <a:xfrm flipV="1">
                <a:off x="797915" y="115773"/>
                <a:ext cx="1210" cy="373057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24584603" name="VM1"/>
              <p:cNvSpPr txBox="1"/>
              <p:nvPr/>
            </p:nvSpPr>
            <p:spPr bwMode="auto">
              <a:xfrm>
                <a:off x="50994" y="143247"/>
                <a:ext cx="682913" cy="331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799" tIns="50799" rIns="50799" bIns="50799" numCol="1" anchor="ctr">
                <a:spAutoFit/>
              </a:bodyPr>
              <a:lstStyle>
                <a:lvl1pPr>
                  <a:defRPr sz="1900"/>
                </a:lvl1pPr>
              </a:lstStyle>
              <a:p>
                <a:pPr>
                  <a:defRPr/>
                </a:pPr>
                <a:r>
                  <a:rPr/>
                  <a:t>VM1</a:t>
                </a:r>
                <a:endParaRPr/>
              </a:p>
            </p:txBody>
          </p:sp>
          <p:sp>
            <p:nvSpPr>
              <p:cNvPr id="648133021" name="Line"/>
              <p:cNvSpPr/>
              <p:nvPr/>
            </p:nvSpPr>
            <p:spPr bwMode="auto">
              <a:xfrm flipV="1">
                <a:off x="793218" y="1767"/>
                <a:ext cx="248677" cy="124426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2042803076" name="Shape"/>
            <p:cNvSpPr/>
            <p:nvPr/>
          </p:nvSpPr>
          <p:spPr bwMode="auto">
            <a:xfrm>
              <a:off x="0" y="959961"/>
              <a:ext cx="3691353" cy="8262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6411" y="21600"/>
                  </a:lnTo>
                  <a:lnTo>
                    <a:pt x="21600" y="8445"/>
                  </a:lnTo>
                  <a:lnTo>
                    <a:pt x="21600" y="0"/>
                  </a:lnTo>
                  <a:lnTo>
                    <a:pt x="5166" y="0"/>
                  </a:lnTo>
                  <a:lnTo>
                    <a:pt x="29" y="11873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3">
                <a:satOff val="18648"/>
                <a:lumOff val="5971"/>
              </a:schemeClr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456776378" name="Line"/>
            <p:cNvSpPr/>
            <p:nvPr/>
          </p:nvSpPr>
          <p:spPr bwMode="auto">
            <a:xfrm>
              <a:off x="14326" y="1413801"/>
              <a:ext cx="2789162" cy="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91386071" name="Line"/>
            <p:cNvSpPr/>
            <p:nvPr/>
          </p:nvSpPr>
          <p:spPr bwMode="auto">
            <a:xfrm flipV="1">
              <a:off x="2793443" y="958864"/>
              <a:ext cx="882435" cy="45984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33255230" name="Line"/>
            <p:cNvSpPr/>
            <p:nvPr/>
          </p:nvSpPr>
          <p:spPr bwMode="auto">
            <a:xfrm flipV="1">
              <a:off x="2803602" y="1422846"/>
              <a:ext cx="1211" cy="373057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586629" name="Shape"/>
            <p:cNvSpPr/>
            <p:nvPr/>
          </p:nvSpPr>
          <p:spPr bwMode="auto">
            <a:xfrm>
              <a:off x="0" y="436353"/>
              <a:ext cx="3691353" cy="826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6411" y="21600"/>
                  </a:lnTo>
                  <a:lnTo>
                    <a:pt x="21600" y="8445"/>
                  </a:lnTo>
                  <a:lnTo>
                    <a:pt x="21600" y="0"/>
                  </a:lnTo>
                  <a:lnTo>
                    <a:pt x="5166" y="0"/>
                  </a:lnTo>
                  <a:lnTo>
                    <a:pt x="29" y="11873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4">
                <a:hueOff val="384618"/>
                <a:satOff val="3869"/>
                <a:lumOff val="5802"/>
              </a:schemeClr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1124170" name="Line"/>
            <p:cNvSpPr/>
            <p:nvPr/>
          </p:nvSpPr>
          <p:spPr bwMode="auto">
            <a:xfrm>
              <a:off x="14326" y="890192"/>
              <a:ext cx="2789162" cy="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11068322" name="Line"/>
            <p:cNvSpPr/>
            <p:nvPr/>
          </p:nvSpPr>
          <p:spPr bwMode="auto">
            <a:xfrm flipV="1">
              <a:off x="2793443" y="435256"/>
              <a:ext cx="882435" cy="45984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66352048" name="Line"/>
            <p:cNvSpPr/>
            <p:nvPr/>
          </p:nvSpPr>
          <p:spPr bwMode="auto">
            <a:xfrm flipV="1">
              <a:off x="2803602" y="899238"/>
              <a:ext cx="1211" cy="373057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46075775" name="vSwitch DPDK"/>
            <p:cNvSpPr txBox="1"/>
            <p:nvPr/>
          </p:nvSpPr>
          <p:spPr bwMode="auto">
            <a:xfrm>
              <a:off x="434828" y="918166"/>
              <a:ext cx="1888660" cy="331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799" tIns="50799" rIns="50799" bIns="50799" numCol="1" anchor="ctr">
              <a:spAutoFit/>
            </a:bodyPr>
            <a:lstStyle>
              <a:lvl1pPr>
                <a:defRPr sz="1900"/>
              </a:lvl1pPr>
            </a:lstStyle>
            <a:p>
              <a:pPr>
                <a:defRPr/>
              </a:pPr>
              <a:r>
                <a:rPr/>
                <a:t>vSwitch DPDK</a:t>
              </a:r>
              <a:endParaRPr/>
            </a:p>
          </p:txBody>
        </p:sp>
        <p:sp>
          <p:nvSpPr>
            <p:cNvPr id="1837650250" name="Hardware"/>
            <p:cNvSpPr txBox="1"/>
            <p:nvPr/>
          </p:nvSpPr>
          <p:spPr bwMode="auto">
            <a:xfrm>
              <a:off x="724600" y="1446561"/>
              <a:ext cx="1309115" cy="331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799" tIns="50799" rIns="50799" bIns="50799" numCol="1" anchor="ctr">
              <a:spAutoFit/>
            </a:bodyPr>
            <a:lstStyle>
              <a:lvl1pPr>
                <a:defRPr sz="1900"/>
              </a:lvl1pPr>
            </a:lstStyle>
            <a:p>
              <a:pPr>
                <a:defRPr/>
              </a:pPr>
              <a:r>
                <a:rPr/>
                <a:t>Hardware</a:t>
              </a:r>
              <a:endParaRPr/>
            </a:p>
          </p:txBody>
        </p:sp>
        <p:grpSp>
          <p:nvGrpSpPr>
            <p:cNvPr id="845314022" name="Group"/>
            <p:cNvGrpSpPr/>
            <p:nvPr/>
          </p:nvGrpSpPr>
          <p:grpSpPr bwMode="auto">
            <a:xfrm>
              <a:off x="6238" y="232408"/>
              <a:ext cx="1047575" cy="490587"/>
              <a:chOff x="0" y="0"/>
              <a:chExt cx="1047574" cy="490585"/>
            </a:xfrm>
          </p:grpSpPr>
          <p:sp>
            <p:nvSpPr>
              <p:cNvPr id="114046449" name="Shape"/>
              <p:cNvSpPr/>
              <p:nvPr/>
            </p:nvSpPr>
            <p:spPr bwMode="auto">
              <a:xfrm>
                <a:off x="911" y="0"/>
                <a:ext cx="1046664" cy="4905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16595" y="21600"/>
                    </a:lnTo>
                    <a:lnTo>
                      <a:pt x="21600" y="15299"/>
                    </a:lnTo>
                    <a:lnTo>
                      <a:pt x="21467" y="114"/>
                    </a:lnTo>
                    <a:lnTo>
                      <a:pt x="4877" y="0"/>
                    </a:lnTo>
                    <a:lnTo>
                      <a:pt x="29" y="521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5">
                  <a:hueOff val="-444211"/>
                  <a:satOff val="-14915"/>
                  <a:lumOff val="22857"/>
                </a:schemeClr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720731801" name="Line"/>
              <p:cNvSpPr/>
              <p:nvPr/>
            </p:nvSpPr>
            <p:spPr bwMode="auto">
              <a:xfrm>
                <a:off x="0" y="129588"/>
                <a:ext cx="784902" cy="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3081756" name="Line"/>
              <p:cNvSpPr/>
              <p:nvPr/>
            </p:nvSpPr>
            <p:spPr bwMode="auto">
              <a:xfrm flipV="1">
                <a:off x="797915" y="115773"/>
                <a:ext cx="1210" cy="373057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489582661" name="VM1"/>
              <p:cNvSpPr txBox="1"/>
              <p:nvPr/>
            </p:nvSpPr>
            <p:spPr bwMode="auto">
              <a:xfrm>
                <a:off x="50994" y="143247"/>
                <a:ext cx="682913" cy="331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799" tIns="50799" rIns="50799" bIns="50799" numCol="1" anchor="ctr">
                <a:spAutoFit/>
              </a:bodyPr>
              <a:lstStyle>
                <a:lvl1pPr>
                  <a:defRPr sz="1900"/>
                </a:lvl1pPr>
              </a:lstStyle>
              <a:p>
                <a:pPr>
                  <a:defRPr/>
                </a:pPr>
                <a:r>
                  <a:rPr/>
                  <a:t>VM1</a:t>
                </a:r>
                <a:endParaRPr/>
              </a:p>
            </p:txBody>
          </p:sp>
          <p:sp>
            <p:nvSpPr>
              <p:cNvPr id="1732580591" name="Line"/>
              <p:cNvSpPr/>
              <p:nvPr/>
            </p:nvSpPr>
            <p:spPr bwMode="auto">
              <a:xfrm flipV="1">
                <a:off x="793218" y="1767"/>
                <a:ext cx="248677" cy="124426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grpSp>
          <p:nvGrpSpPr>
            <p:cNvPr id="2013043072" name="Group"/>
            <p:cNvGrpSpPr/>
            <p:nvPr/>
          </p:nvGrpSpPr>
          <p:grpSpPr bwMode="auto">
            <a:xfrm>
              <a:off x="996837" y="232408"/>
              <a:ext cx="1047575" cy="490587"/>
              <a:chOff x="0" y="0"/>
              <a:chExt cx="1047574" cy="490585"/>
            </a:xfrm>
          </p:grpSpPr>
          <p:sp>
            <p:nvSpPr>
              <p:cNvPr id="1125179044" name="Shape"/>
              <p:cNvSpPr/>
              <p:nvPr/>
            </p:nvSpPr>
            <p:spPr bwMode="auto">
              <a:xfrm>
                <a:off x="911" y="0"/>
                <a:ext cx="1046664" cy="4905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16595" y="21600"/>
                    </a:lnTo>
                    <a:lnTo>
                      <a:pt x="21600" y="15299"/>
                    </a:lnTo>
                    <a:lnTo>
                      <a:pt x="21467" y="114"/>
                    </a:lnTo>
                    <a:lnTo>
                      <a:pt x="4877" y="0"/>
                    </a:lnTo>
                    <a:lnTo>
                      <a:pt x="29" y="521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5">
                  <a:hueOff val="-444211"/>
                  <a:satOff val="-14915"/>
                  <a:lumOff val="22857"/>
                </a:schemeClr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67994065" name="Line"/>
              <p:cNvSpPr/>
              <p:nvPr/>
            </p:nvSpPr>
            <p:spPr bwMode="auto">
              <a:xfrm>
                <a:off x="0" y="129588"/>
                <a:ext cx="784902" cy="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854540548" name="Line"/>
              <p:cNvSpPr/>
              <p:nvPr/>
            </p:nvSpPr>
            <p:spPr bwMode="auto">
              <a:xfrm flipV="1">
                <a:off x="797915" y="115773"/>
                <a:ext cx="1210" cy="373057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17718330" name="VM2"/>
              <p:cNvSpPr txBox="1"/>
              <p:nvPr/>
            </p:nvSpPr>
            <p:spPr bwMode="auto">
              <a:xfrm>
                <a:off x="50994" y="143247"/>
                <a:ext cx="682913" cy="331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799" tIns="50799" rIns="50799" bIns="50799" numCol="1" anchor="ctr">
                <a:spAutoFit/>
              </a:bodyPr>
              <a:lstStyle>
                <a:lvl1pPr>
                  <a:defRPr sz="1900"/>
                </a:lvl1pPr>
              </a:lstStyle>
              <a:p>
                <a:pPr>
                  <a:defRPr/>
                </a:pPr>
                <a:r>
                  <a:rPr/>
                  <a:t>VM2</a:t>
                </a:r>
                <a:endParaRPr/>
              </a:p>
            </p:txBody>
          </p:sp>
          <p:sp>
            <p:nvSpPr>
              <p:cNvPr id="1159258043" name="Line"/>
              <p:cNvSpPr/>
              <p:nvPr/>
            </p:nvSpPr>
            <p:spPr bwMode="auto">
              <a:xfrm flipV="1">
                <a:off x="793218" y="1767"/>
                <a:ext cx="248677" cy="124426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</p:grpSp>
      <p:sp>
        <p:nvSpPr>
          <p:cNvPr id="200232897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94ACC11-2BCB-41D5-40EB-2650EBAF42E3}" type="slidenum">
              <a:rPr/>
              <a:t/>
            </a:fld>
            <a:endParaRPr/>
          </a:p>
        </p:txBody>
      </p:sp>
      <p:sp>
        <p:nvSpPr>
          <p:cNvPr id="42735862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B7C3F6-F7FD-BEF4-843B-E10D66B56339}" type="datetime1">
              <a:rPr lang="fr-FR"/>
              <a:t/>
            </a:fld>
            <a:endParaRPr/>
          </a:p>
        </p:txBody>
      </p:sp>
      <p:sp>
        <p:nvSpPr>
          <p:cNvPr id="154605523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705563" name="Pla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>
              <a:defRPr/>
            </a:pPr>
            <a:r>
              <a:rPr/>
              <a:t>Plan</a:t>
            </a:r>
            <a:endParaRPr/>
          </a:p>
        </p:txBody>
      </p:sp>
      <p:sp>
        <p:nvSpPr>
          <p:cNvPr id="100878820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/>
            </a:pPr>
            <a:fld id="{CF0BA60A-E7A8-1404-9BA8-DFE455EC02AE}" type="slidenum">
              <a:rPr/>
              <a:t/>
            </a:fld>
            <a:endParaRPr/>
          </a:p>
        </p:txBody>
      </p:sp>
      <p:sp>
        <p:nvSpPr>
          <p:cNvPr id="49695008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52A0DE6-86EA-5537-2FFE-E30870C7A3F9}" type="datetime1">
              <a:rPr lang="fr-FR"/>
              <a:t/>
            </a:fld>
            <a:endParaRPr/>
          </a:p>
        </p:txBody>
      </p:sp>
      <p:sp>
        <p:nvSpPr>
          <p:cNvPr id="28651848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126897152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>
                <a:solidFill>
                  <a:srgbClr val="FF2600"/>
                </a:solidFill>
              </a:defRPr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Introduction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Plan de contrôle &amp; Plan de données</a:t>
            </a:r>
            <a:endParaRPr sz="2800" b="0" u="none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OpenFlow et P4</a:t>
            </a:r>
            <a:endParaRPr sz="2800" b="0" u="none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 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NFV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1" i="0" u="sng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Network slicing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Défis restants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803297" name="Virtualisation des serveur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Virtualisation des serveurs</a:t>
            </a:r>
            <a:endParaRPr/>
          </a:p>
        </p:txBody>
      </p:sp>
      <p:sp>
        <p:nvSpPr>
          <p:cNvPr id="729141208" name="Très courant dans les datacenters…"/>
          <p:cNvSpPr txBox="1">
            <a:spLocks noGrp="1"/>
          </p:cNvSpPr>
          <p:nvPr>
            <p:ph type="body" sz="half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Très courant dans les datacenters</a:t>
            </a:r>
            <a:endParaRPr/>
          </a:p>
          <a:p>
            <a:pPr>
              <a:defRPr/>
            </a:pPr>
            <a:r>
              <a:rPr/>
              <a:t>Plusieurs VMs partagent les ressources d’une PM</a:t>
            </a:r>
            <a:endParaRPr/>
          </a:p>
          <a:p>
            <a:pPr lvl="1">
              <a:defRPr/>
            </a:pPr>
            <a:r>
              <a:rPr/>
              <a:t>Ressources propres ou partagées</a:t>
            </a:r>
            <a:endParaRPr/>
          </a:p>
          <a:p>
            <a:pPr>
              <a:defRPr/>
            </a:pPr>
            <a:r>
              <a:rPr/>
              <a:t>L’hyperviseur gère la création/destruction des VMs</a:t>
            </a:r>
            <a:endParaRPr/>
          </a:p>
          <a:p>
            <a:pPr>
              <a:defRPr/>
            </a:pPr>
            <a:r>
              <a:rPr/>
              <a:t>Avantage : mutualisation des ressources </a:t>
            </a:r>
            <a:endParaRPr/>
          </a:p>
        </p:txBody>
      </p:sp>
      <p:sp>
        <p:nvSpPr>
          <p:cNvPr id="18764626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7788E37-667C-EBBF-10E4-0F87F9A4A4E6}" type="slidenum">
              <a:rPr/>
              <a:t/>
            </a:fld>
            <a:endParaRPr/>
          </a:p>
        </p:txBody>
      </p:sp>
      <p:grpSp>
        <p:nvGrpSpPr>
          <p:cNvPr id="1674560480" name="Group"/>
          <p:cNvGrpSpPr/>
          <p:nvPr/>
        </p:nvGrpSpPr>
        <p:grpSpPr bwMode="auto">
          <a:xfrm>
            <a:off x="4250322" y="4575310"/>
            <a:ext cx="3691355" cy="1563494"/>
            <a:chOff x="0" y="232408"/>
            <a:chExt cx="3691352" cy="1563491"/>
          </a:xfrm>
        </p:grpSpPr>
        <p:sp>
          <p:nvSpPr>
            <p:cNvPr id="2095037455" name="Shape"/>
            <p:cNvSpPr/>
            <p:nvPr/>
          </p:nvSpPr>
          <p:spPr bwMode="auto">
            <a:xfrm>
              <a:off x="0" y="959961"/>
              <a:ext cx="3691353" cy="8262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6411" y="21600"/>
                  </a:lnTo>
                  <a:lnTo>
                    <a:pt x="21600" y="8445"/>
                  </a:lnTo>
                  <a:lnTo>
                    <a:pt x="21600" y="0"/>
                  </a:lnTo>
                  <a:lnTo>
                    <a:pt x="5166" y="0"/>
                  </a:lnTo>
                  <a:lnTo>
                    <a:pt x="29" y="11873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3">
                <a:satOff val="18648"/>
                <a:lumOff val="5971"/>
              </a:schemeClr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914130975" name="Line"/>
            <p:cNvSpPr/>
            <p:nvPr/>
          </p:nvSpPr>
          <p:spPr bwMode="auto">
            <a:xfrm>
              <a:off x="14326" y="1413801"/>
              <a:ext cx="2789162" cy="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09771257" name="Line"/>
            <p:cNvSpPr/>
            <p:nvPr/>
          </p:nvSpPr>
          <p:spPr bwMode="auto">
            <a:xfrm flipV="1">
              <a:off x="2793443" y="958864"/>
              <a:ext cx="882435" cy="45984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04493344" name="Line"/>
            <p:cNvSpPr/>
            <p:nvPr/>
          </p:nvSpPr>
          <p:spPr bwMode="auto">
            <a:xfrm flipV="1">
              <a:off x="2803602" y="1422846"/>
              <a:ext cx="1211" cy="373057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07785104" name="Shape"/>
            <p:cNvSpPr/>
            <p:nvPr/>
          </p:nvSpPr>
          <p:spPr bwMode="auto">
            <a:xfrm>
              <a:off x="0" y="436353"/>
              <a:ext cx="3691353" cy="8262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21600"/>
                  </a:moveTo>
                  <a:lnTo>
                    <a:pt x="16411" y="21600"/>
                  </a:lnTo>
                  <a:lnTo>
                    <a:pt x="21600" y="8445"/>
                  </a:lnTo>
                  <a:lnTo>
                    <a:pt x="21600" y="0"/>
                  </a:lnTo>
                  <a:lnTo>
                    <a:pt x="5166" y="0"/>
                  </a:lnTo>
                  <a:lnTo>
                    <a:pt x="29" y="11873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4">
                <a:hueOff val="384618"/>
                <a:satOff val="3869"/>
                <a:lumOff val="5802"/>
              </a:schemeClr>
            </a:solidFill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27528346" name="Line"/>
            <p:cNvSpPr/>
            <p:nvPr/>
          </p:nvSpPr>
          <p:spPr bwMode="auto">
            <a:xfrm>
              <a:off x="14326" y="890192"/>
              <a:ext cx="2789162" cy="0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8265547" name="Line"/>
            <p:cNvSpPr/>
            <p:nvPr/>
          </p:nvSpPr>
          <p:spPr bwMode="auto">
            <a:xfrm flipV="1">
              <a:off x="2793443" y="435256"/>
              <a:ext cx="882435" cy="45984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66149898" name="Line"/>
            <p:cNvSpPr/>
            <p:nvPr/>
          </p:nvSpPr>
          <p:spPr bwMode="auto">
            <a:xfrm flipV="1">
              <a:off x="2803602" y="899238"/>
              <a:ext cx="1211" cy="373057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25197966" name="Hypervisor"/>
            <p:cNvSpPr txBox="1"/>
            <p:nvPr/>
          </p:nvSpPr>
          <p:spPr bwMode="auto">
            <a:xfrm>
              <a:off x="650161" y="918166"/>
              <a:ext cx="1457994" cy="331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799" tIns="50799" rIns="50799" bIns="50799" numCol="1" anchor="ctr">
              <a:spAutoFit/>
            </a:bodyPr>
            <a:lstStyle>
              <a:lvl1pPr>
                <a:defRPr sz="1900"/>
              </a:lvl1pPr>
            </a:lstStyle>
            <a:p>
              <a:pPr>
                <a:defRPr/>
              </a:pPr>
              <a:r>
                <a:rPr/>
                <a:t>Hypervisor</a:t>
              </a:r>
              <a:endParaRPr/>
            </a:p>
          </p:txBody>
        </p:sp>
        <p:sp>
          <p:nvSpPr>
            <p:cNvPr id="1895703671" name="Hardware"/>
            <p:cNvSpPr txBox="1"/>
            <p:nvPr/>
          </p:nvSpPr>
          <p:spPr bwMode="auto">
            <a:xfrm>
              <a:off x="724600" y="1446561"/>
              <a:ext cx="1309115" cy="33147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799" tIns="50799" rIns="50799" bIns="50799" numCol="1" anchor="ctr">
              <a:spAutoFit/>
            </a:bodyPr>
            <a:lstStyle>
              <a:lvl1pPr>
                <a:defRPr sz="1900"/>
              </a:lvl1pPr>
            </a:lstStyle>
            <a:p>
              <a:pPr>
                <a:defRPr/>
              </a:pPr>
              <a:r>
                <a:rPr/>
                <a:t>Hardware</a:t>
              </a:r>
              <a:endParaRPr/>
            </a:p>
          </p:txBody>
        </p:sp>
        <p:grpSp>
          <p:nvGrpSpPr>
            <p:cNvPr id="841561888" name="Group"/>
            <p:cNvGrpSpPr/>
            <p:nvPr/>
          </p:nvGrpSpPr>
          <p:grpSpPr bwMode="auto">
            <a:xfrm>
              <a:off x="6238" y="232408"/>
              <a:ext cx="1047575" cy="490587"/>
              <a:chOff x="0" y="0"/>
              <a:chExt cx="1047574" cy="490585"/>
            </a:xfrm>
          </p:grpSpPr>
          <p:sp>
            <p:nvSpPr>
              <p:cNvPr id="1766521269" name="Shape"/>
              <p:cNvSpPr/>
              <p:nvPr/>
            </p:nvSpPr>
            <p:spPr bwMode="auto">
              <a:xfrm>
                <a:off x="911" y="0"/>
                <a:ext cx="1046664" cy="4905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16595" y="21600"/>
                    </a:lnTo>
                    <a:lnTo>
                      <a:pt x="21600" y="15299"/>
                    </a:lnTo>
                    <a:lnTo>
                      <a:pt x="21467" y="114"/>
                    </a:lnTo>
                    <a:lnTo>
                      <a:pt x="4877" y="0"/>
                    </a:lnTo>
                    <a:lnTo>
                      <a:pt x="29" y="521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5">
                  <a:hueOff val="-444211"/>
                  <a:satOff val="-14915"/>
                  <a:lumOff val="22857"/>
                </a:schemeClr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33312608" name="Line"/>
              <p:cNvSpPr/>
              <p:nvPr/>
            </p:nvSpPr>
            <p:spPr bwMode="auto">
              <a:xfrm>
                <a:off x="0" y="129588"/>
                <a:ext cx="784902" cy="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81003206" name="Line"/>
              <p:cNvSpPr/>
              <p:nvPr/>
            </p:nvSpPr>
            <p:spPr bwMode="auto">
              <a:xfrm flipV="1">
                <a:off x="797915" y="115773"/>
                <a:ext cx="1210" cy="373057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960545937" name="VM1"/>
              <p:cNvSpPr txBox="1"/>
              <p:nvPr/>
            </p:nvSpPr>
            <p:spPr bwMode="auto">
              <a:xfrm>
                <a:off x="50994" y="143247"/>
                <a:ext cx="682913" cy="331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799" tIns="50799" rIns="50799" bIns="50799" numCol="1" anchor="ctr">
                <a:spAutoFit/>
              </a:bodyPr>
              <a:lstStyle>
                <a:lvl1pPr>
                  <a:defRPr sz="1900"/>
                </a:lvl1pPr>
              </a:lstStyle>
              <a:p>
                <a:pPr>
                  <a:defRPr/>
                </a:pPr>
                <a:r>
                  <a:rPr/>
                  <a:t>VM1</a:t>
                </a:r>
                <a:endParaRPr/>
              </a:p>
            </p:txBody>
          </p:sp>
          <p:sp>
            <p:nvSpPr>
              <p:cNvPr id="1534394286" name="Line"/>
              <p:cNvSpPr/>
              <p:nvPr/>
            </p:nvSpPr>
            <p:spPr bwMode="auto">
              <a:xfrm flipV="1">
                <a:off x="793218" y="1767"/>
                <a:ext cx="248677" cy="124426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grpSp>
          <p:nvGrpSpPr>
            <p:cNvPr id="535627966" name="Group"/>
            <p:cNvGrpSpPr/>
            <p:nvPr/>
          </p:nvGrpSpPr>
          <p:grpSpPr bwMode="auto">
            <a:xfrm>
              <a:off x="996837" y="232408"/>
              <a:ext cx="1047575" cy="490587"/>
              <a:chOff x="0" y="0"/>
              <a:chExt cx="1047574" cy="490585"/>
            </a:xfrm>
          </p:grpSpPr>
          <p:sp>
            <p:nvSpPr>
              <p:cNvPr id="274634865" name="Shape"/>
              <p:cNvSpPr/>
              <p:nvPr/>
            </p:nvSpPr>
            <p:spPr bwMode="auto">
              <a:xfrm>
                <a:off x="911" y="0"/>
                <a:ext cx="1046664" cy="49058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21600"/>
                    </a:moveTo>
                    <a:lnTo>
                      <a:pt x="16595" y="21600"/>
                    </a:lnTo>
                    <a:lnTo>
                      <a:pt x="21600" y="15299"/>
                    </a:lnTo>
                    <a:lnTo>
                      <a:pt x="21467" y="114"/>
                    </a:lnTo>
                    <a:lnTo>
                      <a:pt x="4877" y="0"/>
                    </a:lnTo>
                    <a:lnTo>
                      <a:pt x="29" y="5217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chemeClr val="accent5">
                  <a:hueOff val="-444211"/>
                  <a:satOff val="-14915"/>
                  <a:lumOff val="22857"/>
                </a:schemeClr>
              </a:solidFill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89153666" name="Line"/>
              <p:cNvSpPr/>
              <p:nvPr/>
            </p:nvSpPr>
            <p:spPr bwMode="auto">
              <a:xfrm>
                <a:off x="0" y="129588"/>
                <a:ext cx="784902" cy="0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51172012" name="Line"/>
              <p:cNvSpPr/>
              <p:nvPr/>
            </p:nvSpPr>
            <p:spPr bwMode="auto">
              <a:xfrm flipV="1">
                <a:off x="797915" y="115773"/>
                <a:ext cx="1210" cy="373057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499925893" name="VM2"/>
              <p:cNvSpPr txBox="1"/>
              <p:nvPr/>
            </p:nvSpPr>
            <p:spPr bwMode="auto">
              <a:xfrm>
                <a:off x="50994" y="143247"/>
                <a:ext cx="682913" cy="33147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</p:spPr>
            <p:txBody>
              <a:bodyPr wrap="none" lIns="50799" tIns="50799" rIns="50799" bIns="50799" numCol="1" anchor="ctr">
                <a:spAutoFit/>
              </a:bodyPr>
              <a:lstStyle>
                <a:lvl1pPr>
                  <a:defRPr sz="1900"/>
                </a:lvl1pPr>
              </a:lstStyle>
              <a:p>
                <a:pPr>
                  <a:defRPr/>
                </a:pPr>
                <a:r>
                  <a:rPr/>
                  <a:t>VM2</a:t>
                </a:r>
                <a:endParaRPr/>
              </a:p>
            </p:txBody>
          </p:sp>
          <p:sp>
            <p:nvSpPr>
              <p:cNvPr id="1557440668" name="Line"/>
              <p:cNvSpPr/>
              <p:nvPr/>
            </p:nvSpPr>
            <p:spPr bwMode="auto">
              <a:xfrm flipV="1">
                <a:off x="793218" y="1767"/>
                <a:ext cx="248677" cy="124426"/>
              </a:xfrm>
              <a:prstGeom prst="line">
                <a:avLst/>
              </a:prstGeom>
              <a:noFill/>
              <a:ln w="381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0" tIns="0" rIns="0" bIns="0" numCol="1" anchor="t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</p:grpSp>
      <p:sp>
        <p:nvSpPr>
          <p:cNvPr id="1921925110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086F80A-B7FF-696E-B609-141100AFFFA4}" type="datetime1">
              <a:rPr lang="fr-FR"/>
              <a:t/>
            </a:fld>
            <a:endParaRPr/>
          </a:p>
        </p:txBody>
      </p:sp>
      <p:sp>
        <p:nvSpPr>
          <p:cNvPr id="388754743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91756" name="Virtualisation des réseaux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Virtualisation des réseaux</a:t>
            </a:r>
            <a:endParaRPr/>
          </a:p>
        </p:txBody>
      </p:sp>
      <p:sp>
        <p:nvSpPr>
          <p:cNvPr id="1441712645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318759" y="6526530"/>
            <a:ext cx="320040" cy="2514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7BADE27-9A42-F2E6-5222-F7E38C74C229}" type="slidenum">
              <a:rPr/>
              <a:t/>
            </a:fld>
            <a:endParaRPr/>
          </a:p>
        </p:txBody>
      </p:sp>
      <p:sp>
        <p:nvSpPr>
          <p:cNvPr id="1026528987" name="3 réseaux virtuels isolés…"/>
          <p:cNvSpPr txBox="1"/>
          <p:nvPr/>
        </p:nvSpPr>
        <p:spPr bwMode="auto">
          <a:xfrm>
            <a:off x="9194419" y="1791571"/>
            <a:ext cx="2758126" cy="203454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>
              <a:defRPr sz="2900"/>
            </a:pPr>
            <a:r>
              <a:rPr/>
              <a:t>3 réseaux virtuels isolés</a:t>
            </a:r>
            <a:endParaRPr/>
          </a:p>
          <a:p>
            <a:pPr>
              <a:defRPr sz="2900"/>
            </a:pPr>
            <a:r>
              <a:rPr/>
              <a:t>sur une même</a:t>
            </a:r>
            <a:endParaRPr/>
          </a:p>
          <a:p>
            <a:pPr>
              <a:defRPr sz="2900"/>
            </a:pPr>
            <a:r>
              <a:rPr/>
              <a:t>infrastructure</a:t>
            </a:r>
            <a:endParaRPr/>
          </a:p>
        </p:txBody>
      </p:sp>
      <p:grpSp>
        <p:nvGrpSpPr>
          <p:cNvPr id="1976792190" name="Group"/>
          <p:cNvGrpSpPr/>
          <p:nvPr/>
        </p:nvGrpSpPr>
        <p:grpSpPr bwMode="auto">
          <a:xfrm>
            <a:off x="2610091" y="1331569"/>
            <a:ext cx="6971817" cy="3851746"/>
            <a:chOff x="0" y="0"/>
            <a:chExt cx="6971815" cy="3851746"/>
          </a:xfrm>
        </p:grpSpPr>
        <p:sp>
          <p:nvSpPr>
            <p:cNvPr id="901248381" name="Circle"/>
            <p:cNvSpPr/>
            <p:nvPr/>
          </p:nvSpPr>
          <p:spPr bwMode="auto">
            <a:xfrm>
              <a:off x="658983" y="20882"/>
              <a:ext cx="317147" cy="237861"/>
            </a:xfrm>
            <a:prstGeom prst="ellipse">
              <a:avLst/>
            </a:prstGeom>
            <a:solidFill>
              <a:schemeClr val="accent2">
                <a:hueOff val="-2473792"/>
                <a:satOff val="-50209"/>
                <a:lumOff val="23543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40269173" name="Circle"/>
            <p:cNvSpPr/>
            <p:nvPr/>
          </p:nvSpPr>
          <p:spPr bwMode="auto">
            <a:xfrm>
              <a:off x="658983" y="598653"/>
              <a:ext cx="317147" cy="237861"/>
            </a:xfrm>
            <a:prstGeom prst="ellipse">
              <a:avLst/>
            </a:prstGeom>
            <a:solidFill>
              <a:schemeClr val="accent2">
                <a:hueOff val="-2473792"/>
                <a:satOff val="-50209"/>
                <a:lumOff val="23543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52615292" name="Circle"/>
            <p:cNvSpPr/>
            <p:nvPr/>
          </p:nvSpPr>
          <p:spPr bwMode="auto">
            <a:xfrm>
              <a:off x="0" y="299326"/>
              <a:ext cx="317147" cy="237861"/>
            </a:xfrm>
            <a:prstGeom prst="ellipse">
              <a:avLst/>
            </a:prstGeom>
            <a:solidFill>
              <a:schemeClr val="accent2">
                <a:hueOff val="-2473792"/>
                <a:satOff val="-50209"/>
                <a:lumOff val="23543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616748389" name="Circle"/>
            <p:cNvSpPr/>
            <p:nvPr/>
          </p:nvSpPr>
          <p:spPr bwMode="auto">
            <a:xfrm>
              <a:off x="1317967" y="299326"/>
              <a:ext cx="317149" cy="237861"/>
            </a:xfrm>
            <a:prstGeom prst="ellipse">
              <a:avLst/>
            </a:prstGeom>
            <a:solidFill>
              <a:schemeClr val="accent2">
                <a:hueOff val="-2473792"/>
                <a:satOff val="-50209"/>
                <a:lumOff val="23543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cxnSp>
          <p:nvCxnSpPr>
            <p:cNvPr id="150854436" name="Connection Line"/>
            <p:cNvCxnSpPr>
              <a:stCxn id="901248381" idx="0"/>
              <a:endCxn id="616748389" idx="0"/>
            </p:cNvCxnSpPr>
            <p:nvPr/>
          </p:nvCxnSpPr>
          <p:spPr bwMode="auto">
            <a:xfrm>
              <a:off x="817557" y="139813"/>
              <a:ext cx="658984" cy="278444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1062196677" name="Connection Line"/>
            <p:cNvCxnSpPr>
              <a:stCxn id="252615292" idx="0"/>
              <a:endCxn id="2140269173" idx="0"/>
            </p:cNvCxnSpPr>
            <p:nvPr/>
          </p:nvCxnSpPr>
          <p:spPr bwMode="auto">
            <a:xfrm>
              <a:off x="158572" y="418255"/>
              <a:ext cx="658985" cy="299328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365992226" name="Connection Line"/>
            <p:cNvCxnSpPr>
              <a:stCxn id="901248381" idx="0"/>
              <a:endCxn id="252615292" idx="0"/>
            </p:cNvCxnSpPr>
            <p:nvPr/>
          </p:nvCxnSpPr>
          <p:spPr bwMode="auto">
            <a:xfrm flipH="1">
              <a:off x="158572" y="139813"/>
              <a:ext cx="658985" cy="278444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1183043088" name="Connection Line"/>
            <p:cNvCxnSpPr>
              <a:stCxn id="616748389" idx="0"/>
              <a:endCxn id="2140269173" idx="0"/>
            </p:cNvCxnSpPr>
            <p:nvPr/>
          </p:nvCxnSpPr>
          <p:spPr bwMode="auto">
            <a:xfrm flipH="1">
              <a:off x="817557" y="418255"/>
              <a:ext cx="658984" cy="299328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sp>
          <p:nvSpPr>
            <p:cNvPr id="785857065" name="Circle"/>
            <p:cNvSpPr/>
            <p:nvPr/>
          </p:nvSpPr>
          <p:spPr bwMode="auto">
            <a:xfrm>
              <a:off x="2797317" y="10440"/>
              <a:ext cx="317147" cy="237861"/>
            </a:xfrm>
            <a:prstGeom prst="ellipse">
              <a:avLst/>
            </a:prstGeom>
            <a:solidFill>
              <a:schemeClr val="accent1">
                <a:satOff val="-3355"/>
                <a:lumOff val="26614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87735483" name="Circle"/>
            <p:cNvSpPr/>
            <p:nvPr/>
          </p:nvSpPr>
          <p:spPr bwMode="auto">
            <a:xfrm>
              <a:off x="2797317" y="588211"/>
              <a:ext cx="317147" cy="237861"/>
            </a:xfrm>
            <a:prstGeom prst="ellipse">
              <a:avLst/>
            </a:prstGeom>
            <a:solidFill>
              <a:schemeClr val="accent1">
                <a:satOff val="-3355"/>
                <a:lumOff val="26614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34828997" name="Circle"/>
            <p:cNvSpPr/>
            <p:nvPr/>
          </p:nvSpPr>
          <p:spPr bwMode="auto">
            <a:xfrm>
              <a:off x="2138332" y="288885"/>
              <a:ext cx="317147" cy="237861"/>
            </a:xfrm>
            <a:prstGeom prst="ellipse">
              <a:avLst/>
            </a:prstGeom>
            <a:solidFill>
              <a:schemeClr val="accent1">
                <a:satOff val="-3355"/>
                <a:lumOff val="26614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20360068" name="Circle"/>
            <p:cNvSpPr/>
            <p:nvPr/>
          </p:nvSpPr>
          <p:spPr bwMode="auto">
            <a:xfrm>
              <a:off x="3456302" y="288885"/>
              <a:ext cx="317147" cy="237861"/>
            </a:xfrm>
            <a:prstGeom prst="ellipse">
              <a:avLst/>
            </a:prstGeom>
            <a:solidFill>
              <a:schemeClr val="accent1">
                <a:satOff val="-3355"/>
                <a:lumOff val="26614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cxnSp>
          <p:nvCxnSpPr>
            <p:cNvPr id="789140687" name="Connection Line"/>
            <p:cNvCxnSpPr>
              <a:stCxn id="785857065" idx="0"/>
              <a:endCxn id="2120360068" idx="0"/>
            </p:cNvCxnSpPr>
            <p:nvPr/>
          </p:nvCxnSpPr>
          <p:spPr bwMode="auto">
            <a:xfrm>
              <a:off x="2955891" y="129371"/>
              <a:ext cx="658985" cy="278444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1410194537" name="Connection Line"/>
            <p:cNvCxnSpPr>
              <a:stCxn id="785857065" idx="0"/>
              <a:endCxn id="1834828997" idx="0"/>
            </p:cNvCxnSpPr>
            <p:nvPr/>
          </p:nvCxnSpPr>
          <p:spPr bwMode="auto">
            <a:xfrm flipH="1">
              <a:off x="2296906" y="129371"/>
              <a:ext cx="658985" cy="278444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884295211" name="Connection Line"/>
            <p:cNvCxnSpPr>
              <a:stCxn id="2120360068" idx="0"/>
              <a:endCxn id="1187735483" idx="0"/>
            </p:cNvCxnSpPr>
            <p:nvPr/>
          </p:nvCxnSpPr>
          <p:spPr bwMode="auto">
            <a:xfrm flipH="1">
              <a:off x="2955891" y="407815"/>
              <a:ext cx="658985" cy="299328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sp>
          <p:nvSpPr>
            <p:cNvPr id="639156895" name="Circle"/>
            <p:cNvSpPr/>
            <p:nvPr/>
          </p:nvSpPr>
          <p:spPr bwMode="auto">
            <a:xfrm>
              <a:off x="4935651" y="0"/>
              <a:ext cx="317149" cy="237861"/>
            </a:xfrm>
            <a:prstGeom prst="ellipse">
              <a:avLst/>
            </a:prstGeom>
            <a:solidFill>
              <a:schemeClr val="accent6">
                <a:satOff val="24555"/>
                <a:lumOff val="22232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60317313" name="Circle"/>
            <p:cNvSpPr/>
            <p:nvPr/>
          </p:nvSpPr>
          <p:spPr bwMode="auto">
            <a:xfrm>
              <a:off x="4276666" y="278443"/>
              <a:ext cx="317147" cy="237861"/>
            </a:xfrm>
            <a:prstGeom prst="ellipse">
              <a:avLst/>
            </a:prstGeom>
            <a:solidFill>
              <a:schemeClr val="accent6">
                <a:satOff val="24555"/>
                <a:lumOff val="22232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22477044" name="Circle"/>
            <p:cNvSpPr/>
            <p:nvPr/>
          </p:nvSpPr>
          <p:spPr bwMode="auto">
            <a:xfrm>
              <a:off x="5594635" y="278443"/>
              <a:ext cx="317147" cy="237861"/>
            </a:xfrm>
            <a:prstGeom prst="ellipse">
              <a:avLst/>
            </a:prstGeom>
            <a:solidFill>
              <a:schemeClr val="accent6">
                <a:satOff val="24555"/>
                <a:lumOff val="22232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cxnSp>
          <p:nvCxnSpPr>
            <p:cNvPr id="15781397" name="Connection Line"/>
            <p:cNvCxnSpPr>
              <a:stCxn id="639156895" idx="0"/>
              <a:endCxn id="422477044" idx="0"/>
            </p:cNvCxnSpPr>
            <p:nvPr/>
          </p:nvCxnSpPr>
          <p:spPr bwMode="auto">
            <a:xfrm>
              <a:off x="5094225" y="118929"/>
              <a:ext cx="658985" cy="278444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48843760" name="Connection Line"/>
            <p:cNvCxnSpPr>
              <a:stCxn id="639156895" idx="0"/>
              <a:endCxn id="1660317313" idx="0"/>
            </p:cNvCxnSpPr>
            <p:nvPr/>
          </p:nvCxnSpPr>
          <p:spPr bwMode="auto">
            <a:xfrm flipH="1">
              <a:off x="4435241" y="118929"/>
              <a:ext cx="658984" cy="278444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sp>
          <p:nvSpPr>
            <p:cNvPr id="488026664" name="Réseau 1"/>
            <p:cNvSpPr/>
            <p:nvPr/>
          </p:nvSpPr>
          <p:spPr bwMode="auto">
            <a:xfrm>
              <a:off x="637725" y="2641633"/>
              <a:ext cx="2012040" cy="557636"/>
            </a:xfrm>
            <a:prstGeom prst="roundRect">
              <a:avLst>
                <a:gd name="adj" fmla="val 37544"/>
              </a:avLst>
            </a:prstGeom>
            <a:solidFill>
              <a:schemeClr val="accent2">
                <a:hueOff val="-2473792"/>
                <a:satOff val="-50209"/>
                <a:lumOff val="23543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lnSpc>
                  <a:spcPct val="5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>
                <a:defRPr/>
              </a:pPr>
              <a:r>
                <a:rPr/>
                <a:t>Réseau 1</a:t>
              </a:r>
              <a:endParaRPr/>
            </a:p>
          </p:txBody>
        </p:sp>
        <p:sp>
          <p:nvSpPr>
            <p:cNvPr id="1625418932" name="Réseau 2"/>
            <p:cNvSpPr/>
            <p:nvPr/>
          </p:nvSpPr>
          <p:spPr bwMode="auto">
            <a:xfrm>
              <a:off x="2744618" y="2641633"/>
              <a:ext cx="2012040" cy="557636"/>
            </a:xfrm>
            <a:prstGeom prst="roundRect">
              <a:avLst>
                <a:gd name="adj" fmla="val 37544"/>
              </a:avLst>
            </a:prstGeom>
            <a:solidFill>
              <a:schemeClr val="accent1">
                <a:satOff val="-3355"/>
                <a:lumOff val="26614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lnSpc>
                  <a:spcPct val="5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>
                <a:defRPr/>
              </a:pPr>
              <a:r>
                <a:rPr/>
                <a:t>Réseau 2</a:t>
              </a:r>
              <a:endParaRPr/>
            </a:p>
          </p:txBody>
        </p:sp>
        <p:sp>
          <p:nvSpPr>
            <p:cNvPr id="484518095" name="Réseau 3"/>
            <p:cNvSpPr/>
            <p:nvPr/>
          </p:nvSpPr>
          <p:spPr bwMode="auto">
            <a:xfrm>
              <a:off x="4852629" y="2641633"/>
              <a:ext cx="2012040" cy="557636"/>
            </a:xfrm>
            <a:prstGeom prst="roundRect">
              <a:avLst>
                <a:gd name="adj" fmla="val 37544"/>
              </a:avLst>
            </a:prstGeom>
            <a:solidFill>
              <a:schemeClr val="accent6">
                <a:satOff val="24555"/>
                <a:lumOff val="22232"/>
              </a:schemeClr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>
              <a:lvl1pPr>
                <a:lnSpc>
                  <a:spcPct val="50000"/>
                </a:lnSpc>
                <a:defRPr sz="2700">
                  <a:solidFill>
                    <a:srgbClr val="FFFFFF"/>
                  </a:solidFill>
                </a:defRPr>
              </a:lvl1pPr>
            </a:lstStyle>
            <a:p>
              <a:pPr>
                <a:defRPr/>
              </a:pPr>
              <a:r>
                <a:rPr/>
                <a:t>Réseau 3</a:t>
              </a:r>
              <a:endParaRPr/>
            </a:p>
          </p:txBody>
        </p:sp>
        <p:sp>
          <p:nvSpPr>
            <p:cNvPr id="1707149340" name="Partage d’une même infrastructure"/>
            <p:cNvSpPr/>
            <p:nvPr/>
          </p:nvSpPr>
          <p:spPr bwMode="auto">
            <a:xfrm>
              <a:off x="530579" y="3260819"/>
              <a:ext cx="6441236" cy="590926"/>
            </a:xfrm>
            <a:prstGeom prst="roundRect">
              <a:avLst>
                <a:gd name="adj" fmla="val 17529"/>
              </a:avLst>
            </a:prstGeom>
            <a:solidFill>
              <a:schemeClr val="accent5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>
              <a:lvl1pPr>
                <a:defRPr sz="2700">
                  <a:solidFill>
                    <a:srgbClr val="FFFFFF"/>
                  </a:solidFill>
                </a:defRPr>
              </a:lvl1pPr>
            </a:lstStyle>
            <a:p>
              <a:pPr>
                <a:defRPr/>
              </a:pPr>
              <a:r>
                <a:rPr/>
                <a:t>Partage d’une même infrastructure</a:t>
              </a:r>
              <a:endParaRPr/>
            </a:p>
          </p:txBody>
        </p:sp>
        <p:sp>
          <p:nvSpPr>
            <p:cNvPr id="63398398" name="Circle"/>
            <p:cNvSpPr/>
            <p:nvPr/>
          </p:nvSpPr>
          <p:spPr bwMode="auto">
            <a:xfrm>
              <a:off x="2797317" y="1391419"/>
              <a:ext cx="317147" cy="237861"/>
            </a:xfrm>
            <a:prstGeom prst="ellipse">
              <a:avLst/>
            </a:prstGeom>
            <a:solidFill>
              <a:srgbClr val="B9361E"/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033498163" name="Circle"/>
            <p:cNvSpPr/>
            <p:nvPr/>
          </p:nvSpPr>
          <p:spPr bwMode="auto">
            <a:xfrm>
              <a:off x="2797317" y="1969191"/>
              <a:ext cx="317147" cy="237861"/>
            </a:xfrm>
            <a:prstGeom prst="ellipse">
              <a:avLst/>
            </a:prstGeom>
            <a:solidFill>
              <a:srgbClr val="B9361E"/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21716414" name="Circle"/>
            <p:cNvSpPr/>
            <p:nvPr/>
          </p:nvSpPr>
          <p:spPr bwMode="auto">
            <a:xfrm>
              <a:off x="2138332" y="1669863"/>
              <a:ext cx="317147" cy="237861"/>
            </a:xfrm>
            <a:prstGeom prst="ellipse">
              <a:avLst/>
            </a:prstGeom>
            <a:solidFill>
              <a:srgbClr val="B9361E"/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9806637" name="Circle"/>
            <p:cNvSpPr/>
            <p:nvPr/>
          </p:nvSpPr>
          <p:spPr bwMode="auto">
            <a:xfrm>
              <a:off x="3456302" y="1669863"/>
              <a:ext cx="317147" cy="237861"/>
            </a:xfrm>
            <a:prstGeom prst="ellipse">
              <a:avLst/>
            </a:prstGeom>
            <a:solidFill>
              <a:srgbClr val="B9361E"/>
            </a:solidFill>
            <a:ln w="12700" cap="flat">
              <a:noFill/>
              <a:miter lim="400000"/>
            </a:ln>
            <a:effectLst/>
          </p:spPr>
          <p:txBody>
            <a:bodyPr wrap="square" lIns="38099" tIns="38099" rIns="38099" bIns="38099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cxnSp>
          <p:nvCxnSpPr>
            <p:cNvPr id="928500904" name="Connection Line"/>
            <p:cNvCxnSpPr>
              <a:stCxn id="63398398" idx="0"/>
              <a:endCxn id="89806637" idx="0"/>
            </p:cNvCxnSpPr>
            <p:nvPr/>
          </p:nvCxnSpPr>
          <p:spPr bwMode="auto">
            <a:xfrm>
              <a:off x="2955891" y="1510349"/>
              <a:ext cx="658984" cy="278444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1803692357" name="Connection Line"/>
            <p:cNvCxnSpPr>
              <a:stCxn id="1821716414" idx="0"/>
              <a:endCxn id="2033498163" idx="0"/>
            </p:cNvCxnSpPr>
            <p:nvPr/>
          </p:nvCxnSpPr>
          <p:spPr bwMode="auto">
            <a:xfrm>
              <a:off x="2296906" y="1788793"/>
              <a:ext cx="658985" cy="299328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773730214" name="Connection Line"/>
            <p:cNvCxnSpPr>
              <a:stCxn id="63398398" idx="0"/>
              <a:endCxn id="1821716414" idx="0"/>
            </p:cNvCxnSpPr>
            <p:nvPr/>
          </p:nvCxnSpPr>
          <p:spPr bwMode="auto">
            <a:xfrm flipH="1">
              <a:off x="2296906" y="1510349"/>
              <a:ext cx="658985" cy="278444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cxnSp>
          <p:nvCxnSpPr>
            <p:cNvPr id="493163890" name="Connection Line"/>
            <p:cNvCxnSpPr>
              <a:stCxn id="89806637" idx="0"/>
              <a:endCxn id="2033498163" idx="0"/>
            </p:cNvCxnSpPr>
            <p:nvPr/>
          </p:nvCxnSpPr>
          <p:spPr bwMode="auto">
            <a:xfrm flipH="1">
              <a:off x="2955891" y="1788793"/>
              <a:ext cx="658984" cy="299328"/>
            </a:xfrm>
            <a:prstGeom prst="straightConnector1">
              <a:avLst/>
            </a:prstGeom>
            <a:ln w="38100" cap="flat">
              <a:solidFill>
                <a:srgbClr val="000000"/>
              </a:solidFill>
              <a:prstDash val="solid"/>
              <a:miter lim="400000"/>
            </a:ln>
            <a:effectLst/>
          </p:spPr>
        </p:cxnSp>
        <p:sp>
          <p:nvSpPr>
            <p:cNvPr id="1479030235" name="Line"/>
            <p:cNvSpPr/>
            <p:nvPr/>
          </p:nvSpPr>
          <p:spPr bwMode="auto">
            <a:xfrm flipV="1">
              <a:off x="3600159" y="828477"/>
              <a:ext cx="1126456" cy="421762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457893701" name="Line"/>
            <p:cNvSpPr/>
            <p:nvPr/>
          </p:nvSpPr>
          <p:spPr bwMode="auto">
            <a:xfrm flipH="1" flipV="1">
              <a:off x="1409853" y="828477"/>
              <a:ext cx="946837" cy="427974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795224705" name="Line"/>
            <p:cNvSpPr/>
            <p:nvPr/>
          </p:nvSpPr>
          <p:spPr bwMode="auto">
            <a:xfrm flipH="1" flipV="1">
              <a:off x="2955891" y="892200"/>
              <a:ext cx="6814" cy="363969"/>
            </a:xfrm>
            <a:prstGeom prst="line">
              <a:avLst/>
            </a:prstGeom>
            <a:noFill/>
            <a:ln w="381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1421872004" name="Network slicing = Faire cohabiter “indépendamment” plusieurs réseaux sur une même infrastructure physique"/>
          <p:cNvSpPr txBox="1"/>
          <p:nvPr/>
        </p:nvSpPr>
        <p:spPr bwMode="auto">
          <a:xfrm>
            <a:off x="1188720" y="5367312"/>
            <a:ext cx="9814558" cy="1257300"/>
          </a:xfrm>
          <a:prstGeom prst="rect">
            <a:avLst/>
          </a:prstGeom>
          <a:ln w="12700">
            <a:miter lim="400000"/>
          </a:ln>
        </p:spPr>
        <p:txBody>
          <a:bodyPr lIns="50799" tIns="50799" rIns="50799" bIns="50799" anchor="ctr">
            <a:spAutoFit/>
          </a:bodyPr>
          <a:lstStyle/>
          <a:p>
            <a:pPr algn="just">
              <a:defRPr sz="2900"/>
            </a:pPr>
            <a:r>
              <a:rPr>
                <a:solidFill>
                  <a:schemeClr val="accent5"/>
                </a:solidFill>
              </a:rPr>
              <a:t>Network slicing</a:t>
            </a:r>
            <a:r>
              <a:rPr/>
              <a:t> = Faire cohabiter “indépendamment” plusieurs réseaux sur une même infrastructure physique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579888" name="Network slicing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Network slicing</a:t>
            </a:r>
            <a:endParaRPr/>
          </a:p>
        </p:txBody>
      </p:sp>
      <p:sp>
        <p:nvSpPr>
          <p:cNvPr id="620115315" name="3 techniques principales utilisées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663574" indent="-422274" defTabSz="434340">
              <a:spcBef>
                <a:spcPts val="1699"/>
              </a:spcBef>
              <a:defRPr sz="2650"/>
            </a:pPr>
            <a:r>
              <a:rPr/>
              <a:t>3 techniques principales utilisées</a:t>
            </a:r>
            <a:endParaRPr/>
          </a:p>
          <a:p>
            <a:pPr marL="989328" lvl="1" indent="-422274" defTabSz="434340">
              <a:spcBef>
                <a:spcPts val="1699"/>
              </a:spcBef>
              <a:defRPr sz="2650"/>
            </a:pPr>
            <a:r>
              <a:rPr>
                <a:solidFill>
                  <a:schemeClr val="accent5"/>
                </a:solidFill>
              </a:rPr>
              <a:t>Description</a:t>
            </a:r>
            <a:r>
              <a:rPr/>
              <a:t> d’un slice en un ensemble de</a:t>
            </a:r>
            <a:r>
              <a:rPr>
                <a:solidFill>
                  <a:schemeClr val="accent5"/>
                </a:solidFill>
              </a:rPr>
              <a:t> fonctions réseaux</a:t>
            </a:r>
            <a:r>
              <a:rPr/>
              <a:t> </a:t>
            </a:r>
            <a:endParaRPr/>
          </a:p>
          <a:p>
            <a:pPr marL="1315083" lvl="2" indent="-422274" defTabSz="434340">
              <a:spcBef>
                <a:spcPts val="1699"/>
              </a:spcBef>
              <a:defRPr sz="2650"/>
            </a:pPr>
            <a:r>
              <a:rPr/>
              <a:t>Briques fonctionnelles élémentaires</a:t>
            </a:r>
            <a:endParaRPr/>
          </a:p>
          <a:p>
            <a:pPr marL="989328" lvl="1" indent="-422274" defTabSz="434340">
              <a:spcBef>
                <a:spcPts val="1699"/>
              </a:spcBef>
              <a:defRPr sz="2650"/>
            </a:pPr>
            <a:r>
              <a:rPr>
                <a:solidFill>
                  <a:schemeClr val="accent5"/>
                </a:solidFill>
              </a:rPr>
              <a:t>Virtualisation</a:t>
            </a:r>
            <a:r>
              <a:rPr/>
              <a:t> </a:t>
            </a:r>
            <a:endParaRPr/>
          </a:p>
          <a:p>
            <a:pPr marL="1315083" lvl="2" indent="-422274" defTabSz="434340">
              <a:spcBef>
                <a:spcPts val="1699"/>
              </a:spcBef>
              <a:defRPr sz="2650"/>
            </a:pPr>
            <a:r>
              <a:rPr/>
              <a:t>NFV pour s’abstraire des resources physiques</a:t>
            </a:r>
            <a:endParaRPr/>
          </a:p>
          <a:p>
            <a:pPr marL="989328" lvl="1" indent="-422274" defTabSz="434340">
              <a:spcBef>
                <a:spcPts val="1699"/>
              </a:spcBef>
              <a:defRPr sz="2650"/>
            </a:pPr>
            <a:r>
              <a:rPr>
                <a:solidFill>
                  <a:schemeClr val="accent5"/>
                </a:solidFill>
              </a:rPr>
              <a:t>Orchestration</a:t>
            </a:r>
            <a:r>
              <a:rPr/>
              <a:t> </a:t>
            </a:r>
            <a:endParaRPr/>
          </a:p>
          <a:p>
            <a:pPr marL="1315083" lvl="2" indent="-422274" defTabSz="434340">
              <a:spcBef>
                <a:spcPts val="1699"/>
              </a:spcBef>
              <a:defRPr sz="2650"/>
            </a:pPr>
            <a:r>
              <a:rPr/>
              <a:t>Contrôleur SDN pour allouer les resources</a:t>
            </a:r>
            <a:endParaRPr/>
          </a:p>
          <a:p>
            <a:pPr marL="663574" indent="-422274" defTabSz="434340">
              <a:spcBef>
                <a:spcPts val="1699"/>
              </a:spcBef>
              <a:defRPr sz="2650"/>
            </a:pPr>
            <a:r>
              <a:rPr/>
              <a:t>Au coeur de la 5G pour permettre le déploiement de réseaux différents (QoS) sur une même infrastructure</a:t>
            </a:r>
            <a:endParaRPr/>
          </a:p>
        </p:txBody>
      </p:sp>
      <p:sp>
        <p:nvSpPr>
          <p:cNvPr id="1104497681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5109D87-9D38-5740-9598-FC8CC435230C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19556" name="Déploiement actuel du NFV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Application du slicing / VNF / SDN</a:t>
            </a:r>
            <a:endParaRPr/>
          </a:p>
        </p:txBody>
      </p:sp>
      <p:sp>
        <p:nvSpPr>
          <p:cNvPr id="654076180" name="Réseaux 5G…"/>
          <p:cNvSpPr txBox="1">
            <a:spLocks noGrp="1"/>
          </p:cNvSpPr>
          <p:nvPr>
            <p:ph type="body" idx="1"/>
          </p:nvPr>
        </p:nvSpPr>
        <p:spPr bwMode="auto">
          <a:xfrm>
            <a:off x="1188720" y="1679460"/>
            <a:ext cx="9814557" cy="455063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70000"/>
              </a:lnSpc>
              <a:spcBef>
                <a:spcPts val="1498"/>
              </a:spcBef>
              <a:defRPr sz="2400"/>
            </a:pPr>
            <a:r>
              <a:rPr/>
              <a:t>Backbone Meta, Google, Intel ... (pour connecter les datacenters)</a:t>
            </a:r>
            <a:endParaRPr/>
          </a:p>
          <a:p>
            <a:pPr>
              <a:lnSpc>
                <a:spcPct val="70000"/>
              </a:lnSpc>
              <a:spcBef>
                <a:spcPts val="1497"/>
              </a:spcBef>
              <a:defRPr sz="2400"/>
            </a:pPr>
            <a:endParaRPr/>
          </a:p>
          <a:p>
            <a:pPr>
              <a:lnSpc>
                <a:spcPct val="70000"/>
              </a:lnSpc>
              <a:spcBef>
                <a:spcPts val="1497"/>
              </a:spcBef>
              <a:defRPr sz="2400"/>
            </a:pPr>
            <a:r>
              <a:rPr/>
              <a:t>Evolution des réseaux d’accès cell.</a:t>
            </a:r>
            <a:endParaRPr/>
          </a:p>
          <a:p>
            <a:pPr>
              <a:lnSpc>
                <a:spcPct val="70000"/>
              </a:lnSpc>
              <a:spcBef>
                <a:spcPts val="1497"/>
              </a:spcBef>
              <a:defRPr sz="2400"/>
            </a:pPr>
            <a:endParaRPr/>
          </a:p>
          <a:p>
            <a:pPr>
              <a:lnSpc>
                <a:spcPct val="70000"/>
              </a:lnSpc>
              <a:spcBef>
                <a:spcPts val="1497"/>
              </a:spcBef>
              <a:defRPr sz="2400"/>
            </a:pPr>
            <a:endParaRPr/>
          </a:p>
        </p:txBody>
      </p:sp>
      <p:sp>
        <p:nvSpPr>
          <p:cNvPr id="157659349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5152BD9A-8429-2F9E-4186-FEA7415883AC}" type="slidenum">
              <a:rPr/>
              <a:t/>
            </a:fld>
            <a:endParaRPr/>
          </a:p>
        </p:txBody>
      </p:sp>
      <p:pic>
        <p:nvPicPr>
          <p:cNvPr id="20380482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97704" y="2986087"/>
            <a:ext cx="5457824" cy="35528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9440132" name="Déploiement actuel du NFV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Application du slicing / VNF / SDN</a:t>
            </a:r>
            <a:endParaRPr/>
          </a:p>
        </p:txBody>
      </p:sp>
      <p:sp>
        <p:nvSpPr>
          <p:cNvPr id="1936963104" name="Réseaux 5G…"/>
          <p:cNvSpPr txBox="1">
            <a:spLocks noGrp="1"/>
          </p:cNvSpPr>
          <p:nvPr>
            <p:ph type="body" idx="1"/>
          </p:nvPr>
        </p:nvSpPr>
        <p:spPr bwMode="auto">
          <a:xfrm>
            <a:off x="1188720" y="1679459"/>
            <a:ext cx="9814556" cy="4550634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70000"/>
              </a:lnSpc>
              <a:spcBef>
                <a:spcPts val="1497"/>
              </a:spcBef>
              <a:defRPr sz="2400"/>
            </a:pPr>
            <a:r>
              <a:rPr/>
              <a:t>Backbone Meta, Google, Intel ... (pour connecter les datacenters)</a:t>
            </a:r>
            <a:endParaRPr/>
          </a:p>
          <a:p>
            <a:pPr>
              <a:lnSpc>
                <a:spcPct val="70000"/>
              </a:lnSpc>
              <a:spcBef>
                <a:spcPts val="1497"/>
              </a:spcBef>
              <a:defRPr sz="2400"/>
            </a:pPr>
            <a:endParaRPr/>
          </a:p>
          <a:p>
            <a:pPr>
              <a:lnSpc>
                <a:spcPct val="70000"/>
              </a:lnSpc>
              <a:spcBef>
                <a:spcPts val="1497"/>
              </a:spcBef>
              <a:defRPr sz="2400"/>
            </a:pPr>
            <a:r>
              <a:rPr/>
              <a:t>Evolution des réseaux de coeurs cell.</a:t>
            </a:r>
            <a:endParaRPr/>
          </a:p>
          <a:p>
            <a:pPr>
              <a:lnSpc>
                <a:spcPct val="70000"/>
              </a:lnSpc>
              <a:spcBef>
                <a:spcPts val="1497"/>
              </a:spcBef>
              <a:defRPr sz="2400"/>
            </a:pPr>
            <a:endParaRPr/>
          </a:p>
          <a:p>
            <a:pPr>
              <a:lnSpc>
                <a:spcPct val="70000"/>
              </a:lnSpc>
              <a:spcBef>
                <a:spcPts val="1497"/>
              </a:spcBef>
              <a:defRPr sz="2400"/>
            </a:pPr>
            <a:endParaRPr/>
          </a:p>
        </p:txBody>
      </p:sp>
      <p:sp>
        <p:nvSpPr>
          <p:cNvPr id="5697918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F7A304DA-03C0-9416-9AB7-AE2E4A67DE73}" type="slidenum">
              <a:rPr/>
              <a:t/>
            </a:fld>
            <a:endParaRPr/>
          </a:p>
        </p:txBody>
      </p:sp>
      <p:pic>
        <p:nvPicPr>
          <p:cNvPr id="4748406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87998" y="2998032"/>
            <a:ext cx="5772150" cy="3667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796011" name="Plan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>
            <a:lvl1pPr>
              <a:defRPr sz="5000"/>
            </a:lvl1pPr>
          </a:lstStyle>
          <a:p>
            <a:pPr>
              <a:defRPr/>
            </a:pPr>
            <a:r>
              <a:rPr/>
              <a:t>Plan</a:t>
            </a:r>
            <a:endParaRPr/>
          </a:p>
        </p:txBody>
      </p:sp>
      <p:sp>
        <p:nvSpPr>
          <p:cNvPr id="366905052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defRPr/>
            </a:pPr>
            <a:fld id="{2E6DCCB5-2F91-CC0F-B735-1B07629C55DE}" type="slidenum">
              <a:rPr/>
              <a:t/>
            </a:fld>
            <a:endParaRPr/>
          </a:p>
        </p:txBody>
      </p:sp>
      <p:sp>
        <p:nvSpPr>
          <p:cNvPr id="79963723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478E224-0DA7-640B-A31C-E6A6F6FE6701}" type="datetime1">
              <a:rPr lang="fr-FR"/>
              <a:t/>
            </a:fld>
            <a:endParaRPr/>
          </a:p>
        </p:txBody>
      </p:sp>
      <p:sp>
        <p:nvSpPr>
          <p:cNvPr id="210064612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  <p:sp>
        <p:nvSpPr>
          <p:cNvPr id="950549416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>
                <a:solidFill>
                  <a:srgbClr val="FF2600"/>
                </a:solidFill>
              </a:defRPr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Introduction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Plan de contrôle &amp; Plan de données</a:t>
            </a:r>
            <a:endParaRPr sz="2800" b="0" u="none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OpenFlow et P4</a:t>
            </a:r>
            <a:endParaRPr sz="2800" b="0" u="none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Applications SDN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NFV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Network slicing</a:t>
            </a:r>
            <a:endParaRPr sz="2800"/>
          </a:p>
          <a:p>
            <a:pPr marL="730249" lvl="1" indent="-476249" algn="l">
              <a:lnSpc>
                <a:spcPct val="70000"/>
              </a:lnSpc>
              <a:spcBef>
                <a:spcPts val="1799"/>
              </a:spcBef>
              <a:buSzPct val="100000"/>
              <a:buAutoNum type="arabicPeriod"/>
              <a:defRPr/>
            </a:pPr>
            <a:r>
              <a:rPr lang="fr-FR" sz="2800" b="1" i="0" u="sng" strike="noStrike" cap="none" spc="0">
                <a:solidFill>
                  <a:schemeClr val="accent5">
                    <a:lumMod val="75000"/>
                  </a:schemeClr>
                </a:solidFill>
                <a:latin typeface="Arial"/>
                <a:ea typeface="Arial"/>
                <a:cs typeface="Arial"/>
              </a:rPr>
              <a:t>Défis restants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908834" name="Quels défis ?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Quels défis ?</a:t>
            </a:r>
            <a:endParaRPr/>
          </a:p>
        </p:txBody>
      </p:sp>
      <p:sp>
        <p:nvSpPr>
          <p:cNvPr id="622182255" name="Délai induit par le contrôleur en mode réactif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677544" indent="-431164" defTabSz="443484">
              <a:spcBef>
                <a:spcPts val="1699"/>
              </a:spcBef>
              <a:defRPr sz="2700"/>
            </a:pPr>
            <a:r>
              <a:rPr/>
              <a:t>Délai induit par le contrôleur en mode réactif</a:t>
            </a:r>
            <a:endParaRPr/>
          </a:p>
          <a:p>
            <a:pPr marL="1010157" lvl="1" indent="-431164" defTabSz="443484">
              <a:spcBef>
                <a:spcPts val="1699"/>
              </a:spcBef>
              <a:defRPr sz="2700"/>
            </a:pPr>
            <a:r>
              <a:rPr/>
              <a:t>Surcoût du temps de réponse</a:t>
            </a:r>
            <a:endParaRPr/>
          </a:p>
          <a:p>
            <a:pPr marL="677544" indent="-431164" defTabSz="443484">
              <a:spcBef>
                <a:spcPts val="1699"/>
              </a:spcBef>
              <a:defRPr sz="2700"/>
            </a:pPr>
            <a:r>
              <a:rPr/>
              <a:t>Disponibilité du contrôleur</a:t>
            </a:r>
            <a:endParaRPr/>
          </a:p>
          <a:p>
            <a:pPr marL="1010157" lvl="1" indent="-431164" defTabSz="443484">
              <a:spcBef>
                <a:spcPts val="1699"/>
              </a:spcBef>
              <a:defRPr sz="2700"/>
            </a:pPr>
            <a:r>
              <a:rPr/>
              <a:t>Performances si montée en charge</a:t>
            </a:r>
            <a:endParaRPr/>
          </a:p>
          <a:p>
            <a:pPr marL="677544" indent="-431164" defTabSz="443484">
              <a:spcBef>
                <a:spcPts val="1699"/>
              </a:spcBef>
              <a:defRPr sz="2700"/>
            </a:pPr>
            <a:r>
              <a:rPr/>
              <a:t>Fiabilité du contrôleur</a:t>
            </a:r>
            <a:endParaRPr/>
          </a:p>
          <a:p>
            <a:pPr marL="1010157" lvl="1" indent="-431164" defTabSz="443484">
              <a:spcBef>
                <a:spcPts val="1699"/>
              </a:spcBef>
              <a:defRPr sz="2700"/>
            </a:pPr>
            <a:r>
              <a:rPr/>
              <a:t>Tolérance aux pannes</a:t>
            </a:r>
            <a:endParaRPr/>
          </a:p>
          <a:p>
            <a:pPr marL="677544" indent="-431164" defTabSz="443484">
              <a:spcBef>
                <a:spcPts val="1699"/>
              </a:spcBef>
              <a:defRPr sz="2700"/>
            </a:pPr>
            <a:r>
              <a:rPr/>
              <a:t>Sécurisation du contrôleur</a:t>
            </a:r>
            <a:endParaRPr/>
          </a:p>
          <a:p>
            <a:pPr marL="1010157" lvl="1" indent="-431164" defTabSz="443484">
              <a:spcBef>
                <a:spcPts val="1699"/>
              </a:spcBef>
              <a:defRPr sz="2700"/>
            </a:pPr>
            <a:r>
              <a:rPr/>
              <a:t>Protection aux attaques</a:t>
            </a:r>
            <a:endParaRPr/>
          </a:p>
          <a:p>
            <a:pPr marL="677544" indent="-431164" defTabSz="443484">
              <a:spcBef>
                <a:spcPts val="1699"/>
              </a:spcBef>
              <a:defRPr sz="2700"/>
            </a:pPr>
            <a:r>
              <a:rPr/>
              <a:t>Test et vérification</a:t>
            </a:r>
            <a:endParaRPr/>
          </a:p>
        </p:txBody>
      </p:sp>
      <p:sp>
        <p:nvSpPr>
          <p:cNvPr id="1653340918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959509" y="6526530"/>
            <a:ext cx="257740" cy="2514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C59FC280-D69D-00FD-FB29-5208D721BA9C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458703" name="Rounded Rectangle"/>
          <p:cNvSpPr/>
          <p:nvPr/>
        </p:nvSpPr>
        <p:spPr bwMode="auto">
          <a:xfrm>
            <a:off x="2341707" y="5021003"/>
            <a:ext cx="7508584" cy="1746492"/>
          </a:xfrm>
          <a:prstGeom prst="roundRect">
            <a:avLst>
              <a:gd name="adj" fmla="val 14876"/>
            </a:avLst>
          </a:prstGeom>
          <a:solidFill>
            <a:srgbClr val="DCDEE0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759412259" name="Commutateurs hétérogène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Commutateurs hétérogènes</a:t>
            </a:r>
            <a:endParaRPr/>
          </a:p>
        </p:txBody>
      </p:sp>
      <p:sp>
        <p:nvSpPr>
          <p:cNvPr id="802047421" name="Ici ce n’est pas le hardware qui est en cause…"/>
          <p:cNvSpPr txBox="1">
            <a:spLocks noGrp="1"/>
          </p:cNvSpPr>
          <p:nvPr>
            <p:ph type="body" idx="1"/>
          </p:nvPr>
        </p:nvSpPr>
        <p:spPr bwMode="auto">
          <a:xfrm>
            <a:off x="1188720" y="1394460"/>
            <a:ext cx="9814558" cy="351473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Ici ce n’est pas le hardware qui est en cause</a:t>
            </a:r>
            <a:endParaRPr/>
          </a:p>
          <a:p>
            <a:pPr>
              <a:defRPr/>
            </a:pPr>
            <a:r>
              <a:rPr/>
              <a:t>Mais plutôt le contenu logique des commutateurs</a:t>
            </a:r>
            <a:endParaRPr/>
          </a:p>
          <a:p>
            <a:pPr lvl="1">
              <a:defRPr/>
            </a:pPr>
            <a:r>
              <a:rPr/>
              <a:t>le nombre de règles pour traiter les paquets</a:t>
            </a:r>
            <a:endParaRPr/>
          </a:p>
          <a:p>
            <a:pPr lvl="1">
              <a:defRPr/>
            </a:pPr>
            <a:r>
              <a:rPr/>
              <a:t>les correspondances et des actions fixées</a:t>
            </a:r>
            <a:endParaRPr/>
          </a:p>
          <a:p>
            <a:pPr>
              <a:defRPr/>
            </a:pPr>
            <a:r>
              <a:rPr/>
              <a:t>Le traitement des paquets est mis en “pipeline”</a:t>
            </a:r>
            <a:endParaRPr/>
          </a:p>
          <a:p>
            <a:pPr>
              <a:defRPr/>
            </a:pPr>
            <a:r>
              <a:rPr/>
              <a:t>Comment s’assurer de leur cohérence ?</a:t>
            </a:r>
            <a:endParaRPr/>
          </a:p>
        </p:txBody>
      </p:sp>
      <p:sp>
        <p:nvSpPr>
          <p:cNvPr id="472560516" name="Contrôle d’accès"/>
          <p:cNvSpPr/>
          <p:nvPr/>
        </p:nvSpPr>
        <p:spPr bwMode="auto">
          <a:xfrm>
            <a:off x="2717658" y="5392224"/>
            <a:ext cx="1958620" cy="1004049"/>
          </a:xfrm>
          <a:prstGeom prst="roundRect">
            <a:avLst>
              <a:gd name="adj" fmla="val 27639"/>
            </a:avLst>
          </a:prstGeom>
          <a:solidFill>
            <a:schemeClr val="accent1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lnSpc>
                <a:spcPct val="80000"/>
              </a:lnSpc>
              <a:defRPr sz="3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Contrôle d’accès</a:t>
            </a:r>
            <a:endParaRPr/>
          </a:p>
        </p:txBody>
      </p:sp>
      <p:sp>
        <p:nvSpPr>
          <p:cNvPr id="1071393923" name="recherche MAC"/>
          <p:cNvSpPr/>
          <p:nvPr/>
        </p:nvSpPr>
        <p:spPr bwMode="auto">
          <a:xfrm>
            <a:off x="5116688" y="5392224"/>
            <a:ext cx="1958621" cy="1004049"/>
          </a:xfrm>
          <a:prstGeom prst="roundRect">
            <a:avLst>
              <a:gd name="adj" fmla="val 27639"/>
            </a:avLst>
          </a:prstGeom>
          <a:solidFill>
            <a:schemeClr val="accent1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lnSpc>
                <a:spcPct val="80000"/>
              </a:lnSpc>
              <a:defRPr sz="3000" spc="-118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recherche MAC</a:t>
            </a:r>
            <a:endParaRPr/>
          </a:p>
        </p:txBody>
      </p:sp>
      <p:sp>
        <p:nvSpPr>
          <p:cNvPr id="301958818" name="recherche IP"/>
          <p:cNvSpPr/>
          <p:nvPr/>
        </p:nvSpPr>
        <p:spPr bwMode="auto">
          <a:xfrm>
            <a:off x="7515721" y="5392224"/>
            <a:ext cx="1958620" cy="1004049"/>
          </a:xfrm>
          <a:prstGeom prst="roundRect">
            <a:avLst>
              <a:gd name="adj" fmla="val 27639"/>
            </a:avLst>
          </a:prstGeom>
          <a:solidFill>
            <a:schemeClr val="accent1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>
            <a:lvl1pPr>
              <a:lnSpc>
                <a:spcPct val="80000"/>
              </a:lnSpc>
              <a:defRPr sz="3000" spc="-118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/>
              <a:t>recherche IP</a:t>
            </a:r>
            <a:endParaRPr/>
          </a:p>
        </p:txBody>
      </p:sp>
      <p:sp>
        <p:nvSpPr>
          <p:cNvPr id="1564644594" name="Line"/>
          <p:cNvSpPr/>
          <p:nvPr/>
        </p:nvSpPr>
        <p:spPr bwMode="auto">
          <a:xfrm flipH="1">
            <a:off x="9473850" y="5894249"/>
            <a:ext cx="937347" cy="0"/>
          </a:xfrm>
          <a:prstGeom prst="line">
            <a:avLst/>
          </a:prstGeom>
          <a:ln w="25400">
            <a:solidFill>
              <a:srgbClr val="85888D"/>
            </a:solidFill>
            <a:miter lim="400000"/>
            <a:headEnd type="triangle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819625905" name="Line"/>
          <p:cNvSpPr/>
          <p:nvPr/>
        </p:nvSpPr>
        <p:spPr bwMode="auto">
          <a:xfrm flipH="1">
            <a:off x="1780802" y="5894252"/>
            <a:ext cx="937347" cy="0"/>
          </a:xfrm>
          <a:prstGeom prst="line">
            <a:avLst/>
          </a:prstGeom>
          <a:ln w="25400">
            <a:solidFill>
              <a:srgbClr val="85888D"/>
            </a:solidFill>
            <a:miter lim="400000"/>
            <a:headEnd type="triangle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646899466" name="Line"/>
          <p:cNvSpPr/>
          <p:nvPr/>
        </p:nvSpPr>
        <p:spPr bwMode="auto">
          <a:xfrm flipH="1">
            <a:off x="4644451" y="5894252"/>
            <a:ext cx="465037" cy="0"/>
          </a:xfrm>
          <a:prstGeom prst="line">
            <a:avLst/>
          </a:prstGeom>
          <a:ln w="25400">
            <a:solidFill>
              <a:srgbClr val="85888D"/>
            </a:solidFill>
            <a:miter lim="400000"/>
            <a:headEnd type="triangle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sp>
        <p:nvSpPr>
          <p:cNvPr id="1301971720" name="Line"/>
          <p:cNvSpPr/>
          <p:nvPr/>
        </p:nvSpPr>
        <p:spPr bwMode="auto">
          <a:xfrm flipH="1">
            <a:off x="7062995" y="5894252"/>
            <a:ext cx="465037" cy="0"/>
          </a:xfrm>
          <a:prstGeom prst="line">
            <a:avLst/>
          </a:prstGeom>
          <a:ln w="25400">
            <a:solidFill>
              <a:srgbClr val="85888D"/>
            </a:solidFill>
            <a:miter lim="400000"/>
            <a:headEnd type="triangle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8273815" name="Délai induit par le contrôleur - surcoût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Délai induit par le contrôleur - surcoût</a:t>
            </a:r>
            <a:endParaRPr/>
          </a:p>
        </p:txBody>
      </p:sp>
      <p:sp>
        <p:nvSpPr>
          <p:cNvPr id="105057071" name="Le contrôleur est beaucoup plus lent qu’un commutateur…"/>
          <p:cNvSpPr txBox="1">
            <a:spLocks noGrp="1"/>
          </p:cNvSpPr>
          <p:nvPr>
            <p:ph type="body" sz="half" idx="1"/>
          </p:nvPr>
        </p:nvSpPr>
        <p:spPr bwMode="auto">
          <a:xfrm>
            <a:off x="1188720" y="1394460"/>
            <a:ext cx="9814558" cy="244433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677544" indent="-431164" defTabSz="443484">
              <a:spcBef>
                <a:spcPts val="1699"/>
              </a:spcBef>
              <a:defRPr sz="2700"/>
            </a:pPr>
            <a:r>
              <a:rPr/>
              <a:t>Le contrôleur est beaucoup plus lent qu’un commutateur</a:t>
            </a:r>
            <a:endParaRPr/>
          </a:p>
          <a:p>
            <a:pPr marL="677544" indent="-431164" defTabSz="443484">
              <a:spcBef>
                <a:spcPts val="1699"/>
              </a:spcBef>
              <a:defRPr sz="2700"/>
            </a:pPr>
            <a:r>
              <a:rPr/>
              <a:t>Le traitement des paquets induit des délais supplémentaires → surcoût</a:t>
            </a:r>
            <a:endParaRPr/>
          </a:p>
          <a:p>
            <a:pPr marL="677544" indent="-431164" defTabSz="443484">
              <a:spcBef>
                <a:spcPts val="1699"/>
              </a:spcBef>
              <a:defRPr sz="2700"/>
            </a:pPr>
            <a:r>
              <a:rPr/>
              <a:t>Il faut maintenir le plus possible de paquets dans le “fast path”</a:t>
            </a:r>
            <a:endParaRPr/>
          </a:p>
        </p:txBody>
      </p:sp>
      <p:sp>
        <p:nvSpPr>
          <p:cNvPr id="2076672326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959509" y="6526530"/>
            <a:ext cx="257740" cy="2514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57ABD55-F837-0090-0903-3009622EC88D}" type="slidenum">
              <a:rPr/>
              <a:t/>
            </a:fld>
            <a:endParaRPr/>
          </a:p>
        </p:txBody>
      </p:sp>
      <p:sp>
        <p:nvSpPr>
          <p:cNvPr id="1644548461" name="Line"/>
          <p:cNvSpPr/>
          <p:nvPr/>
        </p:nvSpPr>
        <p:spPr bwMode="auto">
          <a:xfrm flipH="1">
            <a:off x="348141" y="6247482"/>
            <a:ext cx="11241821" cy="1"/>
          </a:xfrm>
          <a:prstGeom prst="line">
            <a:avLst/>
          </a:prstGeom>
          <a:ln w="25400">
            <a:solidFill>
              <a:srgbClr val="85888D"/>
            </a:solidFill>
            <a:miter lim="400000"/>
          </a:ln>
        </p:spPr>
        <p:txBody>
          <a:bodyPr lIns="0" tIns="0" rIns="0" bIns="0"/>
          <a:lstStyle/>
          <a:p>
            <a:pPr algn="l">
              <a:defRPr sz="1200">
                <a:latin typeface="Helvetica"/>
                <a:ea typeface="Helvetica"/>
                <a:cs typeface="Helvetica"/>
              </a:defRPr>
            </a:pPr>
            <a:endParaRPr/>
          </a:p>
        </p:txBody>
      </p:sp>
      <p:pic>
        <p:nvPicPr>
          <p:cNvPr id="467248395" name="Image" descr="Image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129800" y="6061699"/>
            <a:ext cx="1054085" cy="371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199668" name="Image" descr="Image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568956" y="6061699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124648372" name="Connection Line"/>
          <p:cNvSpPr/>
          <p:nvPr/>
        </p:nvSpPr>
        <p:spPr bwMode="auto">
          <a:xfrm>
            <a:off x="6095998" y="4739736"/>
            <a:ext cx="1" cy="13219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3218783" name="Rounded Rectangle"/>
          <p:cNvSpPr/>
          <p:nvPr/>
        </p:nvSpPr>
        <p:spPr bwMode="auto">
          <a:xfrm>
            <a:off x="5358792" y="3950709"/>
            <a:ext cx="1474413" cy="783283"/>
          </a:xfrm>
          <a:prstGeom prst="roundRect">
            <a:avLst>
              <a:gd name="adj" fmla="val 17529"/>
            </a:avLst>
          </a:prstGeom>
          <a:solidFill>
            <a:schemeClr val="accent5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1195241736" name="Image" descr="Image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008112" y="6061699"/>
            <a:ext cx="1054085" cy="371564"/>
          </a:xfrm>
          <a:prstGeom prst="rect">
            <a:avLst/>
          </a:prstGeom>
          <a:ln w="12700">
            <a:miter lim="400000"/>
          </a:ln>
        </p:spPr>
      </p:pic>
      <p:sp>
        <p:nvSpPr>
          <p:cNvPr id="47979980" name="Connection Line"/>
          <p:cNvSpPr/>
          <p:nvPr/>
        </p:nvSpPr>
        <p:spPr bwMode="auto">
          <a:xfrm>
            <a:off x="6763186" y="4711941"/>
            <a:ext cx="2436593" cy="1349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lnTo>
                  <a:pt x="0" y="0"/>
                </a:ln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2914167" name="Connection Line"/>
          <p:cNvSpPr/>
          <p:nvPr/>
        </p:nvSpPr>
        <p:spPr bwMode="auto">
          <a:xfrm>
            <a:off x="2992219" y="4711925"/>
            <a:ext cx="2436622" cy="13497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chemeClr val="accent5"/>
            </a:solidFill>
            <a:miter lim="400000"/>
            <a:tailEnd type="triangle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0592068" name="Connection Line"/>
          <p:cNvSpPr/>
          <p:nvPr/>
        </p:nvSpPr>
        <p:spPr bwMode="auto">
          <a:xfrm>
            <a:off x="2391037" y="4300171"/>
            <a:ext cx="2913437" cy="17766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21600"/>
                </a:lnTo>
              </a:path>
            </a:pathLst>
          </a:custGeom>
          <a:ln w="25400">
            <a:solidFill>
              <a:schemeClr val="accent5"/>
            </a:solidFill>
            <a:miter lim="400000"/>
            <a:headEnd type="triangle"/>
          </a:ln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242064" name="Rounded Rectangle"/>
          <p:cNvSpPr/>
          <p:nvPr/>
        </p:nvSpPr>
        <p:spPr bwMode="auto">
          <a:xfrm>
            <a:off x="491207" y="5804280"/>
            <a:ext cx="304801" cy="360135"/>
          </a:xfrm>
          <a:prstGeom prst="roundRect">
            <a:avLst>
              <a:gd name="adj" fmla="val 10149"/>
            </a:avLst>
          </a:prstGeom>
          <a:solidFill>
            <a:srgbClr val="DCDEE0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45302190" name="Rounded Rectangle"/>
          <p:cNvSpPr/>
          <p:nvPr/>
        </p:nvSpPr>
        <p:spPr bwMode="auto">
          <a:xfrm>
            <a:off x="971013" y="5804280"/>
            <a:ext cx="304801" cy="360135"/>
          </a:xfrm>
          <a:prstGeom prst="roundRect">
            <a:avLst>
              <a:gd name="adj" fmla="val 10149"/>
            </a:avLst>
          </a:prstGeom>
          <a:solidFill>
            <a:srgbClr val="DCDEE0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3182104" name="Rounded Rectangle"/>
          <p:cNvSpPr/>
          <p:nvPr/>
        </p:nvSpPr>
        <p:spPr bwMode="auto">
          <a:xfrm>
            <a:off x="1450820" y="5804280"/>
            <a:ext cx="304801" cy="360135"/>
          </a:xfrm>
          <a:prstGeom prst="roundRect">
            <a:avLst>
              <a:gd name="adj" fmla="val 10149"/>
            </a:avLst>
          </a:prstGeom>
          <a:solidFill>
            <a:srgbClr val="DCDEE0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1484597" name="Rounded Rectangle"/>
          <p:cNvSpPr/>
          <p:nvPr/>
        </p:nvSpPr>
        <p:spPr bwMode="auto">
          <a:xfrm>
            <a:off x="3350206" y="4872350"/>
            <a:ext cx="304801" cy="360135"/>
          </a:xfrm>
          <a:prstGeom prst="roundRect">
            <a:avLst>
              <a:gd name="adj" fmla="val 10149"/>
            </a:avLst>
          </a:prstGeom>
          <a:solidFill>
            <a:srgbClr val="DCDEE0"/>
          </a:solidFill>
          <a:ln w="12700">
            <a:solidFill>
              <a:srgbClr val="000000"/>
            </a:solidFill>
            <a:miter lim="400000"/>
          </a:ln>
        </p:spPr>
        <p:txBody>
          <a:bodyPr lIns="38099" tIns="38099" rIns="38099" bIns="38099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69706747" name="paquets"/>
          <p:cNvSpPr txBox="1"/>
          <p:nvPr/>
        </p:nvSpPr>
        <p:spPr bwMode="auto">
          <a:xfrm>
            <a:off x="424299" y="6324832"/>
            <a:ext cx="1517638" cy="480060"/>
          </a:xfrm>
          <a:prstGeom prst="rect">
            <a:avLst/>
          </a:prstGeom>
          <a:ln w="12700">
            <a:miter lim="400000"/>
          </a:ln>
        </p:spPr>
        <p:txBody>
          <a:bodyPr wrap="none" lIns="50799" tIns="50799" rIns="50799" bIns="50799" anchor="ctr">
            <a:spAutoFit/>
          </a:bodyPr>
          <a:lstStyle>
            <a:lvl1pPr>
              <a:defRPr sz="2900"/>
            </a:lvl1pPr>
          </a:lstStyle>
          <a:p>
            <a:pPr>
              <a:defRPr/>
            </a:pPr>
            <a:r>
              <a:rPr/>
              <a:t>paquets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714711" name="SDN &amp; NFV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SDN &amp; NFV</a:t>
            </a:r>
            <a:endParaRPr/>
          </a:p>
        </p:txBody>
      </p:sp>
      <p:sp>
        <p:nvSpPr>
          <p:cNvPr id="1180173824" name="Ensemble, SDN et NFV permettent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defRPr/>
            </a:pPr>
            <a:r>
              <a:rPr/>
              <a:t>Ensemble, SDN et NFV permettent</a:t>
            </a:r>
            <a:endParaRPr/>
          </a:p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Un réseau programmable et agile</a:t>
            </a:r>
            <a:endParaRPr/>
          </a:p>
          <a:p>
            <a:pPr lvl="1">
              <a:buClr>
                <a:srgbClr val="000000"/>
              </a:buClr>
              <a:defRPr/>
            </a:pPr>
            <a:r>
              <a:rPr/>
              <a:t>Allocation dynamique des ressources</a:t>
            </a:r>
            <a:endParaRPr/>
          </a:p>
          <a:p>
            <a:pPr lvl="1">
              <a:defRPr/>
            </a:pPr>
            <a:r>
              <a:rPr/>
              <a:t>Meilleur contrôle (+ direct et + fin) sur le plan de données</a:t>
            </a:r>
            <a:endParaRPr/>
          </a:p>
          <a:p>
            <a:pPr lvl="1">
              <a:defRPr/>
            </a:pPr>
            <a:r>
              <a:rPr/>
              <a:t>Les opérateurs (datacenters, FAI, entreprises…) pourront programmer leurs réseaux</a:t>
            </a:r>
            <a:endParaRPr/>
          </a:p>
          <a:p>
            <a:pPr lvl="1">
              <a:defRPr/>
            </a:pPr>
            <a:r>
              <a:rPr/>
              <a:t>Infrastructure as Code (IaC)</a:t>
            </a:r>
            <a:endParaRPr/>
          </a:p>
        </p:txBody>
      </p:sp>
      <p:sp>
        <p:nvSpPr>
          <p:cNvPr id="426848545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73E413AC-3AC0-1CB8-9B42-F4CB4A793C7F}" type="slidenum">
              <a:rPr/>
              <a:t/>
            </a:fld>
            <a:endParaRPr/>
          </a:p>
        </p:txBody>
      </p:sp>
      <p:sp>
        <p:nvSpPr>
          <p:cNvPr id="204491513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81F4976-BCF9-5D97-910F-90D0B9212F3E}" type="datetime1">
              <a:rPr lang="fr-FR"/>
              <a:t/>
            </a:fld>
            <a:endParaRPr/>
          </a:p>
        </p:txBody>
      </p:sp>
      <p:sp>
        <p:nvSpPr>
          <p:cNvPr id="42205314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CM | LD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532022" name="Défis restant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Défis restants</a:t>
            </a:r>
            <a:endParaRPr/>
          </a:p>
        </p:txBody>
      </p:sp>
      <p:sp>
        <p:nvSpPr>
          <p:cNvPr id="294879378" name="Délai induit par le contrôleur SDN en mode réactif…"/>
          <p:cNvSpPr txBox="1">
            <a:spLocks noGrp="1"/>
          </p:cNvSpPr>
          <p:nvPr>
            <p:ph type="body" idx="1"/>
          </p:nvPr>
        </p:nvSpPr>
        <p:spPr bwMode="auto">
          <a:xfrm>
            <a:off x="1188720" y="1394460"/>
            <a:ext cx="9814558" cy="481222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523874" indent="-333374" defTabSz="342900">
              <a:spcBef>
                <a:spcPts val="1299"/>
              </a:spcBef>
              <a:defRPr sz="2100"/>
            </a:pPr>
            <a:r>
              <a:rPr/>
              <a:t>Délai induit par le contrôleur SDN en mode réactif</a:t>
            </a:r>
            <a:endParaRPr/>
          </a:p>
          <a:p>
            <a:pPr marL="781049" lvl="1" indent="-333374" defTabSz="342900">
              <a:spcBef>
                <a:spcPts val="1299"/>
              </a:spcBef>
              <a:defRPr sz="2100"/>
            </a:pPr>
            <a:r>
              <a:rPr/>
              <a:t>Surcoût du temps de réponse</a:t>
            </a:r>
            <a:endParaRPr/>
          </a:p>
          <a:p>
            <a:pPr marL="523874" indent="-333374" defTabSz="342900">
              <a:spcBef>
                <a:spcPts val="1299"/>
              </a:spcBef>
              <a:defRPr sz="2100"/>
            </a:pPr>
            <a:r>
              <a:rPr/>
              <a:t>Disponibilité du contrôleur SDN</a:t>
            </a:r>
            <a:endParaRPr/>
          </a:p>
          <a:p>
            <a:pPr marL="781049" lvl="1" indent="-333374" defTabSz="342900">
              <a:spcBef>
                <a:spcPts val="1299"/>
              </a:spcBef>
              <a:defRPr sz="2100"/>
            </a:pPr>
            <a:r>
              <a:rPr/>
              <a:t>Performances si montée en charge</a:t>
            </a:r>
            <a:endParaRPr/>
          </a:p>
          <a:p>
            <a:pPr marL="523874" indent="-333374" defTabSz="342900">
              <a:spcBef>
                <a:spcPts val="1299"/>
              </a:spcBef>
              <a:defRPr sz="2100"/>
            </a:pPr>
            <a:r>
              <a:rPr/>
              <a:t>Fiabilité du contrôleur SDN</a:t>
            </a:r>
            <a:endParaRPr/>
          </a:p>
          <a:p>
            <a:pPr marL="781049" lvl="1" indent="-333374" defTabSz="342900">
              <a:spcBef>
                <a:spcPts val="1299"/>
              </a:spcBef>
              <a:defRPr sz="2100"/>
            </a:pPr>
            <a:r>
              <a:rPr/>
              <a:t>Tolérance aux pannes (single point of failure)</a:t>
            </a:r>
            <a:endParaRPr/>
          </a:p>
          <a:p>
            <a:pPr marL="523874" indent="-333374" defTabSz="342900">
              <a:spcBef>
                <a:spcPts val="1299"/>
              </a:spcBef>
              <a:defRPr sz="2100"/>
            </a:pPr>
            <a:r>
              <a:rPr/>
              <a:t>Sécurisation du contrôleur SDN</a:t>
            </a:r>
            <a:endParaRPr/>
          </a:p>
          <a:p>
            <a:pPr marL="781049" lvl="1" indent="-333374" defTabSz="342900">
              <a:spcBef>
                <a:spcPts val="1299"/>
              </a:spcBef>
              <a:defRPr sz="2100"/>
            </a:pPr>
            <a:r>
              <a:rPr/>
              <a:t>Protection aux attaques</a:t>
            </a:r>
            <a:endParaRPr/>
          </a:p>
          <a:p>
            <a:pPr marL="523874" indent="-333374" defTabSz="342900">
              <a:spcBef>
                <a:spcPts val="1299"/>
              </a:spcBef>
              <a:defRPr sz="2100"/>
            </a:pPr>
            <a:r>
              <a:rPr/>
              <a:t>Performances des commutateurs NFV</a:t>
            </a:r>
            <a:endParaRPr/>
          </a:p>
          <a:p>
            <a:pPr marL="781049" lvl="1" indent="-333374" defTabSz="342900">
              <a:spcBef>
                <a:spcPts val="1299"/>
              </a:spcBef>
              <a:buClr>
                <a:srgbClr val="000000"/>
              </a:buClr>
              <a:defRPr sz="2100"/>
            </a:pPr>
            <a:r>
              <a:rPr/>
              <a:t>Librairies spécialisées</a:t>
            </a:r>
            <a:endParaRPr/>
          </a:p>
          <a:p>
            <a:pPr marL="523874" indent="-333374" defTabSz="342900">
              <a:spcBef>
                <a:spcPts val="1299"/>
              </a:spcBef>
              <a:buClr>
                <a:srgbClr val="000000"/>
              </a:buClr>
              <a:defRPr sz="2100"/>
            </a:pPr>
            <a:r>
              <a:rPr/>
              <a:t>Sécurisation du network slicing</a:t>
            </a:r>
            <a:endParaRPr/>
          </a:p>
          <a:p>
            <a:pPr marL="781049" lvl="1" indent="-333374" defTabSz="342900">
              <a:spcBef>
                <a:spcPts val="1299"/>
              </a:spcBef>
              <a:buClr>
                <a:srgbClr val="000000"/>
              </a:buClr>
              <a:defRPr sz="2100"/>
            </a:pPr>
            <a:r>
              <a:rPr/>
              <a:t>Réseaux virtuels : différents mais indépendants ?</a:t>
            </a:r>
            <a:endParaRPr/>
          </a:p>
        </p:txBody>
      </p:sp>
      <p:sp>
        <p:nvSpPr>
          <p:cNvPr id="1075444416" name="Slide Number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fld id="{AF1E0A95-77C3-8858-4CD8-908C97198747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2577574" name="Programmation des abstractions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/>
              <a:t>Programmation des abstractions</a:t>
            </a:r>
            <a:endParaRPr/>
          </a:p>
        </p:txBody>
      </p:sp>
      <p:sp>
        <p:nvSpPr>
          <p:cNvPr id="1156383278" name="Les APIs pour le contrôleur sont bas-niveau…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Les APIs pour le contrôleur sont bas-niveau</a:t>
            </a:r>
            <a:endParaRPr/>
          </a:p>
          <a:p>
            <a:pPr lvl="1">
              <a:defRPr/>
            </a:pPr>
            <a:r>
              <a:rPr/>
              <a:t>Petit “vernis” sur la couche hardware</a:t>
            </a:r>
            <a:endParaRPr/>
          </a:p>
          <a:p>
            <a:pPr>
              <a:buClr>
                <a:srgbClr val="000000"/>
              </a:buClr>
              <a:defRPr>
                <a:solidFill>
                  <a:schemeClr val="accent5"/>
                </a:solidFill>
              </a:defRPr>
            </a:pPr>
            <a:r>
              <a:rPr/>
              <a:t>Besoin de meilleurs langages</a:t>
            </a:r>
            <a:endParaRPr/>
          </a:p>
          <a:p>
            <a:pPr lvl="1">
              <a:defRPr/>
            </a:pPr>
            <a:r>
              <a:rPr/>
              <a:t>Composition de modules</a:t>
            </a:r>
            <a:endParaRPr/>
          </a:p>
          <a:p>
            <a:pPr lvl="1">
              <a:defRPr/>
            </a:pPr>
            <a:r>
              <a:rPr/>
              <a:t>Gestion de la concurrence</a:t>
            </a:r>
            <a:endParaRPr/>
          </a:p>
          <a:p>
            <a:pPr lvl="1">
              <a:defRPr/>
            </a:pPr>
            <a:r>
              <a:rPr/>
              <a:t>Interrogation sur l’état du réseau</a:t>
            </a:r>
            <a:endParaRPr/>
          </a:p>
          <a:p>
            <a:pPr lvl="1">
              <a:defRPr/>
            </a:pPr>
            <a:r>
              <a:rPr/>
              <a:t>Abstraction à l’échelle du réseau</a:t>
            </a:r>
            <a:endParaRPr/>
          </a:p>
        </p:txBody>
      </p:sp>
      <p:sp>
        <p:nvSpPr>
          <p:cNvPr id="1410647804" name="Slide Number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5959509" y="6526530"/>
            <a:ext cx="257740" cy="25146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4F80E98-1727-0F8E-F580-09F8D0CB4F05}" type="slidenum">
              <a:rPr/>
              <a:t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ONLYOFFICE/8.3.2.19</Application>
  <PresentationFormat>On-screen Show (4:3)</PresentationFormat>
  <Paragraphs>0</Paragraphs>
  <Slides>64</Slides>
  <Notes>64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created xsi:type="dcterms:W3CDTF">2012-12-03T06:56:55Z</dcterms:created>
  <dcterms:modified xsi:type="dcterms:W3CDTF">2026-09-25T10:11:37Z</dcterms:modified>
</cp:coreProperties>
</file>