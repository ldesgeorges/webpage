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58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57.xml" ContentType="application/vnd.openxmlformats-officedocument.presentationml.slide+xml"/>
  <Override PartName="/ppt/slides/slide154.xml" ContentType="application/vnd.openxmlformats-officedocument.presentationml.slide+xml"/>
  <Override PartName="/ppt/slides/slide151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146.xml" ContentType="application/vnd.openxmlformats-officedocument.presentationml.slide+xml"/>
  <Override PartName="/ppt/slides/slide145.xml" ContentType="application/vnd.openxmlformats-officedocument.presentationml.slide+xml"/>
  <Override PartName="/ppt/slides/slide143.xml" ContentType="application/vnd.openxmlformats-officedocument.presentationml.slide+xml"/>
  <Override PartName="/ppt/notesSlides/notesSlide5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93.xml" ContentType="application/vnd.openxmlformats-officedocument.presentationml.notesSlide+xml"/>
  <Override PartName="/ppt/slides/slide142.xml" ContentType="application/vnd.openxmlformats-officedocument.presentationml.slide+xml"/>
  <Override PartName="/ppt/slides/slide141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40.xml" ContentType="application/vnd.openxmlformats-officedocument.presentationml.slide+xml"/>
  <Override PartName="/ppt/slides/slide139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138.xml" ContentType="application/vnd.openxmlformats-officedocument.presentationml.slide+xml"/>
  <Override PartName="/ppt/slides/slide137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33.xml" ContentType="application/vnd.openxmlformats-officedocument.presentationml.slide+xml"/>
  <Override PartName="/ppt/slides/slide132.xml" ContentType="application/vnd.openxmlformats-officedocument.presentationml.slide+xml"/>
  <Override PartName="/ppt/slides/slide131.xml" ContentType="application/vnd.openxmlformats-officedocument.presentationml.slide+xml"/>
  <Override PartName="/ppt/slides/slide129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27.xml" ContentType="application/vnd.openxmlformats-officedocument.presentationml.slide+xml"/>
  <Override PartName="/ppt/slides/slide125.xml" ContentType="application/vnd.openxmlformats-officedocument.presentationml.slide+xml"/>
  <Override PartName="/ppt/slides/slide124.xml" ContentType="application/vnd.openxmlformats-officedocument.presentationml.slide+xml"/>
  <Override PartName="/ppt/slides/slide123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21.xml" ContentType="application/vnd.openxmlformats-officedocument.presentationml.slide+xml"/>
  <Override PartName="/ppt/slides/slide119.xml" ContentType="application/vnd.openxmlformats-officedocument.presentationml.slide+xml"/>
  <Override PartName="/ppt/slides/slide114.xml" ContentType="application/vnd.openxmlformats-officedocument.presentationml.slide+xml"/>
  <Override PartName="/ppt/notesSlides/notesSlide61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113.xml" ContentType="application/vnd.openxmlformats-officedocument.presentationml.slide+xml"/>
  <Override PartName="/ppt/slides/slide110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108.xml" ContentType="application/vnd.openxmlformats-officedocument.presentationml.slide+xml"/>
  <Override PartName="/ppt/slides/slide107.xml" ContentType="application/vnd.openxmlformats-officedocument.presentationml.slide+xml"/>
  <Override PartName="/ppt/slides/slide102.xml" ContentType="application/vnd.openxmlformats-officedocument.presentationml.slide+xml"/>
  <Override PartName="/ppt/slides/slide99.xml" ContentType="application/vnd.openxmlformats-officedocument.presentationml.slide+xml"/>
  <Override PartName="/ppt/notesSlides/notesSlide155.xml" ContentType="application/vnd.openxmlformats-officedocument.presentationml.notesSlide+xml"/>
  <Override PartName="/ppt/notesSlides/notesSlide123.xml" ContentType="application/vnd.openxmlformats-officedocument.presentationml.notesSlide+xml"/>
  <Override PartName="/ppt/slides/slide144.xml" ContentType="application/vnd.openxmlformats-officedocument.presentationml.slide+xml"/>
  <Override PartName="/ppt/slides/slide97.xml" ContentType="application/vnd.openxmlformats-officedocument.presentationml.slide+xml"/>
  <Override PartName="/ppt/slides/slide96.xml" ContentType="application/vnd.openxmlformats-officedocument.presentationml.slide+xml"/>
  <Override PartName="/ppt/slides/slide128.xml" ContentType="application/vnd.openxmlformats-officedocument.presentationml.slide+xml"/>
  <Override PartName="/ppt/slides/slide92.xml" ContentType="application/vnd.openxmlformats-officedocument.presentationml.slide+xml"/>
  <Override PartName="/ppt/slides/slide87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85.xml" ContentType="application/vnd.openxmlformats-officedocument.presentationml.slide+xml"/>
  <Override PartName="/ppt/slides/slide83.xml" ContentType="application/vnd.openxmlformats-officedocument.presentationml.slide+xml"/>
  <Override PartName="/ppt/slides/slide135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95.xml" ContentType="application/vnd.openxmlformats-officedocument.presentationml.slide+xml"/>
  <Override PartName="/ppt/slides/slide81.xml" ContentType="application/vnd.openxmlformats-officedocument.presentationml.slide+xml"/>
  <Override PartName="/ppt/slides/slide90.xml" ContentType="application/vnd.openxmlformats-officedocument.presentationml.slide+xml"/>
  <Override PartName="/ppt/slides/slide80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9.xml" ContentType="application/vnd.openxmlformats-officedocument.presentationml.slide+xml"/>
  <Override PartName="/ppt/slides/slide112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77.xml" ContentType="application/vnd.openxmlformats-officedocument.presentationml.slide+xml"/>
  <Override PartName="/ppt/slides/slide75.xml" ContentType="application/vnd.openxmlformats-officedocument.presentationml.slide+xml"/>
  <Override PartName="/ppt/slides/slide72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122.xml" ContentType="application/vnd.openxmlformats-officedocument.presentationml.slide+xml"/>
  <Override PartName="/ppt/slides/slide71.xml" ContentType="application/vnd.openxmlformats-officedocument.presentationml.slide+xml"/>
  <Override PartName="/ppt/slides/slide70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4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18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68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93.xml" ContentType="application/vnd.openxmlformats-officedocument.presentationml.slide+xml"/>
  <Override PartName="/ppt/slides/slide61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9.xml" ContentType="application/vnd.openxmlformats-officedocument.presentationml.slide+xml"/>
  <Override PartName="/ppt/slides/slide147.xml" ContentType="application/vnd.openxmlformats-officedocument.presentationml.slide+xml"/>
  <Override PartName="/ppt/slides/slide59.xml" ContentType="application/vnd.openxmlformats-officedocument.presentationml.slide+xml"/>
  <Override PartName="/ppt/slides/slide56.xml" ContentType="application/vnd.openxmlformats-officedocument.presentationml.slide+xml"/>
  <Override PartName="/ppt/slides/slide118.xml" ContentType="application/vnd.openxmlformats-officedocument.presentationml.slide+xml"/>
  <Override PartName="/ppt/slides/slide158.xml" ContentType="application/vnd.openxmlformats-officedocument.presentationml.slide+xml"/>
  <Override PartName="/ppt/slides/slide74.xml" ContentType="application/vnd.openxmlformats-officedocument.presentationml.slide+xml"/>
  <Override PartName="/ppt/slides/slide148.xml" ContentType="application/vnd.openxmlformats-officedocument.presentationml.slide+xml"/>
  <Override PartName="/ppt/slides/slide55.xml" ContentType="application/vnd.openxmlformats-officedocument.presentationml.slide+xml"/>
  <Override PartName="/ppt/slides/slide104.xml" ContentType="application/vnd.openxmlformats-officedocument.presentationml.slide+xml"/>
  <Override PartName="/ppt/slides/slide52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98.xml" ContentType="application/vnd.openxmlformats-officedocument.presentationml.slide+xml"/>
  <Override PartName="/ppt/slides/slide50.xml" ContentType="application/vnd.openxmlformats-officedocument.presentationml.slide+xml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101.xml" ContentType="application/vnd.openxmlformats-officedocument.presentationml.slide+xml"/>
  <Override PartName="/ppt/slides/slide45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82.xml" ContentType="application/vnd.openxmlformats-officedocument.presentationml.slide+xml"/>
  <Override PartName="/ppt/slides/slide43.xml" ContentType="application/vnd.openxmlformats-officedocument.presentationml.slide+xml"/>
  <Override PartName="/ppt/slides/slide37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51.xml" ContentType="application/vnd.openxmlformats-officedocument.presentationml.slide+xml"/>
  <Override PartName="/ppt/slides/slide130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111.xml" ContentType="application/vnd.openxmlformats-officedocument.presentationml.slide+xml"/>
  <Override PartName="/ppt/slides/slide36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62.xml" ContentType="application/vnd.openxmlformats-officedocument.presentationml.slide+xml"/>
  <Override PartName="/ppt/slides/slide120.xml" ContentType="application/vnd.openxmlformats-officedocument.presentationml.slide+xml"/>
  <Override PartName="/ppt/slides/slide32.xml" ContentType="application/vnd.openxmlformats-officedocument.presentationml.slide+xml"/>
  <Override PartName="/ppt/slides/slide155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84.xml" ContentType="application/vnd.openxmlformats-officedocument.presentationml.slide+xml"/>
  <Override PartName="/ppt/slides/slide22.xml" ContentType="application/vnd.openxmlformats-officedocument.presentationml.slide+xml"/>
  <Override PartName="/ppt/slides/slide116.xml" ContentType="application/vnd.openxmlformats-officedocument.presentationml.slide+xml"/>
  <Override PartName="/ppt/slides/slide19.xml" ContentType="application/vnd.openxmlformats-officedocument.presentationml.slide+xml"/>
  <Override PartName="/ppt/slides/slide10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103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42.xml" ContentType="application/vnd.openxmlformats-officedocument.presentationml.notesSlide+xml"/>
  <Override PartName="/ppt/notesSlides/notesSlide12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06.xml" ContentType="application/vnd.openxmlformats-officedocument.presentationml.slide+xml"/>
  <Override PartName="/ppt/slides/slide4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3.xml" ContentType="application/vnd.openxmlformats-officedocument.presentationml.slide+xml"/>
  <Override PartName="/ppt/slides/slide126.xml" ContentType="application/vnd.openxmlformats-officedocument.presentationml.slide+xml"/>
  <Override PartName="/ppt/slides/slide20.xml" ContentType="application/vnd.openxmlformats-officedocument.presentationml.slide+xml"/>
  <Override PartName="/ppt/notesSlides/notesSlide64.xml" ContentType="application/vnd.openxmlformats-officedocument.presentationml.notesSlide+xml"/>
  <Override PartName="/ppt/notesSlides/notesSlide146.xml" ContentType="application/vnd.openxmlformats-officedocument.presentationml.notes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21.xml" ContentType="application/vnd.openxmlformats-officedocument.presentationml.slide+xml"/>
  <Override PartName="/ppt/slides/slide57.xml" ContentType="application/vnd.openxmlformats-officedocument.presentationml.slide+xml"/>
  <Override PartName="/ppt/slides/slide7.xml" ContentType="application/vnd.openxmlformats-officedocument.presentationml.slide+xml"/>
  <Override PartName="/ppt/slides/slide94.xml" ContentType="application/vnd.openxmlformats-officedocument.presentationml.slide+xml"/>
  <Override PartName="/ppt/slides/slide44.xml" ContentType="application/vnd.openxmlformats-officedocument.presentationml.slide+xml"/>
  <Override PartName="/ppt/slides/slide10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100.xml" ContentType="application/vnd.openxmlformats-officedocument.presentationml.slide+xml"/>
  <Override PartName="/ppt/slides/slide8.xml" ContentType="application/vnd.openxmlformats-officedocument.presentationml.slide+xml"/>
  <Override PartName="/ppt/slides/slide3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66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33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39.xml" ContentType="application/vnd.openxmlformats-officedocument.presentationml.notesSlide+xml"/>
  <Override PartName="/ppt/notesSlides/notesSlide150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s/slide27.xml" ContentType="application/vnd.openxmlformats-officedocument.presentationml.slide+xml"/>
  <Override PartName="/ppt/slides/slide48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140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4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notesSlides/notesSlide43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notesSlides/notesSlide102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s/slide40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9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3.xml" ContentType="application/vnd.openxmlformats-officedocument.presentationml.notesSlide+xml"/>
  <Override PartName="/ppt/theme/theme2.xml" ContentType="application/vnd.openxmlformats-officedocument.theme+xml"/>
  <Override PartName="/ppt/slides/slide24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78.xml" ContentType="application/vnd.openxmlformats-officedocument.presentationml.slide+xml"/>
  <Override PartName="/ppt/slides/slide73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84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112.xml" ContentType="application/vnd.openxmlformats-officedocument.presentationml.notesSlide+xml"/>
  <Override PartName="/ppt/slides/slide53.xml" ContentType="application/vnd.openxmlformats-officedocument.presentationml.slide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41.xml" ContentType="application/vnd.openxmlformats-officedocument.presentationml.slide+xml"/>
  <Override PartName="/ppt/slides/slide16.xml" ContentType="application/vnd.openxmlformats-officedocument.presentationml.slide+xml"/>
  <Override PartName="/ppt/slides/slide60.xml" ContentType="application/vnd.openxmlformats-officedocument.presentationml.slide+xml"/>
  <Override PartName="/ppt/slides/slide136.xml" ContentType="application/vnd.openxmlformats-officedocument.presentationml.slide+xml"/>
  <Override PartName="/ppt/slides/slide2.xml" ContentType="application/vnd.openxmlformats-officedocument.presentationml.slide+xml"/>
  <Override PartName="/ppt/slides/slide152.xml" ContentType="application/vnd.openxmlformats-officedocument.presentationml.slide+xml"/>
  <Override PartName="/ppt/slides/slide86.xml" ContentType="application/vnd.openxmlformats-officedocument.presentationml.slide+xml"/>
  <Override PartName="/ppt/slides/slide39.xml" ContentType="application/vnd.openxmlformats-officedocument.presentationml.slide+xml"/>
  <Override PartName="/ppt/slides/slide115.xml" ContentType="application/vnd.openxmlformats-officedocument.presentationml.slide+xml"/>
  <Override PartName="/ppt/slides/slide134.xml" ContentType="application/vnd.openxmlformats-officedocument.presentationml.slide+xml"/>
  <Override PartName="/ppt/slides/slide117.xml" ContentType="application/vnd.openxmlformats-officedocument.presentationml.slide+xml"/>
  <Override PartName="/ppt/slides/slide58.xml" ContentType="application/vnd.openxmlformats-officedocument.presentationml.slide+xml"/>
  <Override PartName="/ppt/viewProps.xml" ContentType="application/vnd.openxmlformats-officedocument.presentationml.viewProps+xml"/>
  <Override PartName="/ppt/slides/slide88.xml" ContentType="application/vnd.openxmlformats-officedocument.presentationml.slide+xml"/>
  <Override PartName="/ppt/slides/slide38.xml" ContentType="application/vnd.openxmlformats-officedocument.presentationml.slide+xml"/>
  <Override PartName="/ppt/notesSlides/notesSlide55.xml" ContentType="application/vnd.openxmlformats-officedocument.presentationml.notesSlide+xml"/>
  <Override PartName="/ppt/notesSlides/notesSlide96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slides/slide109.xml" ContentType="application/vnd.openxmlformats-officedocument.presentationml.slide+xml"/>
  <Override PartName="/ppt/slides/slide14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34.xml" ContentType="application/vnd.openxmlformats-officedocument.presentationml.slide+xml"/>
  <Override PartName="/ppt/slides/slide5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22.xml" ContentType="application/vnd.openxmlformats-officedocument.presentationml.notes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6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notesMaster" Target="notesMasters/notesMaster1.xml"/><Relationship Id="rId163" Type="http://schemas.openxmlformats.org/officeDocument/2006/relationships/presProps" Target="presProps.xml" /><Relationship Id="rId164" Type="http://schemas.openxmlformats.org/officeDocument/2006/relationships/tableStyles" Target="tableStyles.xml" /><Relationship Id="rId16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 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 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 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 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 ?>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 ?>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 ?>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 ?>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 ?>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 ?>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 ?>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 ?>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 ?>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 ?>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 ?>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 ?>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 ?>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 ?>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 ?>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 ?>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 ?>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 ?>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 ?>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 ?>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 ?>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 ?>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 ?>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 ?>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 ?>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 ?>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 ?>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 ?>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 ?>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 ?>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 ?>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 ?>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 ?>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 ?>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 ?>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 ?>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 ?>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 ?>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 ?>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 ?>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6FEE45-AD3B-59DE-81CB-84A507B2AFB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61EE9F-BF4A-66FD-A3D4-272572CA8C19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FBADC6-E08D-A6AA-087E-5D48570CEAD3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132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7415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3969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C2BB35-77F9-E403-3A50-906BCF7874F6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16A154-3CBE-A7F4-F0ED-33C52A3EEA57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03A423-9594-FF5A-C2AD-E3F8776619CC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8B966-AD90-BB61-78FB-6A932DF6B1A9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8830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092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712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B988A4-1A6A-68FC-8DDD-2B249B847DFC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571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21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261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3D2CEC-6E23-64C9-0C3E-99786940AC49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2823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80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688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3B8B8F-FEBD-06A3-EE9A-80EDDD043E54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1A1228-2F00-BC81-7D18-7D5AE0F39ACA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4AE791-AB6C-67F0-884B-1050A59ACDF9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258A-8368-8435-F6FB-B68B352706BC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8339F6-02F6-5E63-CDEA-C048CA482426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5695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5041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494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3CA08D-C75A-0872-4715-3F197BE05CE5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C6EDA2-44BF-8243-1AD9-E5AE800F6AF0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C6B76A-04E6-DE03-5B6B-9011321D6580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EADF70-670B-E1D1-3F45-8C888934C549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34EB9F-0389-30B0-9C6C-5AD647DA4996}" type="slidenum">
              <a:rPr/>
              <a:t/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ABE6FC-EC32-3F8C-F243-DD903632F42F}" type="slidenum">
              <a:rPr/>
              <a:t/>
            </a:fld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16A610-8C9B-A95C-EB09-48B98BFB97C7}" type="slidenum">
              <a:rPr/>
              <a:t/>
            </a:fld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3532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8307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776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E1641E-EF05-0FEF-09C2-E24805DB3858}" type="slidenum">
              <a:rPr/>
              <a:t/>
            </a:fld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9B43F2-BD5A-532D-E90E-3779D3AC02C5}" type="slidenum">
              <a:rPr/>
              <a:t/>
            </a:fld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401E83-87DF-CE7A-1C4C-1ABDB9AE3206}" type="slidenum">
              <a:rPr/>
              <a:t/>
            </a:fld>
            <a:endParaRPr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E43D0-517B-9090-E171-CDD5B3E55D29}" type="slidenum">
              <a:rPr/>
              <a:t/>
            </a:fld>
            <a:endParaRPr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337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92561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283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EDB7B7-EB3B-D402-9ED1-D5AAE3B720C4}" type="slidenum">
              <a:rPr/>
              <a:t/>
            </a:fld>
            <a:endParaRPr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D90445-03A4-2734-2BCE-956DE35DF75C}" type="slidenum">
              <a:rPr/>
              <a:t/>
            </a:fld>
            <a:endParaRPr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95D58-8E36-23DC-4CBF-2BD4DF185E0F}" type="slidenum">
              <a:rPr/>
              <a:t/>
            </a:fld>
            <a:endParaRPr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7586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5630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377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007875-C0EC-A470-8A13-D5218D5AED4F}" type="slidenum">
              <a:rPr/>
              <a:t/>
            </a:fld>
            <a:endParaRPr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7302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422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784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7CF095-6057-7B3C-F926-672A01AC2859}" type="slidenum">
              <a:rPr/>
              <a:t/>
            </a:fld>
            <a:endParaRPr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2960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5537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951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03E0A6-B4A1-E47A-A92E-FA9C63BC65BD}" type="slidenum">
              <a:rPr/>
              <a:t/>
            </a:fld>
            <a:endParaRPr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829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66097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0526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9C5D82-C1D5-6E73-8DCD-38CF5CFA303F}" type="slidenum">
              <a:rPr/>
              <a:t/>
            </a:fld>
            <a:endParaRPr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CDE4AF-B975-2B45-DF9D-39921E18E1C6}" type="slidenum">
              <a:rPr/>
              <a:t/>
            </a:fld>
            <a:endParaRPr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CBF12-B5AF-BE29-102D-DDAA87675717}" type="slidenum">
              <a:rPr/>
              <a:t/>
            </a:fld>
            <a:endParaRPr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701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5468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749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056027-2BC3-A96D-D3B2-4C565A8D4DB8}" type="slidenum">
              <a:rPr/>
              <a:t/>
            </a:fld>
            <a:endParaRPr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15DA1-AD6F-A43E-B8E2-40D66B0C1EE7}" type="slidenum">
              <a:rPr/>
              <a:t/>
            </a:fld>
            <a:endParaRPr/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E17657-2F65-B35D-2611-BF150EFF4AEC}" type="slidenum">
              <a:rPr/>
              <a:t/>
            </a:fld>
            <a:endParaRPr/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099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182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351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1CD374-178B-0880-2F75-823BE440B269}" type="slidenum">
              <a:rPr/>
              <a:t/>
            </a:fld>
            <a:endParaRPr/>
          </a:p>
        </p:txBody>
      </p:sp>
    </p:spTree>
  </p:cSld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6680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076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374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C2FF2D-7FB3-8F0C-172A-94F609F7EA34}" type="slidenum">
              <a:rPr/>
              <a:t/>
            </a:fld>
            <a:endParaRPr/>
          </a:p>
        </p:txBody>
      </p:sp>
    </p:spTree>
  </p:cSld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4277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8117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939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E62F7D-5A7E-6B8B-3EDE-4C1B92EBE97C}" type="slidenum">
              <a:rPr/>
              <a:t/>
            </a:fld>
            <a:endParaRPr/>
          </a:p>
        </p:txBody>
      </p:sp>
    </p:spTree>
  </p:cSld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511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91529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488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9CB85C-3C7A-358E-654E-24937F247EB3}" type="slidenum">
              <a:rPr/>
              <a:t/>
            </a:fld>
            <a:endParaRPr/>
          </a:p>
        </p:txBody>
      </p:sp>
    </p:spTree>
  </p:cSld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29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26579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813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6EE2C-10BA-B349-282E-66016F0E7F51}" type="slidenum">
              <a:rPr/>
              <a:t/>
            </a:fld>
            <a:endParaRPr/>
          </a:p>
        </p:txBody>
      </p:sp>
    </p:spTree>
  </p:cSld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3770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6048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5460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D964FA-CA20-A840-546B-5DD9F6E91A92}" type="slidenum">
              <a:rPr/>
              <a:t/>
            </a:fld>
            <a:endParaRPr/>
          </a:p>
        </p:txBody>
      </p:sp>
    </p:spTree>
  </p:cSld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816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486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554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A43D9E-1CA2-0648-998D-8ECE303CB829}" type="slidenum">
              <a:rPr/>
              <a:t/>
            </a:fld>
            <a:endParaRPr/>
          </a:p>
        </p:txBody>
      </p:sp>
    </p:spTree>
  </p:cSld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1420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9229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915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71C386-57D9-E57C-ECF5-E850EE482371}" type="slidenum">
              <a:rPr/>
              <a:t/>
            </a:fld>
            <a:endParaRPr/>
          </a:p>
        </p:txBody>
      </p:sp>
    </p:spTree>
  </p:cSld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8825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11223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TCP pour les deux</a:t>
            </a:r>
            <a:endParaRPr/>
          </a:p>
        </p:txBody>
      </p:sp>
      <p:sp>
        <p:nvSpPr>
          <p:cNvPr id="829387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FAE54-CD45-3DCF-3BE0-EFA7BE71B058}" type="slidenum">
              <a:rPr/>
              <a:t/>
            </a:fld>
            <a:endParaRPr/>
          </a:p>
        </p:txBody>
      </p:sp>
    </p:spTree>
  </p:cSld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9872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4350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TCP pour les deux</a:t>
            </a:r>
            <a:endParaRPr/>
          </a:p>
        </p:txBody>
      </p:sp>
      <p:sp>
        <p:nvSpPr>
          <p:cNvPr id="832363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94B076-13DB-BA2E-0B2A-7512E39F2C0B}" type="slidenum">
              <a:rPr/>
              <a:t/>
            </a:fld>
            <a:endParaRPr/>
          </a:p>
        </p:txBody>
      </p:sp>
    </p:spTree>
  </p:cSld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3616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22936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248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02B9F5-CEEA-B2EC-DE4A-4EFD2F2DD283}" type="slidenum">
              <a:rPr/>
              <a:t/>
            </a:fld>
            <a:endParaRPr/>
          </a:p>
        </p:txBody>
      </p:sp>
    </p:spTree>
  </p:cSld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07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946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63259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71A50E-340D-C0F2-1BE6-B5E6674A24D0}" type="slidenum">
              <a:rPr/>
              <a:t/>
            </a:fld>
            <a:endParaRPr/>
          </a:p>
        </p:txBody>
      </p:sp>
    </p:spTree>
  </p:cSld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104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759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16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D8B33E-9176-7290-9AF5-35389DF4E963}" type="slidenum">
              <a:rPr/>
              <a:t/>
            </a:fld>
            <a:endParaRPr/>
          </a:p>
        </p:txBody>
      </p:sp>
    </p:spTree>
  </p:cSld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3912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426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04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2AA9DF-6DE3-73A8-3124-8D861CF93F5B}" type="slidenum">
              <a:rPr/>
              <a:t/>
            </a:fld>
            <a:endParaRPr/>
          </a:p>
        </p:txBody>
      </p:sp>
    </p:spTree>
  </p:cSld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3265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336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80697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898A2A-BCA2-4E3F-0834-07B903A56BBF}" type="slidenum">
              <a:rPr/>
              <a:t/>
            </a:fld>
            <a:endParaRPr/>
          </a:p>
        </p:txBody>
      </p:sp>
    </p:spTree>
  </p:cSld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2338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5757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874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E6967A-7BCA-5E50-8912-86418C218C41}" type="slidenum">
              <a:rPr/>
              <a:t/>
            </a:fld>
            <a:endParaRPr/>
          </a:p>
        </p:txBody>
      </p:sp>
    </p:spTree>
  </p:cSld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9628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4541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184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CCCE6E-642E-4ADD-3503-1C60AE79B36F}" type="slidenum">
              <a:rPr/>
              <a:t/>
            </a:fld>
            <a:endParaRPr/>
          </a:p>
        </p:txBody>
      </p:sp>
    </p:spTree>
  </p:cSld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4433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022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956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FAED25-9A25-545A-428D-D5CD3365B7C4}" type="slidenum">
              <a:rPr/>
              <a:t/>
            </a:fld>
            <a:endParaRPr/>
          </a:p>
        </p:txBody>
      </p:sp>
    </p:spTree>
  </p:cSld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143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04480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69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769099-64F0-F0CB-DBD7-EFB36E135CF9}" type="slidenum">
              <a:rPr/>
              <a:t/>
            </a:fld>
            <a:endParaRPr/>
          </a:p>
        </p:txBody>
      </p:sp>
    </p:spTree>
  </p:cSld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8982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81175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6929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5E90FF-524D-1AD4-BF86-1478650A3F86}" type="slidenum">
              <a:rPr/>
              <a:t/>
            </a:fld>
            <a:endParaRPr/>
          </a:p>
        </p:txBody>
      </p:sp>
    </p:spTree>
  </p:cSld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2362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9339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022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8BA987-A2A9-F659-0056-08B361EE9611}" type="slidenum">
              <a:rPr/>
              <a:t/>
            </a:fld>
            <a:endParaRPr/>
          </a:p>
        </p:txBody>
      </p:sp>
    </p:spTree>
  </p:cSld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5125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6373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9829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D7EA18-67E8-0F86-B3CC-B49828D235CA}" type="slidenum">
              <a:rPr/>
              <a:t/>
            </a:fld>
            <a:endParaRPr/>
          </a:p>
        </p:txBody>
      </p:sp>
    </p:spTree>
  </p:cSld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464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7382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5223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99ACF2-BBCD-7957-82C4-DF125F92F5ED}" type="slidenum">
              <a:rPr/>
              <a:t/>
            </a:fld>
            <a:endParaRPr/>
          </a:p>
        </p:txBody>
      </p:sp>
    </p:spTree>
  </p:cSld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15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5241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2662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21B767-394D-3982-2CD3-0F4A56A42C36}" type="slidenum">
              <a:rPr/>
              <a:t/>
            </a:fld>
            <a:endParaRPr/>
          </a:p>
        </p:txBody>
      </p:sp>
    </p:spTree>
  </p:cSld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023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4566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4860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80EA8B-06FA-5507-4DE8-A72EC1AC6D1E}" type="slidenum">
              <a:rPr/>
              <a:t/>
            </a:fld>
            <a:endParaRPr/>
          </a:p>
        </p:txBody>
      </p:sp>
    </p:spTree>
  </p:cSld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65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76577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41655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5299E6-B773-863E-9808-F6F510227FD4}" type="slidenum">
              <a:rPr/>
              <a:t/>
            </a:fld>
            <a:endParaRPr/>
          </a:p>
        </p:txBody>
      </p:sp>
    </p:spTree>
  </p:cSld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1202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0748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81512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1EA45-9229-AB28-3AA7-A3B07DA6FD2C}" type="slidenum">
              <a:rPr/>
              <a:t/>
            </a:fld>
            <a:endParaRPr/>
          </a:p>
        </p:txBody>
      </p:sp>
    </p:spTree>
  </p:cSld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05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1806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522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868FA-A7C8-02BB-E106-0844336EE814}" type="slidenum">
              <a:rPr/>
              <a:t/>
            </a:fld>
            <a:endParaRPr/>
          </a:p>
        </p:txBody>
      </p:sp>
    </p:spTree>
  </p:cSld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917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4359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2725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EEE86C-304A-0591-EF9C-30E51839228A}" type="slidenum">
              <a:rPr/>
              <a:t/>
            </a:fld>
            <a:endParaRPr/>
          </a:p>
        </p:txBody>
      </p:sp>
    </p:spTree>
  </p:cSld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715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596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946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F9010D-4B90-D9E1-1B60-38443E41039C}" type="slidenum">
              <a:rPr/>
              <a:t/>
            </a:fld>
            <a:endParaRPr/>
          </a:p>
        </p:txBody>
      </p:sp>
    </p:spTree>
  </p:cSld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7511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9071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451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657000-EA49-7BF8-8C6D-14DD11E69D13}" type="slidenum">
              <a:rPr/>
              <a:t/>
            </a:fld>
            <a:endParaRPr/>
          </a:p>
        </p:txBody>
      </p:sp>
    </p:spTree>
  </p:cSld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455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8362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0583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8CD3AC-591D-6A6B-5848-C69C5F609423}" type="slidenum">
              <a:rPr/>
              <a:t/>
            </a:fld>
            <a:endParaRPr/>
          </a:p>
        </p:txBody>
      </p:sp>
    </p:spTree>
  </p:cSld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362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15963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0880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916D2-667D-C6A8-5DE7-B24EDA65DBAF}" type="slidenum">
              <a:rPr/>
              <a:t/>
            </a:fld>
            <a:endParaRPr/>
          </a:p>
        </p:txBody>
      </p:sp>
    </p:spTree>
  </p:cSld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4384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44663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061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572BB2-A7C0-28BF-858E-54C0BBB44678}" type="slidenum">
              <a:rPr/>
              <a:t/>
            </a:fld>
            <a:endParaRPr/>
          </a:p>
        </p:txBody>
      </p:sp>
    </p:spTree>
  </p:cSld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9529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8065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32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031036-370D-CF9C-9A03-DDC354FF0971}" type="slidenum">
              <a:rPr/>
              <a:t/>
            </a:fld>
            <a:endParaRPr/>
          </a:p>
        </p:txBody>
      </p:sp>
    </p:spTree>
  </p:cSld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5498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4571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4260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CBDF37-42A0-C19C-F291-518C6D008F90}" type="slidenum">
              <a:rPr/>
              <a:t/>
            </a:fld>
            <a:endParaRPr/>
          </a:p>
        </p:txBody>
      </p:sp>
    </p:spTree>
  </p:cSld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751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9535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078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604115-643F-F81E-3C36-916ABAB4905C}" type="slidenum">
              <a:rPr/>
              <a:t/>
            </a:fld>
            <a:endParaRPr/>
          </a:p>
        </p:txBody>
      </p:sp>
    </p:spTree>
  </p:cSld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709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886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646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F54FBA-B04E-4EF4-6A04-2457EB5AD98E}" type="slidenum">
              <a:rPr/>
              <a:t/>
            </a:fld>
            <a:endParaRPr/>
          </a:p>
        </p:txBody>
      </p:sp>
    </p:spTree>
  </p:cSld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165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76730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39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15B14-D845-F366-3015-F1189D4C0BCF}" type="slidenum">
              <a:rPr/>
              <a:t/>
            </a:fld>
            <a:endParaRPr/>
          </a:p>
        </p:txBody>
      </p:sp>
    </p:spTree>
  </p:cSld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317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4516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382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42B92-75E0-3929-84F0-8B1659FBB145}" type="slidenum">
              <a:rPr/>
              <a:t/>
            </a:fld>
            <a:endParaRPr/>
          </a:p>
        </p:txBody>
      </p:sp>
    </p:spTree>
  </p:cSld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4816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6503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197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AD1FC7-2FA7-76E8-340D-3C3F6387118C}" type="slidenum">
              <a:rPr/>
              <a:t/>
            </a:fld>
            <a:endParaRPr/>
          </a:p>
        </p:txBody>
      </p:sp>
    </p:spTree>
  </p:cSld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8211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7882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78956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4BC63B-2A4A-D9B8-11EC-19B0745CEE15}" type="slidenum">
              <a:rPr/>
              <a:t/>
            </a:fld>
            <a:endParaRPr/>
          </a:p>
        </p:txBody>
      </p:sp>
    </p:spTree>
  </p:cSld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2698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0308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0388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9BA694-7C77-2534-0B9D-AC7E06C6A5AC}" type="slidenum">
              <a:rPr/>
              <a:t/>
            </a:fld>
            <a:endParaRPr/>
          </a:p>
        </p:txBody>
      </p:sp>
    </p:spTree>
  </p:cSld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9959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8124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419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60EE43-3CD6-930C-5986-2FF925C5A57E}" type="slidenum">
              <a:rPr/>
              <a:t/>
            </a:fld>
            <a:endParaRPr/>
          </a:p>
        </p:txBody>
      </p:sp>
    </p:spTree>
  </p:cSld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9096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74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342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DE6E87-D133-6C56-7C09-408F014AD14B}" type="slidenum">
              <a:rPr/>
              <a:t/>
            </a:fld>
            <a:endParaRPr/>
          </a:p>
        </p:txBody>
      </p:sp>
    </p:spTree>
  </p:cSld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1306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019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944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A65078-185C-6374-1052-D2132997F954}" type="slidenum">
              <a:rPr/>
              <a:t/>
            </a:fld>
            <a:endParaRPr/>
          </a:p>
        </p:txBody>
      </p:sp>
    </p:spTree>
  </p:cSld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567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9787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796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80BE83-D09B-65F1-18BB-A64F930F1FA3}" type="slidenum">
              <a:rPr/>
              <a:t/>
            </a:fld>
            <a:endParaRPr/>
          </a:p>
        </p:txBody>
      </p:sp>
    </p:spTree>
  </p:cSld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641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77064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8662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3B7227-6A4D-D06F-75F6-37E2A5748983}" type="slidenum">
              <a:rPr/>
              <a:t/>
            </a:fld>
            <a:endParaRPr/>
          </a:p>
        </p:txBody>
      </p:sp>
    </p:spTree>
  </p:cSld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2049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9937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623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8C304-96A5-BED1-F4CA-8D96AA4B69C6}" type="slidenum">
              <a:rPr/>
              <a:t/>
            </a:fld>
            <a:endParaRPr/>
          </a:p>
        </p:txBody>
      </p:sp>
    </p:spTree>
  </p:cSld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990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93638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539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4A22F2-DFE5-B1A9-4E31-7BDDD4E1F0E6}" type="slidenum">
              <a:rPr/>
              <a:t/>
            </a:fld>
            <a:endParaRPr/>
          </a:p>
        </p:txBody>
      </p:sp>
    </p:spTree>
  </p:cSld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5174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60984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4367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01A4FA-BC7C-4D4A-123B-699334B57B2A}" type="slidenum">
              <a:rPr/>
              <a:t/>
            </a:fld>
            <a:endParaRPr/>
          </a:p>
        </p:txBody>
      </p:sp>
    </p:spTree>
  </p:cSld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9318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3095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40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570D0-6DD7-CB47-3B33-63CD4ECE8717}" type="slidenum">
              <a:rPr/>
              <a:t/>
            </a:fld>
            <a:endParaRPr/>
          </a:p>
        </p:txBody>
      </p:sp>
    </p:spTree>
  </p:cSld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7955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6843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74764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526960-C44F-90E8-07F4-9B2FEE71DDAE}" type="slidenum">
              <a:rPr/>
              <a:t/>
            </a:fld>
            <a:endParaRPr/>
          </a:p>
        </p:txBody>
      </p:sp>
    </p:spTree>
  </p:cSld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4740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6830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906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8D3E0A-C81B-072C-1DF1-E6DAAB661D00}" type="slidenum">
              <a:rPr/>
              <a:t/>
            </a:fld>
            <a:endParaRPr/>
          </a:p>
        </p:txBody>
      </p:sp>
    </p:spTree>
  </p:cSld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0002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6170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726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CE36F7-4F68-0095-CF18-600D4004676A}" type="slidenum">
              <a:rPr/>
              <a:t/>
            </a:fld>
            <a:endParaRPr/>
          </a:p>
        </p:txBody>
      </p:sp>
    </p:spTree>
  </p:cSld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7662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898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6461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10F09B-1AD8-3F2A-1D09-6FEDABD0B292}" type="slidenum">
              <a:rPr/>
              <a:t/>
            </a:fld>
            <a:endParaRPr/>
          </a:p>
        </p:txBody>
      </p:sp>
    </p:spTree>
  </p:cSld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660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54532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063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133FEB-E01C-708E-923A-99224A12FFAF}" type="slidenum">
              <a:rPr/>
              <a:t/>
            </a:fld>
            <a:endParaRPr/>
          </a:p>
        </p:txBody>
      </p:sp>
    </p:spTree>
  </p:cSld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634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8012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297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B2953A-87C7-3CDB-0468-4D7A4382CD1F}" type="slidenum">
              <a:rPr/>
              <a:t/>
            </a:fld>
            <a:endParaRPr/>
          </a:p>
        </p:txBody>
      </p:sp>
    </p:spTree>
  </p:cSld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8764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9685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4745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62036C-B95C-FB09-67E4-3F351621180A}" type="slidenum">
              <a:rPr/>
              <a:t/>
            </a:fld>
            <a:endParaRPr/>
          </a:p>
        </p:txBody>
      </p:sp>
    </p:spTree>
  </p:cSld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2813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7018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425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132BAC-DF67-5CB1-8233-588695248514}" type="slidenum">
              <a:rPr/>
              <a:t/>
            </a:fld>
            <a:endParaRPr/>
          </a:p>
        </p:txBody>
      </p:sp>
    </p:spTree>
  </p:cSld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5065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9526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6763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A31616-B3DE-850E-0F2E-69E5119A3989}" type="slidenum">
              <a:rPr/>
              <a:t/>
            </a:fld>
            <a:endParaRPr/>
          </a:p>
        </p:txBody>
      </p:sp>
    </p:spTree>
  </p:cSld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2660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11136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6737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6267A2-E80B-7EB4-B2DA-9C6288396AFA}" type="slidenum">
              <a:rPr/>
              <a:t/>
            </a:fld>
            <a:endParaRPr/>
          </a:p>
        </p:txBody>
      </p:sp>
    </p:spTree>
  </p:cSld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716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565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868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74A35-EA67-BF90-7855-F8F9987233CF}" type="slidenum">
              <a:rPr/>
              <a:t/>
            </a:fld>
            <a:endParaRPr/>
          </a:p>
        </p:txBody>
      </p:sp>
    </p:spTree>
  </p:cSld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973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6194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2326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A581DD-202F-B252-4AFD-F1154740A897}" type="slidenum">
              <a:rPr/>
              <a:t/>
            </a:fld>
            <a:endParaRPr/>
          </a:p>
        </p:txBody>
      </p:sp>
    </p:spTree>
  </p:cSld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759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3401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0971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73D20A-4764-8A7F-FE69-89A9BEAB85CB}" type="slidenum">
              <a:rPr/>
              <a:t/>
            </a:fld>
            <a:endParaRPr/>
          </a:p>
        </p:txBody>
      </p:sp>
    </p:spTree>
  </p:cSld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309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453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05612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388614-A4F1-8C58-2B37-017F8D54F1BA}" type="slidenum">
              <a:rPr/>
              <a:t/>
            </a:fld>
            <a:endParaRPr/>
          </a:p>
        </p:txBody>
      </p:sp>
    </p:spTree>
  </p:cSld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658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7683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0509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757D47-0953-093E-9FC7-CB23F6A69BB4}" type="slidenum">
              <a:rPr/>
              <a:t/>
            </a:fld>
            <a:endParaRPr/>
          </a:p>
        </p:txBody>
      </p:sp>
    </p:spTree>
  </p:cSld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115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4592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924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F61F1-DBD2-9451-5F79-F4C430834BCF}" type="slidenum">
              <a:rPr/>
              <a:t/>
            </a:fld>
            <a:endParaRPr/>
          </a:p>
        </p:txBody>
      </p:sp>
    </p:spTree>
  </p:cSld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2620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8337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1495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510E63-36AC-F311-A72F-49DC0AFCC4D7}" type="slidenum">
              <a:rPr/>
              <a:t/>
            </a:fld>
            <a:endParaRPr/>
          </a:p>
        </p:txBody>
      </p:sp>
    </p:spTree>
  </p:cSld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838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8437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5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8A8FB3-BF8E-757E-7037-DF8B5633855B}" type="slidenum">
              <a:rPr/>
              <a:t/>
            </a:fld>
            <a:endParaRPr/>
          </a:p>
        </p:txBody>
      </p:sp>
    </p:spTree>
  </p:cSld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6434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389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1967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6352BB-8341-D5A2-CAFD-2990497302A1}" type="slidenum">
              <a:rPr/>
              <a:t/>
            </a:fld>
            <a:endParaRPr/>
          </a:p>
        </p:txBody>
      </p:sp>
    </p:spTree>
  </p:cSld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92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3540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564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CDBB60-F704-D1A1-A8FC-B94FBB5FEFC5}" type="slidenum">
              <a:rPr/>
              <a:t/>
            </a:fld>
            <a:endParaRPr/>
          </a:p>
        </p:txBody>
      </p:sp>
    </p:spTree>
  </p:cSld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7767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981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9801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D6FA9D-07CB-FA29-3EBC-F1209F3BD319}" type="slidenum">
              <a:rPr/>
              <a:t/>
            </a:fld>
            <a:endParaRPr/>
          </a:p>
        </p:txBody>
      </p:sp>
    </p:spTree>
  </p:cSld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40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8750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98354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6F0364-E1B0-E25C-43C0-9AC2D15EB688}" type="slidenum">
              <a:rPr/>
              <a:t/>
            </a:fld>
            <a:endParaRPr/>
          </a:p>
        </p:txBody>
      </p:sp>
    </p:spTree>
  </p:cSld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5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8435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70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15945E-66AC-9097-B6BC-514F344C6977}" type="slidenum">
              <a:rPr/>
              <a:t/>
            </a:fld>
            <a:endParaRPr/>
          </a:p>
        </p:txBody>
      </p:sp>
    </p:spTree>
  </p:cSld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893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9799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2000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9074D-4D2C-DEB7-5611-63F8F534C705}" type="slidenum">
              <a:rPr/>
              <a:t/>
            </a:fld>
            <a:endParaRPr/>
          </a:p>
        </p:txBody>
      </p:sp>
    </p:spTree>
  </p:cSld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988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15762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8545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3D6C8D-23C4-3FE2-11F4-EA8D556D21DA}" type="slidenum">
              <a:rPr/>
              <a:t/>
            </a:fld>
            <a:endParaRPr/>
          </a:p>
        </p:txBody>
      </p:sp>
    </p:spTree>
  </p:cSld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023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23583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258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B9676A-E5A2-5E68-81BF-50A4AABA7E4C}" type="slidenum">
              <a:rPr/>
              <a:t/>
            </a:fld>
            <a:endParaRPr/>
          </a:p>
        </p:txBody>
      </p:sp>
    </p:spTree>
  </p:cSld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3410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96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918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3C7DBE-CCA2-B560-A2DF-1BFD96B664FD}" type="slidenum">
              <a:rPr/>
              <a:t/>
            </a:fld>
            <a:endParaRPr/>
          </a:p>
        </p:txBody>
      </p:sp>
    </p:spTree>
  </p:cSld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4358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954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06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431FB8-6E84-DB2B-DE37-234A873471E0}" type="slidenum">
              <a:rPr/>
              <a:t/>
            </a:fld>
            <a:endParaRPr/>
          </a:p>
        </p:txBody>
      </p:sp>
    </p:spTree>
  </p:cSld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5024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2674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17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C12288-E732-C718-9F09-230C677680AD}" type="slidenum">
              <a:rPr/>
              <a:t/>
            </a:fld>
            <a:endParaRPr/>
          </a:p>
        </p:txBody>
      </p:sp>
    </p:spTree>
  </p:cSld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3086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7394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cd ApacheDirectoryStudio-*</a:t>
            </a:r>
            <a:r>
              <a:rPr/>
              <a:t> et ./Apache tabulation</a:t>
            </a:r>
            <a:endParaRPr/>
          </a:p>
        </p:txBody>
      </p:sp>
      <p:sp>
        <p:nvSpPr>
          <p:cNvPr id="16463320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82893B-A47F-2069-2038-A2D6E57716BA}" type="slidenum">
              <a:rPr/>
              <a:t/>
            </a:fld>
            <a:endParaRPr/>
          </a:p>
        </p:txBody>
      </p:sp>
    </p:spTree>
  </p:cSld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5318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574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95485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024368-A298-A8C6-24AD-A5203F757655}" type="slidenum">
              <a:rPr/>
              <a:t/>
            </a:fld>
            <a:endParaRPr/>
          </a:p>
        </p:txBody>
      </p:sp>
    </p:spTree>
  </p:cSld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780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62551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954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84D878-7917-46D5-6411-1B8AAE482049}" type="slidenum">
              <a:rPr/>
              <a:t/>
            </a:fld>
            <a:endParaRPr/>
          </a:p>
        </p:txBody>
      </p:sp>
    </p:spTree>
  </p:cSld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5121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718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855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CD1772-6DC4-2394-BF35-AEDED0D2B063}" type="slidenum">
              <a:rPr/>
              <a:t/>
            </a:fld>
            <a:endParaRPr/>
          </a:p>
        </p:txBody>
      </p:sp>
    </p:spTree>
  </p:cSld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6844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539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0913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AB4344-F7AB-00E3-C492-5FBAC3FD1680}" type="slidenum">
              <a:rPr/>
              <a:t/>
            </a:fld>
            <a:endParaRPr/>
          </a:p>
        </p:txBody>
      </p:sp>
    </p:spTree>
  </p:cSld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8288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693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752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4734D7-5384-0664-DB63-BA1E3BC7E254}" type="slidenum">
              <a:rPr/>
              <a:t/>
            </a:fld>
            <a:endParaRPr/>
          </a:p>
        </p:txBody>
      </p:sp>
    </p:spTree>
  </p:cSld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0236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03756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401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E7E411-3F57-F028-FE19-4CFC9ECBBCEC}" type="slidenum">
              <a:rPr/>
              <a:t/>
            </a:fld>
            <a:endParaRPr/>
          </a:p>
        </p:txBody>
      </p:sp>
    </p:spTree>
  </p:cSld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9484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29104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5596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F4DFD3-54C7-2F36-47D6-8F3E64F8ACF3}" type="slidenum">
              <a:rPr/>
              <a:t/>
            </a:fld>
            <a:endParaRPr/>
          </a:p>
        </p:txBody>
      </p:sp>
    </p:spTree>
  </p:cSld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7599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100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9358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5755AA-D716-E773-0BBA-91C3EEDBB354}" type="slidenum">
              <a:rPr/>
              <a:t/>
            </a:fld>
            <a:endParaRPr/>
          </a:p>
        </p:txBody>
      </p:sp>
    </p:spTree>
  </p:cSld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980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2737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342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BAF6ED-F6DD-FD5E-B11F-5D25CCEE4829}" type="slidenum">
              <a:rPr/>
              <a:t/>
            </a:fld>
            <a:endParaRPr/>
          </a:p>
        </p:txBody>
      </p:sp>
    </p:spTree>
  </p:cSld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182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8604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6003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DFAEBC-2BA9-71AC-6829-A6044913F6D1}" type="slidenum">
              <a:rPr/>
              <a:t/>
            </a:fld>
            <a:endParaRPr/>
          </a:p>
        </p:txBody>
      </p:sp>
    </p:spTree>
  </p:cSld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3016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69493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92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56FEEF-A4AA-5A39-8501-EECC6A113C0E}" type="slidenum">
              <a:rPr/>
              <a:t/>
            </a:fld>
            <a:endParaRPr/>
          </a:p>
        </p:txBody>
      </p:sp>
    </p:spTree>
  </p:cSld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185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2412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99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3473AC-5625-CE52-7383-73E81B216335}" type="slidenum">
              <a:rPr/>
              <a:t/>
            </a:fld>
            <a:endParaRPr/>
          </a:p>
        </p:txBody>
      </p:sp>
    </p:spTree>
  </p:cSld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5019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76340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356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D93E34-178E-DE11-57AD-6370BB205625}" type="slidenum">
              <a:rPr/>
              <a:t/>
            </a:fld>
            <a:endParaRPr/>
          </a:p>
        </p:txBody>
      </p:sp>
    </p:spTree>
  </p:cSld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8538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74976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1730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E6EABC-1DD9-33B4-A8F1-3FD4D45A61E6}" type="slidenum">
              <a:rPr/>
              <a:t/>
            </a:fld>
            <a:endParaRPr/>
          </a:p>
        </p:txBody>
      </p:sp>
    </p:spTree>
  </p:cSld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443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790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92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039ED6-A588-1FDA-ED1A-7A815E75DE96}" type="slidenum">
              <a:rPr/>
              <a:t/>
            </a:fld>
            <a:endParaRPr/>
          </a:p>
        </p:txBody>
      </p:sp>
    </p:spTree>
  </p:cSld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4450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7555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178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D02E1A-A5D8-4095-3090-B5F0BAD2F592}" type="slidenum">
              <a:rPr/>
              <a:t/>
            </a:fld>
            <a:endParaRPr/>
          </a:p>
        </p:txBody>
      </p:sp>
    </p:spTree>
  </p:cSld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322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89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2506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1B09FA-9968-0E42-633F-BAEEDB0E33C9}" type="slidenum">
              <a:rPr/>
              <a:t/>
            </a:fld>
            <a:endParaRPr/>
          </a:p>
        </p:txBody>
      </p:sp>
    </p:spTree>
  </p:cSld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00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6735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320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3A2629-A194-A36D-AEDE-54FB20A92CDA}" type="slidenum">
              <a:rPr/>
              <a:t/>
            </a:fld>
            <a:endParaRPr/>
          </a:p>
        </p:txBody>
      </p:sp>
    </p:spTree>
  </p:cSld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166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2649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3569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37432E-8231-77E6-601D-A02D6AC7BC90}" type="slidenum">
              <a:rPr/>
              <a:t/>
            </a:fld>
            <a:endParaRPr/>
          </a:p>
        </p:txBody>
      </p:sp>
    </p:spTree>
  </p:cSld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993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77142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753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93E4A-99B1-F733-23CD-321FCAADDC2E}" type="slidenum">
              <a:rPr/>
              <a:t/>
            </a:fld>
            <a:endParaRPr/>
          </a:p>
        </p:txBody>
      </p:sp>
    </p:spTree>
  </p:cSld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651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0780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258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3E968C-F821-E1B6-F3E8-CC8D281D5C53}" type="slidenum">
              <a:rPr/>
              <a:t/>
            </a:fld>
            <a:endParaRPr/>
          </a:p>
        </p:txBody>
      </p:sp>
    </p:spTree>
  </p:cSld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308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0560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348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DD882E-3CE5-74B1-C940-6C6695864156}" type="slidenum">
              <a:rPr/>
              <a:t/>
            </a:fld>
            <a:endParaRPr/>
          </a:p>
        </p:txBody>
      </p:sp>
    </p:spTree>
  </p:cSld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4502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9093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714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C1BCB9-A0DD-DA9A-886B-6B9E5A976C3C}" type="slidenum">
              <a:rPr/>
              <a:t/>
            </a:fld>
            <a:endParaRPr/>
          </a:p>
        </p:txBody>
      </p:sp>
    </p:spTree>
  </p:cSld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461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36311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2622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6499C6-9F73-D175-5E9B-D472175AF01F}" type="slidenum">
              <a:rPr/>
              <a:t/>
            </a:fld>
            <a:endParaRPr/>
          </a:p>
        </p:txBody>
      </p:sp>
    </p:spTree>
  </p:cSld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4193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0763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714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9D9551-EE6E-1099-6E23-B8402B762970}" type="slidenum">
              <a:rPr/>
              <a:t/>
            </a:fld>
            <a:endParaRPr/>
          </a:p>
        </p:txBody>
      </p:sp>
    </p:spTree>
  </p:cSld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064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0932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275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92D460-299C-9F80-E2B1-B67F6F93FFFD}" type="slidenum">
              <a:rPr/>
              <a:t/>
            </a:fld>
            <a:endParaRPr/>
          </a:p>
        </p:txBody>
      </p:sp>
    </p:spTree>
  </p:cSld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420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6369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4297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3B03A5-2C4E-055C-623B-0290EA5D2223}" type="slidenum">
              <a:rPr/>
              <a:t/>
            </a:fld>
            <a:endParaRPr/>
          </a:p>
        </p:txBody>
      </p:sp>
    </p:spTree>
  </p:cSld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289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66257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0161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52F111-92F7-3D59-C4C7-F87D5963DA8E}" type="slidenum">
              <a:rPr/>
              <a:t/>
            </a:fld>
            <a:endParaRPr/>
          </a:p>
        </p:txBody>
      </p:sp>
    </p:spTree>
  </p:cSld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9785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848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6001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645147-C4F5-8FF3-2DD4-7ECEA7AFBDE7}" type="slidenum">
              <a:rPr/>
              <a:t/>
            </a:fld>
            <a:endParaRPr/>
          </a:p>
        </p:txBody>
      </p:sp>
    </p:spTree>
  </p:cSld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883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232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2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95D75F-C1C6-DFD7-3B4A-DB6CA0EA62D4}" type="slidenum">
              <a:rPr/>
              <a:t/>
            </a:fld>
            <a:endParaRPr/>
          </a:p>
        </p:txBody>
      </p:sp>
    </p:spTree>
  </p:cSld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5655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955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558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651694-A843-93C5-0AF6-7834AA422A1E}" type="slidenum">
              <a:rPr/>
              <a:t/>
            </a:fld>
            <a:endParaRPr/>
          </a:p>
        </p:txBody>
      </p:sp>
    </p:spTree>
  </p:cSld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7717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1149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767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6E31CE-531C-256F-1555-D8027DFAA13A}" type="slidenum">
              <a:rPr/>
              <a:t/>
            </a:fld>
            <a:endParaRPr/>
          </a:p>
        </p:txBody>
      </p:sp>
    </p:spTree>
  </p:cSld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265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8057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028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1EF089-1B68-C6E9-6405-E7B080B39F16}" type="slidenum">
              <a:rPr/>
              <a:t/>
            </a:fld>
            <a:endParaRPr/>
          </a:p>
        </p:txBody>
      </p:sp>
    </p:spTree>
  </p:cSld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761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37094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5923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D5238A-4148-957D-9565-0AF24D46DD59}" type="slidenum">
              <a:rPr/>
              <a:t/>
            </a:fld>
            <a:endParaRPr/>
          </a:p>
        </p:txBody>
      </p:sp>
    </p:spTree>
  </p:cSld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5489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0425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611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F173F6-35E6-45A4-044E-24D9D09511CB}" type="slidenum">
              <a:rPr/>
              <a:t/>
            </a:fld>
            <a:endParaRPr/>
          </a:p>
        </p:txBody>
      </p:sp>
    </p:spTree>
  </p:cSld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6274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27512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5916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A1021-8FAC-029C-7652-AC424E1C5C47}" type="slidenum">
              <a:rPr/>
              <a:t/>
            </a:fld>
            <a:endParaRPr/>
          </a:p>
        </p:txBody>
      </p:sp>
    </p:spTree>
  </p:cSld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1317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46438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408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AF166E-7FB8-EDBE-A0A6-4541B1E28BB4}" type="slidenum">
              <a:rPr/>
              <a:t/>
            </a:fld>
            <a:endParaRPr/>
          </a:p>
        </p:txBody>
      </p:sp>
    </p:spTree>
  </p:cSld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9179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2388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28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FDC134-C556-2DC3-7430-6E7CB911DA5E}" type="slidenum">
              <a:rPr/>
              <a:t/>
            </a:fld>
            <a:endParaRPr/>
          </a:p>
        </p:txBody>
      </p:sp>
    </p:spTree>
  </p:cSld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629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502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669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B81E96-1422-91C1-4D72-259A8B8D80E1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/>
              <a:t>Loïc Desgeorges</a:t>
            </a:r>
            <a:endParaRPr/>
          </a:p>
          <a:p>
            <a:pPr>
              <a:defRPr/>
            </a:pPr>
            <a:r>
              <a:rPr/>
              <a:t>Université Claude Bernard Lyon 1</a:t>
            </a:r>
            <a:endParaRPr/>
          </a:p>
          <a:p>
            <a:pPr>
              <a:defRPr/>
            </a:pPr>
            <a:r>
              <a:rPr/>
              <a:t>loic.desgeorges@univ-lyon1.fr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4D22B4E-C269-277E-495F-EA198F3A0023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F31500-673E-C58D-A24F-8A3B9B602C12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0745980-14A9-F22B-4700-93764E53E684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F199DE-9788-4F00-2B0F-87D35C91B0C1}" type="datetime1">
              <a:rPr lang="fr-FR"/>
              <a:t>01/09/2025</a:t>
            </a:fld>
            <a:endParaRPr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3A4A5E-C217-94AE-E22F-3EF79DC37031}" type="datetime1">
              <a:rPr lang="fr-FR"/>
              <a:t>01/09/2025</a:t>
            </a:fld>
            <a:endParaRPr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A9676B8-4993-8891-90A3-9BB501A4F1DA}" type="datetime1">
              <a:rPr lang="fr-FR"/>
              <a:t>01/09/2025</a:t>
            </a:fld>
            <a:endParaRPr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8CE516C-8AA4-8F34-2E1A-8C8B8182571E}" type="datetime1">
              <a:rPr lang="fr-FR"/>
              <a:t>01/09/2025</a:t>
            </a:fld>
            <a:endParaRPr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973EBB8-358F-D349-D42C-75B5A06CFA6F}" type="datetime1">
              <a:rPr lang="fr-FR"/>
              <a:t>01/09/2025</a:t>
            </a:fld>
            <a:endParaRPr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D9BA146-A839-0AD0-55D8-CFDF2443131A}" type="datetime1">
              <a:rPr lang="fr-FR"/>
              <a:t>01/09/2025</a:t>
            </a:fld>
            <a:endParaRPr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52B1BB7-4BF7-6FBE-4C7D-1665EC5D7D13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B9A416A-4589-A3E5-2EC4-93720A714C11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rgbClr val="C00000"/>
                </a:solidFill>
              </a:defRPr>
            </a:lvl2pPr>
            <a:lvl3pPr>
              <a:defRPr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52DDDA-60A7-B237-99BA-18F8CD74636C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1" ftr="1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3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4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5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5.pn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6.pn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7.pn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8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9.png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0.png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1.png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2.png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3.png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4.png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5.png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6.png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27.png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28.png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29.png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30.png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31.png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32.png"/></Relationships>
</file>

<file path=ppt/slides/_rels/slide1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33.png"/></Relationships>
</file>

<file path=ppt/slides/_rels/slide1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34.png"/></Relationships>
</file>

<file path=ppt/slides/_rels/slide1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35.png"/></Relationships>
</file>

<file path=ppt/slides/_rels/slide1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36.png"/></Relationships>
</file>

<file path=ppt/slides/_rels/slide1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37.png"/></Relationships>
</file>

<file path=ppt/slides/_rels/slide1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38.png"/></Relationships>
</file>

<file path=ppt/slides/_rels/slide1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39.png"/></Relationships>
</file>

<file path=ppt/slides/_rels/slide1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40.png"/></Relationships>
</file>

<file path=ppt/slides/_rels/slide1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41.png"/></Relationships>
</file>

<file path=ppt/slides/_rels/slide1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41.png"/></Relationships>
</file>

<file path=ppt/slides/_rels/slide1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1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44.png"/></Relationships>
</file>

<file path=ppt/slides/_rels/slide1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45.png"/></Relationships>
</file>

<file path=ppt/slides/_rels/slide1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46.png"/></Relationships>
</file>

<file path=ppt/slides/_rels/slide1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49.png"/></Relationships>
</file>

<file path=ppt/slides/_rels/slide1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ctr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Applications de l'Internet</a:t>
            </a:r>
            <a:endParaRPr/>
          </a:p>
        </p:txBody>
      </p:sp>
      <p:sp>
        <p:nvSpPr>
          <p:cNvPr id="9013" name="Sub"/>
          <p:cNvSpPr txBox="1">
            <a:spLocks noGrp="1"/>
          </p:cNvSpPr>
          <p:nvPr>
            <p:ph type="subTitle" idx="1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Partie 2 — Applications Client/Serveur</a:t>
            </a:r>
            <a:endParaRPr/>
          </a:p>
          <a:p>
            <a:pPr>
              <a:defRPr/>
            </a:pPr>
            <a:r>
              <a:rPr lang="fr-FR"/>
              <a:t>Université Claude Bernard Lyon 1</a:t>
            </a:r>
            <a:endParaRPr/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Sources et bibliographie</a:t>
            </a:r>
            <a:endParaRPr/>
          </a:p>
        </p:txBody>
      </p:sp>
      <p:sp>
        <p:nvSpPr>
          <p:cNvPr id="9011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D'après le cours d'Olivier Glück (Université Lyon 1)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Figures et tableaux repris des supports d'origine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RFC (rfc-editor.org) et documentation des protocoles</a:t>
            </a:r>
            <a:endParaRPr/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Plan de la partie 2</a:t>
            </a:r>
            <a:endParaRPr/>
          </a:p>
        </p:txBody>
      </p:sp>
      <p:sp>
        <p:nvSpPr>
          <p:cNvPr id="9011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sz="2200" b="0">
                <a:solidFill>
                  <a:schemeClr val="accent5">
                    <a:lumMod val="75000"/>
                  </a:schemeClr>
                </a:solidFill>
              </a:rPr>
              <a:t>Introduction / Rappel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Applications de connexion à distance (SSH, X)</a:t>
            </a:r>
            <a:endParaRPr lang="fr-FR" sz="2200" b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Transfert de fichiers (FTP, TFTP, NFS, SMB)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Annuaires : NIS, DNS, LDAP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Messagerie électronique (SMTP, IMAP, MIME)</a:t>
            </a:r>
            <a:endParaRPr/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78538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Plan de la partie 2</a:t>
            </a:r>
            <a:endParaRPr/>
          </a:p>
        </p:txBody>
      </p:sp>
      <p:sp>
        <p:nvSpPr>
          <p:cNvPr id="2024149492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sz="2200" b="1">
                <a:solidFill>
                  <a:schemeClr val="accent5">
                    <a:lumMod val="75000"/>
                  </a:schemeClr>
                </a:solidFill>
              </a:rPr>
              <a:t>Introduction / Rappel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Applications de connexion à distance (SSH, X)</a:t>
            </a:r>
            <a:endParaRPr lang="fr-FR" sz="2200" b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Transfert de fichiers (FTP, TFTP, NFS, SMB)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Annuaires : NIS, DNS, LDAP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Messagerie électronique (SMTP, IMAP, MIME)</a:t>
            </a:r>
            <a:endParaRPr/>
          </a:p>
        </p:txBody>
      </p:sp>
      <p:sp>
        <p:nvSpPr>
          <p:cNvPr id="43349891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3039A33-D594-0DB0-D4D9-244B3717540E}" type="slidenum">
              <a:rPr/>
              <a:t/>
            </a:fld>
            <a:endParaRPr/>
          </a:p>
        </p:txBody>
      </p:sp>
      <p:sp>
        <p:nvSpPr>
          <p:cNvPr id="1323506840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5F901B0-BDE8-B7D5-C682-DC18EE7B3100}" type="datetime1">
              <a:rPr lang="fr-FR"/>
              <a:t/>
            </a:fld>
            <a:endParaRPr/>
          </a:p>
        </p:txBody>
      </p:sp>
      <p:sp>
        <p:nvSpPr>
          <p:cNvPr id="29375588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Introduction / Rappels</a:t>
            </a:r>
            <a:endParaRPr/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La couche application</a:t>
            </a:r>
            <a:endParaRPr/>
          </a:p>
        </p:txBody>
      </p:sp>
      <p:sp>
        <p:nvSpPr>
          <p:cNvPr id="9011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Gère les logiciels applicatifs, au-dessus des couches inférieures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Repose sur le mode Client/Serveur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Distinguer l'application et le protocole applicatif</a:t>
            </a:r>
            <a:endParaRPr/>
          </a:p>
          <a:p>
            <a:pPr marL="85725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 protocole applicatif définit les échanges entre les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parties cliente et serveur de l'application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ne interface (API) permet au protocole applicatif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d'utiliser les services de bout-en-bout fournis par un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protocole de transport sous-jacent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lvl="1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1800" b="0">
                <a:solidFill>
                  <a:schemeClr val="accent5">
                    <a:lumMod val="75000"/>
                  </a:schemeClr>
                </a:solidFill>
              </a:rPr>
              <a:t>Le protocole définit le format des messages et l'ordre des échanges</a:t>
            </a:r>
            <a:endParaRPr lang="fr-FR" sz="1800" b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Quel service de transport ? </a:t>
            </a:r>
            <a:r>
              <a:rPr/>
              <a:t>-</a:t>
            </a:r>
            <a:r>
              <a:rPr lang="fr-FR"/>
              <a:t> les critères</a:t>
            </a:r>
            <a:endParaRPr/>
          </a:p>
        </p:txBody>
      </p:sp>
      <p:sp>
        <p:nvSpPr>
          <p:cNvPr id="9011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Pertes : l'application tolère-t-elle des pertes ? (fiabilité)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Débit : besoin d'une bande passante minimale ?</a:t>
            </a:r>
            <a:endParaRPr lang="fr-FR" sz="2200" b="0">
              <a:solidFill>
                <a:schemeClr val="accent5">
                  <a:lumMod val="75000"/>
                </a:schemeClr>
              </a:solidFill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B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ande passante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: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Quelle est la taille minimale du tuyau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communication ?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Délai : contrainte temps réel (téléphonie, jeux, visio) ?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Ces critères orientent le choix TCP ou UDP</a:t>
            </a:r>
            <a:endParaRPr/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0258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Quel service de transport ? </a:t>
            </a:r>
            <a:r>
              <a:rPr/>
              <a:t>-</a:t>
            </a:r>
            <a:r>
              <a:rPr lang="fr-FR"/>
              <a:t> </a:t>
            </a:r>
            <a:r>
              <a:rPr/>
              <a:t>Fiabilité</a:t>
            </a:r>
            <a:endParaRPr/>
          </a:p>
        </p:txBody>
      </p:sp>
      <p:sp>
        <p:nvSpPr>
          <p:cNvPr id="1262322098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Certaines applications nécessitent une fiabilité à 100%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Courrier électronique (SMTP)</a:t>
            </a:r>
            <a:endParaRPr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Transfert de fichiers (FTP)</a:t>
            </a:r>
            <a:endParaRPr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Accès distant (Telnet)</a:t>
            </a:r>
            <a:endParaRPr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Transfert de documents Web (HTTP)</a:t>
            </a:r>
            <a:endParaRPr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Applications financières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D'autres peuvent tolérer des pertes (loss-tolerant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applications)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Applications multimédia : audio/vidéo (une perte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d'une faible quantité de données n'induit qu'une petite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irrégularité dans l'écoute ou la vision du film)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99776643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2AD28A0-A2DF-4813-58DB-84AEB0DB1AFD}" type="slidenum">
              <a:rPr/>
              <a:t/>
            </a:fld>
            <a:endParaRPr/>
          </a:p>
        </p:txBody>
      </p:sp>
      <p:sp>
        <p:nvSpPr>
          <p:cNvPr id="197960180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A4E1880-8C5E-C46B-7AA3-471A685EA9FD}" type="datetime1">
              <a:rPr lang="fr-FR"/>
              <a:t/>
            </a:fld>
            <a:endParaRPr/>
          </a:p>
        </p:txBody>
      </p:sp>
      <p:sp>
        <p:nvSpPr>
          <p:cNvPr id="76021849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74894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Quel service de transport ? </a:t>
            </a:r>
            <a:r>
              <a:rPr/>
              <a:t>–</a:t>
            </a:r>
            <a:r>
              <a:rPr lang="fr-FR"/>
              <a:t> </a:t>
            </a:r>
            <a:r>
              <a:rPr/>
              <a:t>Bande Passante</a:t>
            </a:r>
            <a:endParaRPr/>
          </a:p>
        </p:txBody>
      </p:sp>
      <p:sp>
        <p:nvSpPr>
          <p:cNvPr id="1883809834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Certaines applications requièrent une bande passante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minimale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Téléphonie sur Internet : si la voix est codée à 32</a:t>
            </a:r>
            <a:r>
              <a:rPr lang="fr-FR"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Kbps, les données doivent être transmises et reçues à</a:t>
            </a:r>
            <a:r>
              <a:rPr lang="fr-FR"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ce débit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Applications multimédia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D'autres utilisent la bande passante disponible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(applications élastiques)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Char char="•"/>
              <a:defRPr/>
            </a:pPr>
            <a:r>
              <a:rPr lang="fr-FR"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Courrier électronique, transfert de fichiers, accès</a:t>
            </a:r>
            <a:r>
              <a:rPr lang="fr-FR"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distant, Web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Char char="•"/>
              <a:defRPr/>
            </a:pPr>
            <a:r>
              <a:rPr lang="fr-FR"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Plus il y a de bande passante, mieux c'est !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435353860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CCFF48A1-1913-8DED-9C59-70011BED860C}" type="slidenum">
              <a:rPr/>
              <a:t/>
            </a:fld>
            <a:endParaRPr/>
          </a:p>
        </p:txBody>
      </p:sp>
      <p:sp>
        <p:nvSpPr>
          <p:cNvPr id="1509469285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C83D5BD-35DA-27EC-5B81-BC33CF09E18B}" type="datetime1">
              <a:rPr lang="fr-FR"/>
              <a:t/>
            </a:fld>
            <a:endParaRPr/>
          </a:p>
        </p:txBody>
      </p:sp>
      <p:sp>
        <p:nvSpPr>
          <p:cNvPr id="1053566129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10394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Quel service de transport ? </a:t>
            </a:r>
            <a:r>
              <a:rPr/>
              <a:t>–</a:t>
            </a:r>
            <a:r>
              <a:rPr lang="fr-FR"/>
              <a:t> </a:t>
            </a:r>
            <a:r>
              <a:rPr/>
              <a:t>Délai</a:t>
            </a:r>
            <a:endParaRPr/>
          </a:p>
        </p:txBody>
      </p:sp>
      <p:sp>
        <p:nvSpPr>
          <p:cNvPr id="354147256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Certaines applications nécessitent un délai de bout-</a:t>
            </a: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en-bout faible (moins de quelques centaines de ms)</a:t>
            </a:r>
            <a:endParaRPr lang="fr-FR" sz="2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Applications temps réel interactives :</a:t>
            </a:r>
            <a:endParaRPr lang="fr-FR" sz="2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Téléphonie sur Internet</a:t>
            </a:r>
            <a:endParaRPr lang="fr-FR" sz="2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Environnements virtuels</a:t>
            </a:r>
            <a:endParaRPr lang="fr-FR" sz="2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Téléconférence</a:t>
            </a:r>
            <a:endParaRPr lang="fr-FR" sz="2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Jeux en réseau</a:t>
            </a:r>
            <a:endParaRPr lang="fr-FR" sz="2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Pour les applications non temps réel, un délai court</a:t>
            </a: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est préférable, mais pas de contrainte forte</a:t>
            </a:r>
            <a:endParaRPr lang="fr-FR" sz="2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51063412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603CB0E-08A7-88F0-4C93-2EC80C29FBBA}" type="slidenum">
              <a:rPr/>
              <a:t/>
            </a:fld>
            <a:endParaRPr/>
          </a:p>
        </p:txBody>
      </p:sp>
      <p:sp>
        <p:nvSpPr>
          <p:cNvPr id="66258254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EF4ECD4-5FD7-03F6-FB25-91678FCC8FCD}" type="datetime1">
              <a:rPr lang="fr-FR"/>
              <a:t/>
            </a:fld>
            <a:endParaRPr/>
          </a:p>
        </p:txBody>
      </p:sp>
      <p:sp>
        <p:nvSpPr>
          <p:cNvPr id="52173912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Sensibilité des applications au transport</a:t>
            </a:r>
            <a:endParaRPr/>
          </a:p>
        </p:txBody>
      </p:sp>
      <p:pic>
        <p:nvPicPr>
          <p:cNvPr id="9012" name="img901"/>
          <p:cNvPicPr>
            <a:picLocks noChangeAspect="1"/>
          </p:cNvPicPr>
          <p:nvPr/>
        </p:nvPicPr>
        <p:blipFill>
          <a:blip r:embed="rId3"/>
          <a:srcRect l="0" t="14484" r="0" b="0"/>
          <a:stretch/>
        </p:blipFill>
        <p:spPr bwMode="auto">
          <a:xfrm flipH="0" flipV="0">
            <a:off x="1097163" y="1836262"/>
            <a:ext cx="9997670" cy="3792481"/>
          </a:xfrm>
          <a:prstGeom prst="rect">
            <a:avLst/>
          </a:prstGeom>
        </p:spPr>
      </p:pic>
      <p:sp>
        <p:nvSpPr>
          <p:cNvPr id="9001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Quel service de transport ? </a:t>
            </a:r>
            <a:r>
              <a:rPr/>
              <a:t>-</a:t>
            </a:r>
            <a:r>
              <a:rPr lang="fr-FR"/>
              <a:t> TCP ou UDP</a:t>
            </a:r>
            <a:endParaRPr/>
          </a:p>
        </p:txBody>
      </p:sp>
      <p:sp>
        <p:nvSpPr>
          <p:cNvPr id="9011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TCP : orienté connexion, fiable, contrôle de flux et de congestion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orienté connexion : connexion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nécessaire entre le client et le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transport fiable entre le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processus émetteur et récepteur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contrôle de flot : l'émetteur ne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submerge pas le récepteur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contrôle de congestion : réduit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débit de l'émetteur quand le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réseau est congestionné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ne propose pas :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garantie de délai,</a:t>
            </a:r>
            <a:endParaRPr lang="fr-FR" sz="1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3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bande passante minimale</a:t>
            </a:r>
            <a:endParaRPr lang="fr-FR" sz="1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1257299" marR="0" lvl="3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TCP pour la fiabilité (fichiers, mail, web)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1056445019" name="Content"/>
          <p:cNvSpPr>
            <a:spLocks noGrp="1"/>
          </p:cNvSpPr>
          <p:nvPr/>
        </p:nvSpPr>
        <p:spPr bwMode="auto">
          <a:xfrm>
            <a:off x="6391373" y="1830731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UDP : sans connexion, sans garantie, simple et rapide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transfert de données non</a:t>
            </a: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fiable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ne propose pas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connexion,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fiabilité,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contrôle de flot,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contrôle de congestion,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garantie temporelle,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bande passante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49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beaucoup plus simple que</a:t>
            </a: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TCP (UDP=IP) donc plus</a:t>
            </a: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</a:t>
            </a: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apide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pas de limitation du débit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UDP pour la latence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QUIC : transport moderne sur UDP (fiable + chiffré, base de HTTP/3)</a:t>
            </a:r>
            <a:endParaRPr sz="7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Principales applications de l'Internet</a:t>
            </a:r>
            <a:endParaRPr/>
          </a:p>
        </p:txBody>
      </p:sp>
      <p:sp>
        <p:nvSpPr>
          <p:cNvPr id="9011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Chaque application s'appuie sur un protocole applicatif et un transport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Identifiée par un numéro de port (bien connu si &lt; 1024)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Exemples : HTTPS (443), DNS (53), SMTP (25), SSH (22)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Référence : IANA (numéros de ports)</a:t>
            </a:r>
            <a:endParaRPr/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Applications, ports et protocoles</a:t>
            </a:r>
            <a:endParaRPr/>
          </a:p>
        </p:txBody>
      </p:sp>
      <p:pic>
        <p:nvPicPr>
          <p:cNvPr id="9012" name="img902"/>
          <p:cNvPicPr>
            <a:picLocks noChangeAspect="1"/>
          </p:cNvPicPr>
          <p:nvPr/>
        </p:nvPicPr>
        <p:blipFill>
          <a:blip r:embed="rId3"/>
          <a:srcRect l="0" t="5627" r="0" b="0"/>
          <a:stretch/>
        </p:blipFill>
        <p:spPr bwMode="auto">
          <a:xfrm flipH="0" flipV="0">
            <a:off x="2028485" y="1836262"/>
            <a:ext cx="8135026" cy="4185265"/>
          </a:xfrm>
          <a:prstGeom prst="rect">
            <a:avLst/>
          </a:prstGeom>
        </p:spPr>
      </p:pic>
      <p:sp>
        <p:nvSpPr>
          <p:cNvPr id="9001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991989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Plan de la partie 2</a:t>
            </a:r>
            <a:endParaRPr/>
          </a:p>
        </p:txBody>
      </p:sp>
      <p:sp>
        <p:nvSpPr>
          <p:cNvPr id="735162995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sz="2200" b="0">
                <a:solidFill>
                  <a:schemeClr val="accent5">
                    <a:lumMod val="75000"/>
                  </a:schemeClr>
                </a:solidFill>
              </a:rPr>
              <a:t>Introduction / Rappel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1">
                <a:solidFill>
                  <a:schemeClr val="accent5">
                    <a:lumMod val="75000"/>
                  </a:schemeClr>
                </a:solidFill>
              </a:rPr>
              <a:t>Applications de connexion à distance (SSH, X)</a:t>
            </a:r>
            <a:endParaRPr lang="fr-FR" sz="2200" b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Transfert de fichiers (FTP, TFTP, NFS, SMB)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Annuaires : NIS, DNS, LDAP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Messagerie électronique (SMTP, IMAP, MIME)</a:t>
            </a:r>
            <a:endParaRPr/>
          </a:p>
        </p:txBody>
      </p:sp>
      <p:sp>
        <p:nvSpPr>
          <p:cNvPr id="91792352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BB29DEC-F7CF-4DCC-0FF9-2EB1A65DD425}" type="slidenum">
              <a:rPr/>
              <a:t/>
            </a:fld>
            <a:endParaRPr/>
          </a:p>
        </p:txBody>
      </p:sp>
      <p:sp>
        <p:nvSpPr>
          <p:cNvPr id="14061506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BCD41C7-4976-A3F2-A40E-12937CDEA2B3}" type="datetime1">
              <a:rPr lang="fr-FR"/>
              <a:t/>
            </a:fld>
            <a:endParaRPr/>
          </a:p>
        </p:txBody>
      </p:sp>
      <p:sp>
        <p:nvSpPr>
          <p:cNvPr id="716106295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Applications de connexion à distance</a:t>
            </a:r>
            <a:endParaRPr/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Connexion à distance : principe</a:t>
            </a:r>
            <a:endParaRPr/>
          </a:p>
        </p:txBody>
      </p:sp>
      <p:sp>
        <p:nvSpPr>
          <p:cNvPr id="9011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Exécuter un shell sur une machine distante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Le client capture le clavier et affiche l'écran ; le serveur exécute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Historiquement : telnet, rlogin, rsh (en clair, non sécurisés)</a:t>
            </a:r>
            <a:endParaRPr lang="fr-FR" sz="2200" b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Aujourd'hui : SSH, qui chiffre toute la session</a:t>
            </a:r>
            <a:endParaRPr lang="fr-FR" sz="2200" b="0">
              <a:solidFill>
                <a:schemeClr val="accent5">
                  <a:lumMod val="75000"/>
                </a:schemeClr>
              </a:solidFill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telnet : le standard (existe sur de nombreuses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plate-formes)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rlogin : uniquement entre machines unix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ssh : sécurisé (authentification + cryptage), peut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transporter le DISPLAY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Connexion locale vs connexion distante</a:t>
            </a:r>
            <a:endParaRPr/>
          </a:p>
        </p:txBody>
      </p:sp>
      <p:pic>
        <p:nvPicPr>
          <p:cNvPr id="9012" name="img90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90960" y="1783080"/>
            <a:ext cx="8610079" cy="4434840"/>
          </a:xfrm>
          <a:prstGeom prst="rect">
            <a:avLst/>
          </a:prstGeom>
        </p:spPr>
      </p:pic>
      <p:sp>
        <p:nvSpPr>
          <p:cNvPr id="9001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Telnet (historique)</a:t>
            </a:r>
            <a:endParaRPr/>
          </a:p>
        </p:txBody>
      </p:sp>
      <p:sp>
        <p:nvSpPr>
          <p:cNvPr id="9011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Un des premiers protocoles de l'Internet (RFC 854/855)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Émulation de terminal sur le réseau (port 23)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Tout circule en clair, mots de passe compris → à proscrire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Remplacé par SSH</a:t>
            </a:r>
            <a:endParaRPr/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rlogin et rsh (historique)</a:t>
            </a:r>
            <a:endParaRPr/>
          </a:p>
        </p:txBody>
      </p:sp>
      <p:sp>
        <p:nvSpPr>
          <p:cNvPr id="9011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rlogin : login distant « à la BSD » (port 513)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rsh : exécution d'une commande distante (port 514)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Authentification par fichiers de confiance (.rhosts) : dangereuse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En clair et non sécurisés → abandonnés au profit de SSH</a:t>
            </a:r>
            <a:endParaRPr/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SSH : un shell distant sécurisé</a:t>
            </a:r>
            <a:endParaRPr/>
          </a:p>
        </p:txBody>
      </p:sp>
      <p:sp>
        <p:nvSpPr>
          <p:cNvPr id="9011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Chiffre toute la session (confidentialité, intégrité)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Authentification forte du serveur et du client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Remplace telnet, rlogin et rsh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Permet aussi le transfert de fichiers (scp, sftp) et des tunnels</a:t>
            </a:r>
            <a:endParaRPr/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338089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SSH : un shell distant sécurisé</a:t>
            </a:r>
            <a:endParaRPr/>
          </a:p>
        </p:txBody>
      </p:sp>
      <p:sp>
        <p:nvSpPr>
          <p:cNvPr id="452209326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communications sont cryptées</a:t>
            </a:r>
            <a:endParaRPr lang="fr-FR"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Authentification à base de clés</a:t>
            </a:r>
            <a:endParaRPr lang="fr-FR"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des seuls protocoles de connexion à distance</a:t>
            </a: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qui passe les pare-feux de nos jours</a:t>
            </a:r>
            <a:endParaRPr lang="fr-FR"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Permet de transporter des fenêtres graphiques</a:t>
            </a: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via le tunnel SSH (multiplexage de plusieurs flux</a:t>
            </a: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dans la connexion)</a:t>
            </a:r>
            <a:endParaRPr lang="fr-FR"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Connexion TCP sur le port 22 côté serveur</a:t>
            </a:r>
            <a:endParaRPr lang="fr-FR"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Pas encore de RFC (ietf-internet-draft)</a:t>
            </a:r>
            <a:endParaRPr sz="7200"/>
          </a:p>
        </p:txBody>
      </p:sp>
      <p:sp>
        <p:nvSpPr>
          <p:cNvPr id="735539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582D621-CBFE-4DAE-9DFB-1E9DEC6E3087}" type="slidenum">
              <a:rPr/>
              <a:t/>
            </a:fld>
            <a:endParaRPr/>
          </a:p>
        </p:txBody>
      </p:sp>
      <p:sp>
        <p:nvSpPr>
          <p:cNvPr id="26170562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7D06BA-3814-5E15-EB8B-ACA04471A125}" type="datetime1">
              <a:rPr lang="fr-FR"/>
              <a:t/>
            </a:fld>
            <a:endParaRPr/>
          </a:p>
        </p:txBody>
      </p:sp>
      <p:sp>
        <p:nvSpPr>
          <p:cNvPr id="1405237799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SSH : syntaxes et usages</a:t>
            </a:r>
            <a:endParaRPr/>
          </a:p>
        </p:txBody>
      </p:sp>
      <p:sp>
        <p:nvSpPr>
          <p:cNvPr id="9011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Connexion : ssh utilisateur@hôte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Commande distante : ssh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utilisateur@hôte</a:t>
            </a:r>
            <a:r>
              <a:rPr sz="2200" b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commande</a:t>
            </a:r>
            <a:endParaRPr lang="fr-FR" sz="2200" b="0">
              <a:solidFill>
                <a:schemeClr val="accent5">
                  <a:lumMod val="75000"/>
                </a:schemeClr>
              </a:solidFill>
            </a:endParaRPr>
          </a:p>
          <a:p>
            <a:pPr marL="857250" lvl="1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Copie de fichiers : scp, sftp</a:t>
            </a:r>
            <a:endParaRPr lang="fr-FR" sz="2200" b="0">
              <a:solidFill>
                <a:schemeClr val="accent5">
                  <a:lumMod val="75000"/>
                </a:schemeClr>
              </a:solidFill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scp file1 file2 user@hostname: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lvl="1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scp -r dir user@hostname:/tmp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Redirection de ports (tunnels) : ssh -L</a:t>
            </a:r>
            <a:endParaRPr/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SSH : tunnels (port forwarding)</a:t>
            </a:r>
            <a:endParaRPr/>
          </a:p>
        </p:txBody>
      </p:sp>
      <p:pic>
        <p:nvPicPr>
          <p:cNvPr id="9012" name="img904"/>
          <p:cNvPicPr>
            <a:picLocks noChangeAspect="1"/>
          </p:cNvPicPr>
          <p:nvPr/>
        </p:nvPicPr>
        <p:blipFill>
          <a:blip r:embed="rId3"/>
          <a:srcRect l="0" t="25819" r="0" b="0"/>
          <a:stretch/>
        </p:blipFill>
        <p:spPr bwMode="auto">
          <a:xfrm flipH="0" flipV="0">
            <a:off x="792479" y="3525231"/>
            <a:ext cx="10607040" cy="2804766"/>
          </a:xfrm>
          <a:prstGeom prst="rect">
            <a:avLst/>
          </a:prstGeom>
        </p:spPr>
      </p:pic>
      <p:sp>
        <p:nvSpPr>
          <p:cNvPr id="9001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280560158" name=""/>
          <p:cNvSpPr txBox="1"/>
          <p:nvPr/>
        </p:nvSpPr>
        <p:spPr bwMode="auto">
          <a:xfrm flipH="0" flipV="0">
            <a:off x="2967363" y="2413575"/>
            <a:ext cx="625763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996172189" name="Content"/>
          <p:cNvSpPr>
            <a:spLocks noGrp="1"/>
          </p:cNvSpPr>
          <p:nvPr/>
        </p:nvSpPr>
        <p:spPr bwMode="auto">
          <a:xfrm flipH="0" flipV="0">
            <a:off x="838198" y="1825624"/>
            <a:ext cx="10515600" cy="436071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On peut faire passer n'importe quoi dans un tunnel ssh :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ssh –L 3280:pop.univ-lyon1.fr:110 pop.univ-lyon1.fr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Tout ce qu'on envoie sur localhost/3280 arrive sur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pop/110 mais les données sont chiffrées (encapsulées dans le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protocole ssh)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SSH : le chiffrement</a:t>
            </a:r>
            <a:r>
              <a:rPr/>
              <a:t> - principe</a:t>
            </a:r>
            <a:endParaRPr/>
          </a:p>
        </p:txBody>
      </p:sp>
      <p:sp>
        <p:nvSpPr>
          <p:cNvPr id="9011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sz="2400" b="0">
                <a:solidFill>
                  <a:schemeClr val="accent5">
                    <a:lumMod val="75000"/>
                  </a:schemeClr>
                </a:solidFill>
              </a:rPr>
              <a:t>Principe</a:t>
            </a:r>
            <a:endParaRPr sz="2400" b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endParaRPr sz="3600"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endParaRPr sz="3600"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endParaRPr sz="3600"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endParaRPr sz="3600"/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La qualité de la sécurité dépend</a:t>
            </a:r>
            <a:endParaRPr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du secret de la clé</a:t>
            </a:r>
            <a:endParaRPr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la longueur de la clé (plus il y a de bits, plus il est 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difficile d'essayer toutes les clés)</a:t>
            </a:r>
            <a:endParaRPr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la difficulté d'inversion de l'algorithme de chiffrement</a:t>
            </a:r>
            <a:endParaRPr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20577311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81399" y="2042474"/>
            <a:ext cx="5029199" cy="2362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753913" name="Title"/>
          <p:cNvSpPr txBox="1">
            <a:spLocks noGrp="1"/>
          </p:cNvSpPr>
          <p:nvPr>
            <p:ph type="title"/>
          </p:nvPr>
        </p:nvSpPr>
        <p:spPr bwMode="auto">
          <a:xfrm>
            <a:off x="838198" y="119635"/>
            <a:ext cx="10515600" cy="1325562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SSH : le chiffrement</a:t>
            </a:r>
            <a:endParaRPr/>
          </a:p>
        </p:txBody>
      </p:sp>
      <p:sp>
        <p:nvSpPr>
          <p:cNvPr id="1359344440" name="Content"/>
          <p:cNvSpPr>
            <a:spLocks noGrp="1"/>
          </p:cNvSpPr>
          <p:nvPr>
            <p:ph idx="1"/>
          </p:nvPr>
        </p:nvSpPr>
        <p:spPr bwMode="auto">
          <a:xfrm>
            <a:off x="838198" y="1138253"/>
            <a:ext cx="10515600" cy="4351338"/>
          </a:xfrm>
        </p:spPr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Asymétrique (RSA…) pour l'authentification et l'échange de clé</a:t>
            </a:r>
            <a:endParaRPr/>
          </a:p>
          <a:p>
            <a:pPr marL="85725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utilisation d'une clé publique pour le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chiffrement et d'une clé privée pour le déchiffrement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Symétrique (AES…) pour chiffrer les données de la session</a:t>
            </a:r>
            <a:endParaRPr/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même clé privée secrète partagée utilisée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pour le chiffrement et le déchiffrement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Le symétrique est bien moins coûteux → utilisé pour le flux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Une clé de session est négociée à l'établissement</a:t>
            </a:r>
            <a:endParaRPr/>
          </a:p>
        </p:txBody>
      </p:sp>
      <p:sp>
        <p:nvSpPr>
          <p:cNvPr id="482261057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9022257-7239-1AEA-4AA0-BC21B7815789}" type="slidenum">
              <a:rPr/>
              <a:t/>
            </a:fld>
            <a:endParaRPr/>
          </a:p>
        </p:txBody>
      </p:sp>
      <p:sp>
        <p:nvSpPr>
          <p:cNvPr id="18525590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F56CCA4-23D2-7A61-2BAC-C30B1C42CEE1}" type="datetime1">
              <a:rPr lang="fr-FR"/>
              <a:t/>
            </a:fld>
            <a:endParaRPr/>
          </a:p>
        </p:txBody>
      </p:sp>
      <p:sp>
        <p:nvSpPr>
          <p:cNvPr id="199097864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6384907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40004" y="4379535"/>
            <a:ext cx="5029199" cy="2362199"/>
          </a:xfrm>
          <a:prstGeom prst="rect">
            <a:avLst/>
          </a:prstGeom>
        </p:spPr>
      </p:pic>
      <p:pic>
        <p:nvPicPr>
          <p:cNvPr id="12950325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569304" y="4417635"/>
            <a:ext cx="4581524" cy="228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Chiffrement : clé de session (asymétrique + symétrique)</a:t>
            </a:r>
            <a:endParaRPr/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6571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866899" y="2405798"/>
            <a:ext cx="8458200" cy="3286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SSH : authentification par clés</a:t>
            </a:r>
            <a:endParaRPr/>
          </a:p>
        </p:txBody>
      </p:sp>
      <p:sp>
        <p:nvSpPr>
          <p:cNvPr id="9011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lgorithme asymétrique pour l'authentification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(généralement RSA : basé sur l'arithmétique modulo)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Par mot de passe, ou par bi-clé (clé publique / privée)</a:t>
            </a:r>
            <a:endParaRPr lang="fr-FR" sz="2200" b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La clé publique est déposée sur le serveur (authorized_keys)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Plus sûr et pratique (pas de mot de passe en clair)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Agent SSH pour ne pas ressaisir la phrase de passe</a:t>
            </a:r>
            <a:endParaRPr/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37412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SSH : </a:t>
            </a:r>
            <a:r>
              <a:rPr/>
              <a:t>chiffrement</a:t>
            </a:r>
            <a:endParaRPr/>
          </a:p>
        </p:txBody>
      </p:sp>
      <p:sp>
        <p:nvSpPr>
          <p:cNvPr id="1156476750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918010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B79DDEE-3A63-506C-C092-A58536E786A3}" type="slidenum">
              <a:rPr/>
              <a:t/>
            </a:fld>
            <a:endParaRPr/>
          </a:p>
        </p:txBody>
      </p:sp>
      <p:sp>
        <p:nvSpPr>
          <p:cNvPr id="930027724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5088595-5457-D681-85ED-98A4E70EE765}" type="datetime1">
              <a:rPr lang="fr-FR"/>
              <a:t/>
            </a:fld>
            <a:endParaRPr/>
          </a:p>
        </p:txBody>
      </p:sp>
      <p:sp>
        <p:nvSpPr>
          <p:cNvPr id="578426938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3347342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60309" y="1825624"/>
            <a:ext cx="7483530" cy="44255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266752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SSH : </a:t>
            </a:r>
            <a:r>
              <a:rPr/>
              <a:t>dé</a:t>
            </a:r>
            <a:r>
              <a:rPr/>
              <a:t>chiffrement</a:t>
            </a:r>
            <a:endParaRPr/>
          </a:p>
        </p:txBody>
      </p:sp>
      <p:sp>
        <p:nvSpPr>
          <p:cNvPr id="655148016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958757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49BE6BC-F801-8EDA-572B-7C100D602244}" type="slidenum">
              <a:rPr/>
              <a:t/>
            </a:fld>
            <a:endParaRPr/>
          </a:p>
        </p:txBody>
      </p:sp>
      <p:sp>
        <p:nvSpPr>
          <p:cNvPr id="1571098269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AE32576-CAE6-F5E9-6A83-5AFEFB47A2C4}" type="datetime1">
              <a:rPr lang="fr-FR"/>
              <a:t/>
            </a:fld>
            <a:endParaRPr/>
          </a:p>
        </p:txBody>
      </p:sp>
      <p:sp>
        <p:nvSpPr>
          <p:cNvPr id="1299715796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725645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6837" y="2453481"/>
            <a:ext cx="9458325" cy="3095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774073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SSH : </a:t>
            </a:r>
            <a:r>
              <a:rPr/>
              <a:t>authentification</a:t>
            </a:r>
            <a:endParaRPr/>
          </a:p>
        </p:txBody>
      </p:sp>
      <p:sp>
        <p:nvSpPr>
          <p:cNvPr id="1581287421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4 méthodes sont essayées dans l'ordre par sshd</a:t>
            </a:r>
            <a:endParaRPr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628649" marR="0" lvl="1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authentification automatique (souvent désactivée sur le serveur car 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considérée 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insecured)</a:t>
            </a:r>
            <a:endParaRPr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028700" marR="0" lvl="2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9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avec /etc/hosts.equiv ou /etc/ssh/shosts.equiv</a:t>
            </a:r>
            <a:endParaRPr sz="19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028700" marR="0" lvl="2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9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avec ~/.rhosts ou ~/.shosts</a:t>
            </a:r>
            <a:endParaRPr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628649" marR="0" lvl="1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authentification automatique forte "améliorée"</a:t>
            </a:r>
            <a:endParaRPr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028700" marR="0" lvl="2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7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idem (avec fichiers rhosts ou hosts.equiv) mais </a:t>
            </a:r>
            <a:r>
              <a:rPr sz="17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combinée avec une authentification des </a:t>
            </a:r>
            <a:r>
              <a:rPr sz="17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hosts par RSA : le serveur </a:t>
            </a:r>
            <a:r>
              <a:rPr sz="17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vérifie la clé en provenance de la machine cliente</a:t>
            </a:r>
            <a:endParaRPr sz="17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028700" marR="0" lvl="2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7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Mot de passe demandé lors de la première connexion puis ajout du </a:t>
            </a:r>
            <a:r>
              <a:rPr sz="17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couple (@IP, clé publique) du serveur dans le fichier du client</a:t>
            </a:r>
            <a:endParaRPr sz="17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028700" marR="0" lvl="2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7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Si la clé publique change pour cette @IP alors on redemande une </a:t>
            </a:r>
            <a:r>
              <a:rPr sz="17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authentification forte par mot de passe</a:t>
            </a:r>
            <a:endParaRPr sz="17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028700" marR="0" lvl="2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7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/etc/ssh/ssh_known_hosts ou ~/.ssh/ssh_known_hosts</a:t>
            </a:r>
            <a:endParaRPr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830307339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72B45BE3-30B1-E59F-46A4-0714DF3A4642}" type="slidenum">
              <a:rPr/>
              <a:t/>
            </a:fld>
            <a:endParaRPr/>
          </a:p>
        </p:txBody>
      </p:sp>
      <p:sp>
        <p:nvSpPr>
          <p:cNvPr id="2137993724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ED47550-302D-45B8-50C7-2A62D8968EC4}" type="datetime1">
              <a:rPr lang="fr-FR"/>
              <a:t/>
            </a:fld>
            <a:endParaRPr/>
          </a:p>
        </p:txBody>
      </p:sp>
      <p:sp>
        <p:nvSpPr>
          <p:cNvPr id="1023483616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40171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SSH : </a:t>
            </a:r>
            <a:r>
              <a:rPr/>
              <a:t>authentification</a:t>
            </a:r>
            <a:endParaRPr/>
          </a:p>
        </p:txBody>
      </p:sp>
      <p:sp>
        <p:nvSpPr>
          <p:cNvPr id="1318370402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4 méthodes sont essayées dans l'ordre par sshd</a:t>
            </a:r>
            <a:endParaRPr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628649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authentification automatique forte par RSA (asymétrique)</a:t>
            </a:r>
            <a:endParaRPr sz="13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028700" marR="0" lvl="1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9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client génère un couple (clé_pub, clé_pri) avec ssh- </a:t>
            </a:r>
            <a:r>
              <a:rPr sz="19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keygen et copie la clé publique dans le fichier </a:t>
            </a:r>
            <a:r>
              <a:rPr sz="19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~/.ssh/authorized_keys sur le serveur ; liste les </a:t>
            </a:r>
            <a:r>
              <a:rPr sz="19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clés publiques autorisées (équivalent du ~/.rhosts !)</a:t>
            </a:r>
            <a:endParaRPr sz="19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028700" marR="0" lvl="1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9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client envoie au serveur sa clé publique ; si elle est </a:t>
            </a:r>
            <a:r>
              <a:rPr sz="19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dans le fichier, le serveur génère un nb aléatoire de 256 </a:t>
            </a:r>
            <a:r>
              <a:rPr sz="19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bits qu'il chiffre avec la clé envoyée par le client ; le client </a:t>
            </a:r>
            <a:r>
              <a:rPr sz="19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déchiffre avec sa clé privée puis la renvoie avec hachage </a:t>
            </a:r>
            <a:r>
              <a:rPr sz="19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MD5 ; le serveur calcule le hachage MD5 et vérifie</a:t>
            </a:r>
            <a:endParaRPr sz="13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628649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authentification par saisie du mot de passe mais ce dernier 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est chiffré par RSA avant d'être envoyé au serveur</a:t>
            </a:r>
            <a:endParaRPr sz="13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02506124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F0D4264-E82E-1E8D-7C87-BBF580928CC5}" type="slidenum">
              <a:rPr/>
              <a:t/>
            </a:fld>
            <a:endParaRPr/>
          </a:p>
        </p:txBody>
      </p:sp>
      <p:sp>
        <p:nvSpPr>
          <p:cNvPr id="1735380479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5BD2ECA-AA9E-EDAD-491E-78BF492DA675}" type="datetime1">
              <a:rPr lang="fr-FR"/>
              <a:t/>
            </a:fld>
            <a:endParaRPr/>
          </a:p>
        </p:txBody>
      </p:sp>
      <p:sp>
        <p:nvSpPr>
          <p:cNvPr id="275989046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X Window : multi-fenêtrage réparti</a:t>
            </a:r>
            <a:endParaRPr/>
          </a:p>
        </p:txBody>
      </p:sp>
      <p:sp>
        <p:nvSpPr>
          <p:cNvPr id="9011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Système d'affichage graphique réparti (Unix)</a:t>
            </a:r>
            <a:endParaRPr/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 serveur X : gère le matériel (clavier, écran, …) et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leur utilisation par les applications graphiques ;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accessible sur le port TCP 6000+n où n est le numéro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DISPLAY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es clients X : applications graphiques qui nécessitent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serveur X (xemacs, xterm, xcalc, xv, …)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 protocole X : fait communiquer les clients et le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Architecture de X (serveur X et clients distants)</a:t>
            </a:r>
            <a:endParaRPr/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345692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43075" y="2209407"/>
            <a:ext cx="8705849" cy="3857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79515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X Window : multi-fenêtrage réparti</a:t>
            </a:r>
            <a:endParaRPr/>
          </a:p>
        </p:txBody>
      </p:sp>
      <p:sp>
        <p:nvSpPr>
          <p:cNvPr id="1384261508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Système d'affichage graphique réparti (Unix)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Chaque client X peut définir ses caractéristiques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spécifications standards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fontes, géométrie de la fenêtre, background,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foreground, borderwidth, couleurs…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spécifications particulières à l'application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affichage ou non d'un ascenseur…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Gestion de fenêtres :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Window Manager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client X particulier qui gère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déplacement/redimensionnement de fenêtre</a:t>
            </a:r>
            <a:endParaRPr lang="fr-FR" sz="1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créer/détruire/iconifier des fenêtres</a:t>
            </a:r>
            <a:endParaRPr lang="fr-FR" sz="1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lancer ou terminer des applications X</a:t>
            </a:r>
            <a:endParaRPr lang="fr-FR"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851596787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7EE7372C-C917-F5F1-CA9E-BF42F8046872}" type="slidenum">
              <a:rPr/>
              <a:t/>
            </a:fld>
            <a:endParaRPr/>
          </a:p>
        </p:txBody>
      </p:sp>
      <p:sp>
        <p:nvSpPr>
          <p:cNvPr id="1383483569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4CE947C-B8B9-F826-6E71-34A6720AAD20}" type="datetime1">
              <a:rPr lang="fr-FR"/>
              <a:t/>
            </a:fld>
            <a:endParaRPr/>
          </a:p>
        </p:txBody>
      </p:sp>
      <p:sp>
        <p:nvSpPr>
          <p:cNvPr id="32074214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SSH : X11 forwarding</a:t>
            </a:r>
            <a:endParaRPr/>
          </a:p>
        </p:txBody>
      </p:sp>
      <p:sp>
        <p:nvSpPr>
          <p:cNvPr id="9011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SSH encapsule le protocole X dans un tunnel chiffré (ssh -X)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Positionne la variable DISPLAY automatiquement</a:t>
            </a:r>
            <a:endParaRPr lang="fr-FR" sz="2200" b="0">
              <a:solidFill>
                <a:schemeClr val="accent5">
                  <a:lumMod val="75000"/>
                </a:schemeClr>
              </a:solidFill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si la variable $DISPLAY du client ssh est positionnée,</a:t>
            </a:r>
            <a:r>
              <a:rPr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ssh -X permet au serveur d'exporter les fenêtres</a:t>
            </a:r>
            <a:r>
              <a:rPr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graphiques lancées à partir de la connexion ssh vers</a:t>
            </a:r>
            <a:r>
              <a:rPr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$DISPLAY du client (un "</a:t>
            </a:r>
            <a:r>
              <a:rPr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proxy X server" est créé</a:t>
            </a:r>
            <a:r>
              <a:rPr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sur la machine serveur pour transférer les connexions</a:t>
            </a:r>
            <a:r>
              <a:rPr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X vers le client via la session ssh)</a:t>
            </a:r>
            <a:endParaRPr lang="fr-FR" sz="2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Affiche localement une application graphique exécutée à distance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Sécurise X, qui n'est pas chiffré nativement</a:t>
            </a:r>
            <a:endParaRPr/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SSH X11 forwarding</a:t>
            </a:r>
            <a:endParaRPr/>
          </a:p>
        </p:txBody>
      </p:sp>
      <p:sp>
        <p:nvSpPr>
          <p:cNvPr id="9001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20D828-0625-0AAD-A98F-2FA4CB81982E}" type="slidenum">
              <a:rPr/>
              <a:t/>
            </a:fld>
            <a:endParaRPr/>
          </a:p>
        </p:txBody>
      </p:sp>
      <p:sp>
        <p:nvSpPr>
          <p:cNvPr id="900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DFE9D-3E04-4B59-7E9F-9772254CDCA6}" type="datetime1">
              <a:rPr lang="fr-FR"/>
              <a:t/>
            </a:fld>
            <a:endParaRPr/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20307253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99723" y="1774574"/>
            <a:ext cx="6992551" cy="4287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30526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Plan de la partie 2</a:t>
            </a:r>
            <a:endParaRPr/>
          </a:p>
        </p:txBody>
      </p:sp>
      <p:sp>
        <p:nvSpPr>
          <p:cNvPr id="1061013005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sz="2200" b="0">
                <a:solidFill>
                  <a:schemeClr val="accent5">
                    <a:lumMod val="75000"/>
                  </a:schemeClr>
                </a:solidFill>
              </a:rPr>
              <a:t>Introduction / Rappel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Applications de connexion à distance (SSH, X)</a:t>
            </a:r>
            <a:endParaRPr lang="fr-FR" sz="2200" b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1">
                <a:solidFill>
                  <a:schemeClr val="accent5">
                    <a:lumMod val="75000"/>
                  </a:schemeClr>
                </a:solidFill>
              </a:rPr>
              <a:t>Transfert de fichiers (FTP, TFTP, NFS, SMB)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Annuaires : NIS, DNS, LDAP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Messagerie électronique (SMTP, IMAP, MIME)</a:t>
            </a:r>
            <a:endParaRPr/>
          </a:p>
        </p:txBody>
      </p:sp>
      <p:sp>
        <p:nvSpPr>
          <p:cNvPr id="316390298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8F0CFE0-D03D-90BC-1E56-662E69AE6770}" type="slidenum">
              <a:rPr/>
              <a:t/>
            </a:fld>
            <a:endParaRPr/>
          </a:p>
        </p:txBody>
      </p:sp>
      <p:sp>
        <p:nvSpPr>
          <p:cNvPr id="1294362035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928031E-F413-45B1-1CEE-E5A5E4D81C03}" type="datetime1">
              <a:rPr lang="fr-FR"/>
              <a:t/>
            </a:fld>
            <a:endParaRPr/>
          </a:p>
        </p:txBody>
      </p:sp>
      <p:sp>
        <p:nvSpPr>
          <p:cNvPr id="339820979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798358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Applications de transfert de fichiers</a:t>
            </a:r>
            <a:endParaRPr/>
          </a:p>
        </p:txBody>
      </p:sp>
      <p:sp>
        <p:nvSpPr>
          <p:cNvPr id="1777429704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16A18DE-C70A-9F7D-494D-A2B6CCC49DEC}" type="slidenum">
              <a:rPr/>
              <a:t/>
            </a:fld>
            <a:endParaRPr/>
          </a:p>
        </p:txBody>
      </p:sp>
      <p:sp>
        <p:nvSpPr>
          <p:cNvPr id="1610648363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67F189-EE17-6EFB-E911-82A580031FFE}" type="datetime1">
              <a:rPr lang="fr-FR"/>
              <a:t/>
            </a:fld>
            <a:endParaRPr/>
          </a:p>
        </p:txBody>
      </p:sp>
      <p:sp>
        <p:nvSpPr>
          <p:cNvPr id="28186136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550311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Protocoles de transfert de fichiers</a:t>
            </a:r>
            <a:endParaRPr/>
          </a:p>
        </p:txBody>
      </p:sp>
      <p:sp>
        <p:nvSpPr>
          <p:cNvPr id="1883469302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Copier un fichier d'un système de fichiers vers un autre, via le réseau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L'hétérogénéité concernant les fichiers est</a:t>
            </a:r>
            <a:r>
              <a:rPr sz="1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dépendante d'un système à l'autre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la façon de représenter les noms de fichier (longueur,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caractère espace,…)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des droits d'accès au fichier (lecture, écriture, exécution,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propriétaire, …)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la représentation des données contenues dans le fichier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(saut de ligne…)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49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--&gt; mode ascii : transfert au format NVT avec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conversion au format local (TYPE A)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--&gt; mode binary : transfert sans conversion (TYPE I)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Gérer l'hétérogénéité (noms, formats, droits) des deux systèmes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5291671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379127E5-F179-BB82-6F50-493BEBA2270D}" type="slidenum">
              <a:rPr/>
              <a:t/>
            </a:fld>
            <a:endParaRPr/>
          </a:p>
        </p:txBody>
      </p:sp>
      <p:sp>
        <p:nvSpPr>
          <p:cNvPr id="853169839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E2FE02E-04B8-26A2-E4DA-D26F51BAAB42}" type="datetime1">
              <a:rPr lang="fr-FR"/>
              <a:t/>
            </a:fld>
            <a:endParaRPr/>
          </a:p>
        </p:txBody>
      </p:sp>
      <p:sp>
        <p:nvSpPr>
          <p:cNvPr id="53226885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787688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Protocoles de transfert de fichiers</a:t>
            </a:r>
            <a:endParaRPr/>
          </a:p>
        </p:txBody>
      </p:sp>
      <p:sp>
        <p:nvSpPr>
          <p:cNvPr id="1091178791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Mode Client/Serveur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 client (initiateur de la connexion) interagit avec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l'utilisateur, le système de fichiers local et les protocoles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réseau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 serveur (héberge les fichiers distants) interagit avec les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protocoles réseau et le système de fichiers distant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Deux familles : transfert explicite (FTP) et accès transparent (NFS, SMB)</a:t>
            </a:r>
            <a:endParaRPr sz="7200"/>
          </a:p>
        </p:txBody>
      </p:sp>
      <p:sp>
        <p:nvSpPr>
          <p:cNvPr id="458116817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64358B7-0327-FEAC-5768-86DA6734130D}" type="slidenum">
              <a:rPr/>
              <a:t/>
            </a:fld>
            <a:endParaRPr/>
          </a:p>
        </p:txBody>
      </p:sp>
      <p:sp>
        <p:nvSpPr>
          <p:cNvPr id="1071776338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AA2DA71-3504-7D4B-6141-A47AFC918CB4}" type="datetime1">
              <a:rPr lang="fr-FR"/>
              <a:t/>
            </a:fld>
            <a:endParaRPr/>
          </a:p>
        </p:txBody>
      </p:sp>
      <p:sp>
        <p:nvSpPr>
          <p:cNvPr id="496332695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396452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Transfert de fichiers vers/depuis un hôte distant</a:t>
            </a:r>
            <a:endParaRPr/>
          </a:p>
        </p:txBody>
      </p:sp>
      <p:pic>
        <p:nvPicPr>
          <p:cNvPr id="793598583" name="img91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665351" y="1783080"/>
            <a:ext cx="8861295" cy="4434840"/>
          </a:xfrm>
          <a:prstGeom prst="rect">
            <a:avLst/>
          </a:prstGeom>
        </p:spPr>
      </p:pic>
      <p:sp>
        <p:nvSpPr>
          <p:cNvPr id="1842600237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54DB90B7-F128-E9AE-836E-96448CE046ED}" type="slidenum">
              <a:rPr/>
              <a:t/>
            </a:fld>
            <a:endParaRPr/>
          </a:p>
        </p:txBody>
      </p:sp>
      <p:sp>
        <p:nvSpPr>
          <p:cNvPr id="109268660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8541CD9-A4C5-D039-8553-75CF0E45ADAA}" type="datetime1">
              <a:rPr lang="fr-FR"/>
              <a:t/>
            </a:fld>
            <a:endParaRPr/>
          </a:p>
        </p:txBody>
      </p:sp>
      <p:sp>
        <p:nvSpPr>
          <p:cNvPr id="209509121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188898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FTP : File Transfer Protocol (RFC 959)</a:t>
            </a:r>
            <a:endParaRPr/>
          </a:p>
        </p:txBody>
      </p:sp>
      <p:sp>
        <p:nvSpPr>
          <p:cNvPr id="6434064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Standard historique de transfert de fichiers (port 21)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Authentification par login / mot de passe </a:t>
            </a:r>
            <a:r>
              <a:rPr sz="2200" b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 en clair !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Deux connexions séparées : </a:t>
            </a:r>
            <a:endParaRPr lang="fr-FR" sz="2200" b="0">
              <a:solidFill>
                <a:schemeClr val="accent5">
                  <a:lumMod val="75000"/>
                </a:schemeClr>
              </a:solidFill>
            </a:endParaRPr>
          </a:p>
          <a:p>
            <a:pPr marL="857250" lvl="1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sz="1800" b="0">
                <a:solidFill>
                  <a:schemeClr val="accent5">
                    <a:lumMod val="75000"/>
                  </a:schemeClr>
                </a:solidFill>
              </a:rPr>
              <a:t>Port 21 pour le </a:t>
            </a:r>
            <a:r>
              <a:rPr lang="fr-FR" sz="1800" b="0">
                <a:solidFill>
                  <a:schemeClr val="accent5">
                    <a:lumMod val="75000"/>
                  </a:schemeClr>
                </a:solidFill>
              </a:rPr>
              <a:t>contrôle</a:t>
            </a:r>
            <a:endParaRPr lang="fr-FR" sz="1800" b="0">
              <a:solidFill>
                <a:schemeClr val="accent5">
                  <a:lumMod val="75000"/>
                </a:schemeClr>
              </a:solidFill>
            </a:endParaRPr>
          </a:p>
          <a:p>
            <a:pPr marL="857250" lvl="1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sz="1800" b="0">
                <a:solidFill>
                  <a:schemeClr val="accent5">
                    <a:lumMod val="75000"/>
                  </a:schemeClr>
                </a:solidFill>
              </a:rPr>
              <a:t>Port 20 pour les d</a:t>
            </a:r>
            <a:r>
              <a:rPr lang="fr-FR" sz="1800" b="0">
                <a:solidFill>
                  <a:schemeClr val="accent5">
                    <a:lumMod val="75000"/>
                  </a:schemeClr>
                </a:solidFill>
              </a:rPr>
              <a:t>onnées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Aujourd'hui : préférer SFTP / FTPS (chiffrés)</a:t>
            </a:r>
            <a:endParaRPr/>
          </a:p>
        </p:txBody>
      </p:sp>
      <p:sp>
        <p:nvSpPr>
          <p:cNvPr id="587384170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93C2C06-F5EE-7974-4715-6794298F4F5C}" type="slidenum">
              <a:rPr/>
              <a:t/>
            </a:fld>
            <a:endParaRPr/>
          </a:p>
        </p:txBody>
      </p:sp>
      <p:sp>
        <p:nvSpPr>
          <p:cNvPr id="1153980805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15740A1-6D98-0406-EA3D-DF4F3B80299C}" type="datetime1">
              <a:rPr lang="fr-FR"/>
              <a:t/>
            </a:fld>
            <a:endParaRPr/>
          </a:p>
        </p:txBody>
      </p:sp>
      <p:sp>
        <p:nvSpPr>
          <p:cNvPr id="1750936499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217654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FTP : deux connexions (contrôle et données)</a:t>
            </a:r>
            <a:endParaRPr/>
          </a:p>
        </p:txBody>
      </p:sp>
      <p:sp>
        <p:nvSpPr>
          <p:cNvPr id="538330561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Connexion de contrôle (port 21) : dialogue commandes/réponses, permanente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Connexion de données (port 20) : transfert effectif, temporaire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Mode actif : le serveur ouvre la connexion de données vers le client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Mode passif : le client l'ouvre (compatible pare-feu / NAT)</a:t>
            </a:r>
            <a:endParaRPr/>
          </a:p>
        </p:txBody>
      </p:sp>
      <p:sp>
        <p:nvSpPr>
          <p:cNvPr id="45110658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722B0B7-DCD3-E4AB-5FE0-D34074EE2900}" type="slidenum">
              <a:rPr/>
              <a:t/>
            </a:fld>
            <a:endParaRPr/>
          </a:p>
        </p:txBody>
      </p:sp>
      <p:sp>
        <p:nvSpPr>
          <p:cNvPr id="705927896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55DCEB-6EC6-74A8-42E5-7EEF32E24EF8}" type="datetime1">
              <a:rPr lang="fr-FR"/>
              <a:t/>
            </a:fld>
            <a:endParaRPr/>
          </a:p>
        </p:txBody>
      </p:sp>
      <p:sp>
        <p:nvSpPr>
          <p:cNvPr id="2115518016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4052783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33549" y="4001293"/>
            <a:ext cx="8724899" cy="1962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709178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FTP : connexions contrôle et données</a:t>
            </a:r>
            <a:endParaRPr/>
          </a:p>
        </p:txBody>
      </p:sp>
      <p:pic>
        <p:nvPicPr>
          <p:cNvPr id="1466768800" name="img912"/>
          <p:cNvPicPr>
            <a:picLocks noChangeAspect="1"/>
          </p:cNvPicPr>
          <p:nvPr/>
        </p:nvPicPr>
        <p:blipFill>
          <a:blip r:embed="rId3"/>
          <a:srcRect l="31005" t="8063" r="0" b="0"/>
          <a:stretch/>
        </p:blipFill>
        <p:spPr bwMode="auto">
          <a:xfrm flipH="0" flipV="0">
            <a:off x="7817396" y="2140669"/>
            <a:ext cx="3163616" cy="4077249"/>
          </a:xfrm>
          <a:prstGeom prst="rect">
            <a:avLst/>
          </a:prstGeom>
        </p:spPr>
      </p:pic>
      <p:sp>
        <p:nvSpPr>
          <p:cNvPr id="1018896494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D9B99F4-1646-25BF-8E35-F3D0E799C80A}" type="slidenum">
              <a:rPr/>
              <a:t/>
            </a:fld>
            <a:endParaRPr/>
          </a:p>
        </p:txBody>
      </p:sp>
      <p:sp>
        <p:nvSpPr>
          <p:cNvPr id="1459221640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2F0B17-23C6-40A8-AAB5-4F3274EC3CB2}" type="datetime1">
              <a:rPr lang="fr-FR"/>
              <a:t/>
            </a:fld>
            <a:endParaRPr/>
          </a:p>
        </p:txBody>
      </p:sp>
      <p:sp>
        <p:nvSpPr>
          <p:cNvPr id="1755932481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875707322" name="Content"/>
          <p:cNvSpPr>
            <a:spLocks noGrp="1"/>
          </p:cNvSpPr>
          <p:nvPr/>
        </p:nvSpPr>
        <p:spPr bwMode="auto">
          <a:xfrm flipH="0" flipV="0">
            <a:off x="838198" y="1825624"/>
            <a:ext cx="6792624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Scénario d'une connexion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client FTP se connecte sur le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port 21 du serveur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port 21 sert à envoyer des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commandes au serveur FTP (put,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get, cd, …)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si une commande nécessite que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des données soient reçues ou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transmises (ls, get, put, …), le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client envoie une commande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PORT au serveur indiquant un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port (p1*256+p2) sur lequel le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 va créer une connexion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ftp-data depuis son port 20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la connexion ftp-data est close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dès que le transfert est terminé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39318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FTP : connexions contrôle et données</a:t>
            </a:r>
            <a:endParaRPr/>
          </a:p>
        </p:txBody>
      </p:sp>
      <p:sp>
        <p:nvSpPr>
          <p:cNvPr id="71411616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CDDB5BE-7010-09F9-98CF-294F6E7873F3}" type="slidenum">
              <a:rPr/>
              <a:t/>
            </a:fld>
            <a:endParaRPr/>
          </a:p>
        </p:txBody>
      </p:sp>
      <p:sp>
        <p:nvSpPr>
          <p:cNvPr id="663751090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319EB40-5ED9-2DC0-BDFE-A125F5A8209C}" type="datetime1">
              <a:rPr lang="fr-FR"/>
              <a:t/>
            </a:fld>
            <a:endParaRPr/>
          </a:p>
        </p:txBody>
      </p:sp>
      <p:sp>
        <p:nvSpPr>
          <p:cNvPr id="183627334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35574671" name="Content"/>
          <p:cNvSpPr>
            <a:spLocks noGrp="1"/>
          </p:cNvSpPr>
          <p:nvPr/>
        </p:nvSpPr>
        <p:spPr bwMode="auto">
          <a:xfrm flipH="0" flipV="0">
            <a:off x="838198" y="1825624"/>
            <a:ext cx="10425872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5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Connexion contrôle (ftp) :</a:t>
            </a:r>
            <a:endParaRPr lang="fr-FR" sz="15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5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échange des requêtes/réponses (dialogue client/serveur)</a:t>
            </a:r>
            <a:endParaRPr lang="fr-FR" sz="15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5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permanente, full-duplex, besoin de fiabilité (et faible</a:t>
            </a:r>
            <a:r>
              <a:rPr lang="fr-FR" sz="15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5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délai !)</a:t>
            </a:r>
            <a:endParaRPr lang="fr-FR" sz="15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5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initiée par le client</a:t>
            </a:r>
            <a:endParaRPr lang="fr-FR" sz="15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5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Connexion données (ftp-data) :</a:t>
            </a:r>
            <a:endParaRPr lang="fr-FR" sz="15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5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envoi de fichier ou liste de fichiers/répertoires (données)</a:t>
            </a:r>
            <a:endParaRPr lang="fr-FR" sz="15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5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temporaire, full-duplex, besoin de débit (et fiabilité !)</a:t>
            </a:r>
            <a:endParaRPr lang="fr-FR" sz="15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5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initiée par défaut par le serveur</a:t>
            </a:r>
            <a:endParaRPr lang="fr-FR" sz="15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5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ouverture active (connect()) du serveur vers le</a:t>
            </a:r>
            <a:r>
              <a:rPr lang="fr-FR" sz="15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5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client (depuis le port 20 vers le port ??</a:t>
            </a:r>
            <a:r>
              <a:rPr lang="fr-FR" sz="15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)</a:t>
            </a:r>
            <a:endParaRPr lang="fr-FR" sz="15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5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la connexion est fermée dès que le caractère EOF est lu</a:t>
            </a:r>
            <a:endParaRPr lang="fr-FR" sz="15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857250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9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TCP ou UDP ?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78830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4400" b="0" i="0" u="none" strike="noStrike" cap="none" spc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FTP : connexions contrôle et données</a:t>
            </a:r>
            <a:r>
              <a:rPr lang="fr-FR" sz="4400" b="0" i="0" u="none" strike="noStrike" cap="none" spc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 - </a:t>
            </a:r>
            <a:r>
              <a:rPr lang="fr-FR" sz="4400" b="0" i="0" u="none" strike="noStrike" cap="none" spc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Active transfer &amp; Passive transfer</a:t>
            </a:r>
            <a:endParaRPr/>
          </a:p>
        </p:txBody>
      </p:sp>
      <p:sp>
        <p:nvSpPr>
          <p:cNvPr id="1317813843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7269D7A6-2441-0F68-D029-9FC7E73C4104}" type="slidenum">
              <a:rPr/>
              <a:t/>
            </a:fld>
            <a:endParaRPr/>
          </a:p>
        </p:txBody>
      </p:sp>
      <p:sp>
        <p:nvSpPr>
          <p:cNvPr id="1794449529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6547581-04E7-4048-9BEC-1491AFEAC303}" type="datetime1">
              <a:rPr lang="fr-FR"/>
              <a:t/>
            </a:fld>
            <a:endParaRPr/>
          </a:p>
        </p:txBody>
      </p:sp>
      <p:sp>
        <p:nvSpPr>
          <p:cNvPr id="1077381031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74130319" name="Content"/>
          <p:cNvSpPr>
            <a:spLocks noGrp="1"/>
          </p:cNvSpPr>
          <p:nvPr/>
        </p:nvSpPr>
        <p:spPr bwMode="auto">
          <a:xfrm flipH="0" flipV="0">
            <a:off x="838198" y="1825624"/>
            <a:ext cx="10425872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Active transfer : la connexion ftp-data est initiée par le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--&gt; problème de firewall ou de NAT : impossibilité de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créer la connexion à partir du serveur même s'il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connaît le numéro de port du client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Passive transfer : ftp-data initiée par le client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intégré dans les navigateurs, paramétrable sur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certains clients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fonctionnement : le client envoie la commande PASV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 lieu de PORT sur le port 21 (RFC 1579 : Firewall-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Friendly FTP) ce qui revient à demander au serveur de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faire un listen() sur le port 20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004744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FTP : requêtes et réponses</a:t>
            </a:r>
            <a:endParaRPr/>
          </a:p>
        </p:txBody>
      </p:sp>
      <p:sp>
        <p:nvSpPr>
          <p:cNvPr id="2059528619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Requêtes : USER, PASS, RETR, STOR, LIST, CWD, TYPE…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Réponses : un code à 3 chiffres + un message, lisibles en ASCII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1yz…5yz : information, succès, intermédiaire, erreur temporaire, définitive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Le dialogue transite sur la connexion de contrôle</a:t>
            </a:r>
            <a:endParaRPr/>
          </a:p>
        </p:txBody>
      </p:sp>
      <p:sp>
        <p:nvSpPr>
          <p:cNvPr id="28876433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3555B2CA-808D-69E1-B6AA-8A9E174E0857}" type="slidenum">
              <a:rPr/>
              <a:t/>
            </a:fld>
            <a:endParaRPr/>
          </a:p>
        </p:txBody>
      </p:sp>
      <p:sp>
        <p:nvSpPr>
          <p:cNvPr id="1345163665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2D75551-FEA3-99F5-4150-96B44A0D0E86}" type="datetime1">
              <a:rPr lang="fr-FR"/>
              <a:t/>
            </a:fld>
            <a:endParaRPr/>
          </a:p>
        </p:txBody>
      </p:sp>
      <p:sp>
        <p:nvSpPr>
          <p:cNvPr id="517304848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793834753" name="img913"/>
          <p:cNvPicPr>
            <a:picLocks noChangeAspect="1"/>
          </p:cNvPicPr>
          <p:nvPr/>
        </p:nvPicPr>
        <p:blipFill>
          <a:blip r:embed="rId3"/>
          <a:srcRect l="0" t="24891" r="2706" b="0"/>
          <a:stretch/>
        </p:blipFill>
        <p:spPr bwMode="auto">
          <a:xfrm flipH="0" flipV="0">
            <a:off x="2860466" y="3887622"/>
            <a:ext cx="5467547" cy="26512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611494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FTP : les codes de réponse</a:t>
            </a:r>
            <a:endParaRPr/>
          </a:p>
        </p:txBody>
      </p:sp>
      <p:pic>
        <p:nvPicPr>
          <p:cNvPr id="1047855252" name="img913"/>
          <p:cNvPicPr>
            <a:picLocks noChangeAspect="1"/>
          </p:cNvPicPr>
          <p:nvPr/>
        </p:nvPicPr>
        <p:blipFill>
          <a:blip r:embed="rId3"/>
          <a:srcRect l="0" t="24891" r="0" b="0"/>
          <a:stretch/>
        </p:blipFill>
        <p:spPr bwMode="auto">
          <a:xfrm flipH="0" flipV="0">
            <a:off x="2565879" y="2886958"/>
            <a:ext cx="7060236" cy="3330961"/>
          </a:xfrm>
          <a:prstGeom prst="rect">
            <a:avLst/>
          </a:prstGeom>
        </p:spPr>
      </p:pic>
      <p:sp>
        <p:nvSpPr>
          <p:cNvPr id="1206702063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62F73E3-8D7C-A45F-E70E-6A413179CA20}" type="slidenum">
              <a:rPr/>
              <a:t/>
            </a:fld>
            <a:endParaRPr/>
          </a:p>
        </p:txBody>
      </p:sp>
      <p:sp>
        <p:nvSpPr>
          <p:cNvPr id="1510723496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1267801-EA61-0CF8-3326-C9E8C55BBD78}" type="datetime1">
              <a:rPr lang="fr-FR"/>
              <a:t/>
            </a:fld>
            <a:endParaRPr/>
          </a:p>
        </p:txBody>
      </p:sp>
      <p:sp>
        <p:nvSpPr>
          <p:cNvPr id="27095476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24804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SFTP : le transfert de fichiers sécurisé</a:t>
            </a:r>
            <a:endParaRPr/>
          </a:p>
        </p:txBody>
      </p:sp>
      <p:sp>
        <p:nvSpPr>
          <p:cNvPr id="2026350852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SFTP = SSH File Transfer Protocol (à ne pas confondre avec FTPS)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Fonctionne au-dessus de SSH (port 22) : une seule connexion, chiffrée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Authentification SSH (mot de passe ou clés) ; confidentialité et intégrité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Remplace FTP (en clair) et traverse facilement pare-feu / NAT</a:t>
            </a:r>
            <a:endParaRPr/>
          </a:p>
        </p:txBody>
      </p:sp>
      <p:sp>
        <p:nvSpPr>
          <p:cNvPr id="1179470697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2BA3C9A-362A-3F6E-7902-F5541BF3DC18}" type="slidenum">
              <a:rPr/>
              <a:t/>
            </a:fld>
            <a:endParaRPr/>
          </a:p>
        </p:txBody>
      </p:sp>
      <p:sp>
        <p:nvSpPr>
          <p:cNvPr id="546200455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081B34-6B80-498A-4993-0CA147B3629D}" type="datetime1">
              <a:rPr lang="fr-FR"/>
              <a:t/>
            </a:fld>
            <a:endParaRPr/>
          </a:p>
        </p:txBody>
      </p:sp>
      <p:sp>
        <p:nvSpPr>
          <p:cNvPr id="102915438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047022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SFTP en pratique</a:t>
            </a:r>
            <a:r>
              <a:rPr lang="fr-FR"/>
              <a:t> et SFTP vs FTPS</a:t>
            </a:r>
            <a:endParaRPr/>
          </a:p>
        </p:txBody>
      </p:sp>
      <p:sp>
        <p:nvSpPr>
          <p:cNvPr id="1968884795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400" b="0">
                <a:solidFill>
                  <a:schemeClr val="accent5">
                    <a:lumMod val="75000"/>
                  </a:schemeClr>
                </a:solidFill>
              </a:rPr>
              <a:t>Client interactif sftp : get, put, ls, cd, mkdir…</a:t>
            </a:r>
            <a:endParaRPr sz="3600"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400" b="0">
                <a:solidFill>
                  <a:schemeClr val="accent5">
                    <a:lumMod val="75000"/>
                  </a:schemeClr>
                </a:solidFill>
              </a:rPr>
              <a:t>Copie simple : scp ; synchronisation : rsync au-dessus de SSH</a:t>
            </a:r>
            <a:endParaRPr sz="3600"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400" b="0">
                <a:solidFill>
                  <a:schemeClr val="accent5">
                    <a:lumMod val="75000"/>
                  </a:schemeClr>
                </a:solidFill>
              </a:rPr>
              <a:t>SFTP ≠ FTPS :</a:t>
            </a:r>
            <a:endParaRPr lang="fr-FR" sz="2400" b="0">
              <a:solidFill>
                <a:schemeClr val="accent5">
                  <a:lumMod val="75000"/>
                </a:schemeClr>
              </a:solidFill>
            </a:endParaRPr>
          </a:p>
          <a:p>
            <a:pPr marL="857250" lvl="1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000" b="0">
                <a:solidFill>
                  <a:schemeClr val="accent5">
                    <a:lumMod val="75000"/>
                  </a:schemeClr>
                </a:solidFill>
              </a:rPr>
              <a:t>FTPS = FTP + TLS (deux connexions)</a:t>
            </a:r>
            <a:endParaRPr lang="fr-FR" sz="2000" b="0">
              <a:solidFill>
                <a:schemeClr val="accent5">
                  <a:lumMod val="75000"/>
                </a:schemeClr>
              </a:solidFill>
            </a:endParaRPr>
          </a:p>
          <a:p>
            <a:pPr marL="857249" lvl="1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000" b="0">
                <a:solidFill>
                  <a:schemeClr val="accent5">
                    <a:lumMod val="75000"/>
                  </a:schemeClr>
                </a:solidFill>
              </a:rPr>
              <a:t>SFTP = sous-système de SSH (une connexion)</a:t>
            </a:r>
            <a:endParaRPr sz="2600"/>
          </a:p>
        </p:txBody>
      </p:sp>
      <p:sp>
        <p:nvSpPr>
          <p:cNvPr id="697058940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703FA94C-B099-6D23-6BC1-FFE8E880F95C}" type="slidenum">
              <a:rPr/>
              <a:t/>
            </a:fld>
            <a:endParaRPr/>
          </a:p>
        </p:txBody>
      </p:sp>
      <p:sp>
        <p:nvSpPr>
          <p:cNvPr id="170024397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EC07C-7186-121F-CD3B-B048F06DD2D3}" type="datetime1">
              <a:rPr lang="fr-FR"/>
              <a:t/>
            </a:fld>
            <a:endParaRPr/>
          </a:p>
        </p:txBody>
      </p:sp>
      <p:sp>
        <p:nvSpPr>
          <p:cNvPr id="159323466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15224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TFTP : Trivial File Transfer Protocol (RFC 1350)</a:t>
            </a:r>
            <a:endParaRPr/>
          </a:p>
        </p:txBody>
      </p:sp>
      <p:sp>
        <p:nvSpPr>
          <p:cNvPr id="134575176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Version minimale, au-dessus d'UDP (port 69)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Pas d'authentification ni de contrôle d'accès</a:t>
            </a:r>
            <a:endParaRPr/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Comme il n'y a pas d'authentification, les accès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sur le serveur sont limités aux répertoires passés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en arguments du démon tftpd (/tftpboot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par défaut)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Fiabilité gérée par l'application (acquittements, ré-émission)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Usage typique : amorçage réseau (boot PXE), équipements</a:t>
            </a:r>
            <a:endParaRPr/>
          </a:p>
        </p:txBody>
      </p:sp>
      <p:sp>
        <p:nvSpPr>
          <p:cNvPr id="1634867865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09EBF9E-087D-ECBB-120B-783FDF4ED3DE}" type="slidenum">
              <a:rPr/>
              <a:t/>
            </a:fld>
            <a:endParaRPr/>
          </a:p>
        </p:txBody>
      </p:sp>
      <p:sp>
        <p:nvSpPr>
          <p:cNvPr id="173465037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8EE8F8-EDAF-89C5-5C59-5C7220690988}" type="datetime1">
              <a:rPr lang="fr-FR"/>
              <a:t/>
            </a:fld>
            <a:endParaRPr/>
          </a:p>
        </p:txBody>
      </p:sp>
      <p:sp>
        <p:nvSpPr>
          <p:cNvPr id="1070722696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990233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TFTP : les types de messages</a:t>
            </a:r>
            <a:endParaRPr/>
          </a:p>
        </p:txBody>
      </p:sp>
      <p:pic>
        <p:nvPicPr>
          <p:cNvPr id="1677010806" name="img914"/>
          <p:cNvPicPr>
            <a:picLocks noChangeAspect="1"/>
          </p:cNvPicPr>
          <p:nvPr/>
        </p:nvPicPr>
        <p:blipFill>
          <a:blip r:embed="rId3"/>
          <a:srcRect l="0" t="11957" r="0" b="0"/>
          <a:stretch/>
        </p:blipFill>
        <p:spPr bwMode="auto">
          <a:xfrm flipH="0" flipV="0">
            <a:off x="2549172" y="3063711"/>
            <a:ext cx="7093653" cy="2292795"/>
          </a:xfrm>
          <a:prstGeom prst="rect">
            <a:avLst/>
          </a:prstGeom>
        </p:spPr>
      </p:pic>
      <p:sp>
        <p:nvSpPr>
          <p:cNvPr id="1088234931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08654C8-B6C9-4A26-2AC3-DF6A69AAEF5B}" type="slidenum">
              <a:rPr/>
              <a:t/>
            </a:fld>
            <a:endParaRPr/>
          </a:p>
        </p:txBody>
      </p:sp>
      <p:sp>
        <p:nvSpPr>
          <p:cNvPr id="29589901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3876E9-B2BF-F587-C503-CFE87300CFD0}" type="datetime1">
              <a:rPr lang="fr-FR"/>
              <a:t/>
            </a:fld>
            <a:endParaRPr/>
          </a:p>
        </p:txBody>
      </p:sp>
      <p:sp>
        <p:nvSpPr>
          <p:cNvPr id="1741850985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286888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TFTP : format des messages</a:t>
            </a:r>
            <a:endParaRPr/>
          </a:p>
        </p:txBody>
      </p:sp>
      <p:pic>
        <p:nvPicPr>
          <p:cNvPr id="466097421" name="img91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9790" y="1783080"/>
            <a:ext cx="7612417" cy="4434840"/>
          </a:xfrm>
          <a:prstGeom prst="rect">
            <a:avLst/>
          </a:prstGeom>
        </p:spPr>
      </p:pic>
      <p:sp>
        <p:nvSpPr>
          <p:cNvPr id="1596401873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285C631-92A8-A4CA-D006-F27669E744AD}" type="slidenum">
              <a:rPr/>
              <a:t/>
            </a:fld>
            <a:endParaRPr/>
          </a:p>
        </p:txBody>
      </p:sp>
      <p:sp>
        <p:nvSpPr>
          <p:cNvPr id="1573887796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2E8251C-ABBC-E24B-B5BF-5918DC864810}" type="datetime1">
              <a:rPr lang="fr-FR"/>
              <a:t/>
            </a:fld>
            <a:endParaRPr/>
          </a:p>
        </p:txBody>
      </p:sp>
      <p:sp>
        <p:nvSpPr>
          <p:cNvPr id="329711495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497911910" name=""/>
          <p:cNvSpPr/>
          <p:nvPr/>
        </p:nvSpPr>
        <p:spPr bwMode="auto">
          <a:xfrm flipH="0" flipV="0">
            <a:off x="2288968" y="1512216"/>
            <a:ext cx="1325644" cy="520437"/>
          </a:xfrm>
          <a:prstGeom prst="flowChartProcess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46784329" name=""/>
          <p:cNvSpPr/>
          <p:nvPr/>
        </p:nvSpPr>
        <p:spPr bwMode="auto">
          <a:xfrm flipH="0" flipV="0">
            <a:off x="3236755" y="1590773"/>
            <a:ext cx="5373844" cy="230760"/>
          </a:xfrm>
          <a:prstGeom prst="flowChartProcess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26972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TFTP : exemples d'échanges (stop-and-wait)</a:t>
            </a:r>
            <a:endParaRPr/>
          </a:p>
        </p:txBody>
      </p:sp>
      <p:sp>
        <p:nvSpPr>
          <p:cNvPr id="1456013725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C6703F61-0F13-8AEC-2795-5D2B09B84D20}" type="slidenum">
              <a:rPr/>
              <a:t/>
            </a:fld>
            <a:endParaRPr/>
          </a:p>
        </p:txBody>
      </p:sp>
      <p:sp>
        <p:nvSpPr>
          <p:cNvPr id="983162774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9C9AB0-93CF-C030-CE6D-6B12545E5A56}" type="datetime1">
              <a:rPr lang="fr-FR"/>
              <a:t/>
            </a:fld>
            <a:endParaRPr/>
          </a:p>
        </p:txBody>
      </p:sp>
      <p:sp>
        <p:nvSpPr>
          <p:cNvPr id="2095406117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8008407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9324" y="1806804"/>
            <a:ext cx="6893350" cy="4330437"/>
          </a:xfrm>
          <a:prstGeom prst="rect">
            <a:avLst/>
          </a:prstGeom>
        </p:spPr>
      </p:pic>
      <p:sp>
        <p:nvSpPr>
          <p:cNvPr id="749535143" name=""/>
          <p:cNvSpPr/>
          <p:nvPr/>
        </p:nvSpPr>
        <p:spPr bwMode="auto">
          <a:xfrm flipH="0" flipV="0">
            <a:off x="1994381" y="1659509"/>
            <a:ext cx="1325643" cy="294588"/>
          </a:xfrm>
          <a:prstGeom prst="flowChartProcess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47321828" name=""/>
          <p:cNvSpPr/>
          <p:nvPr/>
        </p:nvSpPr>
        <p:spPr bwMode="auto">
          <a:xfrm flipH="0" flipV="0">
            <a:off x="2333352" y="6019407"/>
            <a:ext cx="1325643" cy="294588"/>
          </a:xfrm>
          <a:prstGeom prst="flowChartProcess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1554605" name=""/>
          <p:cNvSpPr/>
          <p:nvPr/>
        </p:nvSpPr>
        <p:spPr bwMode="auto">
          <a:xfrm flipH="0" flipV="0">
            <a:off x="5313794" y="6019407"/>
            <a:ext cx="4228880" cy="294588"/>
          </a:xfrm>
          <a:prstGeom prst="flowChartProcess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637711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Accès transparent aux fichiers (NFS, SMB)</a:t>
            </a:r>
            <a:endParaRPr/>
          </a:p>
        </p:txBody>
      </p:sp>
      <p:sp>
        <p:nvSpPr>
          <p:cNvPr id="1687333652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2DF2FB2-5E3C-8190-30FF-BE8A3399F349}" type="slidenum">
              <a:rPr/>
              <a:t/>
            </a:fld>
            <a:endParaRPr/>
          </a:p>
        </p:txBody>
      </p:sp>
      <p:sp>
        <p:nvSpPr>
          <p:cNvPr id="680003233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20D51CF-FE96-5C43-1234-54113A50E0E8}" type="datetime1">
              <a:rPr lang="fr-FR"/>
              <a:t/>
            </a:fld>
            <a:endParaRPr/>
          </a:p>
        </p:txBody>
      </p:sp>
      <p:sp>
        <p:nvSpPr>
          <p:cNvPr id="1691364651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98199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Accès transparent aux fichiers distants</a:t>
            </a:r>
            <a:endParaRPr/>
          </a:p>
        </p:txBody>
      </p:sp>
      <p:sp>
        <p:nvSpPr>
          <p:cNvPr id="756909568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Le système de fichiers distant est monté localement (transparent)</a:t>
            </a:r>
            <a:endParaRPr/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'accès aux fichiers distants est complètement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transparent pour l'utilisateur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tout se passe comme si le système de fichiers distant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était local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l'utilisateur peut éditer le fichier, le modifier, … ; les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modifications seront répercutées sur le système de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fichiers distant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L'utilisateur manipule les fichiers comme en local</a:t>
            </a:r>
            <a:endParaRPr/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N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FS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-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Network File System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(monde Unix)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SMB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-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Server Message Block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/ CIFS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-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Common Internet File System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(monde Windows)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S'appuient sur des appels de procédures distantes</a:t>
            </a:r>
            <a:endParaRPr/>
          </a:p>
        </p:txBody>
      </p:sp>
      <p:sp>
        <p:nvSpPr>
          <p:cNvPr id="457374519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5C5CFA5-095D-5AF6-C1BF-F4D559DC21A3}" type="slidenum">
              <a:rPr/>
              <a:t/>
            </a:fld>
            <a:endParaRPr/>
          </a:p>
        </p:txBody>
      </p:sp>
      <p:sp>
        <p:nvSpPr>
          <p:cNvPr id="278589516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7933B88-FA67-C097-F0CB-FF82C5621CA0}" type="datetime1">
              <a:rPr lang="fr-FR"/>
              <a:t/>
            </a:fld>
            <a:endParaRPr/>
          </a:p>
        </p:txBody>
      </p:sp>
      <p:sp>
        <p:nvSpPr>
          <p:cNvPr id="9383887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4151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NFS : Network File System</a:t>
            </a:r>
            <a:endParaRPr/>
          </a:p>
        </p:txBody>
      </p:sp>
      <p:sp>
        <p:nvSpPr>
          <p:cNvPr id="1127390479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Proposé par Sun (1985) ; RFC 1094 et suivantes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Fondé sur les RPC Sun et la représentation XDR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serveur exporte des répertoires, le client les monte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Indépendant du système et du transport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 priori, les client et serveur NFS devraient être des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processus utilisateur s'exécutant au-dessus de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UDP/IP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en fait, le client et serveur NFS s'exécutent dans le noyau</a:t>
            </a: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(sockets)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client pour rendre transparent l'accès à un fichier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via NFS (pas de différence d'utilisation d'un fichier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local et d'un fichier distant)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3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serveur pour des raisons d'efficacité</a:t>
            </a:r>
            <a:endParaRPr sz="2000"/>
          </a:p>
        </p:txBody>
      </p:sp>
      <p:sp>
        <p:nvSpPr>
          <p:cNvPr id="45178597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E176708-FAE7-45BF-FA77-DA6C298ECF2E}" type="slidenum">
              <a:rPr/>
              <a:t/>
            </a:fld>
            <a:endParaRPr/>
          </a:p>
        </p:txBody>
      </p:sp>
      <p:sp>
        <p:nvSpPr>
          <p:cNvPr id="8718655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AC5149C-4922-00E7-BDE2-BE2C66507118}" type="datetime1">
              <a:rPr lang="fr-FR"/>
              <a:t/>
            </a:fld>
            <a:endParaRPr/>
          </a:p>
        </p:txBody>
      </p:sp>
      <p:sp>
        <p:nvSpPr>
          <p:cNvPr id="252161454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476372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NFS : principe de fonctionnement</a:t>
            </a:r>
            <a:endParaRPr/>
          </a:p>
        </p:txBody>
      </p:sp>
      <p:sp>
        <p:nvSpPr>
          <p:cNvPr id="465018843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E47CEC4-9B58-5607-51B2-0F05BBE192FE}" type="slidenum">
              <a:rPr/>
              <a:t/>
            </a:fld>
            <a:endParaRPr/>
          </a:p>
        </p:txBody>
      </p:sp>
      <p:sp>
        <p:nvSpPr>
          <p:cNvPr id="472130746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C666324-E45A-205C-8E33-DACD2D33AD04}" type="datetime1">
              <a:rPr lang="fr-FR"/>
              <a:t/>
            </a:fld>
            <a:endParaRPr/>
          </a:p>
        </p:txBody>
      </p:sp>
      <p:sp>
        <p:nvSpPr>
          <p:cNvPr id="1958341748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5158129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47520" y="1825169"/>
            <a:ext cx="7296958" cy="41413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847658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NFS : les éléments d'accès aux fichiers (VFS)</a:t>
            </a:r>
            <a:endParaRPr/>
          </a:p>
        </p:txBody>
      </p:sp>
      <p:sp>
        <p:nvSpPr>
          <p:cNvPr id="1624282991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2FA6188-34AC-6222-52B2-7786C66342E0}" type="slidenum">
              <a:rPr/>
              <a:t/>
            </a:fld>
            <a:endParaRPr/>
          </a:p>
        </p:txBody>
      </p:sp>
      <p:sp>
        <p:nvSpPr>
          <p:cNvPr id="817312743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F84547-EA75-D14F-C2F1-40EAE67D6016}" type="datetime1">
              <a:rPr lang="fr-FR"/>
              <a:t/>
            </a:fld>
            <a:endParaRPr/>
          </a:p>
        </p:txBody>
      </p:sp>
      <p:sp>
        <p:nvSpPr>
          <p:cNvPr id="1951957866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487272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5163" y="1669329"/>
            <a:ext cx="8041670" cy="46557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80488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NFS : sécurité et évolutions</a:t>
            </a:r>
            <a:endParaRPr/>
          </a:p>
        </p:txBody>
      </p:sp>
      <p:sp>
        <p:nvSpPr>
          <p:cNvPr id="482197709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Principe d'authentification :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(uid, gid)local est mappé en (uid, gid)distant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-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&gt; équivalence entre les droits locaux et distants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problème pour root :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quels droits possède le root d'une machine cliente</a:t>
            </a: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sur les fichiers exportés par un serveur NFS ?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par défaut, root est mappé en nobody pour des</a:t>
            </a: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raisons de sécurité (sinon il faut mettre</a:t>
            </a: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no_root_squash dans /etc/exports)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Règle de non transitivité de NFS :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si A exporte /home à B ; si B monte A:/home dans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/home2 et exporte /home2 à C alors C n'aura pas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accès au /home de A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sinon il n'y aurait aucun contrôle possible des règles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d'exportation donc pas de sécurité… (B pourrait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exporter à C alors que A ne veut pas autoriser C)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38045044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7E95AC0-494D-4B3D-11CA-102793A9C031}" type="slidenum">
              <a:rPr/>
              <a:t/>
            </a:fld>
            <a:endParaRPr/>
          </a:p>
        </p:txBody>
      </p:sp>
      <p:sp>
        <p:nvSpPr>
          <p:cNvPr id="140643731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840941-D862-4E23-A101-F20F97A0207B}" type="datetime1">
              <a:rPr lang="fr-FR"/>
              <a:t/>
            </a:fld>
            <a:endParaRPr/>
          </a:p>
        </p:txBody>
      </p:sp>
      <p:sp>
        <p:nvSpPr>
          <p:cNvPr id="1280879779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025508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NFS : sécurité et évolutions</a:t>
            </a:r>
            <a:endParaRPr/>
          </a:p>
        </p:txBody>
      </p:sp>
      <p:sp>
        <p:nvSpPr>
          <p:cNvPr id="1055633603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NFSv2 / v3 : authentification faible (AUTH_SYS) → à isoler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NFSv4 : sécurité renforcée (Kerberos), au-dessus de TCP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Chiffrement et contrôle d'accès à prévoir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Toujours très utilisé en environnement Unix / Linux</a:t>
            </a:r>
            <a:endParaRPr/>
          </a:p>
        </p:txBody>
      </p:sp>
      <p:sp>
        <p:nvSpPr>
          <p:cNvPr id="71690645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BA531FE-B490-50F9-8CF8-A53CA5F0A299}" type="slidenum">
              <a:rPr/>
              <a:t/>
            </a:fld>
            <a:endParaRPr/>
          </a:p>
        </p:txBody>
      </p:sp>
      <p:sp>
        <p:nvSpPr>
          <p:cNvPr id="25099753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7E25D0A-5D2D-95FF-22C5-9B935CBFFDF8}" type="datetime1">
              <a:rPr lang="fr-FR"/>
              <a:t/>
            </a:fld>
            <a:endParaRPr/>
          </a:p>
        </p:txBody>
      </p:sp>
      <p:sp>
        <p:nvSpPr>
          <p:cNvPr id="1833668165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90540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NFS : un serveur sans état</a:t>
            </a:r>
            <a:endParaRPr/>
          </a:p>
        </p:txBody>
      </p:sp>
      <p:sp>
        <p:nvSpPr>
          <p:cNvPr id="768750590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serveur NFS est sans état : entre deux requêtes,</a:t>
            </a:r>
            <a:r>
              <a:rPr sz="1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il ne conserve aucune information sur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accès précédents à un fichier donné,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fichiers ouverts, ...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LOOKUP correspond au open() mais il n'y a pas de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procédure correspondant au close()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après un LOOKUP, le serveur ne sait pas si le client va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effectivement "utiliser" le fichier ou non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Pourquoi sans état ?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en cas de crash du serveur NFS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permet de simplifier son redémarrage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transparent pour le client : il n'a pas besoin de réitérer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certaines requêtes en cas de crash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97094268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B7C159A-188D-E9C8-7AED-7838CA0DB7D8}" type="slidenum">
              <a:rPr/>
              <a:t/>
            </a:fld>
            <a:endParaRPr/>
          </a:p>
        </p:txBody>
      </p:sp>
      <p:sp>
        <p:nvSpPr>
          <p:cNvPr id="934573554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B89AEA-4608-BE45-075D-637CC086598A}" type="datetime1">
              <a:rPr lang="fr-FR"/>
              <a:t/>
            </a:fld>
            <a:endParaRPr/>
          </a:p>
        </p:txBody>
      </p:sp>
      <p:sp>
        <p:nvSpPr>
          <p:cNvPr id="87955262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22742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NFS : </a:t>
            </a:r>
            <a:r>
              <a:rPr/>
              <a:t>au dessus de TCP</a:t>
            </a:r>
            <a:endParaRPr/>
          </a:p>
        </p:txBody>
      </p:sp>
      <p:sp>
        <p:nvSpPr>
          <p:cNvPr id="636849215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228600" marR="0" indent="-228600" algn="l">
              <a:lnSpc>
                <a:spcPct val="83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 principe, pour plus de réactivité, NFS utilise les</a:t>
            </a:r>
            <a:r>
              <a:rPr sz="3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RPC sur UDP (dans le cadre d'un LAN)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228600" marR="0" indent="-228600" algn="l">
              <a:lnSpc>
                <a:spcPct val="83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Mais pour étendre NFS aux WAN, les dernières</a:t>
            </a:r>
            <a:r>
              <a:rPr sz="3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versions permettent d'exécuter NFS sur RPC/TCP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228600" marR="0" indent="-228600" algn="l">
              <a:lnSpc>
                <a:spcPct val="83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Caractéristiques de NFS sur TCP</a:t>
            </a:r>
            <a:endParaRPr lang="fr-FR" sz="1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628649" marR="0" lvl="1" indent="-228600" algn="l">
              <a:lnSpc>
                <a:spcPct val="83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serveur fait une ouverture passive sur le port TCP/2049</a:t>
            </a:r>
            <a:endParaRPr sz="1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628649" marR="0" lvl="1" indent="-228600" algn="l">
              <a:lnSpc>
                <a:spcPct val="83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quand un client monte une partition NFS, cela se traduit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par une ouverture active --&gt; une connexion TCP par point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montage (soit une par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file system)</a:t>
            </a:r>
            <a:endParaRPr sz="1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628649" marR="0" lvl="1" indent="-228600" algn="l">
              <a:lnSpc>
                <a:spcPct val="83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toutes les applications qui utilisent ce système de fichiers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partagent la même connexion TCP</a:t>
            </a:r>
            <a:endParaRPr sz="1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628649" marR="0" lvl="1" indent="-228600" algn="l">
              <a:lnSpc>
                <a:spcPct val="83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plus résistant aux pannes du serveur NFS : le client essaie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régulièrement de rétablir la connexion et conservent les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requêtes RPC en attente</a:t>
            </a:r>
            <a:endParaRPr lang="fr-FR" sz="1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7632004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C79E8DF4-9616-13EF-A497-71C89681E7EF}" type="slidenum">
              <a:rPr/>
              <a:t/>
            </a:fld>
            <a:endParaRPr/>
          </a:p>
        </p:txBody>
      </p:sp>
      <p:sp>
        <p:nvSpPr>
          <p:cNvPr id="182553573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E716571-1983-A312-89DF-C812318A0D12}" type="datetime1">
              <a:rPr lang="fr-FR"/>
              <a:t/>
            </a:fld>
            <a:endParaRPr/>
          </a:p>
        </p:txBody>
      </p:sp>
      <p:sp>
        <p:nvSpPr>
          <p:cNvPr id="434044639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4064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SMB : Server Message Block</a:t>
            </a:r>
            <a:endParaRPr/>
          </a:p>
        </p:txBody>
      </p:sp>
      <p:sp>
        <p:nvSpPr>
          <p:cNvPr id="72433517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Partage de fichiers et d'imprimantes (monde Windows)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Historiquement sur NetBIOS, aujourd'hui sur TCP (port 445)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Authentification et contrôle d'accès par ressource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Deux niveaux de protection : par partage et par ressource</a:t>
            </a:r>
            <a:endParaRPr/>
          </a:p>
        </p:txBody>
      </p:sp>
      <p:sp>
        <p:nvSpPr>
          <p:cNvPr id="1376432159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06A6730-A5EF-E47F-ED4D-3016C840E028}" type="slidenum">
              <a:rPr/>
              <a:t/>
            </a:fld>
            <a:endParaRPr/>
          </a:p>
        </p:txBody>
      </p:sp>
      <p:sp>
        <p:nvSpPr>
          <p:cNvPr id="54959410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C0CE322-1007-94E1-8D38-477041187109}" type="datetime1">
              <a:rPr lang="fr-FR"/>
              <a:t/>
            </a:fld>
            <a:endParaRPr/>
          </a:p>
        </p:txBody>
      </p:sp>
      <p:sp>
        <p:nvSpPr>
          <p:cNvPr id="55625407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769187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SMB : Server Message Block</a:t>
            </a:r>
            <a:endParaRPr/>
          </a:p>
        </p:txBody>
      </p:sp>
      <p:sp>
        <p:nvSpPr>
          <p:cNvPr id="196772417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Chaque machine (client ou serveur) possède un</a:t>
            </a:r>
            <a:r>
              <a:rPr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nom sur 15 caractères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SMB ajoute un 16ième caractère pour distinguer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serveurs de fichiers et d'imprimantes, les clients, …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Notion de domaine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ensemble d'utilisateurs (avec nom et mot de passe) et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serveurs (avec des droits d'accès)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</a:t>
            </a:r>
            <a:r>
              <a:rPr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primary domain server contient la base de données</a:t>
            </a:r>
            <a:r>
              <a:rPr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des utilisateurs et de leurs mots de passe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serveur partage une ou plusieurs ressources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fichiers, imprimantes, …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à chaque triplet (domaine, serveur, ressource) correspond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nom unique \\server\resource_name</a:t>
            </a:r>
            <a:endParaRPr sz="2800"/>
          </a:p>
        </p:txBody>
      </p:sp>
      <p:sp>
        <p:nvSpPr>
          <p:cNvPr id="24393188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7A07A5E-24B7-3399-41C2-8E540DE41486}" type="slidenum">
              <a:rPr/>
              <a:t/>
            </a:fld>
            <a:endParaRPr/>
          </a:p>
        </p:txBody>
      </p:sp>
      <p:sp>
        <p:nvSpPr>
          <p:cNvPr id="20738896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9334DB-6103-639C-988D-FB3CFECF1099}" type="datetime1">
              <a:rPr lang="fr-FR"/>
              <a:t/>
            </a:fld>
            <a:endParaRPr/>
          </a:p>
        </p:txBody>
      </p:sp>
      <p:sp>
        <p:nvSpPr>
          <p:cNvPr id="116617413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630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SMB : Server Message Block</a:t>
            </a:r>
            <a:endParaRPr/>
          </a:p>
        </p:txBody>
      </p:sp>
      <p:sp>
        <p:nvSpPr>
          <p:cNvPr id="342955147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Deux niveaux de protection des accès :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 niveau de chaque utilisateur : basé sur le nom des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utilisateurs (user, passwd), permet de gérer l'accès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aux ressources voire aux éléments d'une ressource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 niveau de chaque ressource : un mot de passe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commun à tous les utilisateurs est associé à une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ressource pour y autoriser l'accès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CIFS :</a:t>
            </a:r>
            <a:r>
              <a:rPr sz="2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Common Internet File System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dernière version de SMB proposant un meilleur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passage à l'échelle (extensibilité)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divulgation du protocole SMB par Microsoft à l'IETF en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1996 sous ce nom --&gt; a permis l'apparition de Samba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843007779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218D889-C490-F9A1-7ED0-6DDAD6B1BDDB}" type="slidenum">
              <a:rPr/>
              <a:t/>
            </a:fld>
            <a:endParaRPr/>
          </a:p>
        </p:txBody>
      </p:sp>
      <p:sp>
        <p:nvSpPr>
          <p:cNvPr id="357068551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566E93-B9B0-454B-A9D4-87D861E015F8}" type="datetime1">
              <a:rPr lang="fr-FR"/>
              <a:t/>
            </a:fld>
            <a:endParaRPr/>
          </a:p>
        </p:txBody>
      </p:sp>
      <p:sp>
        <p:nvSpPr>
          <p:cNvPr id="1713127788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855158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SMB et Samba</a:t>
            </a:r>
            <a:endParaRPr/>
          </a:p>
        </p:txBody>
      </p:sp>
      <p:sp>
        <p:nvSpPr>
          <p:cNvPr id="958557996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Samba : implémentation libre de SMB sous Unix / Linux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Partage entre machines Unix et Windows (dans les deux sens)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Partage d'imprimantes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Peut jouer le rôle de serveur dans un domaine</a:t>
            </a:r>
            <a:endParaRPr/>
          </a:p>
        </p:txBody>
      </p:sp>
      <p:sp>
        <p:nvSpPr>
          <p:cNvPr id="84190895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20DA98C-7719-A931-154D-8BF8CEC3369C}" type="slidenum">
              <a:rPr/>
              <a:t/>
            </a:fld>
            <a:endParaRPr/>
          </a:p>
        </p:txBody>
      </p:sp>
      <p:sp>
        <p:nvSpPr>
          <p:cNvPr id="1550150909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F449FB2-0F1D-240A-806E-7CD00CFF4DC8}" type="datetime1">
              <a:rPr lang="fr-FR"/>
              <a:t/>
            </a:fld>
            <a:endParaRPr/>
          </a:p>
        </p:txBody>
      </p:sp>
      <p:sp>
        <p:nvSpPr>
          <p:cNvPr id="331709681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54794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Plan de la partie 2</a:t>
            </a:r>
            <a:endParaRPr/>
          </a:p>
        </p:txBody>
      </p:sp>
      <p:sp>
        <p:nvSpPr>
          <p:cNvPr id="394031343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sz="2200" b="0">
                <a:solidFill>
                  <a:schemeClr val="accent5">
                    <a:lumMod val="75000"/>
                  </a:schemeClr>
                </a:solidFill>
              </a:rPr>
              <a:t>Introduction / Rappel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Applications de connexion à distance (SSH, X)</a:t>
            </a:r>
            <a:endParaRPr lang="fr-FR" sz="2200" b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Transfert de fichiers (FTP, TFTP, NFS, SMB)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1">
                <a:solidFill>
                  <a:schemeClr val="accent5">
                    <a:lumMod val="75000"/>
                  </a:schemeClr>
                </a:solidFill>
              </a:rPr>
              <a:t>Annuaires : NIS, DNS, LDAP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Messagerie électronique (SMTP, IMAP, MIME)</a:t>
            </a:r>
            <a:endParaRPr/>
          </a:p>
        </p:txBody>
      </p:sp>
      <p:sp>
        <p:nvSpPr>
          <p:cNvPr id="928683087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B3D9E5F-7DCE-A9B9-9443-AA588CA92D42}" type="slidenum">
              <a:rPr/>
              <a:t/>
            </a:fld>
            <a:endParaRPr/>
          </a:p>
        </p:txBody>
      </p:sp>
      <p:sp>
        <p:nvSpPr>
          <p:cNvPr id="1794076306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CFC8AB-0EAF-673A-C64B-7D65C2B22EF5}" type="datetime1">
              <a:rPr lang="fr-FR"/>
              <a:t/>
            </a:fld>
            <a:endParaRPr/>
          </a:p>
        </p:txBody>
      </p:sp>
      <p:sp>
        <p:nvSpPr>
          <p:cNvPr id="62516963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059259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NIS : un annuaire répliqué</a:t>
            </a:r>
            <a:endParaRPr/>
          </a:p>
        </p:txBody>
      </p:sp>
      <p:sp>
        <p:nvSpPr>
          <p:cNvPr id="1464169115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Network Information Service (ex-Yellow Pages), proposé par Sun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Centralise des informations communes (comptes, groupes, hôtes)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Bases partagées entre les machines d'un parc (maps)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Simplifie l'administration : un seul point de gestion</a:t>
            </a:r>
            <a:endParaRPr/>
          </a:p>
        </p:txBody>
      </p:sp>
      <p:sp>
        <p:nvSpPr>
          <p:cNvPr id="118297656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6B840A9-73EE-20CA-E901-E6791B60CB94}" type="slidenum">
              <a:rPr/>
              <a:t/>
            </a:fld>
            <a:endParaRPr/>
          </a:p>
        </p:txBody>
      </p:sp>
      <p:sp>
        <p:nvSpPr>
          <p:cNvPr id="1147145684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DCCE33D-BD51-2071-84E0-33476944A55D}" type="datetime1">
              <a:rPr lang="fr-FR"/>
              <a:t/>
            </a:fld>
            <a:endParaRPr/>
          </a:p>
        </p:txBody>
      </p:sp>
      <p:sp>
        <p:nvSpPr>
          <p:cNvPr id="235487844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713373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NIS : architecture</a:t>
            </a:r>
            <a:endParaRPr/>
          </a:p>
        </p:txBody>
      </p:sp>
      <p:sp>
        <p:nvSpPr>
          <p:cNvPr id="1622439142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Un serveur maître (master) détient les maps de référence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Des serveurs esclaves (slaves) en réplique (redondance)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Les clients interrogent un serveur pour comptes / hôtes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Mise à jour propagée du maître vers les esclaves (via RPC)</a:t>
            </a:r>
            <a:endParaRPr/>
          </a:p>
        </p:txBody>
      </p:sp>
      <p:sp>
        <p:nvSpPr>
          <p:cNvPr id="26152283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0CF5873-9BC2-C8CD-2EFA-6772DC09CA61}" type="slidenum">
              <a:rPr/>
              <a:t/>
            </a:fld>
            <a:endParaRPr/>
          </a:p>
        </p:txBody>
      </p:sp>
      <p:sp>
        <p:nvSpPr>
          <p:cNvPr id="104241623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E4B1FDA-CE83-CED4-3B10-C37A2F96348B}" type="datetime1">
              <a:rPr lang="fr-FR"/>
              <a:t/>
            </a:fld>
            <a:endParaRPr/>
          </a:p>
        </p:txBody>
      </p:sp>
      <p:sp>
        <p:nvSpPr>
          <p:cNvPr id="438125007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551039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NIS : architecture (maître, esclaves, clients)</a:t>
            </a:r>
            <a:endParaRPr/>
          </a:p>
        </p:txBody>
      </p:sp>
      <p:sp>
        <p:nvSpPr>
          <p:cNvPr id="1550312310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FB406DC-A45E-3273-C4E5-90A2D3031FC4}" type="slidenum">
              <a:rPr/>
              <a:t/>
            </a:fld>
            <a:endParaRPr/>
          </a:p>
        </p:txBody>
      </p:sp>
      <p:sp>
        <p:nvSpPr>
          <p:cNvPr id="1949902763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ECAD37-8DC4-6B5C-DD4C-51955C94D820}" type="datetime1">
              <a:rPr lang="fr-FR"/>
              <a:t/>
            </a:fld>
            <a:endParaRPr/>
          </a:p>
        </p:txBody>
      </p:sp>
      <p:sp>
        <p:nvSpPr>
          <p:cNvPr id="467274954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7386302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72571" y="1963917"/>
            <a:ext cx="7846855" cy="4237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055917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NIS : limites et évolutions</a:t>
            </a:r>
            <a:endParaRPr/>
          </a:p>
        </p:txBody>
      </p:sp>
      <p:sp>
        <p:nvSpPr>
          <p:cNvPr id="338218612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Sécurité faible (données peu protégées, confiance réseau)</a:t>
            </a:r>
            <a:endParaRPr/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as d'authentification des clients NIS : il suffit de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connaître le nom de domaine pour interroger le serveur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et connaître le contenu de ses maps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Adapté à un réseau local simple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Remplacé aujourd'hui par LDAP (souvent avec Kerberos)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LDAP : annuaire standard, sécurisé et fédérateur</a:t>
            </a:r>
            <a:endParaRPr/>
          </a:p>
        </p:txBody>
      </p:sp>
      <p:sp>
        <p:nvSpPr>
          <p:cNvPr id="533687608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8FF9440-F4CA-DBD0-37E3-D0CFF7DC2C68}" type="slidenum">
              <a:rPr/>
              <a:t/>
            </a:fld>
            <a:endParaRPr/>
          </a:p>
        </p:txBody>
      </p:sp>
      <p:sp>
        <p:nvSpPr>
          <p:cNvPr id="86263471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14F195E-D7BD-5B5E-5CB8-91F8CA0EACC3}" type="datetime1">
              <a:rPr lang="fr-FR"/>
              <a:t/>
            </a:fld>
            <a:endParaRPr/>
          </a:p>
        </p:txBody>
      </p:sp>
      <p:sp>
        <p:nvSpPr>
          <p:cNvPr id="71212264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265111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DNS : Domain Name System</a:t>
            </a:r>
            <a:endParaRPr/>
          </a:p>
        </p:txBody>
      </p:sp>
      <p:sp>
        <p:nvSpPr>
          <p:cNvPr id="2005273933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FB77952-7491-BCE6-C6E1-E085CECFDE2E}" type="slidenum">
              <a:rPr/>
              <a:t/>
            </a:fld>
            <a:endParaRPr/>
          </a:p>
        </p:txBody>
      </p:sp>
      <p:sp>
        <p:nvSpPr>
          <p:cNvPr id="375215160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F1DBA36-16A4-7C5C-AE97-7CC681A0E3A0}" type="datetime1">
              <a:rPr lang="fr-FR"/>
              <a:t/>
            </a:fld>
            <a:endParaRPr/>
          </a:p>
        </p:txBody>
      </p:sp>
      <p:sp>
        <p:nvSpPr>
          <p:cNvPr id="19459415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064957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DNS : à quoi ça sert</a:t>
            </a:r>
            <a:endParaRPr/>
          </a:p>
        </p:txBody>
      </p:sp>
      <p:sp>
        <p:nvSpPr>
          <p:cNvPr id="1405867992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Traduire les noms de machines en adresses IP (et l'inverse)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Annuaire distribué à l'échelle de l'Internet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Indispensable : on manipule des noms, pas des adresses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Autres usages : routage du courrier (MX), alias, répartition</a:t>
            </a:r>
            <a:endParaRPr/>
          </a:p>
        </p:txBody>
      </p:sp>
      <p:sp>
        <p:nvSpPr>
          <p:cNvPr id="1299883064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27BB36F-3CFD-2D9F-5F32-4E7FD66EC910}" type="slidenum">
              <a:rPr/>
              <a:t/>
            </a:fld>
            <a:endParaRPr/>
          </a:p>
        </p:txBody>
      </p:sp>
      <p:sp>
        <p:nvSpPr>
          <p:cNvPr id="978784515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B0DF06-87BD-ACFD-DF30-BD79ECC78D3F}" type="datetime1">
              <a:rPr lang="fr-FR"/>
              <a:t/>
            </a:fld>
            <a:endParaRPr/>
          </a:p>
        </p:txBody>
      </p:sp>
      <p:sp>
        <p:nvSpPr>
          <p:cNvPr id="423294787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2096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/>
              <a:t>Protocole applicatif</a:t>
            </a:r>
            <a:endParaRPr/>
          </a:p>
        </p:txBody>
      </p:sp>
      <p:sp>
        <p:nvSpPr>
          <p:cNvPr id="1853484811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lvl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Base de données distribuée</a:t>
            </a:r>
            <a:endParaRPr sz="2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lvl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</a:t>
            </a: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es hôtes, routeurs, serveurs de noms communiquent</a:t>
            </a: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pour effectuer la traduction</a:t>
            </a:r>
            <a:endParaRPr sz="2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lvl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DNS est utilisé par d'autres protocoles applicatifs mais</a:t>
            </a: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n'est pas utilisé directement par l'application comme</a:t>
            </a: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SMTP...</a:t>
            </a:r>
            <a:endParaRPr sz="2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lvl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</a:t>
            </a: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odèle Client/Serveur : un émetteur interroge un</a:t>
            </a: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 de noms (serveur DNS)</a:t>
            </a:r>
            <a:endParaRPr sz="2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port 53/UDP (ou 53/TCP pour les mises à jour</a:t>
            </a:r>
            <a:r>
              <a:rPr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)</a:t>
            </a:r>
            <a:endParaRPr lang="fr-FR"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02525589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A16A804-C528-C14A-C5D4-037234CC9F90}" type="slidenum">
              <a:rPr/>
              <a:t/>
            </a:fld>
            <a:endParaRPr/>
          </a:p>
        </p:txBody>
      </p:sp>
      <p:sp>
        <p:nvSpPr>
          <p:cNvPr id="146983215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067E7D6-E21E-A088-E628-268C589CFFBD}" type="datetime1">
              <a:rPr lang="fr-FR"/>
              <a:t/>
            </a:fld>
            <a:endParaRPr/>
          </a:p>
        </p:txBody>
      </p:sp>
      <p:sp>
        <p:nvSpPr>
          <p:cNvPr id="38083531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67530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DNS : </a:t>
            </a:r>
            <a:r>
              <a:rPr/>
              <a:t>les services fournis</a:t>
            </a:r>
            <a:endParaRPr/>
          </a:p>
        </p:txBody>
      </p:sp>
      <p:sp>
        <p:nvSpPr>
          <p:cNvPr id="1347190755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C044FC9-2C43-D7D5-28D9-113E5B28D75C}" type="slidenum">
              <a:rPr/>
              <a:t/>
            </a:fld>
            <a:endParaRPr/>
          </a:p>
        </p:txBody>
      </p:sp>
      <p:sp>
        <p:nvSpPr>
          <p:cNvPr id="1026202136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DA856BE-FB06-E7DB-EFA5-E3DD70784E9E}" type="datetime1">
              <a:rPr lang="fr-FR"/>
              <a:t/>
            </a:fld>
            <a:endParaRPr/>
          </a:p>
        </p:txBody>
      </p:sp>
      <p:sp>
        <p:nvSpPr>
          <p:cNvPr id="39369030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139524935" name="Content"/>
          <p:cNvSpPr>
            <a:spLocks noGrp="1"/>
          </p:cNvSpPr>
          <p:nvPr/>
        </p:nvSpPr>
        <p:spPr bwMode="auto">
          <a:xfrm>
            <a:off x="838198" y="1825624"/>
            <a:ext cx="1051560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Le service principal : la traduction d'adresses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Autres services :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permettre le "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Host aliasing" : donner un pseudonyme à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une machine qui a un nom peu parlant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permettre le "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Mail server aliasing" : un serveur Web et un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 Mail peuvent avoir le même pseudonyme même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s'ils n'ont pas la même adresse IP (2 machines 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différentes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)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permettre la répartition de la charge : un nom de serveur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Web ou Mail peut correspondre à plusieurs adresses IP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(serveurs Web ou Mail répliqués) avec un système de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rotation dans les réponses du serveur DNS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Pour l'utilisateur, le DNS n'est qu'une boîte noire</a:t>
            </a:r>
            <a:r>
              <a:rPr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mais en réalité très compliquée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une requête DNS peut impliquer plusieurs serveurs de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noms répartis dans le monde entier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090221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Un système centralisé ? Non</a:t>
            </a:r>
            <a:endParaRPr/>
          </a:p>
        </p:txBody>
      </p:sp>
      <p:sp>
        <p:nvSpPr>
          <p:cNvPr id="1475309487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400" b="0">
                <a:solidFill>
                  <a:schemeClr val="accent5">
                    <a:lumMod val="75000"/>
                  </a:schemeClr>
                </a:solidFill>
              </a:rPr>
              <a:t>Impossible à l'échelle de l'Internet (taille, charge, pannes)</a:t>
            </a:r>
            <a:endParaRPr sz="3600"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400" b="0">
                <a:solidFill>
                  <a:schemeClr val="accent5">
                    <a:lumMod val="75000"/>
                  </a:schemeClr>
                </a:solidFill>
              </a:rPr>
              <a:t>Un seul serveur = point de défaillance unique et goulet</a:t>
            </a:r>
            <a:endParaRPr sz="3600"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400" b="0">
                <a:solidFill>
                  <a:schemeClr val="accent5">
                    <a:lumMod val="75000"/>
                  </a:schemeClr>
                </a:solidFill>
              </a:rPr>
              <a:t>D'où un système distribué et hiérarchique</a:t>
            </a:r>
            <a:endParaRPr sz="3600"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400" b="0">
                <a:solidFill>
                  <a:schemeClr val="accent5">
                    <a:lumMod val="75000"/>
                  </a:schemeClr>
                </a:solidFill>
              </a:rPr>
              <a:t>Réparti sur des millions de serveurs</a:t>
            </a:r>
            <a:endParaRPr sz="4800"/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Aucun serveur ne connaît toutes les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correspondances nom &lt;--&gt; adresse IP</a:t>
            </a:r>
            <a:endParaRPr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 un serveur ne connaît pas une correspondance, il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interroge un autre serveur jusqu'à atteindre le serveur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détenant l'information désirée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755804339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8CC0B4A-95C1-0E11-1A34-177DA91FAC2A}" type="slidenum">
              <a:rPr/>
              <a:t/>
            </a:fld>
            <a:endParaRPr/>
          </a:p>
        </p:txBody>
      </p:sp>
      <p:sp>
        <p:nvSpPr>
          <p:cNvPr id="799122864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6083D8-5C5E-5C14-C510-E0988F4FD469}" type="datetime1">
              <a:rPr lang="fr-FR"/>
              <a:t/>
            </a:fld>
            <a:endParaRPr/>
          </a:p>
        </p:txBody>
      </p:sp>
      <p:sp>
        <p:nvSpPr>
          <p:cNvPr id="3930349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298391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/>
              <a:t>DNS : trois types de serveur</a:t>
            </a:r>
            <a:endParaRPr/>
          </a:p>
        </p:txBody>
      </p:sp>
      <p:sp>
        <p:nvSpPr>
          <p:cNvPr id="674563999" name="Content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429844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es serveurs de noms locaux (à qui s'adressent les</a:t>
            </a: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requêtes locales ; en charge de la résolution)</a:t>
            </a:r>
            <a:endParaRPr lang="fr-FR"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</a:t>
            </a: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 serveurs de noms racine (sont censés savoir</a:t>
            </a: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comment s'approcher de la réponse)</a:t>
            </a:r>
            <a:endParaRPr lang="fr-FR"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es serveurs de noms de source autorisée</a:t>
            </a: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(contiennent les correspondances "officielles")</a:t>
            </a:r>
            <a:endParaRPr lang="fr-FR"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22034338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514F2434-97EA-D935-072E-4329C29EBD64}" type="slidenum">
              <a:rPr/>
              <a:t/>
            </a:fld>
            <a:endParaRPr/>
          </a:p>
        </p:txBody>
      </p:sp>
      <p:sp>
        <p:nvSpPr>
          <p:cNvPr id="63596705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D7E16BA-5E50-A75E-11EF-DA1599D10BAF}" type="datetime1">
              <a:rPr lang="fr-FR"/>
              <a:t/>
            </a:fld>
            <a:endParaRPr/>
          </a:p>
        </p:txBody>
      </p:sp>
      <p:sp>
        <p:nvSpPr>
          <p:cNvPr id="70473290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29496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02576" y="2081565"/>
            <a:ext cx="6736253" cy="38394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683954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La notion de domaine DNS</a:t>
            </a:r>
            <a:endParaRPr/>
          </a:p>
        </p:txBody>
      </p:sp>
      <p:sp>
        <p:nvSpPr>
          <p:cNvPr id="433134719" name="Content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4583217" cy="4351338"/>
          </a:xfrm>
        </p:spPr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L'espace de noms est un arbre (racine → TLD → sous-domaines)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Un domaine = un sous-arbre entier de l'espace de noms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Label ≤ 63 caractères ; nom complet ≤ 255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Deux nœuds peuvent porter le même nom dans des domaines différents</a:t>
            </a:r>
            <a:endParaRPr/>
          </a:p>
        </p:txBody>
      </p:sp>
      <p:sp>
        <p:nvSpPr>
          <p:cNvPr id="1609432398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61F0A72-05B3-FA79-B412-258DFFC8CAB1}" type="slidenum">
              <a:rPr/>
              <a:t/>
            </a:fld>
            <a:endParaRPr/>
          </a:p>
        </p:txBody>
      </p:sp>
      <p:sp>
        <p:nvSpPr>
          <p:cNvPr id="23449803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D2A3BBF-AEB8-85F0-AD6B-E2EDB03A1CB8}" type="datetime1">
              <a:rPr lang="fr-FR"/>
              <a:t/>
            </a:fld>
            <a:endParaRPr/>
          </a:p>
        </p:txBody>
      </p:sp>
      <p:sp>
        <p:nvSpPr>
          <p:cNvPr id="1211803397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20171359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60398" y="2420509"/>
            <a:ext cx="5900401" cy="31615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37803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La notion de domaine DNS</a:t>
            </a:r>
            <a:endParaRPr/>
          </a:p>
        </p:txBody>
      </p:sp>
      <p:sp>
        <p:nvSpPr>
          <p:cNvPr id="1718999893" name="Content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1045533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premier niveau de l'arbre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Top Level Domain (TLD)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géré par l'ICANN (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Internet Corporation for Assigned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Names and Numbers)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on distingue deux catégories de TLD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"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Generic TLD" : .com, .org, .gov, .gouv, .net, ...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"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Countries TLD" : .fr, .uk, .us, .jp, … (240 en tout)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La gestion des autres niveaux est laissée aux</a:t>
            </a:r>
            <a:r>
              <a:rPr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entités correspondantes (AFNIC pour .fr)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zone DNS : un sous-arbre de l'arbre administré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séparément par un organisme qui gère la délégation des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noms et sous-domaines de la zone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839508758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9CFEB67-3AD4-1CE2-2D34-FE3C1FEC939E}" type="slidenum">
              <a:rPr/>
              <a:t/>
            </a:fld>
            <a:endParaRPr/>
          </a:p>
        </p:txBody>
      </p:sp>
      <p:sp>
        <p:nvSpPr>
          <p:cNvPr id="1995986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413AC0B-0B1B-59A7-A4A5-C44FB3FAB414}" type="datetime1">
              <a:rPr lang="fr-FR"/>
              <a:t/>
            </a:fld>
            <a:endParaRPr/>
          </a:p>
        </p:txBody>
      </p:sp>
      <p:sp>
        <p:nvSpPr>
          <p:cNvPr id="164178892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62083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La notion de zone DNS</a:t>
            </a:r>
            <a:endParaRPr/>
          </a:p>
        </p:txBody>
      </p:sp>
      <p:sp>
        <p:nvSpPr>
          <p:cNvPr id="1826362715" name="Content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4033320" cy="4351338"/>
          </a:xfrm>
        </p:spPr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Une zone = la partie d'un domaine gérée par une administration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Au moins un serveur primaire et un secondaire (redondance)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Le secondaire se synchronise depuis le primaire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Délégation des sous-domaines à d'autres zones</a:t>
            </a:r>
            <a:endParaRPr/>
          </a:p>
        </p:txBody>
      </p:sp>
      <p:sp>
        <p:nvSpPr>
          <p:cNvPr id="206421907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3E29394-F5D5-B24E-46FF-25D941634333}" type="slidenum">
              <a:rPr/>
              <a:t/>
            </a:fld>
            <a:endParaRPr/>
          </a:p>
        </p:txBody>
      </p:sp>
      <p:sp>
        <p:nvSpPr>
          <p:cNvPr id="1519748359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4258EC-C922-5305-4155-163DA6143C43}" type="datetime1">
              <a:rPr lang="fr-FR"/>
              <a:t/>
            </a:fld>
            <a:endParaRPr/>
          </a:p>
        </p:txBody>
      </p:sp>
      <p:sp>
        <p:nvSpPr>
          <p:cNvPr id="942618524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4954441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6184" y="2754206"/>
            <a:ext cx="6717189" cy="2494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802081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La résolution de noms inverse</a:t>
            </a:r>
            <a:endParaRPr/>
          </a:p>
        </p:txBody>
      </p:sp>
      <p:sp>
        <p:nvSpPr>
          <p:cNvPr id="1825722498" name="Content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6930098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Retrouver un nom à partir d'une adresse IP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Domaine spécial in-addr.arpa (et ip6.arpa pour IPv6)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Enregistrements de type PTR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Utile pour la journalisation et certaines vérifications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Résolution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ssh.ens-lyon.fr --&gt; ?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ésolution inverse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6.167.77.140.in-addr.arpa --&gt; ?</a:t>
            </a:r>
            <a:endParaRPr sz="2600"/>
          </a:p>
        </p:txBody>
      </p:sp>
      <p:sp>
        <p:nvSpPr>
          <p:cNvPr id="350719557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57C36D4-2C7D-8DC7-D9B9-AFB228E1DAA6}" type="slidenum">
              <a:rPr/>
              <a:t/>
            </a:fld>
            <a:endParaRPr/>
          </a:p>
        </p:txBody>
      </p:sp>
      <p:sp>
        <p:nvSpPr>
          <p:cNvPr id="510822066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503143B-DF20-836C-CF06-AB37A0594351}" type="datetime1">
              <a:rPr lang="fr-FR"/>
              <a:t/>
            </a:fld>
            <a:endParaRPr/>
          </a:p>
        </p:txBody>
      </p:sp>
      <p:sp>
        <p:nvSpPr>
          <p:cNvPr id="183735455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4073860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065184" y="1806616"/>
            <a:ext cx="3834029" cy="4389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418904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Les types de serveurs DNS</a:t>
            </a:r>
            <a:r>
              <a:rPr/>
              <a:t> : root</a:t>
            </a:r>
            <a:endParaRPr/>
          </a:p>
        </p:txBody>
      </p:sp>
      <p:sp>
        <p:nvSpPr>
          <p:cNvPr id="753972514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Serveurs racine (root) : sommet de la hiérarchie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85725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il existe actuellement 13 serveurs racine dans l'Internet</a:t>
            </a:r>
            <a:r>
              <a:rPr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(liste sur http://gnso.icann.org/gtld-registries/)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chaque serveur DNS local connaît un serveur de noms</a:t>
            </a:r>
            <a:r>
              <a:rPr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racine qu'il peut interroger s'il ne connaît pas une</a:t>
            </a:r>
            <a:r>
              <a:rPr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correspondance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serveur de noms racine connaît au moins les serveurs</a:t>
            </a:r>
            <a:r>
              <a:rPr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source autorisée du premier niveau (.fr., …)</a:t>
            </a:r>
            <a:endParaRPr lang="fr-FR" sz="13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Serveurs de source autorisée (authoritative) pour une zone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Serveurs locaux / résolveurs (cache) pour les clients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Primaire (référence) et secondaires (répliques)</a:t>
            </a:r>
            <a:endParaRPr/>
          </a:p>
        </p:txBody>
      </p:sp>
      <p:sp>
        <p:nvSpPr>
          <p:cNvPr id="173276618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85DB2A1-1E77-42A0-5F38-1832056DC78C}" type="slidenum">
              <a:rPr/>
              <a:t/>
            </a:fld>
            <a:endParaRPr/>
          </a:p>
        </p:txBody>
      </p:sp>
      <p:sp>
        <p:nvSpPr>
          <p:cNvPr id="1505340598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3DC9642-4554-005C-87F3-78F747868385}" type="datetime1">
              <a:rPr lang="fr-FR"/>
              <a:t/>
            </a:fld>
            <a:endParaRPr/>
          </a:p>
        </p:txBody>
      </p:sp>
      <p:sp>
        <p:nvSpPr>
          <p:cNvPr id="15344025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40218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Les types de serveurs DNS</a:t>
            </a:r>
            <a:r>
              <a:rPr/>
              <a:t> : source</a:t>
            </a:r>
            <a:endParaRPr/>
          </a:p>
        </p:txBody>
      </p:sp>
      <p:sp>
        <p:nvSpPr>
          <p:cNvPr id="941985136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Serveurs racine (root) : sommet de la hiérarchie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Serveurs de source autorisée (authoritative) pour une zone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85725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chaque hôte est enregistré auprès d'au moins deux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"authoritative servers" (le primaire et le secondaire),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qui stocke son adresse IP et son nom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serveur de noms est dit de source autorisée pour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hôte s'il est responsable de la correspondance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nom/@ pour cet hôte (serveur primaire de la zone)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serveur de noms local n'est pas forcément de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source autorisée (ex. bat710.univ-lyon1.fr)</a:t>
            </a:r>
            <a:endParaRPr lang="fr-FR" sz="1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Serveurs locaux / résolveurs (cache) pour les clients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400" b="0">
                <a:solidFill>
                  <a:schemeClr val="accent5">
                    <a:lumMod val="75000"/>
                  </a:schemeClr>
                </a:solidFill>
              </a:rPr>
              <a:t>Primaire (référence) et secondaires (répliques)</a:t>
            </a:r>
            <a:endParaRPr sz="3600"/>
          </a:p>
        </p:txBody>
      </p:sp>
      <p:sp>
        <p:nvSpPr>
          <p:cNvPr id="652600899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2595D8C-9B09-EF81-3E56-94AF0345A3EA}" type="slidenum">
              <a:rPr/>
              <a:t/>
            </a:fld>
            <a:endParaRPr/>
          </a:p>
        </p:txBody>
      </p:sp>
      <p:sp>
        <p:nvSpPr>
          <p:cNvPr id="1165369473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99BF60-7C9E-B106-2FC1-7A0D271EEFA6}" type="datetime1">
              <a:rPr lang="fr-FR"/>
              <a:t/>
            </a:fld>
            <a:endParaRPr/>
          </a:p>
        </p:txBody>
      </p:sp>
      <p:sp>
        <p:nvSpPr>
          <p:cNvPr id="197058971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141663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Les types de serveurs DNS</a:t>
            </a:r>
            <a:r>
              <a:rPr/>
              <a:t> : locaux</a:t>
            </a:r>
            <a:endParaRPr/>
          </a:p>
        </p:txBody>
      </p:sp>
      <p:sp>
        <p:nvSpPr>
          <p:cNvPr id="942537134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Serveurs racine (root) : sommet de la hiérarchie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Serveurs de source autorisée (authoritative) pour une zone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Serveurs locaux / résolveurs (cache) pour les clients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chaque organisation a un serveur de noms local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3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 DNS par défaut de la zone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3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contient parfois les correspondances relatives à la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zone de l'organisation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toutes les requêtes DNS en provenance de cette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organisation vont vers ce serveur de nom local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Primaire (référence) et secondaires (répliques)</a:t>
            </a:r>
            <a:endParaRPr/>
          </a:p>
        </p:txBody>
      </p:sp>
      <p:sp>
        <p:nvSpPr>
          <p:cNvPr id="923796808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AFD8274-5C5B-D7CE-8F06-35EAC255FD16}" type="slidenum">
              <a:rPr/>
              <a:t/>
            </a:fld>
            <a:endParaRPr/>
          </a:p>
        </p:txBody>
      </p:sp>
      <p:sp>
        <p:nvSpPr>
          <p:cNvPr id="1158237395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0FDFE9A-409B-A887-E358-D760A3F26495}" type="datetime1">
              <a:rPr lang="fr-FR"/>
              <a:t/>
            </a:fld>
            <a:endParaRPr/>
          </a:p>
        </p:txBody>
      </p:sp>
      <p:sp>
        <p:nvSpPr>
          <p:cNvPr id="88215709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70210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Résolution récursive vs itérative</a:t>
            </a:r>
            <a:endParaRPr/>
          </a:p>
        </p:txBody>
      </p:sp>
      <p:sp>
        <p:nvSpPr>
          <p:cNvPr id="472558046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Récursive : le serveur fait tout le travail et renvoie la réponse finale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Itérative : le serveur renvoie l'adresse du serveur suivant à contacter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Le client interroge en récursif son résolveur local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Le résolveur interroge en itératif la hiérarchie</a:t>
            </a:r>
            <a:endParaRPr/>
          </a:p>
        </p:txBody>
      </p:sp>
      <p:sp>
        <p:nvSpPr>
          <p:cNvPr id="106939050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7EBFC881-C666-58B2-F460-517016D368D0}" type="slidenum">
              <a:rPr/>
              <a:t/>
            </a:fld>
            <a:endParaRPr/>
          </a:p>
        </p:txBody>
      </p:sp>
      <p:sp>
        <p:nvSpPr>
          <p:cNvPr id="671087279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118653F-6A10-7D77-D78A-1FBAD8AE41EF}" type="datetime1">
              <a:rPr lang="fr-FR"/>
              <a:t/>
            </a:fld>
            <a:endParaRPr/>
          </a:p>
        </p:txBody>
      </p:sp>
      <p:sp>
        <p:nvSpPr>
          <p:cNvPr id="983379458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42571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Principe d'une résolution récursive</a:t>
            </a:r>
            <a:endParaRPr/>
          </a:p>
        </p:txBody>
      </p:sp>
      <p:sp>
        <p:nvSpPr>
          <p:cNvPr id="691518892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5D99956B-2713-B440-7CCC-0E566B892EAD}" type="slidenum">
              <a:rPr/>
              <a:t/>
            </a:fld>
            <a:endParaRPr/>
          </a:p>
        </p:txBody>
      </p:sp>
      <p:sp>
        <p:nvSpPr>
          <p:cNvPr id="53735835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EE4BD07-2095-5925-4C1F-DE85B67025E8}" type="datetime1">
              <a:rPr lang="fr-FR"/>
              <a:t/>
            </a:fld>
            <a:endParaRPr/>
          </a:p>
        </p:txBody>
      </p:sp>
      <p:sp>
        <p:nvSpPr>
          <p:cNvPr id="1150607885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4075405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32791" y="1742554"/>
            <a:ext cx="7326417" cy="4270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63642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Principe d'une résolution itérative</a:t>
            </a:r>
            <a:endParaRPr/>
          </a:p>
        </p:txBody>
      </p:sp>
      <p:sp>
        <p:nvSpPr>
          <p:cNvPr id="909423596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A66A5E6-F5F3-C287-DBA5-A52EBA8A4F7C}" type="slidenum">
              <a:rPr/>
              <a:t/>
            </a:fld>
            <a:endParaRPr/>
          </a:p>
        </p:txBody>
      </p:sp>
      <p:sp>
        <p:nvSpPr>
          <p:cNvPr id="434145714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2C48292-5706-03D1-3967-F1D938DDB651}" type="datetime1">
              <a:rPr lang="fr-FR"/>
              <a:t/>
            </a:fld>
            <a:endParaRPr/>
          </a:p>
        </p:txBody>
      </p:sp>
      <p:sp>
        <p:nvSpPr>
          <p:cNvPr id="37117922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4034044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8374" y="1690687"/>
            <a:ext cx="7395249" cy="43107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344813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La mise en mémoire cache</a:t>
            </a:r>
            <a:endParaRPr/>
          </a:p>
        </p:txBody>
      </p:sp>
      <p:sp>
        <p:nvSpPr>
          <p:cNvPr id="31069871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Chaque serveur garde en cache les réponses obtenues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Réduit le temps de réponse et la charge des serveurs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Durée de validité fixée par le TTL de l'enregistrement</a:t>
            </a:r>
            <a:endParaRPr/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Comme la mémoire n'est pas infinie et que les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données du cache peuvent ne plus être valables au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bout d'un certain temps, les données expirent du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cache après un certain temps TTL (environ 2 jours)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Compromis fraîcheur / performance</a:t>
            </a:r>
            <a:endParaRPr/>
          </a:p>
        </p:txBody>
      </p:sp>
      <p:sp>
        <p:nvSpPr>
          <p:cNvPr id="1372370254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CE51F47-DFFD-D98B-0972-124824E42CA5}" type="slidenum">
              <a:rPr/>
              <a:t/>
            </a:fld>
            <a:endParaRPr/>
          </a:p>
        </p:txBody>
      </p:sp>
      <p:sp>
        <p:nvSpPr>
          <p:cNvPr id="89756241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AA082A-F33C-2A5E-6077-78F446F8E1C2}" type="datetime1">
              <a:rPr lang="fr-FR"/>
              <a:t/>
            </a:fld>
            <a:endParaRPr/>
          </a:p>
        </p:txBody>
      </p:sp>
      <p:sp>
        <p:nvSpPr>
          <p:cNvPr id="817026295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873268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Les messages DNS (RFC 1034, 1035)</a:t>
            </a:r>
            <a:endParaRPr/>
          </a:p>
        </p:txBody>
      </p:sp>
      <p:sp>
        <p:nvSpPr>
          <p:cNvPr id="632827092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message de réponse DNS contient un ou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plusieurs RR (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Resource Record)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l'unité de stockage d'une correspondance dans le cache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RR = (Nom, Type, Classe, TTL, Valeur)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Type (16 bits) : type de l'enregistrement ; la signification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Nom (N octets) et Valeur dépend du type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Classe (16 bits) : famille de protocoles ; Classe=1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pour Internet (IN)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TTL (32 bits) : temps en secondes pendant lequel il faut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conserver l'enregistrement dans le cache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Valeur = RDLENGTH (16 bits) + RDATA (N octets)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457200" marR="0" lvl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message de requête DNS contient des questions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du type (Nom, Type, Classe)</a:t>
            </a:r>
            <a:endParaRPr lang="fr-FR" sz="3600" b="0">
              <a:solidFill>
                <a:schemeClr val="accent5">
                  <a:lumMod val="75000"/>
                </a:schemeClr>
              </a:solidFill>
            </a:endParaRPr>
          </a:p>
          <a:p>
            <a:pPr marL="457200" marR="0" lvl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12 octets d’en tête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40874087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DB0EEF6-6BC1-7527-3FE2-8C13C47A0D06}" type="slidenum">
              <a:rPr/>
              <a:t/>
            </a:fld>
            <a:endParaRPr/>
          </a:p>
        </p:txBody>
      </p:sp>
      <p:sp>
        <p:nvSpPr>
          <p:cNvPr id="659016511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C0A29E-B4C7-85D6-7026-297BBD7BB36A}" type="datetime1">
              <a:rPr lang="fr-FR"/>
              <a:t/>
            </a:fld>
            <a:endParaRPr/>
          </a:p>
        </p:txBody>
      </p:sp>
      <p:sp>
        <p:nvSpPr>
          <p:cNvPr id="1628261156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41134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DNS : format des messages</a:t>
            </a:r>
            <a:endParaRPr/>
          </a:p>
        </p:txBody>
      </p:sp>
      <p:sp>
        <p:nvSpPr>
          <p:cNvPr id="1091153267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D629AEB-8126-D8CE-2E16-06B4C787D6D6}" type="slidenum">
              <a:rPr/>
              <a:t/>
            </a:fld>
            <a:endParaRPr/>
          </a:p>
        </p:txBody>
      </p:sp>
      <p:sp>
        <p:nvSpPr>
          <p:cNvPr id="36388399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79B63F4-411E-7FD6-BF9A-F7FF80424CCF}" type="datetime1">
              <a:rPr lang="fr-FR"/>
              <a:t/>
            </a:fld>
            <a:endParaRPr/>
          </a:p>
        </p:txBody>
      </p:sp>
      <p:sp>
        <p:nvSpPr>
          <p:cNvPr id="136926208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850805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9566" y="1690687"/>
            <a:ext cx="7572865" cy="4733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115204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DNS : format des messages</a:t>
            </a:r>
            <a:endParaRPr/>
          </a:p>
        </p:txBody>
      </p:sp>
      <p:sp>
        <p:nvSpPr>
          <p:cNvPr id="850933346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28724A5-E7B8-5839-664B-B8EA3600895C}" type="slidenum">
              <a:rPr/>
              <a:t/>
            </a:fld>
            <a:endParaRPr/>
          </a:p>
        </p:txBody>
      </p:sp>
      <p:sp>
        <p:nvSpPr>
          <p:cNvPr id="267225028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DBDDBAD-B5F0-FD8B-7648-9BB12954887A}" type="datetime1">
              <a:rPr lang="fr-FR"/>
              <a:t/>
            </a:fld>
            <a:endParaRPr/>
          </a:p>
        </p:txBody>
      </p:sp>
      <p:sp>
        <p:nvSpPr>
          <p:cNvPr id="97137481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604838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Types d'enregistrements (RR) courants</a:t>
            </a:r>
            <a:endParaRPr/>
          </a:p>
        </p:txBody>
      </p:sp>
      <p:sp>
        <p:nvSpPr>
          <p:cNvPr id="1533923947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 / AAAA : nom → adresse IPv4 / IPv6</a:t>
            </a:r>
            <a:endParaRPr lang="fr-FR" sz="2200" b="0">
              <a:solidFill>
                <a:schemeClr val="accent5">
                  <a:lumMod val="75000"/>
                </a:schemeClr>
              </a:solidFill>
            </a:endParaRPr>
          </a:p>
          <a:p>
            <a:pPr marL="857250" lvl="1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sz="1800" b="0">
                <a:solidFill>
                  <a:schemeClr val="accent5">
                    <a:lumMod val="75000"/>
                  </a:schemeClr>
                </a:solidFill>
              </a:rPr>
              <a:t>A :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Nom=nom d'hôte (canonique), Value=@IPv4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857250" lvl="1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AAAA : 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Nom=nom d'hôte, Value=@IPv6</a:t>
            </a:r>
            <a:endParaRPr lang="fr-FR"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CNAME : alias (nom canonique)</a:t>
            </a:r>
            <a:endParaRPr/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Nom=un alias, Value=nom canonique (le vrai nom)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MX : serveur de messagerie d'un domaine</a:t>
            </a:r>
            <a:endParaRPr/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Nom=un alias, Value=nom canonique d'un serveur de mail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NS : serveur de noms ; PTR : adresse → nom ; SOA : paramètres de zone</a:t>
            </a:r>
            <a:endParaRPr/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NS : 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Nom=domaine, Value=nom du serveur de nom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85725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PTR : 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Nom=un nom de la zone arpa, Value=nom canonique 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(valeur pointée)</a:t>
            </a:r>
            <a:endParaRPr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85725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SOA : 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Nom=nom d'une zone, Value=informations sur la zone</a:t>
            </a:r>
            <a:endParaRPr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93911850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B0B78CB-0643-70F2-F64F-0A3E6FC3813A}" type="slidenum">
              <a:rPr/>
              <a:t/>
            </a:fld>
            <a:endParaRPr/>
          </a:p>
        </p:txBody>
      </p:sp>
      <p:sp>
        <p:nvSpPr>
          <p:cNvPr id="868611446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01E6718-C084-7611-2C96-B6EC4ED124ED}" type="datetime1">
              <a:rPr lang="fr-FR"/>
              <a:t/>
            </a:fld>
            <a:endParaRPr/>
          </a:p>
        </p:txBody>
      </p:sp>
      <p:sp>
        <p:nvSpPr>
          <p:cNvPr id="2104699134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01409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Types d'enregistrements (RR) courants</a:t>
            </a:r>
            <a:endParaRPr/>
          </a:p>
        </p:txBody>
      </p:sp>
      <p:sp>
        <p:nvSpPr>
          <p:cNvPr id="2041577121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192938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34C88BD-1156-4560-1626-421D0B244226}" type="slidenum">
              <a:rPr/>
              <a:t/>
            </a:fld>
            <a:endParaRPr/>
          </a:p>
        </p:txBody>
      </p:sp>
      <p:sp>
        <p:nvSpPr>
          <p:cNvPr id="372479399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EBEB0-5A24-7B6A-0AF7-DD814ECB3F3D}" type="datetime1">
              <a:rPr lang="fr-FR"/>
              <a:t/>
            </a:fld>
            <a:endParaRPr/>
          </a:p>
        </p:txBody>
      </p:sp>
      <p:sp>
        <p:nvSpPr>
          <p:cNvPr id="559396739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5282860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9799" y="2760343"/>
            <a:ext cx="7931159" cy="248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187964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Répartition de charge : DNS round-robin</a:t>
            </a:r>
            <a:endParaRPr/>
          </a:p>
        </p:txBody>
      </p:sp>
      <p:sp>
        <p:nvSpPr>
          <p:cNvPr id="212723535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Plusieurs adresses associées à un même nom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Le serveur renvoie les adresses en alternance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Répartit les clients entre plusieurs serveurs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Simple, mais sans connaissance de la charge réelle</a:t>
            </a:r>
            <a:endParaRPr/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Solution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anycast (une seule @IP annoncée via BGP)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Load balacing via la couche réseau</a:t>
            </a:r>
            <a:endParaRPr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datacenters Google annonce la même IP</a:t>
            </a:r>
            <a:endParaRPr lang="fr-FR"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endParaRPr/>
          </a:p>
        </p:txBody>
      </p:sp>
      <p:sp>
        <p:nvSpPr>
          <p:cNvPr id="2017037825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543EBC-560D-C8B5-7A41-80A5768621FA}" type="slidenum">
              <a:rPr/>
              <a:t/>
            </a:fld>
            <a:endParaRPr/>
          </a:p>
        </p:txBody>
      </p:sp>
      <p:sp>
        <p:nvSpPr>
          <p:cNvPr id="631984681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A2BEC27-5104-2AED-5D2B-DC97E962DA0F}" type="datetime1">
              <a:rPr lang="fr-FR"/>
              <a:t/>
            </a:fld>
            <a:endParaRPr/>
          </a:p>
        </p:txBody>
      </p:sp>
      <p:sp>
        <p:nvSpPr>
          <p:cNvPr id="214145508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327295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872287" y="4369716"/>
            <a:ext cx="3476624" cy="123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56539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DNS : côté client et côté serveur</a:t>
            </a:r>
            <a:endParaRPr/>
          </a:p>
        </p:txBody>
      </p:sp>
      <p:sp>
        <p:nvSpPr>
          <p:cNvPr id="446608487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5D161ED-8040-855E-F23C-6BD3DFAA86F4}" type="slidenum">
              <a:rPr/>
              <a:t/>
            </a:fld>
            <a:endParaRPr/>
          </a:p>
        </p:txBody>
      </p:sp>
      <p:sp>
        <p:nvSpPr>
          <p:cNvPr id="101451277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EC668AC-0FFC-3C99-0FC1-7F7C7AAF7DE0}" type="datetime1">
              <a:rPr lang="fr-FR"/>
              <a:t/>
            </a:fld>
            <a:endParaRPr/>
          </a:p>
        </p:txBody>
      </p:sp>
      <p:sp>
        <p:nvSpPr>
          <p:cNvPr id="1181803886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07047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Côté client : le resolver</a:t>
            </a:r>
            <a:endParaRPr/>
          </a:p>
        </p:txBody>
      </p:sp>
      <p:sp>
        <p:nvSpPr>
          <p:cNvPr id="1356410848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Bibliothèque qui effectue les résolutions pour les applications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</a:t>
            </a:r>
            <a:r>
              <a:rPr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resolver a en charge les résolutions de noms</a:t>
            </a:r>
            <a:r>
              <a:rPr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(inverse ou pas) chaque fois que cela est</a:t>
            </a:r>
            <a:r>
              <a:rPr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nécessaire --&gt; man resolver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Deux fichiers de configuration lui sont associés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/etc/resolv.conf permet de paramètrer les requêtes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DNS effectuées (man resolv.conf)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/etc/host.conf permet de paramètrer le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resolver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(man host.conf), en particulier ordre de résolution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5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order hosts,bind,nis</a:t>
            </a:r>
            <a:endParaRPr lang="fr-FR" sz="1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1257299" marR="0" lvl="3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/etc/nsswitch.conf est consulté en premier s'il existe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Extrait de l'API du</a:t>
            </a:r>
            <a:r>
              <a:rPr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resolver pour les applications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gethostbyname(name)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gethostbyaddr(addr)</a:t>
            </a:r>
            <a:endParaRPr sz="3600"/>
          </a:p>
        </p:txBody>
      </p:sp>
      <p:sp>
        <p:nvSpPr>
          <p:cNvPr id="201439408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3981FA3D-842F-02F4-32DE-D499AB3E2360}" type="slidenum">
              <a:rPr/>
              <a:t/>
            </a:fld>
            <a:endParaRPr/>
          </a:p>
        </p:txBody>
      </p:sp>
      <p:sp>
        <p:nvSpPr>
          <p:cNvPr id="1147461578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623551B-CB4D-4C55-805D-0939617F1C23}" type="datetime1">
              <a:rPr lang="fr-FR"/>
              <a:t/>
            </a:fld>
            <a:endParaRPr/>
          </a:p>
        </p:txBody>
      </p:sp>
      <p:sp>
        <p:nvSpPr>
          <p:cNvPr id="263650634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320043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Côté serveur : named (BIND)</a:t>
            </a:r>
            <a:endParaRPr/>
          </a:p>
        </p:txBody>
      </p:sp>
      <p:sp>
        <p:nvSpPr>
          <p:cNvPr id="1031939272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BIND :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Berkeley Internet Name Domain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http://www.isc.org/sw/bind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implantation d'un serveur DNS du domaine publique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démon répondant aux requêtes DNS est named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fichier de configuration : named.conf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il faut y associer les fichiers décrivant les zones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administrées (syntaxe master files : voir RFC 1035)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--&gt; dans /etc/namedb ou /etc/bind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Des utilitaires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rndc permet de contrôler à distance le fonctionnement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named (avec authentification)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named-checkconf et named-checkzone permettent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vérifier la syntaxe des fichiers de zones ou config.</a:t>
            </a:r>
            <a:endParaRPr lang="fr-FR"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04892331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A7C302D-941C-8AAF-11D7-7021C62945AA}" type="slidenum">
              <a:rPr/>
              <a:t/>
            </a:fld>
            <a:endParaRPr/>
          </a:p>
        </p:txBody>
      </p:sp>
      <p:sp>
        <p:nvSpPr>
          <p:cNvPr id="419823499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9F2450-C088-4716-B725-1115A6F9EB3F}" type="datetime1">
              <a:rPr lang="fr-FR"/>
              <a:t/>
            </a:fld>
            <a:endParaRPr/>
          </a:p>
        </p:txBody>
      </p:sp>
      <p:sp>
        <p:nvSpPr>
          <p:cNvPr id="107542323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713608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LDAP : un annuaire fédérateur sécurisé</a:t>
            </a:r>
            <a:endParaRPr/>
          </a:p>
        </p:txBody>
      </p:sp>
      <p:sp>
        <p:nvSpPr>
          <p:cNvPr id="1200568020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57C9393-BE4A-5462-764B-E3C5B5CF0DD1}" type="slidenum">
              <a:rPr/>
              <a:t/>
            </a:fld>
            <a:endParaRPr/>
          </a:p>
        </p:txBody>
      </p:sp>
      <p:sp>
        <p:nvSpPr>
          <p:cNvPr id="1388587310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54054F0-B556-F8B2-15A8-BDC0DB72D516}" type="datetime1">
              <a:rPr lang="fr-FR"/>
              <a:t/>
            </a:fld>
            <a:endParaRPr/>
          </a:p>
        </p:txBody>
      </p:sp>
      <p:sp>
        <p:nvSpPr>
          <p:cNvPr id="124345866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835527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Problématique résolue par LDAP</a:t>
            </a:r>
            <a:endParaRPr/>
          </a:p>
        </p:txBody>
      </p:sp>
      <p:sp>
        <p:nvSpPr>
          <p:cNvPr id="247294175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Fusionner de multiples bases (comptes, mail, téléphone…) en un annuaire unique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Éviter la ressaisie et les incohérences entre applications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Un référentiel commun, interrogeable par de nombreux services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Accès en lecture optimisé, écriture plus rare</a:t>
            </a:r>
            <a:endParaRPr/>
          </a:p>
        </p:txBody>
      </p:sp>
      <p:sp>
        <p:nvSpPr>
          <p:cNvPr id="572287775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D4FA97A-14CD-16E3-4210-217BF0C5C820}" type="slidenum">
              <a:rPr/>
              <a:t/>
            </a:fld>
            <a:endParaRPr/>
          </a:p>
        </p:txBody>
      </p:sp>
      <p:sp>
        <p:nvSpPr>
          <p:cNvPr id="1530070594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E02A5F3-F53A-F137-E71B-BA17F7844EF5}" type="datetime1">
              <a:rPr lang="fr-FR"/>
              <a:t/>
            </a:fld>
            <a:endParaRPr/>
          </a:p>
        </p:txBody>
      </p:sp>
      <p:sp>
        <p:nvSpPr>
          <p:cNvPr id="1465940868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096952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concept d'annuaire</a:t>
            </a:r>
            <a:endParaRPr/>
          </a:p>
        </p:txBody>
      </p:sp>
      <p:sp>
        <p:nvSpPr>
          <p:cNvPr id="1604626766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Annuaire informatique</a:t>
            </a:r>
            <a:endParaRPr lang="fr-FR" sz="2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ervice permettant d'accéder à des informations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relatives à des personnes, des machines (ou autres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ressources) de manière organisée</a:t>
            </a:r>
            <a:endParaRPr lang="fr-FR" sz="2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bjectif : maintenir de façon cohérente et contrôlée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une grande quantité de données</a:t>
            </a:r>
            <a:endParaRPr lang="fr-FR" sz="2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Base d'information spécialisée : personnes, machines, services…</a:t>
            </a:r>
            <a:endParaRPr lang="fr-FR" sz="2200" b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Optimisé pour la lecture et la recherche (peu d'écritures)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Organisation hiérarchique (arborescente)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Différent d'une base de données relationnelle (SGBD)</a:t>
            </a:r>
            <a:endParaRPr/>
          </a:p>
        </p:txBody>
      </p:sp>
      <p:sp>
        <p:nvSpPr>
          <p:cNvPr id="2002952128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99B275-4301-48D6-B654-D86403B2BA2C}" type="slidenum">
              <a:rPr/>
              <a:t/>
            </a:fld>
            <a:endParaRPr/>
          </a:p>
        </p:txBody>
      </p:sp>
      <p:sp>
        <p:nvSpPr>
          <p:cNvPr id="98187127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12FCDE-B0ED-EA70-17C2-ABC7EBC89EF0}" type="datetime1">
              <a:rPr lang="fr-FR"/>
              <a:t/>
            </a:fld>
            <a:endParaRPr/>
          </a:p>
        </p:txBody>
      </p:sp>
      <p:sp>
        <p:nvSpPr>
          <p:cNvPr id="1474491951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416274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/>
              <a:t>Concept d’annuaire</a:t>
            </a:r>
            <a:endParaRPr/>
          </a:p>
        </p:txBody>
      </p:sp>
      <p:sp>
        <p:nvSpPr>
          <p:cNvPr id="563204663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Différences annuaire/SGBD - dans un annuaire :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as de liens de dépendances entre les objets stockés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es objets peuvent être distribués sur plusieurs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annuaires pour assurer une meilleure disponibilité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 schéma de stockage des données est standardisé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pour assurer un partage des données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es applications de l'annuaire n'ont pas besoin de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connaître la structure interne des données stockées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 annuaire est principalement consulté en lecture et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optimisé pour cela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36183332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B23423E-ED0B-3784-4D0B-AA4DA1969B93}" type="slidenum">
              <a:rPr/>
              <a:t/>
            </a:fld>
            <a:endParaRPr/>
          </a:p>
        </p:txBody>
      </p:sp>
      <p:sp>
        <p:nvSpPr>
          <p:cNvPr id="92691022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471C37D-9A95-769F-5427-BD669B111D9A}" type="datetime1">
              <a:rPr lang="fr-FR"/>
              <a:t/>
            </a:fld>
            <a:endParaRPr/>
          </a:p>
        </p:txBody>
      </p:sp>
      <p:sp>
        <p:nvSpPr>
          <p:cNvPr id="142810096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82321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L'annuaire LDAP</a:t>
            </a:r>
            <a:endParaRPr/>
          </a:p>
        </p:txBody>
      </p:sp>
      <p:sp>
        <p:nvSpPr>
          <p:cNvPr id="1554572438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LDAP : Lightweight Directory Access Protocol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Héritier de X.500 (allégé, sur TCP/IP)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Standardisé par l'IETF (RFC 4510 et suivantes)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Objectif : accès simple, fiable et contrôlé à des informations partagées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ournir aux utilisateurs des informations fiables,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facilement accessibles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rmettre aux utilisateurs de mettre à jour eux-mêmes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leurs informations personnelles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endre les informations accessibles de façon contrôlée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aciliter le nomadisme des utilisateurs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viter la redondance d'informations : un seul annuaire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pour l'ensemble des services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aciliter la gestion (administration) des postes de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travail, des équipements réseau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13030791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D3500D2-F0DE-F6F6-964C-F7E7BE0BEC7A}" type="slidenum">
              <a:rPr/>
              <a:t/>
            </a:fld>
            <a:endParaRPr/>
          </a:p>
        </p:txBody>
      </p:sp>
      <p:sp>
        <p:nvSpPr>
          <p:cNvPr id="502862304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54E1CD-19A9-5144-77FB-36459CF4A255}" type="datetime1">
              <a:rPr lang="fr-FR"/>
              <a:t/>
            </a:fld>
            <a:endParaRPr/>
          </a:p>
        </p:txBody>
      </p:sp>
      <p:sp>
        <p:nvSpPr>
          <p:cNvPr id="119258538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8553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L'annuaire LDAP</a:t>
            </a:r>
            <a:endParaRPr/>
          </a:p>
        </p:txBody>
      </p:sp>
      <p:sp>
        <p:nvSpPr>
          <p:cNvPr id="2089173149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modèle d'information : type des informations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contenues dans l'annuaire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protocole d'accès : comment accéder aux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informations contenues dans l'annuaire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modèle de nommage : comment l'information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est organisée et référencée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modèle fonctionnel : une syntaxe des requêtes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permettant l'interrogation de la base et la mise à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jour des informations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modèle de duplication : comment la base est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répartie sur différents serveurs (tolérance aux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pannes, répartition de la charge du serveur, …)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modèle de sécurité : comment contrôler l'accès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aux données ainsi que leur transfert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62180007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29EF788-4AE5-8162-B300-CCEB40E7C4FD}" type="slidenum">
              <a:rPr/>
              <a:t/>
            </a:fld>
            <a:endParaRPr/>
          </a:p>
        </p:txBody>
      </p:sp>
      <p:sp>
        <p:nvSpPr>
          <p:cNvPr id="922888674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9147A8-D993-FA6F-13DD-DFCC95809DF7}" type="datetime1">
              <a:rPr lang="fr-FR"/>
              <a:t/>
            </a:fld>
            <a:endParaRPr/>
          </a:p>
        </p:txBody>
      </p:sp>
      <p:sp>
        <p:nvSpPr>
          <p:cNvPr id="192271147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14741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protocole LDAP</a:t>
            </a:r>
            <a:endParaRPr/>
          </a:p>
        </p:txBody>
      </p:sp>
      <p:sp>
        <p:nvSpPr>
          <p:cNvPr id="1434250133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Définit les échanges Client/Serveur (connexion, opérations, résultats)</a:t>
            </a:r>
            <a:endParaRPr lang="fr-FR" sz="2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ommandes de connexion au service : bind,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unbind, abandon (le client abandonne la requête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en cours)</a:t>
            </a:r>
            <a:endParaRPr lang="fr-FR" sz="2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ommandes de mises à jour des entrées de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l'annuaire : add, delete, modifiy, rename</a:t>
            </a:r>
            <a:endParaRPr lang="fr-FR" sz="2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ommandes d'interrogation : recherche (search)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et comparaison (compare) d'entrées</a:t>
            </a:r>
            <a:endParaRPr lang="fr-FR" sz="2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réplication (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replication service), en cours de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normalisation (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LDUP : LDAP Duplication Protocol)</a:t>
            </a:r>
            <a:endParaRPr lang="fr-FR" sz="2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éer des liens entre différents annuaires (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referral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service) - défini dans LDAPv3</a:t>
            </a:r>
            <a:endParaRPr lang="fr-FR" sz="15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Transport TCP (port 389 ; 636 pour LDAPS)</a:t>
            </a:r>
            <a:endParaRPr lang="fr-FR" sz="2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37119167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EF7351B-9B4B-CE78-F43E-3664910B971F}" type="slidenum">
              <a:rPr/>
              <a:t/>
            </a:fld>
            <a:endParaRPr/>
          </a:p>
        </p:txBody>
      </p:sp>
      <p:sp>
        <p:nvSpPr>
          <p:cNvPr id="2063851541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8AAADCE-54B8-D3E7-691C-2A7502C45432}" type="datetime1">
              <a:rPr lang="fr-FR"/>
              <a:t/>
            </a:fld>
            <a:endParaRPr/>
          </a:p>
        </p:txBody>
      </p:sp>
      <p:sp>
        <p:nvSpPr>
          <p:cNvPr id="611178115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64813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protocole LDAP</a:t>
            </a:r>
            <a:endParaRPr/>
          </a:p>
        </p:txBody>
      </p:sp>
      <p:sp>
        <p:nvSpPr>
          <p:cNvPr id="14493453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Définit l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es mécanismes de sécurité</a:t>
            </a:r>
            <a:endParaRPr lang="fr-FR" sz="2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méthodes d'authentification pour se connecter à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l'annuaire (qui peut se connecter à l'annuaire et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comment)</a:t>
            </a:r>
            <a:endParaRPr lang="fr-FR" sz="2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mécanismes de règles d'accès aux données (une fois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connecté, à quoi peut-on accéder et avec quels droits)</a:t>
            </a:r>
            <a:endParaRPr lang="fr-FR" sz="2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1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mécanismes de chiffrement des transactions</a:t>
            </a:r>
            <a:endParaRPr lang="fr-FR" sz="21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31914395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D3A1B87-1159-4CB8-514D-728CE3B52AB4}" type="slidenum">
              <a:rPr/>
              <a:t/>
            </a:fld>
            <a:endParaRPr/>
          </a:p>
        </p:txBody>
      </p:sp>
      <p:sp>
        <p:nvSpPr>
          <p:cNvPr id="32865356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EDA1F51-81D6-06B0-BFAD-18D2C92351FB}" type="datetime1">
              <a:rPr lang="fr-FR"/>
              <a:t/>
            </a:fld>
            <a:endParaRPr/>
          </a:p>
        </p:txBody>
      </p:sp>
      <p:sp>
        <p:nvSpPr>
          <p:cNvPr id="1934905166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00691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protocole LDAP</a:t>
            </a:r>
            <a:endParaRPr/>
          </a:p>
        </p:txBody>
      </p:sp>
      <p:sp>
        <p:nvSpPr>
          <p:cNvPr id="1669322069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LDAPv3 est conçu pour être extensible sans avoir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à modifier la norme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permet l'ajout d'opérations (en plus des 9 de base)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permet l'ajout de paramètres associés à une opération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mécanismes de sécurité sont définis dans une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couche séparé : permet des méthodes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d'authentification externes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56569566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E60857C-BE07-F0CB-8E2A-6952EC0BE1DC}" type="slidenum">
              <a:rPr/>
              <a:t/>
            </a:fld>
            <a:endParaRPr/>
          </a:p>
        </p:txBody>
      </p:sp>
      <p:sp>
        <p:nvSpPr>
          <p:cNvPr id="1362897798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10E2FA0-6744-DCEB-4D7C-1A1F53BEB4A6}" type="datetime1">
              <a:rPr lang="fr-FR"/>
              <a:t/>
            </a:fld>
            <a:endParaRPr/>
          </a:p>
        </p:txBody>
      </p:sp>
      <p:sp>
        <p:nvSpPr>
          <p:cNvPr id="2045273127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4312109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00324" y="4517010"/>
            <a:ext cx="6991349" cy="1152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226109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Se connecter à une base LDAP</a:t>
            </a:r>
            <a:endParaRPr/>
          </a:p>
        </p:txBody>
      </p:sp>
      <p:sp>
        <p:nvSpPr>
          <p:cNvPr id="1232252946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Outils en ligne de commande (ldapsearch, ldapadd…) ou navigateurs graphiques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Connexion anonyme ou authentifiée (bind avec un DN)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Chiffrement via TLS (LDAPS, STARTTLS)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Base identifiée par un DN de base (ex. dc=univ-lyon1,dc=fr)</a:t>
            </a:r>
            <a:endParaRPr/>
          </a:p>
        </p:txBody>
      </p:sp>
      <p:sp>
        <p:nvSpPr>
          <p:cNvPr id="1432746609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738ADB34-CA60-208D-94E9-AF02634F6679}" type="slidenum">
              <a:rPr/>
              <a:t/>
            </a:fld>
            <a:endParaRPr/>
          </a:p>
        </p:txBody>
      </p:sp>
      <p:sp>
        <p:nvSpPr>
          <p:cNvPr id="719401641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A04793-8155-F617-1D81-725712C1531B}" type="datetime1">
              <a:rPr lang="fr-FR"/>
              <a:t/>
            </a:fld>
            <a:endParaRPr/>
          </a:p>
        </p:txBody>
      </p:sp>
      <p:sp>
        <p:nvSpPr>
          <p:cNvPr id="210511636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144873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Les modèles LDAP</a:t>
            </a:r>
            <a:endParaRPr/>
          </a:p>
        </p:txBody>
      </p:sp>
      <p:sp>
        <p:nvSpPr>
          <p:cNvPr id="966646773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673F2DD-FFA8-6635-3C19-E850F712F2E0}" type="slidenum">
              <a:rPr/>
              <a:t/>
            </a:fld>
            <a:endParaRPr/>
          </a:p>
        </p:txBody>
      </p:sp>
      <p:sp>
        <p:nvSpPr>
          <p:cNvPr id="1544689708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694C81A-781E-6807-35C1-E289AB3C89A5}" type="datetime1">
              <a:rPr lang="fr-FR"/>
              <a:t/>
            </a:fld>
            <a:endParaRPr/>
          </a:p>
        </p:txBody>
      </p:sp>
      <p:sp>
        <p:nvSpPr>
          <p:cNvPr id="2123616676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85752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modèle d'information : entrées et attributs</a:t>
            </a:r>
            <a:endParaRPr/>
          </a:p>
        </p:txBody>
      </p:sp>
      <p:sp>
        <p:nvSpPr>
          <p:cNvPr id="779730027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schéma LDAP est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standardisé (IANA) : pour l'interopérabilité entre logiciels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L'information est structurée en entrées (objets)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Chaque entrée possède des attributs (nom, valeur)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nom, un identifiant unique (OID), mono/multi-valué,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une syntaxe et des règles de comparaison (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matching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rules), une valeur (format+taille limite), modifiable ou non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classes d'objets définissent les attributs obligatoires / optionnels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85725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des objets réels : un compte Unix (posixAccount), une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organisation (o), un département (ou), un personnel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(organizationPerson), une imprimante (device), …</a:t>
            </a:r>
            <a:endParaRPr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ou abstraits : l'objet père de tous les autres (top), …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classes forment une hiérarchie (héritage)</a:t>
            </a:r>
            <a:endParaRPr/>
          </a:p>
        </p:txBody>
      </p:sp>
      <p:sp>
        <p:nvSpPr>
          <p:cNvPr id="99741647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5002A443-8483-63B8-0091-7C2DE4E96FD3}" type="slidenum">
              <a:rPr/>
              <a:t/>
            </a:fld>
            <a:endParaRPr/>
          </a:p>
        </p:txBody>
      </p:sp>
      <p:sp>
        <p:nvSpPr>
          <p:cNvPr id="1658250375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C19451F-063B-74CF-DFC1-B45E16CE9B02}" type="datetime1">
              <a:rPr lang="fr-FR"/>
              <a:t/>
            </a:fld>
            <a:endParaRPr/>
          </a:p>
        </p:txBody>
      </p:sp>
      <p:sp>
        <p:nvSpPr>
          <p:cNvPr id="1826324379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067208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Modèle d'information : hiérarchie des classes d'objets</a:t>
            </a:r>
            <a:endParaRPr/>
          </a:p>
        </p:txBody>
      </p:sp>
      <p:sp>
        <p:nvSpPr>
          <p:cNvPr id="1049176984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6BBCBC2-41EB-0CD5-777F-7A7E71AD3122}" type="slidenum">
              <a:rPr/>
              <a:t/>
            </a:fld>
            <a:endParaRPr/>
          </a:p>
        </p:txBody>
      </p:sp>
      <p:sp>
        <p:nvSpPr>
          <p:cNvPr id="374467695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B54763-A6A9-30F0-EB88-647690B30505}" type="datetime1">
              <a:rPr lang="fr-FR"/>
              <a:t/>
            </a:fld>
            <a:endParaRPr/>
          </a:p>
        </p:txBody>
      </p:sp>
      <p:sp>
        <p:nvSpPr>
          <p:cNvPr id="90512979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694092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8422" y="1836262"/>
            <a:ext cx="7395154" cy="4241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521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Modèle d'information : hiérarchie des classes d'objets</a:t>
            </a:r>
            <a:endParaRPr/>
          </a:p>
        </p:txBody>
      </p:sp>
      <p:sp>
        <p:nvSpPr>
          <p:cNvPr id="2103934190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EE3EC81-2E3E-E62D-9FEC-6FFADC14688A}" type="slidenum">
              <a:rPr/>
              <a:t/>
            </a:fld>
            <a:endParaRPr/>
          </a:p>
        </p:txBody>
      </p:sp>
      <p:sp>
        <p:nvSpPr>
          <p:cNvPr id="1606011963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36E1039-48D9-C174-54AE-46E3F74CDA3F}" type="datetime1">
              <a:rPr lang="fr-FR"/>
              <a:t/>
            </a:fld>
            <a:endParaRPr/>
          </a:p>
        </p:txBody>
      </p:sp>
      <p:sp>
        <p:nvSpPr>
          <p:cNvPr id="41744068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8333875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61594" y="1767525"/>
            <a:ext cx="7468810" cy="42420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67329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modèle de nommage</a:t>
            </a:r>
            <a:endParaRPr/>
          </a:p>
        </p:txBody>
      </p:sp>
      <p:sp>
        <p:nvSpPr>
          <p:cNvPr id="23677263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Il définit comment sont organisées les entrées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(=objets) de l'annuaire et comment elles sont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référencées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lvl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Structure arborescente contenant deux catégories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d'objets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conteneurs (une zone de rangement) : départ d'une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nouvelle branche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peuvent contenir des conteneurs ou des feuilles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généralement, une sous-organisation de l'organisation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(département, zone géographique, …)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feuilles (véritables données) : terminaison des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branches (généralement les machines, les utilisateurs, …)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142642948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90E5DD4-B3E8-0BD5-54F3-2EE3679ED329}" type="slidenum">
              <a:rPr/>
              <a:t/>
            </a:fld>
            <a:endParaRPr/>
          </a:p>
        </p:txBody>
      </p:sp>
      <p:sp>
        <p:nvSpPr>
          <p:cNvPr id="1020521684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5A1FC5E-80BB-35EA-6739-47F2D7294D15}" type="datetime1">
              <a:rPr lang="fr-FR"/>
              <a:t/>
            </a:fld>
            <a:endParaRPr/>
          </a:p>
        </p:txBody>
      </p:sp>
      <p:sp>
        <p:nvSpPr>
          <p:cNvPr id="1157392684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91270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modèle de nommage : le DIT</a:t>
            </a:r>
            <a:endParaRPr/>
          </a:p>
        </p:txBody>
      </p:sp>
      <p:sp>
        <p:nvSpPr>
          <p:cNvPr id="1753743853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8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Les entrées sont organisées en arbre : le DIT (Directory Information Tree)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8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Chaque entrée a un nom unique : le DN (Distinguished Name)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8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Composé de RDN (Relative Distinguished Name)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8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Le DN reflète la position dans l'arborescence</a:t>
            </a:r>
            <a:endParaRPr/>
          </a:p>
        </p:txBody>
      </p:sp>
      <p:sp>
        <p:nvSpPr>
          <p:cNvPr id="1846733688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E324262-34CA-B2B9-00EA-F57BA3667620}" type="slidenum">
              <a:rPr/>
              <a:t/>
            </a:fld>
            <a:endParaRPr/>
          </a:p>
        </p:txBody>
      </p:sp>
      <p:sp>
        <p:nvSpPr>
          <p:cNvPr id="1265632279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538D03-D7A4-FF8C-FD1C-49676744069F}" type="datetime1">
              <a:rPr lang="fr-FR"/>
              <a:t/>
            </a:fld>
            <a:endParaRPr/>
          </a:p>
        </p:txBody>
      </p:sp>
      <p:sp>
        <p:nvSpPr>
          <p:cNvPr id="642415709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20294603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4394" y="3898376"/>
            <a:ext cx="8683209" cy="238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22439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format LDIF</a:t>
            </a:r>
            <a:endParaRPr/>
          </a:p>
        </p:txBody>
      </p:sp>
      <p:sp>
        <p:nvSpPr>
          <p:cNvPr id="766470595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LDAP Data Interchange Format : représentation texte des entrées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Sert à importer / exporter et à modifier l'annuaire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Une entrée = un DN suivi de ses attributs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Format lisible et automatisable</a:t>
            </a:r>
            <a:endParaRPr/>
          </a:p>
        </p:txBody>
      </p:sp>
      <p:sp>
        <p:nvSpPr>
          <p:cNvPr id="1415527227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BC89715-0517-DCC4-68C5-FF85B0E38407}" type="slidenum">
              <a:rPr/>
              <a:t/>
            </a:fld>
            <a:endParaRPr/>
          </a:p>
        </p:txBody>
      </p:sp>
      <p:sp>
        <p:nvSpPr>
          <p:cNvPr id="829916199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91554C-85CE-C657-6258-FF2435DA4FC0}" type="datetime1">
              <a:rPr lang="fr-FR"/>
              <a:t/>
            </a:fld>
            <a:endParaRPr/>
          </a:p>
        </p:txBody>
      </p:sp>
      <p:sp>
        <p:nvSpPr>
          <p:cNvPr id="663763265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2351489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26913" y="3833647"/>
            <a:ext cx="5938173" cy="23433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50293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modèle fonctionnel : les opérations</a:t>
            </a:r>
            <a:endParaRPr/>
          </a:p>
        </p:txBody>
      </p:sp>
      <p:sp>
        <p:nvSpPr>
          <p:cNvPr id="678336760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Interrogation : recherche (search), comparaison (compare)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Mise à jour : ajout, modification, suppression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Connexion / déconnexion : bind, unbind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Une recherche = base + portée + filtre + attributs demandés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Rappel des opérations de consultation/mise à jour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opérations de mise à jour des entrées de l'annuaire :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add, delete, modify, rename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opérations d'interrogation : recherche (search) et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comparaison (compare) d'entrées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--&gt; il n'y a pas d'opération de lecture d'une entrée :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pour connaître le contenu d'une entrée, il faut écrire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une requête qui pointe sur cette entrée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3616810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20F7694-1992-79F8-B6B2-E0C42FE179B7}" type="slidenum">
              <a:rPr/>
              <a:t/>
            </a:fld>
            <a:endParaRPr/>
          </a:p>
        </p:txBody>
      </p:sp>
      <p:sp>
        <p:nvSpPr>
          <p:cNvPr id="24701140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945BD83-62F6-B7D5-74DD-A51BDF236ED4}" type="datetime1">
              <a:rPr lang="fr-FR"/>
              <a:t/>
            </a:fld>
            <a:endParaRPr/>
          </a:p>
        </p:txBody>
      </p:sp>
      <p:sp>
        <p:nvSpPr>
          <p:cNvPr id="828061174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528457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Une requête de recherche : les paramètres</a:t>
            </a:r>
            <a:endParaRPr/>
          </a:p>
        </p:txBody>
      </p:sp>
      <p:sp>
        <p:nvSpPr>
          <p:cNvPr id="890627818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9F2883-DCCB-C31C-D941-7A6770C28A1D}" type="slidenum">
              <a:rPr/>
              <a:t/>
            </a:fld>
            <a:endParaRPr/>
          </a:p>
        </p:txBody>
      </p:sp>
      <p:sp>
        <p:nvSpPr>
          <p:cNvPr id="5911621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6FC636F-B770-EC2F-9D83-FAD2E7E34D48}" type="datetime1">
              <a:rPr lang="fr-FR"/>
              <a:t/>
            </a:fld>
            <a:endParaRPr/>
          </a:p>
        </p:txBody>
      </p:sp>
      <p:sp>
        <p:nvSpPr>
          <p:cNvPr id="217931067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714169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76682" y="2044193"/>
            <a:ext cx="8838633" cy="42297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98301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Les URL LDAP (RFC 4516)</a:t>
            </a:r>
            <a:endParaRPr/>
          </a:p>
        </p:txBody>
      </p:sp>
      <p:sp>
        <p:nvSpPr>
          <p:cNvPr id="1084022199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Désignent une base et une requête sous forme d'URL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ldap://serveur/base?attributs?portée?filtre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Permettent aux applications de pointer directement une entrée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Utilisées dans la configuration des services</a:t>
            </a:r>
            <a:endParaRPr/>
          </a:p>
        </p:txBody>
      </p:sp>
      <p:sp>
        <p:nvSpPr>
          <p:cNvPr id="879974427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962C5BF-5C5A-65EE-E364-0C2A3003B255}" type="slidenum">
              <a:rPr/>
              <a:t/>
            </a:fld>
            <a:endParaRPr/>
          </a:p>
        </p:txBody>
      </p:sp>
      <p:sp>
        <p:nvSpPr>
          <p:cNvPr id="974287598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78B002D-9C6A-026A-B1A3-69B0793B8B2F}" type="datetime1">
              <a:rPr lang="fr-FR"/>
              <a:t/>
            </a:fld>
            <a:endParaRPr/>
          </a:p>
        </p:txBody>
      </p:sp>
      <p:sp>
        <p:nvSpPr>
          <p:cNvPr id="5094165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6505260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722" y="3627894"/>
            <a:ext cx="4950077" cy="2728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934339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modèle de duplication (réplication)</a:t>
            </a:r>
            <a:endParaRPr/>
          </a:p>
        </p:txBody>
      </p:sp>
      <p:sp>
        <p:nvSpPr>
          <p:cNvPr id="1869706502" name="Content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5957959" cy="4351338"/>
          </a:xfrm>
        </p:spPr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Répliquer l'annuaire sur plusieurs serveurs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Améliore la disponibilité et le temps de réponse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Un maître et des réplicas (ou multi-maîtres)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Réplication des mises à jour du maître vers les réplicas</a:t>
            </a:r>
            <a:endParaRPr/>
          </a:p>
        </p:txBody>
      </p:sp>
      <p:sp>
        <p:nvSpPr>
          <p:cNvPr id="65252648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75F2DA92-3711-0E5D-8B7F-519601F86648}" type="slidenum">
              <a:rPr/>
              <a:t/>
            </a:fld>
            <a:endParaRPr/>
          </a:p>
        </p:txBody>
      </p:sp>
      <p:sp>
        <p:nvSpPr>
          <p:cNvPr id="1968515015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1CE0F4A-8EA3-A183-8847-277AD0336F2B}" type="datetime1">
              <a:rPr lang="fr-FR"/>
              <a:t/>
            </a:fld>
            <a:endParaRPr/>
          </a:p>
        </p:txBody>
      </p:sp>
      <p:sp>
        <p:nvSpPr>
          <p:cNvPr id="1650131816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grpSp>
        <p:nvGrpSpPr>
          <p:cNvPr id="573789107" name=""/>
          <p:cNvGrpSpPr/>
          <p:nvPr/>
        </p:nvGrpSpPr>
        <p:grpSpPr bwMode="auto">
          <a:xfrm>
            <a:off x="6867033" y="1690687"/>
            <a:ext cx="4589817" cy="4006675"/>
            <a:chOff x="0" y="0"/>
            <a:chExt cx="4589817" cy="4006675"/>
          </a:xfrm>
        </p:grpSpPr>
        <p:pic>
          <p:nvPicPr>
            <p:cNvPr id="1549184004" name="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 flipH="0" flipV="0">
              <a:off x="811883" y="0"/>
              <a:ext cx="3777933" cy="4006675"/>
            </a:xfrm>
            <a:prstGeom prst="rect">
              <a:avLst/>
            </a:prstGeom>
          </p:spPr>
        </p:pic>
        <p:sp>
          <p:nvSpPr>
            <p:cNvPr id="1234697455" name=""/>
            <p:cNvSpPr/>
            <p:nvPr/>
          </p:nvSpPr>
          <p:spPr bwMode="auto">
            <a:xfrm flipH="0" flipV="0">
              <a:off x="145156" y="508899"/>
              <a:ext cx="1237267" cy="481159"/>
            </a:xfrm>
            <a:prstGeom prst="flowChartProcess">
              <a:avLst/>
            </a:prstGeom>
            <a:solidFill>
              <a:schemeClr val="bg1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11611895" name=""/>
            <p:cNvSpPr/>
            <p:nvPr/>
          </p:nvSpPr>
          <p:spPr bwMode="auto">
            <a:xfrm flipH="0" flipV="0">
              <a:off x="0" y="1613798"/>
              <a:ext cx="1237267" cy="481158"/>
            </a:xfrm>
            <a:prstGeom prst="flowChartProcess">
              <a:avLst/>
            </a:prstGeom>
            <a:solidFill>
              <a:schemeClr val="bg1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9504458" name=""/>
            <p:cNvSpPr/>
            <p:nvPr/>
          </p:nvSpPr>
          <p:spPr bwMode="auto">
            <a:xfrm flipH="0" flipV="0">
              <a:off x="147293" y="2502667"/>
              <a:ext cx="1237267" cy="1266334"/>
            </a:xfrm>
            <a:prstGeom prst="flowChartProcess">
              <a:avLst/>
            </a:prstGeom>
            <a:solidFill>
              <a:schemeClr val="bg1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264092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modèle de sécurité</a:t>
            </a:r>
            <a:endParaRPr/>
          </a:p>
        </p:txBody>
      </p:sp>
      <p:sp>
        <p:nvSpPr>
          <p:cNvPr id="1041962512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Authentification au bind : anonyme, simple, ou SASL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(Kerberos par exemple)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Anonymous authentification, Root DN/passwd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uthentification (administrateur), User DN/passwd</a:t>
            </a:r>
            <a:endParaRPr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DN : cn=jean.dupont,ou=users,dc=entreprise,dc=fr</a:t>
            </a:r>
            <a:endParaRPr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Mot de passe : ********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Chiffrement des échanges : TLS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Contrôle d'accès par entrée et par attribut (A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ccess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ontrol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ist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Recommandé : chiffrement + authentification forte (Kerberos)</a:t>
            </a:r>
            <a:endParaRPr/>
          </a:p>
        </p:txBody>
      </p:sp>
      <p:sp>
        <p:nvSpPr>
          <p:cNvPr id="135267205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70DD0B43-619B-FB16-934A-2941BCC985E0}" type="slidenum">
              <a:rPr/>
              <a:t/>
            </a:fld>
            <a:endParaRPr/>
          </a:p>
        </p:txBody>
      </p:sp>
      <p:sp>
        <p:nvSpPr>
          <p:cNvPr id="120651471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B0DCDB3-DCAB-9993-FD3D-B05B3AE8BADA}" type="datetime1">
              <a:rPr lang="fr-FR"/>
              <a:t/>
            </a:fld>
            <a:endParaRPr/>
          </a:p>
        </p:txBody>
      </p:sp>
      <p:sp>
        <p:nvSpPr>
          <p:cNvPr id="999481889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410659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Mettre en place un annuaire LDAP</a:t>
            </a:r>
            <a:endParaRPr/>
          </a:p>
        </p:txBody>
      </p:sp>
      <p:sp>
        <p:nvSpPr>
          <p:cNvPr id="814439186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C6B68A0A-28F4-90D4-D131-171E82EAC9AF}" type="slidenum">
              <a:rPr/>
              <a:t/>
            </a:fld>
            <a:endParaRPr/>
          </a:p>
        </p:txBody>
      </p:sp>
      <p:sp>
        <p:nvSpPr>
          <p:cNvPr id="1584163983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945739-EB1D-1857-E3C3-17882EF37DC1}" type="datetime1">
              <a:rPr lang="fr-FR"/>
              <a:t/>
            </a:fld>
            <a:endParaRPr/>
          </a:p>
        </p:txBody>
      </p:sp>
      <p:sp>
        <p:nvSpPr>
          <p:cNvPr id="656110409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55344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/>
              <a:t>Questions sur la mise en place</a:t>
            </a:r>
            <a:endParaRPr/>
          </a:p>
        </p:txBody>
      </p:sp>
      <p:sp>
        <p:nvSpPr>
          <p:cNvPr id="1855014236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Il faut bien choisir les schémas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Quelles informations veut on stocker dans l'annuaire ?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--&gt; choix des objets contenant les attributs désirés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Quelles sont les applications qui vont utiliser l'annuaire ?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Authentification des utilisateurs sous Unix, sous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Windows (samba), gestion des groupes d'utilisateurs,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listes de mail dynamiques (sympa), carnets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d'adresses Netscape, ... ?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Il faut réfléchir à l'organisation du DIT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impacts sur la performance, les droits d'accès, …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Puis dans un second temps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gestion centralisée sur un seul serveur ?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nombre de serveurs redondants ? Emplacement ?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1813259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67EE630-712E-2149-0BE1-25FA5AF6D606}" type="slidenum">
              <a:rPr/>
              <a:t/>
            </a:fld>
            <a:endParaRPr/>
          </a:p>
        </p:txBody>
      </p:sp>
      <p:sp>
        <p:nvSpPr>
          <p:cNvPr id="1316137921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49EB31-F737-8496-6C45-4EEDBECB790E}" type="datetime1">
              <a:rPr lang="fr-FR"/>
              <a:t/>
            </a:fld>
            <a:endParaRPr/>
          </a:p>
        </p:txBody>
      </p:sp>
      <p:sp>
        <p:nvSpPr>
          <p:cNvPr id="66531028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286474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OpenLDAP</a:t>
            </a:r>
            <a:endParaRPr/>
          </a:p>
        </p:txBody>
      </p:sp>
      <p:sp>
        <p:nvSpPr>
          <p:cNvPr id="1496010110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8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Implémentation libre de LDAP (domaine public)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8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Démon serveur : slapd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8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Outils : ldapsearch, ldapadd, ldapmodify, ldapdelete…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8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Configuration moderne : slapd.d (dynamique)</a:t>
            </a:r>
            <a:endParaRPr/>
          </a:p>
        </p:txBody>
      </p:sp>
      <p:sp>
        <p:nvSpPr>
          <p:cNvPr id="518803067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F125527-78CD-3AC5-D2CE-15429E0900F8}" type="slidenum">
              <a:rPr/>
              <a:t/>
            </a:fld>
            <a:endParaRPr/>
          </a:p>
        </p:txBody>
      </p:sp>
      <p:sp>
        <p:nvSpPr>
          <p:cNvPr id="2063240821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C522EBD-E73C-621A-466B-9C6D9F94FB5D}" type="datetime1">
              <a:rPr lang="fr-FR"/>
              <a:t/>
            </a:fld>
            <a:endParaRPr/>
          </a:p>
        </p:txBody>
      </p:sp>
      <p:sp>
        <p:nvSpPr>
          <p:cNvPr id="141906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779501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Configuration et alimentation</a:t>
            </a:r>
            <a:r>
              <a:rPr/>
              <a:t> : /etc/ldap/slapd.conf</a:t>
            </a:r>
            <a:endParaRPr/>
          </a:p>
        </p:txBody>
      </p:sp>
      <p:sp>
        <p:nvSpPr>
          <p:cNvPr id="1291836489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Déclarer les schémas, la base (suffixe) et les ACL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Alimenter l'annuaire avec des fichiers LDIF (ldapadd)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Interroger avec ldapsearch (filtres)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Sauvegarder / exporter en LDIF</a:t>
            </a:r>
            <a:endParaRPr/>
          </a:p>
        </p:txBody>
      </p:sp>
      <p:sp>
        <p:nvSpPr>
          <p:cNvPr id="136036780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91A3CEF-B07D-52BB-A706-22E0B30772CF}" type="slidenum">
              <a:rPr/>
              <a:t/>
            </a:fld>
            <a:endParaRPr/>
          </a:p>
        </p:txBody>
      </p:sp>
      <p:sp>
        <p:nvSpPr>
          <p:cNvPr id="1539623695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B23DBE7-B9AE-73CA-23CE-7B6249CF39C6}" type="datetime1">
              <a:rPr lang="fr-FR"/>
              <a:t/>
            </a:fld>
            <a:endParaRPr/>
          </a:p>
        </p:txBody>
      </p:sp>
      <p:sp>
        <p:nvSpPr>
          <p:cNvPr id="84106689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918707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Configuration et alimentation</a:t>
            </a:r>
            <a:r>
              <a:rPr/>
              <a:t> : /etc/ldap/slapd.conf</a:t>
            </a:r>
            <a:endParaRPr/>
          </a:p>
        </p:txBody>
      </p:sp>
      <p:sp>
        <p:nvSpPr>
          <p:cNvPr id="1356113718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Permet de configurer le démon slapd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49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définition des schémas utilisés : </a:t>
            </a:r>
            <a:r>
              <a:rPr sz="1800" b="1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include /etc/ldap/schema/inetorgperson.schema</a:t>
            </a:r>
            <a:endParaRPr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49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définition du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backend (moteur de base de données utilisé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pour ranger les données) :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d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atabase ldbm (ldbm par défaut, sinon sql, ...)</a:t>
            </a:r>
            <a:endParaRPr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lvl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définition de la base de l'annuaire et de l'administrateur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49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suffixe : racine de l'arbr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 :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suffix "dc=lip,dc=ens-lyon,dc=fr"</a:t>
            </a:r>
            <a:endParaRPr sz="1800" b="1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49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l'administrateur et son mot de passe :</a:t>
            </a:r>
            <a:r>
              <a:rPr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rootdn cn=admin,dc=lip,dc=ens-lyon,dc=fr /</a:t>
            </a:r>
            <a:r>
              <a:rPr sz="1800" b="1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	</a:t>
            </a:r>
            <a:r>
              <a:rPr sz="1800" b="1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rootpw toto</a:t>
            </a:r>
            <a:endParaRPr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répertoire où la base est stockée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514349" marR="0" indent="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sz="1800" b="1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directory "/var/lib/ldap"</a:t>
            </a:r>
            <a:endParaRPr sz="8000"/>
          </a:p>
        </p:txBody>
      </p:sp>
      <p:sp>
        <p:nvSpPr>
          <p:cNvPr id="35203948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ADF996D-C01A-A962-7C0C-B7182D846228}" type="slidenum">
              <a:rPr/>
              <a:t/>
            </a:fld>
            <a:endParaRPr/>
          </a:p>
        </p:txBody>
      </p:sp>
      <p:sp>
        <p:nvSpPr>
          <p:cNvPr id="161820122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D82F6F9-1744-2C09-E5B0-56F7981AE0FA}" type="datetime1">
              <a:rPr lang="fr-FR"/>
              <a:t/>
            </a:fld>
            <a:endParaRPr/>
          </a:p>
        </p:txBody>
      </p:sp>
      <p:sp>
        <p:nvSpPr>
          <p:cNvPr id="960225269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182383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Configuration et alimentation</a:t>
            </a:r>
            <a:r>
              <a:rPr/>
              <a:t> : /etc/ldap/slapd.conf</a:t>
            </a:r>
            <a:endParaRPr/>
          </a:p>
        </p:txBody>
      </p:sp>
      <p:sp>
        <p:nvSpPr>
          <p:cNvPr id="168352125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DF31EFC-39E4-A5EB-F62D-1D018ACBE2AE}" type="slidenum">
              <a:rPr/>
              <a:t/>
            </a:fld>
            <a:endParaRPr/>
          </a:p>
        </p:txBody>
      </p:sp>
      <p:sp>
        <p:nvSpPr>
          <p:cNvPr id="1456226169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AF6A00-54F3-A124-67FB-499ED73435F1}" type="datetime1">
              <a:rPr lang="fr-FR"/>
              <a:t/>
            </a:fld>
            <a:endParaRPr/>
          </a:p>
        </p:txBody>
      </p:sp>
      <p:sp>
        <p:nvSpPr>
          <p:cNvPr id="521914093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3092948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4376" y="1742742"/>
            <a:ext cx="7775674" cy="4711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05470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Configuration et alimentation</a:t>
            </a:r>
            <a:r>
              <a:rPr/>
              <a:t> : /etc/ldap/slapd.conf</a:t>
            </a:r>
            <a:endParaRPr/>
          </a:p>
        </p:txBody>
      </p:sp>
      <p:sp>
        <p:nvSpPr>
          <p:cNvPr id="60314065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97411CA-C1C8-F7ED-3899-262E0AB4CC34}" type="slidenum">
              <a:rPr/>
              <a:t/>
            </a:fld>
            <a:endParaRPr/>
          </a:p>
        </p:txBody>
      </p:sp>
      <p:sp>
        <p:nvSpPr>
          <p:cNvPr id="734608093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66AF148-B82F-7A87-B7A5-6D79FB231D09}" type="datetime1">
              <a:rPr lang="fr-FR"/>
              <a:t/>
            </a:fld>
            <a:endParaRPr/>
          </a:p>
        </p:txBody>
      </p:sp>
      <p:sp>
        <p:nvSpPr>
          <p:cNvPr id="68638082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688850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48023" y="1945614"/>
            <a:ext cx="7895953" cy="3891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452109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Liens avec les applications</a:t>
            </a:r>
            <a:endParaRPr/>
          </a:p>
        </p:txBody>
      </p:sp>
      <p:sp>
        <p:nvSpPr>
          <p:cNvPr id="1810284747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Authentification centralisée des utilisateurs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Unix / Linux : PAM + nsswitch (getent) via LDAP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Windows : Active Directory est un annuaire LDAP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Samba : comptes stockés dans LDAP</a:t>
            </a:r>
            <a:endParaRPr/>
          </a:p>
        </p:txBody>
      </p:sp>
      <p:sp>
        <p:nvSpPr>
          <p:cNvPr id="141289068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D1D0CEE-D65E-693F-A509-E91A544C010F}" type="slidenum">
              <a:rPr/>
              <a:t/>
            </a:fld>
            <a:endParaRPr/>
          </a:p>
        </p:txBody>
      </p:sp>
      <p:sp>
        <p:nvSpPr>
          <p:cNvPr id="201815671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9611993-563E-8A19-A373-2B260B81E382}" type="datetime1">
              <a:rPr lang="fr-FR"/>
              <a:t/>
            </a:fld>
            <a:endParaRPr/>
          </a:p>
        </p:txBody>
      </p:sp>
      <p:sp>
        <p:nvSpPr>
          <p:cNvPr id="841822469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590052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Authentification Unix via LDAP</a:t>
            </a:r>
            <a:endParaRPr/>
          </a:p>
        </p:txBody>
      </p:sp>
      <p:sp>
        <p:nvSpPr>
          <p:cNvPr id="516307164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PAM (Pluggable Authentication Modules) délègue à LDAP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pour authentification via LDAP, rajouter la ligne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auth sufficient pam_ldap.so dans le fichier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/etc/pam.d/login qui signifie l'authentification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via LDAP est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suffisante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nsswitch.conf : source LDAP pour comptes et groupes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mots de passe sont vérifiés côté annuaire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Souvent couplé à Kerberos pour la sécurité</a:t>
            </a:r>
            <a:endParaRPr/>
          </a:p>
        </p:txBody>
      </p:sp>
      <p:sp>
        <p:nvSpPr>
          <p:cNvPr id="20277215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F03A438-BCAC-7E1E-86DB-C6E330DEBFC2}" type="slidenum">
              <a:rPr/>
              <a:t/>
            </a:fld>
            <a:endParaRPr/>
          </a:p>
        </p:txBody>
      </p:sp>
      <p:sp>
        <p:nvSpPr>
          <p:cNvPr id="1789819566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D660716-0164-5EE2-71E5-22AE57A85939}" type="datetime1">
              <a:rPr lang="fr-FR"/>
              <a:t/>
            </a:fld>
            <a:endParaRPr/>
          </a:p>
        </p:txBody>
      </p:sp>
      <p:sp>
        <p:nvSpPr>
          <p:cNvPr id="1895930617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34373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Plan de la partie 2</a:t>
            </a:r>
            <a:endParaRPr/>
          </a:p>
        </p:txBody>
      </p:sp>
      <p:sp>
        <p:nvSpPr>
          <p:cNvPr id="586596958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8"/>
              </a:spcBef>
              <a:buFont typeface="Arial"/>
              <a:buChar char="•"/>
              <a:defRPr/>
            </a:pPr>
            <a:r>
              <a:rPr sz="2200" b="0">
                <a:solidFill>
                  <a:schemeClr val="accent5">
                    <a:lumMod val="75000"/>
                  </a:schemeClr>
                </a:solidFill>
              </a:rPr>
              <a:t>Introduction / Rappel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8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Applications de connexion à distance (SSH, X)</a:t>
            </a:r>
            <a:endParaRPr lang="fr-FR" sz="2200" b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342900" algn="l">
              <a:lnSpc>
                <a:spcPct val="100000"/>
              </a:lnSpc>
              <a:spcBef>
                <a:spcPts val="998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Transfert de fichiers (FTP, TFTP, NFS, SMB)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8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Annuaires : NIS, DNS, LDAP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8"/>
              </a:spcBef>
              <a:buFont typeface="Arial"/>
              <a:buChar char="•"/>
              <a:defRPr/>
            </a:pPr>
            <a:r>
              <a:rPr lang="fr-FR" sz="2200" b="1">
                <a:solidFill>
                  <a:schemeClr val="accent5">
                    <a:lumMod val="75000"/>
                  </a:schemeClr>
                </a:solidFill>
              </a:rPr>
              <a:t>Messagerie électronique (SMTP, IMAP, MIME)</a:t>
            </a:r>
            <a:endParaRPr/>
          </a:p>
        </p:txBody>
      </p:sp>
      <p:sp>
        <p:nvSpPr>
          <p:cNvPr id="21671910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BEA400F-93BC-EF3E-9056-3C54EACF2738}" type="slidenum">
              <a:rPr/>
              <a:t/>
            </a:fld>
            <a:endParaRPr/>
          </a:p>
        </p:txBody>
      </p:sp>
      <p:sp>
        <p:nvSpPr>
          <p:cNvPr id="1797263954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89871FE-B6F2-CD34-97E4-51AD14E501F9}" type="datetime1">
              <a:rPr lang="fr-FR"/>
              <a:t/>
            </a:fld>
            <a:endParaRPr/>
          </a:p>
        </p:txBody>
      </p:sp>
      <p:sp>
        <p:nvSpPr>
          <p:cNvPr id="768522575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284161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La messagerie électronique</a:t>
            </a:r>
            <a:endParaRPr/>
          </a:p>
        </p:txBody>
      </p:sp>
      <p:sp>
        <p:nvSpPr>
          <p:cNvPr id="542951919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213DFC1-3AE3-DC1E-C5A9-C5C1665E011F}" type="slidenum">
              <a:rPr/>
              <a:t/>
            </a:fld>
            <a:endParaRPr/>
          </a:p>
        </p:txBody>
      </p:sp>
      <p:sp>
        <p:nvSpPr>
          <p:cNvPr id="703157933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0969C8-333C-EAA1-32C1-8820A454ECAC}" type="datetime1">
              <a:rPr lang="fr-FR"/>
              <a:t/>
            </a:fld>
            <a:endParaRPr/>
          </a:p>
        </p:txBody>
      </p:sp>
      <p:sp>
        <p:nvSpPr>
          <p:cNvPr id="68320144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38648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courrier électronique : les composants</a:t>
            </a:r>
            <a:endParaRPr/>
          </a:p>
        </p:txBody>
      </p:sp>
      <p:sp>
        <p:nvSpPr>
          <p:cNvPr id="1276206552" name="Content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6056155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4 composants principaux :</a:t>
            </a:r>
            <a:endParaRPr lang="fr-FR"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des agents utilisateurs</a:t>
            </a:r>
            <a:endParaRPr lang="fr-FR"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des serveurs de mail</a:t>
            </a:r>
            <a:endParaRPr lang="fr-FR"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protocole de transfert de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mail :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Simple Mail Transfer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Protocol (SMTP)</a:t>
            </a:r>
            <a:endParaRPr lang="fr-FR"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protocole d'accès à la boîte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aux lettres (POP, IMAP, …)</a:t>
            </a:r>
            <a:endParaRPr lang="fr-FR"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34436288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FF5D1DE-1405-69CC-61E5-8CCFF1D68A8D}" type="slidenum">
              <a:rPr/>
              <a:t/>
            </a:fld>
            <a:endParaRPr/>
          </a:p>
        </p:txBody>
      </p:sp>
      <p:sp>
        <p:nvSpPr>
          <p:cNvPr id="781516083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3A507B3-6364-5D93-99AD-F5FCF58159A6}" type="datetime1">
              <a:rPr lang="fr-FR"/>
              <a:t/>
            </a:fld>
            <a:endParaRPr/>
          </a:p>
        </p:txBody>
      </p:sp>
      <p:sp>
        <p:nvSpPr>
          <p:cNvPr id="1269093247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223881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07124" y="1872764"/>
            <a:ext cx="3899381" cy="42570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103663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courrier électronique : les composants</a:t>
            </a:r>
            <a:endParaRPr/>
          </a:p>
        </p:txBody>
      </p:sp>
      <p:sp>
        <p:nvSpPr>
          <p:cNvPr id="1134667773" name="Content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6056155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messages entrants et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sortants sont stockés sur le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La boîte aux lettres de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chaque utilisateur contient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messages entrants (à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lire)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File d'attente de messages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mail sortants (à envoyer)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Protocole SMTP entre les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serveurs de mail pour l'envoi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des messages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modèle C/S : Client (serveur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 mail émetteur) - Serveur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(serveur de mail récepteur)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client se connecte sur le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port 25/TCP du serveur pour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transférer son message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64515424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0F64F3D-FCF8-8571-9763-955003B65733}" type="slidenum">
              <a:rPr/>
              <a:t/>
            </a:fld>
            <a:endParaRPr/>
          </a:p>
        </p:txBody>
      </p:sp>
      <p:sp>
        <p:nvSpPr>
          <p:cNvPr id="1664417179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489650A-0404-9080-E790-2F0BC0CFA764}" type="datetime1">
              <a:rPr lang="fr-FR"/>
              <a:t/>
            </a:fld>
            <a:endParaRPr/>
          </a:p>
        </p:txBody>
      </p:sp>
      <p:sp>
        <p:nvSpPr>
          <p:cNvPr id="1287552278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8976782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07124" y="1872764"/>
            <a:ext cx="3899381" cy="42570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89071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courrier électronique : les composants</a:t>
            </a:r>
            <a:endParaRPr/>
          </a:p>
        </p:txBody>
      </p:sp>
      <p:sp>
        <p:nvSpPr>
          <p:cNvPr id="267203520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MUA (Mail User Agent) : le logiciel de l'utilisateur (lecture, rédaction)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MTA (Mail Transfer Agent) : achemine le courrier entre serveurs (SMTP)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MDA : dépose le message dans la boîte aux lettres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Boîte aux lettres + file d'attente des messages sortants</a:t>
            </a:r>
            <a:endParaRPr/>
          </a:p>
        </p:txBody>
      </p:sp>
      <p:sp>
        <p:nvSpPr>
          <p:cNvPr id="148229199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1A9B0FD-63F6-9A18-138E-F0516161AEEE}" type="slidenum">
              <a:rPr/>
              <a:t/>
            </a:fld>
            <a:endParaRPr/>
          </a:p>
        </p:txBody>
      </p:sp>
      <p:sp>
        <p:nvSpPr>
          <p:cNvPr id="924828078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2A35E9-B75C-030F-4415-58CBD1A48986}" type="datetime1">
              <a:rPr lang="fr-FR"/>
              <a:t/>
            </a:fld>
            <a:endParaRPr/>
          </a:p>
        </p:txBody>
      </p:sp>
      <p:sp>
        <p:nvSpPr>
          <p:cNvPr id="68777385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571799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courrier électronique : les composants</a:t>
            </a:r>
            <a:endParaRPr/>
          </a:p>
        </p:txBody>
      </p:sp>
      <p:sp>
        <p:nvSpPr>
          <p:cNvPr id="1832326278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protocoles d'accès : consultation de sa boîte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aux lettres (après authentification)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POP3 :</a:t>
            </a:r>
            <a:r>
              <a:rPr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Post Office Protocol v3 [RFC 1939]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autorisation (agent &lt;--&gt; server) et téléchargement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IMAP4 :</a:t>
            </a:r>
            <a:r>
              <a:rPr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Internet Message Access Protocol v4 [RFC 3501]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plus de caractéristiques, plus complexe, plus récent</a:t>
            </a:r>
            <a:endParaRPr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manipulation de messages stockés sur le serveur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HTTP (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Webmail) : Hotmail , Yahoo! Mail, …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37978710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551C1DA9-DC98-E3AF-B0C7-4E044B84EE0E}" type="slidenum">
              <a:rPr/>
              <a:t/>
            </a:fld>
            <a:endParaRPr/>
          </a:p>
        </p:txBody>
      </p:sp>
      <p:sp>
        <p:nvSpPr>
          <p:cNvPr id="1002482611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D0D45C0-86F0-0CCC-DC79-002607193E80}" type="datetime1">
              <a:rPr lang="fr-FR"/>
              <a:t/>
            </a:fld>
            <a:endParaRPr/>
          </a:p>
        </p:txBody>
      </p:sp>
      <p:sp>
        <p:nvSpPr>
          <p:cNvPr id="472453565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10032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Analogie avec le courrier papier</a:t>
            </a:r>
            <a:endParaRPr/>
          </a:p>
        </p:txBody>
      </p:sp>
      <p:sp>
        <p:nvSpPr>
          <p:cNvPr id="1092645766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L'expéditeur dépose sa lettre (MUA → serveur d'envoi)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Les centres de tri acheminent (MTA de proche en proche)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La lettre arrive dans la boîte du destinataire (MDA)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Le destinataire relève sa boîte (POP / IMAP)</a:t>
            </a:r>
            <a:endParaRPr/>
          </a:p>
        </p:txBody>
      </p:sp>
      <p:sp>
        <p:nvSpPr>
          <p:cNvPr id="56366126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690DB55-31D2-6C74-14B8-CA735C4B6448}" type="slidenum">
              <a:rPr/>
              <a:t/>
            </a:fld>
            <a:endParaRPr/>
          </a:p>
        </p:txBody>
      </p:sp>
      <p:sp>
        <p:nvSpPr>
          <p:cNvPr id="597411922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4F55599-7642-2FB3-43A8-03ACF4707F39}" type="datetime1">
              <a:rPr lang="fr-FR"/>
              <a:t/>
            </a:fld>
            <a:endParaRPr/>
          </a:p>
        </p:txBody>
      </p:sp>
      <p:sp>
        <p:nvSpPr>
          <p:cNvPr id="1476059268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983411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Configuration d'un agent utilisateur</a:t>
            </a:r>
            <a:endParaRPr/>
          </a:p>
        </p:txBody>
      </p:sp>
      <p:sp>
        <p:nvSpPr>
          <p:cNvPr id="1745405103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Serveur d'envoi : SMTP (avec authentification, port 587)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Serveur de réception : POP ou IMAP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Identité (adresse) et chiffrement (TLS)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Webmail : tout se fait via le navigateur</a:t>
            </a:r>
            <a:endParaRPr/>
          </a:p>
        </p:txBody>
      </p:sp>
      <p:sp>
        <p:nvSpPr>
          <p:cNvPr id="1194258250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C2571DF9-C9E8-F0E9-34DB-B8EC2077BD0D}" type="slidenum">
              <a:rPr/>
              <a:t/>
            </a:fld>
            <a:endParaRPr/>
          </a:p>
        </p:txBody>
      </p:sp>
      <p:sp>
        <p:nvSpPr>
          <p:cNvPr id="1790526671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BCC9507-F88D-8711-F8D1-15980B68C014}" type="datetime1">
              <a:rPr lang="fr-FR"/>
              <a:t/>
            </a:fld>
            <a:endParaRPr/>
          </a:p>
        </p:txBody>
      </p:sp>
      <p:sp>
        <p:nvSpPr>
          <p:cNvPr id="1962021864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35000356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77322" y="4841874"/>
            <a:ext cx="7324724" cy="1514475"/>
          </a:xfrm>
          <a:prstGeom prst="rect">
            <a:avLst/>
          </a:prstGeom>
        </p:spPr>
      </p:pic>
      <p:pic>
        <p:nvPicPr>
          <p:cNvPr id="66601997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805357" y="3750051"/>
            <a:ext cx="7343775" cy="1019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76619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SMTP, codage et types MIME</a:t>
            </a:r>
            <a:endParaRPr/>
          </a:p>
        </p:txBody>
      </p:sp>
      <p:sp>
        <p:nvSpPr>
          <p:cNvPr id="633647110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2947C86-F6C1-2119-1604-7924520E5C6A}" type="slidenum">
              <a:rPr/>
              <a:t/>
            </a:fld>
            <a:endParaRPr/>
          </a:p>
        </p:txBody>
      </p:sp>
      <p:sp>
        <p:nvSpPr>
          <p:cNvPr id="189053784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8B5F14-0B02-B578-C8A8-FB7936B2EB5B}" type="datetime1">
              <a:rPr lang="fr-FR"/>
              <a:t/>
            </a:fld>
            <a:endParaRPr/>
          </a:p>
        </p:txBody>
      </p:sp>
      <p:sp>
        <p:nvSpPr>
          <p:cNvPr id="1382082999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20944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protocole SMTP</a:t>
            </a:r>
            <a:endParaRPr/>
          </a:p>
        </p:txBody>
      </p:sp>
      <p:sp>
        <p:nvSpPr>
          <p:cNvPr id="572268333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Achemine le courrier entre serveurs (port 25 ; 587 pour la soumission)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Mode texte : dialogue commandes / réponses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Trois phases : établissement, transfert, fermeture</a:t>
            </a:r>
            <a:endParaRPr/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handshaking (établissement de la connexion)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transfert d'un ou plusieurs messages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fermeture de la connexion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9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connexions sont persistentes</a:t>
            </a:r>
            <a:endParaRPr lang="fr-FR" sz="19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si plusieurs messages à destination du même serveur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sont en attente sur le serveur émetteur, ils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transiteront tous sur la même connexion TCP</a:t>
            </a:r>
            <a:endParaRPr lang="fr-FR" sz="19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Historiquement en clair → aujourd'hui STARTTLS</a:t>
            </a:r>
            <a:endParaRPr/>
          </a:p>
        </p:txBody>
      </p:sp>
      <p:sp>
        <p:nvSpPr>
          <p:cNvPr id="157405616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44420B6-C61E-68E7-839A-C3D3357559AF}" type="slidenum">
              <a:rPr/>
              <a:t/>
            </a:fld>
            <a:endParaRPr/>
          </a:p>
        </p:txBody>
      </p:sp>
      <p:sp>
        <p:nvSpPr>
          <p:cNvPr id="166533550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C300206-B62E-D861-3F7D-0B0E06FFC327}" type="datetime1">
              <a:rPr lang="fr-FR"/>
              <a:t/>
            </a:fld>
            <a:endParaRPr/>
          </a:p>
        </p:txBody>
      </p:sp>
      <p:sp>
        <p:nvSpPr>
          <p:cNvPr id="684599075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556187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protocole SMTP</a:t>
            </a:r>
            <a:endParaRPr/>
          </a:p>
        </p:txBody>
      </p:sp>
      <p:sp>
        <p:nvSpPr>
          <p:cNvPr id="1469025537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message est composé d'un en-tête et d'un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corps (RFC 822)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champs de l'en-tête peuvent être positionnés soit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par l'agent utilisateur émetteur, soit par le serveur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entrant, soit par le serveur sortant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champ d'en-tête est de la forme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nom_champ: valeur&lt;CRLF&gt;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l'en-tête contient au minimum les champs From et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To, très souvent le champ Subjec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50557970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C5FD65E2-C69F-8217-AD98-AF9B0891A047}" type="slidenum">
              <a:rPr/>
              <a:t/>
            </a:fld>
            <a:endParaRPr/>
          </a:p>
        </p:txBody>
      </p:sp>
      <p:sp>
        <p:nvSpPr>
          <p:cNvPr id="96071511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4BE09F3-6F5F-AEC2-3901-22C2DFCE9468}" type="datetime1">
              <a:rPr lang="fr-FR"/>
              <a:t/>
            </a:fld>
            <a:endParaRPr/>
          </a:p>
        </p:txBody>
      </p:sp>
      <p:sp>
        <p:nvSpPr>
          <p:cNvPr id="1516713656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90883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 protocole SMTP</a:t>
            </a:r>
            <a:endParaRPr/>
          </a:p>
        </p:txBody>
      </p:sp>
      <p:sp>
        <p:nvSpPr>
          <p:cNvPr id="407841301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Une succession de Commande/Réponse</a:t>
            </a:r>
            <a:endParaRPr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Commande SMTP : texte ASCII</a:t>
            </a:r>
            <a:endParaRPr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Réponse SMTP : code d'état (status) + phrase</a:t>
            </a:r>
            <a:endParaRPr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lvl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message peut contenir plusieurs objets ; ils </a:t>
            </a: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sont alors envoyés dans un message "multipart" </a:t>
            </a: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(contrairement à HTTP : 1 objet = 1 réponse)</a:t>
            </a:r>
            <a:endParaRPr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lvl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serveur SMTP utilise CRLF.CRLF pour </a:t>
            </a: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reconnaître la fin d'un message</a:t>
            </a:r>
            <a:endParaRPr sz="2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messages (en-tête ET corps) sont transférés</a:t>
            </a: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en ASCII 7 bits (US-ASCII)</a:t>
            </a:r>
            <a:endParaRPr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700737424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AB5C015-BF77-95E4-1D13-EA7F11EB52D1}" type="slidenum">
              <a:rPr/>
              <a:t/>
            </a:fld>
            <a:endParaRPr/>
          </a:p>
        </p:txBody>
      </p:sp>
      <p:sp>
        <p:nvSpPr>
          <p:cNvPr id="2128122369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2370F30-765B-1529-45D5-592BF4DC3242}" type="datetime1">
              <a:rPr lang="fr-FR"/>
              <a:t/>
            </a:fld>
            <a:endParaRPr/>
          </a:p>
        </p:txBody>
      </p:sp>
      <p:sp>
        <p:nvSpPr>
          <p:cNvPr id="1351409321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94753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</a:t>
            </a:r>
            <a:r>
              <a:rPr/>
              <a:t> codage des messages</a:t>
            </a:r>
            <a:endParaRPr/>
          </a:p>
        </p:txBody>
      </p:sp>
      <p:sp>
        <p:nvSpPr>
          <p:cNvPr id="709838536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SMTP est prévu pour transférer des caractères US-ASCII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sur 7 bits --&gt; problème de la représentation des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caractères accentués, du transfert des octets (images…)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Pour transférer une image ou du texte accentué, l'agent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utilisateur émetteur/récepteur doit encoder/décoder le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contenu du message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Encodage quoted-printable :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généralement utilisé pour transférer du texte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permet le transfert des caractères ASCII étendus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(codés sur 8 bits &gt;128) comme les caractères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accentués :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ils sont codés par les 3 caractères US-ASCII suivants : =xx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où xx est le code hexadécimal du caractère à encoder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du coup, il faut coder le caractère = différemment : =20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466453305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B07222A-79E9-AD55-9889-779C7C45A041}" type="slidenum">
              <a:rPr/>
              <a:t/>
            </a:fld>
            <a:endParaRPr/>
          </a:p>
        </p:txBody>
      </p:sp>
      <p:sp>
        <p:nvSpPr>
          <p:cNvPr id="905048050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761DBA1-E013-6FF9-3891-60D759A9D46F}" type="datetime1">
              <a:rPr lang="fr-FR"/>
              <a:t/>
            </a:fld>
            <a:endParaRPr/>
          </a:p>
        </p:txBody>
      </p:sp>
      <p:sp>
        <p:nvSpPr>
          <p:cNvPr id="27230846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991823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</a:t>
            </a:r>
            <a:r>
              <a:rPr/>
              <a:t> codage des messages</a:t>
            </a:r>
            <a:endParaRPr/>
          </a:p>
        </p:txBody>
      </p:sp>
      <p:sp>
        <p:nvSpPr>
          <p:cNvPr id="259497425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Encodage base64 :</a:t>
            </a:r>
            <a:endParaRPr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généralement utilisé pour transférer des flux d'octets</a:t>
            </a:r>
            <a:endParaRPr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permet le transfert des images ou autre série d'octets 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en tant que caractères ASCII NVT :</a:t>
            </a:r>
            <a:endParaRPr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3 octets (24 bits) sont transférés en tant que 4 caractères 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ASCII NVT : les 3 octets sont découpés en 4 fois 6 bits</a:t>
            </a:r>
            <a:endParaRPr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bourrage avec le caractère = si pas aligné sur 4 caractères</a:t>
            </a:r>
            <a:endParaRPr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permet de ne pas transférer plus de bits que le contenu initial 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(excepté le bourrage)</a:t>
            </a:r>
            <a:endParaRPr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ESMTP [RFC 1425] : une évolution de SMTP qui permet le 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transfert des messages sans passer au format ASCII NVT</a:t>
            </a:r>
            <a:endParaRPr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transfert de blocs de données sur 8 bits (flux d'octets)</a:t>
            </a:r>
            <a:endParaRPr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spécifié par Content-Transfer-Encoding: 8bit ou Binary </a:t>
            </a:r>
            <a:r>
              <a:rPr sz="20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dans l'en-tête</a:t>
            </a:r>
            <a:endParaRPr sz="14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68204105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01EE5A4-CA97-BFDF-61FA-6F5DD228EB54}" type="slidenum">
              <a:rPr/>
              <a:t/>
            </a:fld>
            <a:endParaRPr/>
          </a:p>
        </p:txBody>
      </p:sp>
      <p:sp>
        <p:nvSpPr>
          <p:cNvPr id="2089913438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39284C-95F7-B3FF-0266-A433AB201723}" type="datetime1">
              <a:rPr lang="fr-FR"/>
              <a:t/>
            </a:fld>
            <a:endParaRPr/>
          </a:p>
        </p:txBody>
      </p:sp>
      <p:sp>
        <p:nvSpPr>
          <p:cNvPr id="23868622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579589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/>
              <a:t>Les types MIME</a:t>
            </a:r>
            <a:endParaRPr/>
          </a:p>
        </p:txBody>
      </p:sp>
      <p:sp>
        <p:nvSpPr>
          <p:cNvPr id="849819910" name="Content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1051560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MIME : 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Multi-purpose Internet Mail Extensions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Permet l'échange de fichiers multimédias entre 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machines quelconques en spécifiant dans l'en-tête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type du fichier en vue d'un traitement par l'agent 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utilisateur destinataire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codage des données du fichier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Les commandes MIME ont été intégrées dans HTTP1.0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Un type MIME est composé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d'un type général (text, image, audio, video, application…)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et d'un sous-type (image/gif, image/jpeg, 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application/pdf, application/rtf, 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application/msword, text/plain, text/html)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En perpétuelle évolution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La machine cliente doit ensuite associer l'exécution </a:t>
            </a:r>
            <a:r>
              <a:rPr sz="1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d'une application à chaque type MIME</a:t>
            </a:r>
            <a:endParaRPr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76233437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F0EB470-82E6-9C99-E77E-0D0EFEC43685}" type="slidenum">
              <a:rPr/>
              <a:t/>
            </a:fld>
            <a:endParaRPr/>
          </a:p>
        </p:txBody>
      </p:sp>
      <p:sp>
        <p:nvSpPr>
          <p:cNvPr id="481759247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C1877FC-BDC7-C333-1DBA-F7A60781B7AE}" type="datetime1">
              <a:rPr lang="fr-FR"/>
              <a:t/>
            </a:fld>
            <a:endParaRPr/>
          </a:p>
        </p:txBody>
      </p:sp>
      <p:sp>
        <p:nvSpPr>
          <p:cNvPr id="209642828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883247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/>
              <a:t>Les types MIME</a:t>
            </a:r>
            <a:endParaRPr/>
          </a:p>
        </p:txBody>
      </p:sp>
      <p:sp>
        <p:nvSpPr>
          <p:cNvPr id="367788415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F7CEC60-FCD3-A23D-B20B-C53F25F5E4AA}" type="slidenum">
              <a:rPr/>
              <a:t/>
            </a:fld>
            <a:endParaRPr/>
          </a:p>
        </p:txBody>
      </p:sp>
      <p:sp>
        <p:nvSpPr>
          <p:cNvPr id="1821962966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2B6A3C9-2456-81F9-304C-3D3A8402595D}" type="datetime1">
              <a:rPr lang="fr-FR"/>
              <a:t/>
            </a:fld>
            <a:endParaRPr/>
          </a:p>
        </p:txBody>
      </p:sp>
      <p:sp>
        <p:nvSpPr>
          <p:cNvPr id="1128485842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8349214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6218" y="1757706"/>
            <a:ext cx="7699561" cy="43347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140858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/>
              <a:t>Les types MIME</a:t>
            </a:r>
            <a:endParaRPr/>
          </a:p>
        </p:txBody>
      </p:sp>
      <p:sp>
        <p:nvSpPr>
          <p:cNvPr id="1707874404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6337A71-12C3-4AB4-2D64-0F007CA47AE2}" type="slidenum">
              <a:rPr/>
              <a:t/>
            </a:fld>
            <a:endParaRPr/>
          </a:p>
        </p:txBody>
      </p:sp>
      <p:sp>
        <p:nvSpPr>
          <p:cNvPr id="1973056624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5A260BE-6C46-DCAD-10BC-E833423C42B2}" type="datetime1">
              <a:rPr lang="fr-FR"/>
              <a:t/>
            </a:fld>
            <a:endParaRPr/>
          </a:p>
        </p:txBody>
      </p:sp>
      <p:sp>
        <p:nvSpPr>
          <p:cNvPr id="1108643074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7973312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38363" y="1924638"/>
            <a:ext cx="5676726" cy="3980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086493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Les commandes SMTP</a:t>
            </a:r>
            <a:endParaRPr/>
          </a:p>
        </p:txBody>
      </p:sp>
      <p:sp>
        <p:nvSpPr>
          <p:cNvPr id="342335311" name="Content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5349145" cy="4351338"/>
          </a:xfrm>
        </p:spPr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HELO / EHLO : identification du client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MAIL FROM / RCPT TO : expéditeur et destinataires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DATA : corps du message (terminé par une ligne « . »)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QUIT : fin de session</a:t>
            </a:r>
            <a:endParaRPr/>
          </a:p>
        </p:txBody>
      </p:sp>
      <p:sp>
        <p:nvSpPr>
          <p:cNvPr id="30547104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71C04F8F-41AC-FCF6-9DD4-E3765157950A}" type="slidenum">
              <a:rPr/>
              <a:t/>
            </a:fld>
            <a:endParaRPr/>
          </a:p>
        </p:txBody>
      </p:sp>
      <p:sp>
        <p:nvSpPr>
          <p:cNvPr id="1941075341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72910B-EDEC-15EE-D8E6-D0013F185E18}" type="datetime1">
              <a:rPr lang="fr-FR"/>
              <a:t/>
            </a:fld>
            <a:endParaRPr/>
          </a:p>
        </p:txBody>
      </p:sp>
      <p:sp>
        <p:nvSpPr>
          <p:cNvPr id="1762656814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4303044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680" y="2248685"/>
            <a:ext cx="4822422" cy="37962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13434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Accès à la boîte aux lettres</a:t>
            </a:r>
            <a:endParaRPr/>
          </a:p>
        </p:txBody>
      </p:sp>
      <p:sp>
        <p:nvSpPr>
          <p:cNvPr id="504288864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39DA9ADE-CAC1-13D7-BA2C-B10263965B12}" type="slidenum">
              <a:rPr/>
              <a:t/>
            </a:fld>
            <a:endParaRPr/>
          </a:p>
        </p:txBody>
      </p:sp>
      <p:sp>
        <p:nvSpPr>
          <p:cNvPr id="1444801368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1D571DC-1962-3C89-7CE0-7BA30569FE87}" type="datetime1">
              <a:rPr lang="fr-FR"/>
              <a:t/>
            </a:fld>
            <a:endParaRPr/>
          </a:p>
        </p:txBody>
      </p:sp>
      <p:sp>
        <p:nvSpPr>
          <p:cNvPr id="1942606141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43269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/>
              <a:t>Accès à sa BAL</a:t>
            </a:r>
            <a:endParaRPr/>
          </a:p>
        </p:txBody>
      </p:sp>
      <p:sp>
        <p:nvSpPr>
          <p:cNvPr id="1317461779" name="Slide Number"/>
          <p:cNvSpPr txBox="1"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7ED94B2-A5FB-FF08-7547-0C729CE3C5EF}" type="slidenum">
              <a:rPr/>
              <a:t/>
            </a:fld>
            <a:endParaRPr/>
          </a:p>
        </p:txBody>
      </p:sp>
      <p:sp>
        <p:nvSpPr>
          <p:cNvPr id="1201810546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98A15B-0D3F-FE38-E8AE-8F802DB8CF2E}" type="datetime1">
              <a:rPr lang="fr-FR"/>
              <a:t/>
            </a:fld>
            <a:endParaRPr/>
          </a:p>
        </p:txBody>
      </p:sp>
      <p:sp>
        <p:nvSpPr>
          <p:cNvPr id="653342147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2941762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540" y="1423839"/>
            <a:ext cx="7625718" cy="2343016"/>
          </a:xfrm>
          <a:prstGeom prst="rect">
            <a:avLst/>
          </a:prstGeom>
        </p:spPr>
      </p:pic>
      <p:sp>
        <p:nvSpPr>
          <p:cNvPr id="1044405852" name="Content"/>
          <p:cNvSpPr>
            <a:spLocks noGrp="1"/>
          </p:cNvSpPr>
          <p:nvPr/>
        </p:nvSpPr>
        <p:spPr bwMode="auto">
          <a:xfrm flipH="0" flipV="0">
            <a:off x="592710" y="2022016"/>
            <a:ext cx="3817289" cy="5998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</a:t>
            </a:r>
            <a:r>
              <a:rPr sz="2200" b="0">
                <a:solidFill>
                  <a:schemeClr val="accent5">
                    <a:lumMod val="75000"/>
                  </a:schemeClr>
                </a:solidFill>
              </a:rPr>
              <a:t>ar lecture directe du fichier</a:t>
            </a:r>
            <a:endParaRPr/>
          </a:p>
        </p:txBody>
      </p:sp>
      <p:pic>
        <p:nvPicPr>
          <p:cNvPr id="80890834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568822" y="3797070"/>
            <a:ext cx="7169154" cy="2615119"/>
          </a:xfrm>
          <a:prstGeom prst="rect">
            <a:avLst/>
          </a:prstGeom>
        </p:spPr>
      </p:pic>
      <p:sp>
        <p:nvSpPr>
          <p:cNvPr id="1561925524" name="Content"/>
          <p:cNvSpPr>
            <a:spLocks noGrp="1"/>
          </p:cNvSpPr>
          <p:nvPr/>
        </p:nvSpPr>
        <p:spPr bwMode="auto">
          <a:xfrm flipH="0" flipV="0">
            <a:off x="597816" y="4040137"/>
            <a:ext cx="3817288" cy="5998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sz="2200" b="0">
                <a:solidFill>
                  <a:schemeClr val="accent5">
                    <a:lumMod val="75000"/>
                  </a:schemeClr>
                </a:solidFill>
              </a:rPr>
              <a:t>Via un p</a:t>
            </a:r>
            <a:r>
              <a:rPr sz="2200" b="0">
                <a:solidFill>
                  <a:schemeClr val="accent5">
                    <a:lumMod val="75000"/>
                  </a:schemeClr>
                </a:solidFill>
              </a:rPr>
              <a:t>r</a:t>
            </a:r>
            <a:r>
              <a:rPr sz="2200" b="0">
                <a:solidFill>
                  <a:schemeClr val="accent5">
                    <a:lumMod val="75000"/>
                  </a:schemeClr>
                </a:solidFill>
              </a:rPr>
              <a:t>otocole spécifique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008716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Relever son courrier : POP et IMAP</a:t>
            </a:r>
            <a:endParaRPr/>
          </a:p>
        </p:txBody>
      </p:sp>
      <p:sp>
        <p:nvSpPr>
          <p:cNvPr id="516921271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Accès direct au fichier (local ou via NFS) : peu pratique à distance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POP3 (RFC 1939) : télécharge et efface (client nomade simple)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IMAP (RFC 3501) : garde les messages sur le serveur (multi-appareils)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Aujourd'hui : IMAP (ou webmail) est la norme</a:t>
            </a:r>
            <a:endParaRPr/>
          </a:p>
        </p:txBody>
      </p:sp>
      <p:sp>
        <p:nvSpPr>
          <p:cNvPr id="176966326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2AD3620-999E-DE24-2CC8-5B4C46EE3234}" type="slidenum">
              <a:rPr/>
              <a:t/>
            </a:fld>
            <a:endParaRPr/>
          </a:p>
        </p:txBody>
      </p:sp>
      <p:sp>
        <p:nvSpPr>
          <p:cNvPr id="372542435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ACC4A23-C910-C192-861A-538B04EA50D8}" type="datetime1">
              <a:rPr lang="fr-FR"/>
              <a:t/>
            </a:fld>
            <a:endParaRPr/>
          </a:p>
        </p:txBody>
      </p:sp>
      <p:sp>
        <p:nvSpPr>
          <p:cNvPr id="222297086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68587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POP3</a:t>
            </a:r>
            <a:endParaRPr/>
          </a:p>
        </p:txBody>
      </p:sp>
      <p:sp>
        <p:nvSpPr>
          <p:cNvPr id="223442865" name="Content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5447341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Phase d'autorisation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Commandes client :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user: déclare username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pass: password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Deux réponses possible du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 :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+OK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-ERR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Phase de transaction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list: liste les numéros de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messages et leur taille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retr: rappatrie un message à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partir de son numéro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dele: efface un message</a:t>
            </a:r>
            <a:endParaRPr lang="fr-FR" sz="16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quit</a:t>
            </a:r>
            <a:endParaRPr sz="3600"/>
          </a:p>
        </p:txBody>
      </p:sp>
      <p:sp>
        <p:nvSpPr>
          <p:cNvPr id="1886589070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784E898C-7C6A-BC6C-172F-663C8BD708F5}" type="slidenum">
              <a:rPr/>
              <a:t/>
            </a:fld>
            <a:endParaRPr/>
          </a:p>
        </p:txBody>
      </p:sp>
      <p:sp>
        <p:nvSpPr>
          <p:cNvPr id="944931176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0E62031-2E72-0E6A-AABF-F244BE08EB2F}" type="datetime1">
              <a:rPr lang="fr-FR"/>
              <a:t/>
            </a:fld>
            <a:endParaRPr/>
          </a:p>
        </p:txBody>
      </p:sp>
      <p:sp>
        <p:nvSpPr>
          <p:cNvPr id="101635328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1195025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72030" y="1748551"/>
            <a:ext cx="3477138" cy="45054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106707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POP3</a:t>
            </a:r>
            <a:endParaRPr/>
          </a:p>
        </p:txBody>
      </p:sp>
      <p:sp>
        <p:nvSpPr>
          <p:cNvPr id="1859578215" name="Content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1051560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POP3 est extrêmement simple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permet uniquement de télécharger des messages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depuis le serveur en laissant éventuellement une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copie de ceux-ci dans la BAL de l'utilisateur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pas adapté aux utilisateurs nomades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impossible de gérer des répertoires sur le serveur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impossible de gérer les messages en les laissant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sur le serveur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IMAP répond à cette problématique au prix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d'un protocole beaucoup plus complexe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87937805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A18C9B8-FAFC-701E-1301-FC87E6C66B93}" type="slidenum">
              <a:rPr/>
              <a:t/>
            </a:fld>
            <a:endParaRPr/>
          </a:p>
        </p:txBody>
      </p:sp>
      <p:sp>
        <p:nvSpPr>
          <p:cNvPr id="2127504918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509FD72-9637-5730-E4D5-CF24351AD47F}" type="datetime1">
              <a:rPr lang="fr-FR"/>
              <a:t/>
            </a:fld>
            <a:endParaRPr/>
          </a:p>
        </p:txBody>
      </p:sp>
      <p:sp>
        <p:nvSpPr>
          <p:cNvPr id="141561577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526544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/>
              <a:t>I</a:t>
            </a:r>
            <a:r>
              <a:rPr lang="fr-FR"/>
              <a:t>MAP</a:t>
            </a:r>
            <a:endParaRPr/>
          </a:p>
        </p:txBody>
      </p:sp>
      <p:sp>
        <p:nvSpPr>
          <p:cNvPr id="2112029792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MAP permet la gestion distante des messages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associe un message à un répertoire distant sur le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serveur</a:t>
            </a:r>
            <a:endParaRPr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permet à l'utilisateur de faire une recherche dans les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messages sur le serveur</a:t>
            </a:r>
            <a:endParaRPr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permet de ne consulter que des extraits de messages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(par exemple que l'en-tête ou que la partie texte d'un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message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multipart…)</a:t>
            </a:r>
            <a:endParaRPr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contrairement à POP3, IMAP conserve des informations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d'état sur chaque utilisateur (noms des répertoires,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listes des messages qu'ils contiennent…)</a:t>
            </a:r>
            <a:endParaRPr lang="fr-FR" sz="20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32612777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511D6199-822A-DE3C-D332-3934E7FF63BC}" type="slidenum">
              <a:rPr/>
              <a:t/>
            </a:fld>
            <a:endParaRPr/>
          </a:p>
        </p:txBody>
      </p:sp>
      <p:sp>
        <p:nvSpPr>
          <p:cNvPr id="1933978741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F25470-E075-9CF0-2EBD-B4BFBE1D5EF9}" type="datetime1">
              <a:rPr lang="fr-FR"/>
              <a:t/>
            </a:fld>
            <a:endParaRPr/>
          </a:p>
        </p:txBody>
      </p:sp>
      <p:sp>
        <p:nvSpPr>
          <p:cNvPr id="976019420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353953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POP3 vs IMAP</a:t>
            </a:r>
            <a:endParaRPr/>
          </a:p>
        </p:txBody>
      </p:sp>
      <p:sp>
        <p:nvSpPr>
          <p:cNvPr id="807275023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POP3 : simple, messages rapatriés puis souvent supprimés du serveur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IMAP : gestion des dossiers côté serveur, synchronisation multi-clients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IMAP conserve l'état (dossiers, drapeaux lus / non lus)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IMAP plus riche mais plus complexe</a:t>
            </a:r>
            <a:endParaRPr/>
          </a:p>
        </p:txBody>
      </p:sp>
      <p:sp>
        <p:nvSpPr>
          <p:cNvPr id="992665669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984D004-3011-B62C-3824-D2E4271A0CD8}" type="slidenum">
              <a:rPr/>
              <a:t/>
            </a:fld>
            <a:endParaRPr/>
          </a:p>
        </p:txBody>
      </p:sp>
      <p:sp>
        <p:nvSpPr>
          <p:cNvPr id="1799192425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6533A4E-1BD4-1806-BA0F-6DBCB7AAFF52}" type="datetime1">
              <a:rPr lang="fr-FR"/>
              <a:t/>
            </a:fld>
            <a:endParaRPr/>
          </a:p>
        </p:txBody>
      </p:sp>
      <p:sp>
        <p:nvSpPr>
          <p:cNvPr id="1972265481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704270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L'accès Webmail</a:t>
            </a:r>
            <a:endParaRPr/>
          </a:p>
        </p:txBody>
      </p:sp>
      <p:sp>
        <p:nvSpPr>
          <p:cNvPr id="1619274832" name="Content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Pas de protocole d'accès spécifique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l'utilisateur utilise un navigateur Web comme agent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utilisateur pour consulter/envoyer ses courriers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Utilise le protocole HTTP (ou HTTPS) pour</a:t>
            </a:r>
            <a:r>
              <a:rPr sz="36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communiquer avec les serveurs SMTP/IMAP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857250" marR="0" lvl="1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serveur HTTP exécute des scripts qui utilisent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protocole IMAP pour communiquer avec le serveur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IMAP et ainsi manipuler les messages distants de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l'utilisateur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1257299" marR="0" lvl="2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protocole SMTP pour traduire une demande d'envoi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d'un message de la part de l'utilisateur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Interface web (HTTP / HTTPS) devant le serveur de mail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Rien à installer ni configurer côté client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Le serveur web dialogue en SMTP / IMAP pour l'utilisateur</a:t>
            </a:r>
            <a:endParaRPr lang="fr-FR" sz="18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Accessible partout, avec un simple navigateur</a:t>
            </a:r>
            <a:endParaRPr sz="7200"/>
          </a:p>
        </p:txBody>
      </p:sp>
      <p:sp>
        <p:nvSpPr>
          <p:cNvPr id="792034994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703549E8-CECE-B391-E165-1BE90D1FC426}" type="slidenum">
              <a:rPr/>
              <a:t/>
            </a:fld>
            <a:endParaRPr/>
          </a:p>
        </p:txBody>
      </p:sp>
      <p:sp>
        <p:nvSpPr>
          <p:cNvPr id="1528777046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3292B1-48A4-19CD-356D-FAB84681EDEA}" type="datetime1">
              <a:rPr lang="fr-FR"/>
              <a:t/>
            </a:fld>
            <a:endParaRPr/>
          </a:p>
        </p:txBody>
      </p:sp>
      <p:sp>
        <p:nvSpPr>
          <p:cNvPr id="1544933788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975955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Les alias</a:t>
            </a:r>
            <a:endParaRPr/>
          </a:p>
        </p:txBody>
      </p:sp>
      <p:sp>
        <p:nvSpPr>
          <p:cNvPr id="1173215596" name="Content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Rediriger une adresse vers une autre (ou une liste)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Utile pour les rôles (postmaster, webmaster…) et les listes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marR="0" indent="-342900" algn="l">
              <a:lnSpc>
                <a:spcPct val="10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Évite de dépendre du login réel de l'utilisateur</a:t>
            </a:r>
            <a:endParaRPr lang="fr-FR" sz="2200" b="0" i="0" u="none" strike="noStrike" cap="none" spc="0">
              <a:solidFill>
                <a:schemeClr val="accent5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81964719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B3F54B3-BC8F-C7ED-F912-F867433CD449}" type="slidenum">
              <a:rPr/>
              <a:t/>
            </a:fld>
            <a:endParaRPr/>
          </a:p>
        </p:txBody>
      </p:sp>
      <p:sp>
        <p:nvSpPr>
          <p:cNvPr id="1787264864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11B95AC-FF63-8B78-D5AE-4E94C32489F5}" type="datetime1">
              <a:rPr lang="fr-FR"/>
              <a:t/>
            </a:fld>
            <a:endParaRPr/>
          </a:p>
        </p:txBody>
      </p:sp>
      <p:sp>
        <p:nvSpPr>
          <p:cNvPr id="1938460346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322297" name="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fr-FR"/>
              <a:t>Une bonne architecture de serveur mail</a:t>
            </a:r>
            <a:endParaRPr/>
          </a:p>
        </p:txBody>
      </p:sp>
      <p:sp>
        <p:nvSpPr>
          <p:cNvPr id="1448141452" name="Content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4759970" cy="4351338"/>
          </a:xfrm>
        </p:spPr>
        <p:txBody>
          <a:bodyPr>
            <a:normAutofit/>
          </a:bodyPr>
          <a:lstStyle/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Séparer soumission (SMTP + AUTH + STARTTLS) et transport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Stockage des boîtes (Maildir) et accès IMAP (IMAPS)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Webmail en HTTPS devant l'IMAP</a:t>
            </a:r>
            <a:endParaRPr/>
          </a:p>
          <a:p>
            <a:pPr marL="457200" indent="-342900" algn="l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/>
            </a:pPr>
            <a:r>
              <a:rPr lang="fr-FR" sz="2200" b="0">
                <a:solidFill>
                  <a:schemeClr val="accent5">
                    <a:lumMod val="75000"/>
                  </a:schemeClr>
                </a:solidFill>
              </a:rPr>
              <a:t>Filtrage antispam / antivirus, chiffrement partout</a:t>
            </a:r>
            <a:endParaRPr/>
          </a:p>
        </p:txBody>
      </p:sp>
      <p:sp>
        <p:nvSpPr>
          <p:cNvPr id="105121567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BD290C2-F94C-94C2-051C-2CC756FE8F0C}" type="slidenum">
              <a:rPr/>
              <a:t/>
            </a:fld>
            <a:endParaRPr/>
          </a:p>
        </p:txBody>
      </p:sp>
      <p:sp>
        <p:nvSpPr>
          <p:cNvPr id="170656584" name="Date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42F17C-E704-3310-1B5A-A21D250E5C90}" type="datetime1">
              <a:rPr lang="fr-FR"/>
              <a:t/>
            </a:fld>
            <a:endParaRPr/>
          </a:p>
        </p:txBody>
      </p:sp>
      <p:sp>
        <p:nvSpPr>
          <p:cNvPr id="312978645" name="Foot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pic>
        <p:nvPicPr>
          <p:cNvPr id="12095804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85541" y="1669329"/>
            <a:ext cx="6281186" cy="41340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ONLYOFFICE/8.3.2.19</Application>
  <PresentationFormat>On-screen Show (4:3)</PresentationFormat>
  <Paragraphs>0</Paragraphs>
  <Slides>158</Slides>
  <Notes>158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158</vt:i4>
      </vt:variant>
    </vt:vector>
  </HeadingPairs>
  <TitlesOfParts>
    <vt:vector size="15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</cp:revision>
  <dcterms:created xsi:type="dcterms:W3CDTF">2012-12-03T06:56:55Z</dcterms:created>
  <dcterms:modified xsi:type="dcterms:W3CDTF">2026-09-09T14:24:14Z</dcterms:modified>
</cp:coreProperties>
</file>