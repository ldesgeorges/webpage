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41.xml" ContentType="application/vnd.openxmlformats-officedocument.presentationml.slide+xml"/>
  <Override PartName="/ppt/slides/slide140.xml" ContentType="application/vnd.openxmlformats-officedocument.presentationml.slide+xml"/>
  <Override PartName="/ppt/slides/slide139.xml" ContentType="application/vnd.openxmlformats-officedocument.presentationml.slide+xml"/>
  <Override PartName="/ppt/slides/slide138.xml" ContentType="application/vnd.openxmlformats-officedocument.presentationml.slide+xml"/>
  <Override PartName="/ppt/slides/slide137.xml" ContentType="application/vnd.openxmlformats-officedocument.presentationml.slide+xml"/>
  <Override PartName="/ppt/slides/slide133.xml" ContentType="application/vnd.openxmlformats-officedocument.presentationml.slide+xml"/>
  <Override PartName="/ppt/slides/slide132.xml" ContentType="application/vnd.openxmlformats-officedocument.presentationml.slide+xml"/>
  <Override PartName="/ppt/slides/slide131.xml" ContentType="application/vnd.openxmlformats-officedocument.presentationml.slide+xml"/>
  <Override PartName="/ppt/slides/slide129.xml" ContentType="application/vnd.openxmlformats-officedocument.presentationml.slide+xml"/>
  <Override PartName="/ppt/slides/slide127.xml" ContentType="application/vnd.openxmlformats-officedocument.presentationml.slide+xml"/>
  <Override PartName="/ppt/slides/slide125.xml" ContentType="application/vnd.openxmlformats-officedocument.presentationml.slide+xml"/>
  <Override PartName="/ppt/slides/slide124.xml" ContentType="application/vnd.openxmlformats-officedocument.presentationml.slide+xml"/>
  <Override PartName="/ppt/slides/slide123.xml" ContentType="application/vnd.openxmlformats-officedocument.presentationml.slide+xml"/>
  <Override PartName="/ppt/slides/slide121.xml" ContentType="application/vnd.openxmlformats-officedocument.presentationml.slide+xml"/>
  <Override PartName="/ppt/slides/slide119.xml" ContentType="application/vnd.openxmlformats-officedocument.presentationml.slide+xml"/>
  <Override PartName="/ppt/slides/slide114.xml" ContentType="application/vnd.openxmlformats-officedocument.presentationml.slide+xml"/>
  <Override PartName="/ppt/slides/slide113.xml" ContentType="application/vnd.openxmlformats-officedocument.presentationml.slide+xml"/>
  <Override PartName="/ppt/slides/slide110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108.xml" ContentType="application/vnd.openxmlformats-officedocument.presentationml.slide+xml"/>
  <Override PartName="/ppt/slides/slide107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05.xml" ContentType="application/vnd.openxmlformats-officedocument.presentationml.slide+xml"/>
  <Override PartName="/ppt/slides/slide102.xml" ContentType="application/vnd.openxmlformats-officedocument.presentationml.slide+xml"/>
  <Override PartName="/ppt/slides/slide100.xml" ContentType="application/vnd.openxmlformats-officedocument.presentationml.slide+xml"/>
  <Override PartName="/ppt/slides/slide99.xml" ContentType="application/vnd.openxmlformats-officedocument.presentationml.slide+xml"/>
  <Override PartName="/ppt/slides/slide97.xml" ContentType="application/vnd.openxmlformats-officedocument.presentationml.slide+xml"/>
  <Override PartName="/ppt/slides/slide96.xml" ContentType="application/vnd.openxmlformats-officedocument.presentationml.slide+xml"/>
  <Override PartName="/ppt/slides/slide128.xml" ContentType="application/vnd.openxmlformats-officedocument.presentationml.slide+xml"/>
  <Override PartName="/ppt/slides/slide92.xml" ContentType="application/vnd.openxmlformats-officedocument.presentationml.slide+xml"/>
  <Override PartName="/ppt/slides/slide87.xml" ContentType="application/vnd.openxmlformats-officedocument.presentationml.slide+xml"/>
  <Override PartName="/ppt/slides/slide85.xml" ContentType="application/vnd.openxmlformats-officedocument.presentationml.slide+xml"/>
  <Override PartName="/ppt/slides/slide135.xml" ContentType="application/vnd.openxmlformats-officedocument.presentationml.slide+xml"/>
  <Override PartName="/ppt/slides/slide83.xml" ContentType="application/vnd.openxmlformats-officedocument.presentationml.slide+xml"/>
  <Override PartName="/ppt/slides/slide81.xml" ContentType="application/vnd.openxmlformats-officedocument.presentationml.slide+xml"/>
  <Override PartName="/ppt/slides/slide95.xml" ContentType="application/vnd.openxmlformats-officedocument.presentationml.slide+xml"/>
  <Override PartName="/ppt/slides/slide90.xml" ContentType="application/vnd.openxmlformats-officedocument.presentationml.slide+xml"/>
  <Override PartName="/ppt/slides/slide80.xml" ContentType="application/vnd.openxmlformats-officedocument.presentationml.slide+xml"/>
  <Override PartName="/ppt/slides/slide112.xml" ContentType="application/vnd.openxmlformats-officedocument.presentationml.slide+xml"/>
  <Override PartName="/ppt/slides/slide79.xml" ContentType="application/vnd.openxmlformats-officedocument.presentationml.slide+xml"/>
  <Override PartName="/ppt/slides/slide77.xml" ContentType="application/vnd.openxmlformats-officedocument.presentationml.slide+xml"/>
  <Override PartName="/ppt/slides/slide75.xml" ContentType="application/vnd.openxmlformats-officedocument.presentationml.slide+xml"/>
  <Override PartName="/ppt/slides/slide72.xml" ContentType="application/vnd.openxmlformats-officedocument.presentationml.slide+xml"/>
  <Override PartName="/ppt/slides/slide122.xml" ContentType="application/vnd.openxmlformats-officedocument.presentationml.slide+xml"/>
  <Override PartName="/ppt/slides/slide71.xml" ContentType="application/vnd.openxmlformats-officedocument.presentationml.slide+xml"/>
  <Override PartName="/ppt/slides/slide70.xml" ContentType="application/vnd.openxmlformats-officedocument.presentationml.slide+xml"/>
  <Override PartName="/ppt/slides/slide67.xml" ContentType="application/vnd.openxmlformats-officedocument.presentationml.slide+xml"/>
  <Override PartName="/ppt/slides/slide66.xml" ContentType="application/vnd.openxmlformats-officedocument.presentationml.slide+xml"/>
  <Override PartName="/ppt/slides/slide65.xml" ContentType="application/vnd.openxmlformats-officedocument.presentationml.slide+xml"/>
  <Override PartName="/ppt/slides/slide68.xml" ContentType="application/vnd.openxmlformats-officedocument.presentationml.slide+xml"/>
  <Override PartName="/ppt/slides/slide64.xml" ContentType="application/vnd.openxmlformats-officedocument.presentationml.slide+xml"/>
  <Override PartName="/ppt/slides/slide63.xml" ContentType="application/vnd.openxmlformats-officedocument.presentationml.slide+xml"/>
  <Override PartName="/ppt/slides/slide93.xml" ContentType="application/vnd.openxmlformats-officedocument.presentationml.slide+xml"/>
  <Override PartName="/ppt/slides/slide61.xml" ContentType="application/vnd.openxmlformats-officedocument.presentationml.slide+xml"/>
  <Override PartName="/ppt/slides/slide89.xml" ContentType="application/vnd.openxmlformats-officedocument.presentationml.slide+xml"/>
  <Override PartName="/ppt/slides/slide59.xml" ContentType="application/vnd.openxmlformats-officedocument.presentationml.slide+xml"/>
  <Override PartName="/ppt/slides/slide118.xml" ContentType="application/vnd.openxmlformats-officedocument.presentationml.slide+xml"/>
  <Override PartName="/ppt/slides/slide56.xml" ContentType="application/vnd.openxmlformats-officedocument.presentationml.slide+xml"/>
  <Override PartName="/ppt/slides/slide104.xml" ContentType="application/vnd.openxmlformats-officedocument.presentationml.slide+xml"/>
  <Override PartName="/ppt/slides/slide52.xml" ContentType="application/vnd.openxmlformats-officedocument.presentationml.slide+xml"/>
  <Override PartName="/ppt/slides/slide98.xml" ContentType="application/vnd.openxmlformats-officedocument.presentationml.slide+xml"/>
  <Override PartName="/ppt/slides/slide50.xml" ContentType="application/vnd.openxmlformats-officedocument.presentationml.slide+xml"/>
  <Override PartName="/ppt/slides/slide47.xml" ContentType="application/vnd.openxmlformats-officedocument.presentationml.slide+xml"/>
  <Override PartName="/ppt/slides/slide46.xml" ContentType="application/vnd.openxmlformats-officedocument.presentationml.slide+xml"/>
  <Override PartName="/ppt/slides/slide101.xml" ContentType="application/vnd.openxmlformats-officedocument.presentationml.slide+xml"/>
  <Override PartName="/ppt/slides/slide45.xml" ContentType="application/vnd.openxmlformats-officedocument.presentationml.slide+xml"/>
  <Override PartName="/ppt/slides/slide82.xml" ContentType="application/vnd.openxmlformats-officedocument.presentationml.slide+xml"/>
  <Override PartName="/ppt/slides/slide43.xml" ContentType="application/vnd.openxmlformats-officedocument.presentationml.slide+xml"/>
  <Override PartName="/ppt/slides/slide86.xml" ContentType="application/vnd.openxmlformats-officedocument.presentationml.slide+xml"/>
  <Override PartName="/ppt/slides/slide134.xml" ContentType="application/vnd.openxmlformats-officedocument.presentationml.slide+xml"/>
  <Override PartName="/ppt/slides/slide117.xml" ContentType="application/vnd.openxmlformats-officedocument.presentationml.slide+xml"/>
  <Override PartName="/ppt/slides/slide115.xml" ContentType="application/vnd.openxmlformats-officedocument.presentationml.slide+xml"/>
  <Override PartName="/ppt/slides/slide39.xml" ContentType="application/vnd.openxmlformats-officedocument.presentationml.slide+xml"/>
  <Override PartName="/ppt/slides/slide37.xml" ContentType="application/vnd.openxmlformats-officedocument.presentationml.slide+xml"/>
  <Override PartName="/ppt/slides/slide130.xml" ContentType="application/vnd.openxmlformats-officedocument.presentationml.slide+xml"/>
  <Override PartName="/ppt/slides/slide51.xml" ContentType="application/vnd.openxmlformats-officedocument.presentationml.slide+xml"/>
  <Override PartName="/ppt/slides/slide111.xml" ContentType="application/vnd.openxmlformats-officedocument.presentationml.slide+xml"/>
  <Override PartName="/ppt/slides/slide36.xml" ContentType="application/vnd.openxmlformats-officedocument.presentationml.slide+xml"/>
  <Override PartName="/ppt/slides/slide120.xml" ContentType="application/vnd.openxmlformats-officedocument.presentationml.slide+xml"/>
  <Override PartName="/ppt/slides/slide62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29.xml" ContentType="application/vnd.openxmlformats-officedocument.presentationml.slide+xml"/>
  <Override PartName="/ppt/slides/slide25.xml" ContentType="application/vnd.openxmlformats-officedocument.presentationml.slide+xml"/>
  <Override PartName="/ppt/slides/slide22.xml" ContentType="application/vnd.openxmlformats-officedocument.presentationml.slide+xml"/>
  <Override PartName="/ppt/slides/slide116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06.xml" ContentType="application/vnd.openxmlformats-officedocument.presentationml.slide+xml"/>
  <Override PartName="/ppt/slides/slide17.xml" ContentType="application/vnd.openxmlformats-officedocument.presentationml.slide+xml"/>
  <Override PartName="/ppt/slides/slide42.xml" ContentType="application/vnd.openxmlformats-officedocument.presentationml.slide+xml"/>
  <Override PartName="/ppt/slides/slide126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33.xml" ContentType="application/vnd.openxmlformats-officedocument.presentationml.slide+xml"/>
  <Override PartName="/ppt/slides/slide8.xml" ContentType="application/vnd.openxmlformats-officedocument.presentationml.slide+xml"/>
  <Override PartName="/ppt/slides/slide103.xml" ContentType="application/vnd.openxmlformats-officedocument.presentationml.slide+xml"/>
  <Override PartName="/ppt/slides/slide44.xml" ContentType="application/vnd.openxmlformats-officedocument.presentationml.slide+xml"/>
  <Override PartName="/ppt/slides/slide94.xml" ContentType="application/vnd.openxmlformats-officedocument.presentationml.slide+xml"/>
  <Override PartName="/ppt/slides/slide6.xml" ContentType="application/vnd.openxmlformats-officedocument.presentationml.slide+xml"/>
  <Override PartName="/ppt/slides/slide27.xml" ContentType="application/vnd.openxmlformats-officedocument.presentationml.slide+xml"/>
  <Override PartName="/ppt/slides/slide48.xml" ContentType="application/vnd.openxmlformats-officedocument.presentationml.slide+xml"/>
  <Override PartName="/ppt/slides/slide4.xml" ContentType="application/vnd.openxmlformats-officedocument.presentationml.slide+xml"/>
  <Override PartName="/ppt/slides/slide3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34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s/slide40.xml" ContentType="application/vnd.openxmlformats-officedocument.presentationml.slide+xml"/>
  <Override PartName="/ppt/slides/slide9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24.xml" ContentType="application/vnd.openxmlformats-officedocument.presentationml.slide+xml"/>
  <Override PartName="/ppt/slides/slide73.xml" ContentType="application/vnd.openxmlformats-officedocument.presentationml.slide+xml"/>
  <Override PartName="/ppt/slides/slide78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slides/slide16.xml" ContentType="application/vnd.openxmlformats-officedocument.presentationml.slide+xml"/>
  <Override PartName="/ppt/slides/slide4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8.xml" ContentType="application/vnd.openxmlformats-officedocument.presentationml.slide+xml"/>
  <Override PartName="/ppt/slides/slide53.xml" ContentType="application/vnd.openxmlformats-officedocument.presentationml.slide+xml"/>
  <Override PartName="/ppt/theme/theme1.xml" ContentType="application/vnd.openxmlformats-officedocument.theme+xml"/>
  <Override PartName="/ppt/slides/slide136.xml" ContentType="application/vnd.openxmlformats-officedocument.presentationml.slide+xml"/>
  <Override PartName="/ppt/slides/slide60.xml" ContentType="application/vnd.openxmlformats-officedocument.presentationml.slide+xml"/>
  <Override PartName="/ppt/slides/slide2.xml" ContentType="application/vnd.openxmlformats-officedocument.presentationml.slide+xml"/>
  <Override PartName="/ppt/slides/slide58.xml" ContentType="application/vnd.openxmlformats-officedocument.presentationml.slide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76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charts/chart6.xml" ContentType="application/vnd.openxmlformats-officedocument.drawingml.chart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23.xml" ContentType="application/vnd.openxmlformats-officedocument.presentationml.slide+xml"/>
  <Override PartName="/ppt/slides/slide84.xml" ContentType="application/vnd.openxmlformats-officedocument.presentationml.slide+xml"/>
  <Override PartName="/ppt/charts/chart5.xml" ContentType="application/vnd.openxmlformats-officedocument.drawingml.chart+xml"/>
  <Override PartName="/ppt/slideLayouts/slideLayout6.xml" ContentType="application/vnd.openxmlformats-officedocument.presentationml.slideLayout+xml"/>
  <Override PartName="/ppt/slides/slide38.xml" ContentType="application/vnd.openxmlformats-officedocument.presentationml.slide+xml"/>
  <Override PartName="/ppt/slides/slide88.xml" ContentType="application/vnd.openxmlformats-officedocument.presentationml.slide+xml"/>
  <Override PartName="/ppt/slides/slide109.xml" ContentType="application/vnd.openxmlformats-officedocument.presentationml.slide+xml"/>
  <Override PartName="/ppt/presProps.xml" ContentType="application/vnd.openxmlformats-officedocument.presentationml.presProps+xml"/>
  <Override PartName="/ppt/slides/slide49.xml" ContentType="application/vnd.openxmlformats-officedocument.presentationml.slide+xml"/>
  <Override PartName="/ppt/slides/slide21.xml" ContentType="application/vnd.openxmlformats-officedocument.presentationml.slide+xml"/>
  <Override PartName="/ppt/charts/chart4.xml" ContentType="application/vnd.openxmlformats-officedocument.drawingml.chart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57.xml" ContentType="application/vnd.openxmlformats-officedocument.presentationml.slide+xml"/>
  <Override PartName="/ppt/slides/slide74.xml" ContentType="application/vnd.openxmlformats-officedocument.presentationml.slide+xml"/>
  <Override PartName="/ppt/charts/chart3.xml" ContentType="application/vnd.openxmlformats-officedocument.drawingml.chart+xml"/>
  <Override PartName="/ppt/slides/slide55.xml" ContentType="application/vnd.openxmlformats-officedocument.presentationml.slide+xml"/>
  <Override PartName="/ppt/charts/chart2.xml" ContentType="application/vnd.openxmlformats-officedocument.drawingml.chart+xml"/>
  <Override PartName="/ppt/slides/slide30.xml" ContentType="application/vnd.openxmlformats-officedocument.presentationml.slide+xml"/>
  <Override PartName="/ppt/charts/chart1.xml" ContentType="application/vnd.openxmlformats-officedocument.drawingml.chart+xml"/>
  <Override PartName="/ppt/charts/chart7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4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</p:sldIdLst>
  <p:sldSz cx="12192000" cy="6858000"/>
  <p:notesSz cx="6858000" cy="9144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notesMaster" Target="notesMasters/notesMaster1.xml"/><Relationship Id="rId146" Type="http://schemas.openxmlformats.org/officeDocument/2006/relationships/presProps" Target="presProps.xml" /><Relationship Id="rId147" Type="http://schemas.openxmlformats.org/officeDocument/2006/relationships/tableStyles" Target="tableStyles.xml" /><Relationship Id="rId148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 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 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 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 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 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chart>
    <c:title>
      <c:tx>
        <c:rich>
          <a:bodyPr/>
          <a:lstStyle/>
          <a:p>
            <a:r>
              <a:rPr sz="1246" b="0">
                <a:solidFill>
                  <a:srgbClr val="404040"/>
                </a:solidFill>
              </a:rPr>
              <a:t>Volume de pcap complet par jour, lien utilisé à 100 %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 par jour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1</c:v>
                </c:pt>
                <c:pt idx="1">
                  <c:v>10</c:v>
                </c:pt>
                <c:pt idx="2">
                  <c:v>40</c:v>
                </c:pt>
                <c:pt idx="3">
                  <c:v>100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10.8</c:v>
                </c:pt>
                <c:pt idx="1">
                  <c:v>108</c:v>
                </c:pt>
                <c:pt idx="2">
                  <c:v>432</c:v>
                </c:pt>
                <c:pt idx="3">
                  <c:v>1080</c:v>
                </c:pt>
              </c:numCache>
            </c:numRef>
          </c:val>
        </c:ser>
        <c:dLbls>
          <c:txPr>
            <a:bodyPr/>
            <a:lstStyle/>
            <a:p>
              <a:pPr>
                <a:defRPr sz="1154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54" b="0">
                    <a:solidFill>
                      <a:srgbClr val="404040"/>
                    </a:solidFill>
                  </a:rPr>
                  <a:t>Débit du lien (Gb/s)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50.000000"/>
          <c:min val="0.00000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54" b="0">
                    <a:solidFill>
                      <a:srgbClr val="404040"/>
                    </a:solidFill>
                  </a:rPr>
                  <a:t>Volume par jour (To)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250.000000"/>
      </c:valAx>
    </c:plotArea>
    <c:dispBlanksAs val="gap"/>
  </c:chart>
  <c:txPr>
    <a:bodyPr/>
    <a:lstStyle/>
    <a:p>
      <a:pPr>
        <a:defRPr sz="1154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chart>
    <c:title>
      <c:tx>
        <c:rich>
          <a:bodyPr/>
          <a:lstStyle/>
          <a:p>
            <a:r>
              <a:rPr sz="1246" b="0">
                <a:solidFill>
                  <a:srgbClr val="404040"/>
                </a:solidFill>
              </a:rPr>
              <a:t>Probabilité d’observer un flux selon sa taille (N = 1000)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Probabilité (%)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Sheet1!$A$2:$A$5</c:f>
              <c:strCache>
                <c:ptCount val="4"/>
                <c:pt idx="0">
                  <c:v>10</c:v>
                </c:pt>
                <c:pt idx="1">
                  <c:v>100</c:v>
                </c:pt>
                <c:pt idx="2">
                  <c:v>1 000</c:v>
                </c:pt>
                <c:pt idx="3">
                  <c:v>10 000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9.5</c:v>
                </c:pt>
                <c:pt idx="2">
                  <c:v>63.2</c:v>
                </c:pt>
                <c:pt idx="3">
                  <c:v>100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54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54" b="0">
                    <a:solidFill>
                      <a:srgbClr val="404040"/>
                    </a:solidFill>
                  </a:rPr>
                  <a:t>Taille du flux k (paquets)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00000"/>
          <c:min val="0.00000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54" b="0">
                    <a:solidFill>
                      <a:srgbClr val="404040"/>
                    </a:solidFill>
                  </a:rPr>
                  <a:t>Probabilité d’observer le flux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20.000000"/>
      </c:valAx>
    </c:plotArea>
    <c:dispBlanksAs val="gap"/>
  </c:chart>
  <c:txPr>
    <a:bodyPr/>
    <a:lstStyle/>
    <a:p>
      <a:pPr>
        <a:defRPr sz="1154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chart>
    <c:title>
      <c:tx>
        <c:rich>
          <a:bodyPr/>
          <a:lstStyle/>
          <a:p>
            <a:r>
              <a:rPr sz="1246" b="0">
                <a:solidFill>
                  <a:srgbClr val="404040"/>
                </a:solidFill>
              </a:rPr>
              <a:t>Modèle « tout est normal » : deux mesures du même modèle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Sheet1!$A$2:$A$3</c:f>
              <c:strCache>
                <c:ptCount val="2"/>
                <c:pt idx="0">
                  <c:v>Accuracy</c:v>
                </c:pt>
                <c:pt idx="1">
                  <c:v>Rappel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99.9</c:v>
                </c:pt>
                <c:pt idx="1">
                  <c:v>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54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00000"/>
          <c:min val="0.00000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54" b="0">
                    <a:solidFill>
                      <a:srgbClr val="404040"/>
                    </a:solidFill>
                  </a:rPr>
                  <a:t>Valeur de la métrique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20.000000"/>
      </c:valAx>
    </c:plotArea>
    <c:dispBlanksAs val="gap"/>
  </c:chart>
  <c:txPr>
    <a:bodyPr/>
    <a:lstStyle/>
    <a:p>
      <a:pPr>
        <a:defRPr sz="1154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chart>
    <c:title>
      <c:tx>
        <c:rich>
          <a:bodyPr/>
          <a:lstStyle/>
          <a:p>
            <a:r>
              <a:rPr sz="1246" b="0">
                <a:solidFill>
                  <a:srgbClr val="404040"/>
                </a:solidFill>
              </a:rPr>
              <a:t>Illustration (données simulées) : F1 au cours du temps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Sans réentraînement</c:v>
                </c:pt>
              </c:strCache>
            </c:strRef>
          </c:tx>
          <c:spPr>
            <a:ln w="38100">
              <a:solidFill>
                <a:srgbClr val="C00000"/>
              </a:solidFill>
            </a:ln>
          </c:spPr>
          <c:marker>
            <c:spPr>
              <a:solidFill>
                <a:srgbClr val="C00000"/>
              </a:solidFill>
              <a:ln>
                <a:solidFill>
                  <a:srgbClr val="C00000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0.95</c:v>
                </c:pt>
                <c:pt idx="1">
                  <c:v>0.93</c:v>
                </c:pt>
                <c:pt idx="2">
                  <c:v>0.9</c:v>
                </c:pt>
                <c:pt idx="3">
                  <c:v>0.86</c:v>
                </c:pt>
                <c:pt idx="4">
                  <c:v>0.82</c:v>
                </c:pt>
                <c:pt idx="5">
                  <c:v>0.78</c:v>
                </c:pt>
                <c:pt idx="6">
                  <c:v>0.74</c:v>
                </c:pt>
                <c:pt idx="7">
                  <c:v>0.71</c:v>
                </c:pt>
                <c:pt idx="8">
                  <c:v>0.68</c:v>
                </c:pt>
                <c:pt idx="9">
                  <c:v>0.66</c:v>
                </c:pt>
                <c:pt idx="10">
                  <c:v>0.64</c:v>
                </c:pt>
                <c:pt idx="11">
                  <c:v>0.62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Réentraînement trimestriel</c:v>
                </c:pt>
              </c:strCache>
            </c:strRef>
          </c:tx>
          <c:spPr>
            <a:ln w="38100">
              <a:solidFill>
                <a:srgbClr val="4472C4"/>
              </a:solidFill>
            </a:ln>
          </c:spPr>
          <c:marker>
            <c:spPr>
              <a:solidFill>
                <a:srgbClr val="4472C4"/>
              </a:solidFill>
              <a:ln>
                <a:solidFill>
                  <a:srgbClr val="4472C4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0.95</c:v>
                </c:pt>
                <c:pt idx="1">
                  <c:v>0.93</c:v>
                </c:pt>
                <c:pt idx="2">
                  <c:v>0.9</c:v>
                </c:pt>
                <c:pt idx="3">
                  <c:v>0.95</c:v>
                </c:pt>
                <c:pt idx="4">
                  <c:v>0.93</c:v>
                </c:pt>
                <c:pt idx="5">
                  <c:v>0.9</c:v>
                </c:pt>
                <c:pt idx="6">
                  <c:v>0.95</c:v>
                </c:pt>
                <c:pt idx="7">
                  <c:v>0.93</c:v>
                </c:pt>
                <c:pt idx="8">
                  <c:v>0.9</c:v>
                </c:pt>
                <c:pt idx="9">
                  <c:v>0.95</c:v>
                </c:pt>
                <c:pt idx="10">
                  <c:v>0.93</c:v>
                </c:pt>
                <c:pt idx="11">
                  <c:v>0.9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00000"/>
          <c:min val="0.50000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54"/>
          </a:pPr>
        </a:p>
      </c:txPr>
    </c:legend>
    <c:plotVisOnly val="1"/>
    <c:dispBlanksAs val="gap"/>
    <c:showDLblsOverMax val="0"/>
  </c:chart>
  <c:txPr>
    <a:bodyPr/>
    <a:lstStyle/>
    <a:p>
      <a:pPr>
        <a:defRPr sz="1154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chart>
    <c:title>
      <c:tx>
        <c:rich>
          <a:bodyPr/>
          <a:lstStyle/>
          <a:p>
            <a:r>
              <a:rPr sz="1246" b="0">
                <a:solidFill>
                  <a:srgbClr val="404040"/>
                </a:solidFill>
              </a:rPr>
              <a:t>Illustration : débit horaire (données simulées)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Débit</c:v>
                </c:pt>
              </c:strCache>
            </c:strRef>
          </c:tx>
          <c:spPr>
            <a:ln w="25400">
              <a:solidFill>
                <a:srgbClr val="4472C4"/>
              </a:solidFill>
            </a:ln>
          </c:spPr>
          <c:marker>
            <c:symbol val="none"/>
          </c:marker>
          <c:cat>
            <c:strRef>
              <c:f>Sheet1!$A$2:$A$61</c:f>
              <c:strCache>
                <c:ptCount val="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</c:strCache>
            </c: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25.8</c:v>
                </c:pt>
                <c:pt idx="1">
                  <c:v>24</c:v>
                </c:pt>
                <c:pt idx="2">
                  <c:v>24</c:v>
                </c:pt>
                <c:pt idx="3">
                  <c:v>18.5</c:v>
                </c:pt>
                <c:pt idx="4">
                  <c:v>22.5</c:v>
                </c:pt>
                <c:pt idx="5">
                  <c:v>21</c:v>
                </c:pt>
                <c:pt idx="6">
                  <c:v>28.8</c:v>
                </c:pt>
                <c:pt idx="7">
                  <c:v>38</c:v>
                </c:pt>
                <c:pt idx="8">
                  <c:v>40.7</c:v>
                </c:pt>
                <c:pt idx="9">
                  <c:v>51.5</c:v>
                </c:pt>
                <c:pt idx="10">
                  <c:v>54.8</c:v>
                </c:pt>
                <c:pt idx="11">
                  <c:v>65</c:v>
                </c:pt>
                <c:pt idx="12">
                  <c:v>74.2</c:v>
                </c:pt>
                <c:pt idx="13">
                  <c:v>74.5</c:v>
                </c:pt>
                <c:pt idx="14">
                  <c:v>80.5</c:v>
                </c:pt>
                <c:pt idx="15">
                  <c:v>77</c:v>
                </c:pt>
                <c:pt idx="16">
                  <c:v>79</c:v>
                </c:pt>
                <c:pt idx="17">
                  <c:v>79</c:v>
                </c:pt>
                <c:pt idx="18">
                  <c:v>69.7</c:v>
                </c:pt>
                <c:pt idx="19">
                  <c:v>66.5</c:v>
                </c:pt>
                <c:pt idx="20">
                  <c:v>134.8</c:v>
                </c:pt>
                <c:pt idx="21">
                  <c:v>50</c:v>
                </c:pt>
                <c:pt idx="22">
                  <c:v>45.2</c:v>
                </c:pt>
                <c:pt idx="23">
                  <c:v>33.5</c:v>
                </c:pt>
                <c:pt idx="24">
                  <c:v>30.3</c:v>
                </c:pt>
                <c:pt idx="25">
                  <c:v>21</c:v>
                </c:pt>
                <c:pt idx="26">
                  <c:v>21</c:v>
                </c:pt>
                <c:pt idx="27">
                  <c:v>68</c:v>
                </c:pt>
                <c:pt idx="28">
                  <c:v>19.5</c:v>
                </c:pt>
                <c:pt idx="29">
                  <c:v>25.5</c:v>
                </c:pt>
                <c:pt idx="30">
                  <c:v>25.8</c:v>
                </c:pt>
                <c:pt idx="31">
                  <c:v>35</c:v>
                </c:pt>
                <c:pt idx="32">
                  <c:v>45.2</c:v>
                </c:pt>
                <c:pt idx="33">
                  <c:v>48.5</c:v>
                </c:pt>
                <c:pt idx="34">
                  <c:v>59.3</c:v>
                </c:pt>
                <c:pt idx="35">
                  <c:v>62</c:v>
                </c:pt>
                <c:pt idx="36">
                  <c:v>71.2</c:v>
                </c:pt>
                <c:pt idx="37">
                  <c:v>79</c:v>
                </c:pt>
                <c:pt idx="38">
                  <c:v>77.5</c:v>
                </c:pt>
                <c:pt idx="39">
                  <c:v>81.5</c:v>
                </c:pt>
                <c:pt idx="40">
                  <c:v>76</c:v>
                </c:pt>
                <c:pt idx="41">
                  <c:v>76</c:v>
                </c:pt>
                <c:pt idx="42">
                  <c:v>74.2</c:v>
                </c:pt>
                <c:pt idx="43">
                  <c:v>63.5</c:v>
                </c:pt>
                <c:pt idx="44">
                  <c:v>84.3</c:v>
                </c:pt>
                <c:pt idx="45">
                  <c:v>72</c:v>
                </c:pt>
                <c:pt idx="46">
                  <c:v>67.2</c:v>
                </c:pt>
                <c:pt idx="47">
                  <c:v>63</c:v>
                </c:pt>
                <c:pt idx="48">
                  <c:v>52.3</c:v>
                </c:pt>
                <c:pt idx="49">
                  <c:v>50.5</c:v>
                </c:pt>
                <c:pt idx="50">
                  <c:v>43</c:v>
                </c:pt>
                <c:pt idx="51">
                  <c:v>20</c:v>
                </c:pt>
                <c:pt idx="52">
                  <c:v>24</c:v>
                </c:pt>
                <c:pt idx="53">
                  <c:v>22.5</c:v>
                </c:pt>
                <c:pt idx="54">
                  <c:v>30.3</c:v>
                </c:pt>
                <c:pt idx="55">
                  <c:v>32</c:v>
                </c:pt>
                <c:pt idx="56">
                  <c:v>42.2</c:v>
                </c:pt>
                <c:pt idx="57">
                  <c:v>53</c:v>
                </c:pt>
                <c:pt idx="58">
                  <c:v>56.3</c:v>
                </c:pt>
                <c:pt idx="59">
                  <c:v>66.5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Anomalie ponctuelle</c:v>
                </c:pt>
              </c:strCache>
            </c:strRef>
          </c:tx>
          <c:spPr>
            <a:ln w="25400">
              <a:noFill/>
            </a:ln>
          </c:spPr>
          <c:marker>
            <c:symbol val="circle"/>
            <c:size val="12"/>
            <c:spPr>
              <a:solidFill>
                <a:srgbClr val="C00000"/>
              </a:solidFill>
              <a:ln>
                <a:solidFill>
                  <a:srgbClr val="C00000"/>
                </a:solidFill>
              </a:ln>
            </c:spPr>
          </c:marker>
          <c:cat>
            <c:strRef>
              <c:f>Sheet1!$A$2:$A$61</c:f>
              <c:strCache>
                <c:ptCount val="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</c:strCache>
            </c:strRef>
          </c:cat>
          <c:val>
            <c:numRef>
              <c:f>Sheet1!$C$2:$C$61</c:f>
              <c:numCache>
                <c:formatCode>General</c:formatCode>
                <c:ptCount val="60"/>
                <c:pt idx="20">
                  <c:v>134.8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Anomalie contextuelle</c:v>
                </c:pt>
              </c:strCache>
            </c:strRef>
          </c:tx>
          <c:spPr>
            <a:ln w="25400">
              <a:noFill/>
            </a:ln>
          </c:spPr>
          <c:marker>
            <c:symbol val="circle"/>
            <c:size val="12"/>
            <c:spPr>
              <a:solidFill>
                <a:srgbClr val="ED7D31"/>
              </a:solidFill>
              <a:ln>
                <a:solidFill>
                  <a:srgbClr val="ED7D31"/>
                </a:solidFill>
              </a:ln>
            </c:spPr>
          </c:marker>
          <c:cat>
            <c:strRef>
              <c:f>Sheet1!$A$2:$A$61</c:f>
              <c:strCache>
                <c:ptCount val="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</c:strCache>
            </c:strRef>
          </c:cat>
          <c:val>
            <c:numRef>
              <c:f>Sheet1!$D$2:$D$61</c:f>
              <c:numCache>
                <c:formatCode>General</c:formatCode>
                <c:ptCount val="60"/>
                <c:pt idx="27">
                  <c:v>68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Anomalie collective</c:v>
                </c:pt>
              </c:strCache>
            </c:strRef>
          </c:tx>
          <c:spPr>
            <a:ln w="63500">
              <a:solidFill>
                <a:srgbClr val="6FA35B"/>
              </a:solidFill>
            </a:ln>
          </c:spPr>
          <c:marker>
            <c:symbol val="none"/>
          </c:marker>
          <c:cat>
            <c:strRef>
              <c:f>Sheet1!$A$2:$A$61</c:f>
              <c:strCache>
                <c:ptCount val="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</c:strCache>
            </c:strRef>
          </c:cat>
          <c:val>
            <c:numRef>
              <c:f>Sheet1!$E$2:$E$61</c:f>
              <c:numCache>
                <c:formatCode>General</c:formatCode>
                <c:ptCount val="60"/>
                <c:pt idx="44">
                  <c:v>84.3</c:v>
                </c:pt>
                <c:pt idx="45">
                  <c:v>72</c:v>
                </c:pt>
                <c:pt idx="46">
                  <c:v>67.2</c:v>
                </c:pt>
                <c:pt idx="47">
                  <c:v>63</c:v>
                </c:pt>
                <c:pt idx="48">
                  <c:v>52.3</c:v>
                </c:pt>
                <c:pt idx="49">
                  <c:v>50.5</c:v>
                </c:pt>
                <c:pt idx="50">
                  <c:v>43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54" b="0">
                    <a:solidFill>
                      <a:srgbClr val="404040"/>
                    </a:solidFill>
                  </a:rPr>
                  <a:t>Temps (heures)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tickLblSkip val="6"/>
        <c:noMultiLvlLbl val="0"/>
      </c:catAx>
      <c:valAx>
        <c:axId val="2140495176"/>
        <c:scaling>
          <c:max val="180.000000"/>
          <c:min val="0.00000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54" b="0">
                    <a:solidFill>
                      <a:srgbClr val="404040"/>
                    </a:solidFill>
                  </a:rPr>
                  <a:t>Débit (Mb/s)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54"/>
          </a:pPr>
        </a:p>
      </c:txPr>
    </c:legend>
    <c:plotVisOnly val="1"/>
    <c:dispBlanksAs val="gap"/>
    <c:showDLblsOverMax val="0"/>
  </c:chart>
  <c:txPr>
    <a:bodyPr/>
    <a:lstStyle/>
    <a:p>
      <a:pPr>
        <a:defRPr sz="1154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chart>
    <c:title>
      <c:tx>
        <c:rich>
          <a:bodyPr/>
          <a:lstStyle/>
          <a:p>
            <a:r>
              <a:rPr sz="1246" b="0">
                <a:solidFill>
                  <a:srgbClr val="404040"/>
                </a:solidFill>
              </a:rPr>
              <a:t>Un pic à 3 h passe sous un seuil fixe, pas sous un seuil adaptatif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Débit</c:v>
                </c:pt>
              </c:strCache>
            </c:strRef>
          </c:tx>
          <c:spPr>
            <a:ln w="25400">
              <a:solidFill>
                <a:srgbClr val="4472C4"/>
              </a:solidFill>
            </a:ln>
          </c:spPr>
          <c:marker>
            <c:symbol val="none"/>
          </c:marker>
          <c:cat>
            <c:strRef>
              <c:f>Sheet1!$A$2:$A$61</c:f>
              <c:strCache>
                <c:ptCount val="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</c:strCache>
            </c: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25.8</c:v>
                </c:pt>
                <c:pt idx="1">
                  <c:v>24</c:v>
                </c:pt>
                <c:pt idx="2">
                  <c:v>24</c:v>
                </c:pt>
                <c:pt idx="3">
                  <c:v>18.5</c:v>
                </c:pt>
                <c:pt idx="4">
                  <c:v>22.5</c:v>
                </c:pt>
                <c:pt idx="5">
                  <c:v>21</c:v>
                </c:pt>
                <c:pt idx="6">
                  <c:v>28.8</c:v>
                </c:pt>
                <c:pt idx="7">
                  <c:v>38</c:v>
                </c:pt>
                <c:pt idx="8">
                  <c:v>40.7</c:v>
                </c:pt>
                <c:pt idx="9">
                  <c:v>51.5</c:v>
                </c:pt>
                <c:pt idx="10">
                  <c:v>54.8</c:v>
                </c:pt>
                <c:pt idx="11">
                  <c:v>65</c:v>
                </c:pt>
                <c:pt idx="12">
                  <c:v>74.2</c:v>
                </c:pt>
                <c:pt idx="13">
                  <c:v>74.5</c:v>
                </c:pt>
                <c:pt idx="14">
                  <c:v>80.5</c:v>
                </c:pt>
                <c:pt idx="15">
                  <c:v>77</c:v>
                </c:pt>
                <c:pt idx="16">
                  <c:v>79</c:v>
                </c:pt>
                <c:pt idx="17">
                  <c:v>79</c:v>
                </c:pt>
                <c:pt idx="18">
                  <c:v>69.7</c:v>
                </c:pt>
                <c:pt idx="19">
                  <c:v>66.5</c:v>
                </c:pt>
                <c:pt idx="20">
                  <c:v>54.8</c:v>
                </c:pt>
                <c:pt idx="21">
                  <c:v>50</c:v>
                </c:pt>
                <c:pt idx="22">
                  <c:v>45.2</c:v>
                </c:pt>
                <c:pt idx="23">
                  <c:v>33.5</c:v>
                </c:pt>
                <c:pt idx="24">
                  <c:v>30.3</c:v>
                </c:pt>
                <c:pt idx="25">
                  <c:v>21</c:v>
                </c:pt>
                <c:pt idx="26">
                  <c:v>21</c:v>
                </c:pt>
                <c:pt idx="27">
                  <c:v>73</c:v>
                </c:pt>
                <c:pt idx="28">
                  <c:v>19.5</c:v>
                </c:pt>
                <c:pt idx="29">
                  <c:v>25.5</c:v>
                </c:pt>
                <c:pt idx="30">
                  <c:v>25.8</c:v>
                </c:pt>
                <c:pt idx="31">
                  <c:v>35</c:v>
                </c:pt>
                <c:pt idx="32">
                  <c:v>45.2</c:v>
                </c:pt>
                <c:pt idx="33">
                  <c:v>48.5</c:v>
                </c:pt>
                <c:pt idx="34">
                  <c:v>59.3</c:v>
                </c:pt>
                <c:pt idx="35">
                  <c:v>62</c:v>
                </c:pt>
                <c:pt idx="36">
                  <c:v>71.2</c:v>
                </c:pt>
                <c:pt idx="37">
                  <c:v>79</c:v>
                </c:pt>
                <c:pt idx="38">
                  <c:v>77.5</c:v>
                </c:pt>
                <c:pt idx="39">
                  <c:v>81.5</c:v>
                </c:pt>
                <c:pt idx="40">
                  <c:v>76</c:v>
                </c:pt>
                <c:pt idx="41">
                  <c:v>76</c:v>
                </c:pt>
                <c:pt idx="42">
                  <c:v>74.2</c:v>
                </c:pt>
                <c:pt idx="43">
                  <c:v>63.5</c:v>
                </c:pt>
                <c:pt idx="44">
                  <c:v>59.3</c:v>
                </c:pt>
                <c:pt idx="45">
                  <c:v>47</c:v>
                </c:pt>
                <c:pt idx="46">
                  <c:v>42.2</c:v>
                </c:pt>
                <c:pt idx="47">
                  <c:v>38</c:v>
                </c:pt>
                <c:pt idx="48">
                  <c:v>27.3</c:v>
                </c:pt>
                <c:pt idx="49">
                  <c:v>25.5</c:v>
                </c:pt>
                <c:pt idx="50">
                  <c:v>18</c:v>
                </c:pt>
                <c:pt idx="51">
                  <c:v>20</c:v>
                </c:pt>
                <c:pt idx="52">
                  <c:v>24</c:v>
                </c:pt>
                <c:pt idx="53">
                  <c:v>22.5</c:v>
                </c:pt>
                <c:pt idx="54">
                  <c:v>30.3</c:v>
                </c:pt>
                <c:pt idx="55">
                  <c:v>32</c:v>
                </c:pt>
                <c:pt idx="56">
                  <c:v>42.2</c:v>
                </c:pt>
                <c:pt idx="57">
                  <c:v>53</c:v>
                </c:pt>
                <c:pt idx="58">
                  <c:v>56.3</c:v>
                </c:pt>
                <c:pt idx="59">
                  <c:v>66.5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Seuil fixe</c:v>
                </c:pt>
              </c:strCache>
            </c:strRef>
          </c:tx>
          <c:spPr>
            <a:ln w="25400">
              <a:solidFill>
                <a:srgbClr val="C00000"/>
              </a:solidFill>
            </a:ln>
          </c:spPr>
          <c:marker>
            <c:symbol val="none"/>
          </c:marker>
          <c:cat>
            <c:strRef>
              <c:f>Sheet1!$A$2:$A$61</c:f>
              <c:strCache>
                <c:ptCount val="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</c:strCache>
            </c:strRef>
          </c:cat>
          <c:val>
            <c:numRef>
              <c:f>Sheet1!$C$2:$C$61</c:f>
              <c:numCache>
                <c:formatCode>General</c:formatCode>
                <c:ptCount val="60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  <c:pt idx="12">
                  <c:v>90</c:v>
                </c:pt>
                <c:pt idx="13">
                  <c:v>90</c:v>
                </c:pt>
                <c:pt idx="14">
                  <c:v>90</c:v>
                </c:pt>
                <c:pt idx="15">
                  <c:v>90</c:v>
                </c:pt>
                <c:pt idx="16">
                  <c:v>90</c:v>
                </c:pt>
                <c:pt idx="17">
                  <c:v>90</c:v>
                </c:pt>
                <c:pt idx="18">
                  <c:v>90</c:v>
                </c:pt>
                <c:pt idx="19">
                  <c:v>90</c:v>
                </c:pt>
                <c:pt idx="20">
                  <c:v>90</c:v>
                </c:pt>
                <c:pt idx="21">
                  <c:v>90</c:v>
                </c:pt>
                <c:pt idx="22">
                  <c:v>90</c:v>
                </c:pt>
                <c:pt idx="23">
                  <c:v>90</c:v>
                </c:pt>
                <c:pt idx="24">
                  <c:v>90</c:v>
                </c:pt>
                <c:pt idx="25">
                  <c:v>90</c:v>
                </c:pt>
                <c:pt idx="26">
                  <c:v>90</c:v>
                </c:pt>
                <c:pt idx="27">
                  <c:v>90</c:v>
                </c:pt>
                <c:pt idx="28">
                  <c:v>90</c:v>
                </c:pt>
                <c:pt idx="29">
                  <c:v>90</c:v>
                </c:pt>
                <c:pt idx="30">
                  <c:v>90</c:v>
                </c:pt>
                <c:pt idx="31">
                  <c:v>90</c:v>
                </c:pt>
                <c:pt idx="32">
                  <c:v>90</c:v>
                </c:pt>
                <c:pt idx="33">
                  <c:v>90</c:v>
                </c:pt>
                <c:pt idx="34">
                  <c:v>90</c:v>
                </c:pt>
                <c:pt idx="35">
                  <c:v>90</c:v>
                </c:pt>
                <c:pt idx="36">
                  <c:v>90</c:v>
                </c:pt>
                <c:pt idx="37">
                  <c:v>90</c:v>
                </c:pt>
                <c:pt idx="38">
                  <c:v>90</c:v>
                </c:pt>
                <c:pt idx="39">
                  <c:v>90</c:v>
                </c:pt>
                <c:pt idx="40">
                  <c:v>90</c:v>
                </c:pt>
                <c:pt idx="41">
                  <c:v>90</c:v>
                </c:pt>
                <c:pt idx="42">
                  <c:v>90</c:v>
                </c:pt>
                <c:pt idx="43">
                  <c:v>90</c:v>
                </c:pt>
                <c:pt idx="44">
                  <c:v>90</c:v>
                </c:pt>
                <c:pt idx="45">
                  <c:v>90</c:v>
                </c:pt>
                <c:pt idx="46">
                  <c:v>90</c:v>
                </c:pt>
                <c:pt idx="47">
                  <c:v>90</c:v>
                </c:pt>
                <c:pt idx="48">
                  <c:v>90</c:v>
                </c:pt>
                <c:pt idx="49">
                  <c:v>90</c:v>
                </c:pt>
                <c:pt idx="50">
                  <c:v>90</c:v>
                </c:pt>
                <c:pt idx="51">
                  <c:v>90</c:v>
                </c:pt>
                <c:pt idx="52">
                  <c:v>90</c:v>
                </c:pt>
                <c:pt idx="53">
                  <c:v>90</c:v>
                </c:pt>
                <c:pt idx="54">
                  <c:v>90</c:v>
                </c:pt>
                <c:pt idx="55">
                  <c:v>90</c:v>
                </c:pt>
                <c:pt idx="56">
                  <c:v>90</c:v>
                </c:pt>
                <c:pt idx="57">
                  <c:v>90</c:v>
                </c:pt>
                <c:pt idx="58">
                  <c:v>90</c:v>
                </c:pt>
                <c:pt idx="59">
                  <c:v>90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Seuil adaptatif (saisonnier + marge)</c:v>
                </c:pt>
              </c:strCache>
            </c:strRef>
          </c:tx>
          <c:spPr>
            <a:ln w="25400">
              <a:solidFill>
                <a:srgbClr val="ED7D31"/>
              </a:solidFill>
            </a:ln>
          </c:spPr>
          <c:marker>
            <c:symbol val="none"/>
          </c:marker>
          <c:cat>
            <c:strRef>
              <c:f>Sheet1!$A$2:$A$61</c:f>
              <c:strCache>
                <c:ptCount val="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</c:strCache>
            </c:strRef>
          </c:cat>
          <c:val>
            <c:numRef>
              <c:f>Sheet1!$D$2:$D$61</c:f>
              <c:numCache>
                <c:formatCode>General</c:formatCode>
                <c:ptCount val="60"/>
                <c:pt idx="0">
                  <c:v>53.8</c:v>
                </c:pt>
                <c:pt idx="1">
                  <c:v>49</c:v>
                </c:pt>
                <c:pt idx="2">
                  <c:v>46</c:v>
                </c:pt>
                <c:pt idx="3">
                  <c:v>45</c:v>
                </c:pt>
                <c:pt idx="4">
                  <c:v>46</c:v>
                </c:pt>
                <c:pt idx="5">
                  <c:v>49</c:v>
                </c:pt>
                <c:pt idx="6">
                  <c:v>53.8</c:v>
                </c:pt>
                <c:pt idx="7">
                  <c:v>60</c:v>
                </c:pt>
                <c:pt idx="8">
                  <c:v>67.2</c:v>
                </c:pt>
                <c:pt idx="9">
                  <c:v>75</c:v>
                </c:pt>
                <c:pt idx="10">
                  <c:v>82.8</c:v>
                </c:pt>
                <c:pt idx="11">
                  <c:v>90</c:v>
                </c:pt>
                <c:pt idx="12">
                  <c:v>96.2</c:v>
                </c:pt>
                <c:pt idx="13">
                  <c:v>101</c:v>
                </c:pt>
                <c:pt idx="14">
                  <c:v>104</c:v>
                </c:pt>
                <c:pt idx="15">
                  <c:v>105</c:v>
                </c:pt>
                <c:pt idx="16">
                  <c:v>104</c:v>
                </c:pt>
                <c:pt idx="17">
                  <c:v>101</c:v>
                </c:pt>
                <c:pt idx="18">
                  <c:v>96.2</c:v>
                </c:pt>
                <c:pt idx="19">
                  <c:v>90</c:v>
                </c:pt>
                <c:pt idx="20">
                  <c:v>82.8</c:v>
                </c:pt>
                <c:pt idx="21">
                  <c:v>75</c:v>
                </c:pt>
                <c:pt idx="22">
                  <c:v>67.2</c:v>
                </c:pt>
                <c:pt idx="23">
                  <c:v>60</c:v>
                </c:pt>
                <c:pt idx="24">
                  <c:v>53.8</c:v>
                </c:pt>
                <c:pt idx="25">
                  <c:v>49</c:v>
                </c:pt>
                <c:pt idx="26">
                  <c:v>46</c:v>
                </c:pt>
                <c:pt idx="27">
                  <c:v>45</c:v>
                </c:pt>
                <c:pt idx="28">
                  <c:v>46</c:v>
                </c:pt>
                <c:pt idx="29">
                  <c:v>49</c:v>
                </c:pt>
                <c:pt idx="30">
                  <c:v>53.8</c:v>
                </c:pt>
                <c:pt idx="31">
                  <c:v>60</c:v>
                </c:pt>
                <c:pt idx="32">
                  <c:v>67.2</c:v>
                </c:pt>
                <c:pt idx="33">
                  <c:v>75</c:v>
                </c:pt>
                <c:pt idx="34">
                  <c:v>82.8</c:v>
                </c:pt>
                <c:pt idx="35">
                  <c:v>90</c:v>
                </c:pt>
                <c:pt idx="36">
                  <c:v>96.2</c:v>
                </c:pt>
                <c:pt idx="37">
                  <c:v>101</c:v>
                </c:pt>
                <c:pt idx="38">
                  <c:v>104</c:v>
                </c:pt>
                <c:pt idx="39">
                  <c:v>105</c:v>
                </c:pt>
                <c:pt idx="40">
                  <c:v>104</c:v>
                </c:pt>
                <c:pt idx="41">
                  <c:v>101</c:v>
                </c:pt>
                <c:pt idx="42">
                  <c:v>96.2</c:v>
                </c:pt>
                <c:pt idx="43">
                  <c:v>90</c:v>
                </c:pt>
                <c:pt idx="44">
                  <c:v>82.8</c:v>
                </c:pt>
                <c:pt idx="45">
                  <c:v>75</c:v>
                </c:pt>
                <c:pt idx="46">
                  <c:v>67.2</c:v>
                </c:pt>
                <c:pt idx="47">
                  <c:v>60</c:v>
                </c:pt>
                <c:pt idx="48">
                  <c:v>53.8</c:v>
                </c:pt>
                <c:pt idx="49">
                  <c:v>49</c:v>
                </c:pt>
                <c:pt idx="50">
                  <c:v>46</c:v>
                </c:pt>
                <c:pt idx="51">
                  <c:v>45</c:v>
                </c:pt>
                <c:pt idx="52">
                  <c:v>46</c:v>
                </c:pt>
                <c:pt idx="53">
                  <c:v>49</c:v>
                </c:pt>
                <c:pt idx="54">
                  <c:v>53.8</c:v>
                </c:pt>
                <c:pt idx="55">
                  <c:v>60</c:v>
                </c:pt>
                <c:pt idx="56">
                  <c:v>67.2</c:v>
                </c:pt>
                <c:pt idx="57">
                  <c:v>75</c:v>
                </c:pt>
                <c:pt idx="58">
                  <c:v>82.8</c:v>
                </c:pt>
                <c:pt idx="59">
                  <c:v>90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tickLblSkip val="6"/>
        <c:noMultiLvlLbl val="0"/>
      </c:catAx>
      <c:valAx>
        <c:axId val="2140495176"/>
        <c:scaling>
          <c:max val="120.000000"/>
          <c:min val="0.00000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54"/>
          </a:pPr>
        </a:p>
      </c:txPr>
    </c:legend>
    <c:plotVisOnly val="1"/>
    <c:dispBlanksAs val="gap"/>
    <c:showDLblsOverMax val="0"/>
  </c:chart>
  <c:txPr>
    <a:bodyPr/>
    <a:lstStyle/>
    <a:p>
      <a:pPr>
        <a:defRPr sz="1154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chart>
    <c:title>
      <c:tx>
        <c:rich>
          <a:bodyPr/>
          <a:lstStyle/>
          <a:p>
            <a:r>
              <a:rPr sz="1246" b="0">
                <a:solidFill>
                  <a:srgbClr val="404040"/>
                </a:solidFill>
              </a:rPr>
              <a:t>Illustration (données simulées) : un lien sur 60 heures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Débit observé</c:v>
                </c:pt>
              </c:strCache>
            </c:strRef>
          </c:tx>
          <c:spPr>
            <a:ln w="25400">
              <a:solidFill>
                <a:srgbClr val="4472C4"/>
              </a:solidFill>
            </a:ln>
          </c:spPr>
          <c:marker>
            <c:symbol val="none"/>
          </c:marker>
          <c:cat>
            <c:strRef>
              <c:f>Sheet1!$A$2:$A$61</c:f>
              <c:strCache>
                <c:ptCount val="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</c:strCache>
            </c: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25.8</c:v>
                </c:pt>
                <c:pt idx="1">
                  <c:v>24</c:v>
                </c:pt>
                <c:pt idx="2">
                  <c:v>24</c:v>
                </c:pt>
                <c:pt idx="3">
                  <c:v>18.5</c:v>
                </c:pt>
                <c:pt idx="4">
                  <c:v>22.5</c:v>
                </c:pt>
                <c:pt idx="5">
                  <c:v>21</c:v>
                </c:pt>
                <c:pt idx="6">
                  <c:v>28.8</c:v>
                </c:pt>
                <c:pt idx="7">
                  <c:v>38</c:v>
                </c:pt>
                <c:pt idx="8">
                  <c:v>40.7</c:v>
                </c:pt>
                <c:pt idx="9">
                  <c:v>51.5</c:v>
                </c:pt>
                <c:pt idx="10">
                  <c:v>54.8</c:v>
                </c:pt>
                <c:pt idx="11">
                  <c:v>65</c:v>
                </c:pt>
                <c:pt idx="12">
                  <c:v>74.2</c:v>
                </c:pt>
                <c:pt idx="13">
                  <c:v>74.5</c:v>
                </c:pt>
                <c:pt idx="14">
                  <c:v>80.5</c:v>
                </c:pt>
                <c:pt idx="15">
                  <c:v>77</c:v>
                </c:pt>
                <c:pt idx="16">
                  <c:v>79</c:v>
                </c:pt>
                <c:pt idx="17">
                  <c:v>79</c:v>
                </c:pt>
                <c:pt idx="18">
                  <c:v>69.7</c:v>
                </c:pt>
                <c:pt idx="19">
                  <c:v>66.5</c:v>
                </c:pt>
                <c:pt idx="20">
                  <c:v>54.8</c:v>
                </c:pt>
                <c:pt idx="21">
                  <c:v>50</c:v>
                </c:pt>
                <c:pt idx="22">
                  <c:v>45.2</c:v>
                </c:pt>
                <c:pt idx="23">
                  <c:v>33.5</c:v>
                </c:pt>
                <c:pt idx="24">
                  <c:v>30.3</c:v>
                </c:pt>
                <c:pt idx="25">
                  <c:v>21</c:v>
                </c:pt>
                <c:pt idx="26">
                  <c:v>21</c:v>
                </c:pt>
                <c:pt idx="27">
                  <c:v>73</c:v>
                </c:pt>
                <c:pt idx="28">
                  <c:v>19.5</c:v>
                </c:pt>
                <c:pt idx="29">
                  <c:v>25.5</c:v>
                </c:pt>
                <c:pt idx="30">
                  <c:v>25.8</c:v>
                </c:pt>
                <c:pt idx="31">
                  <c:v>35</c:v>
                </c:pt>
                <c:pt idx="32">
                  <c:v>45.2</c:v>
                </c:pt>
                <c:pt idx="33">
                  <c:v>48.5</c:v>
                </c:pt>
                <c:pt idx="34">
                  <c:v>59.3</c:v>
                </c:pt>
                <c:pt idx="35">
                  <c:v>62</c:v>
                </c:pt>
                <c:pt idx="36">
                  <c:v>71.2</c:v>
                </c:pt>
                <c:pt idx="37">
                  <c:v>79</c:v>
                </c:pt>
                <c:pt idx="38">
                  <c:v>77.5</c:v>
                </c:pt>
                <c:pt idx="39">
                  <c:v>81.5</c:v>
                </c:pt>
                <c:pt idx="40">
                  <c:v>76</c:v>
                </c:pt>
                <c:pt idx="41">
                  <c:v>76</c:v>
                </c:pt>
                <c:pt idx="42">
                  <c:v>74.2</c:v>
                </c:pt>
                <c:pt idx="43">
                  <c:v>63.5</c:v>
                </c:pt>
                <c:pt idx="44">
                  <c:v>59.3</c:v>
                </c:pt>
                <c:pt idx="45">
                  <c:v>47</c:v>
                </c:pt>
                <c:pt idx="46">
                  <c:v>42.2</c:v>
                </c:pt>
                <c:pt idx="47">
                  <c:v>38</c:v>
                </c:pt>
                <c:pt idx="48">
                  <c:v>27.3</c:v>
                </c:pt>
                <c:pt idx="49">
                  <c:v>25.5</c:v>
                </c:pt>
                <c:pt idx="50">
                  <c:v>18</c:v>
                </c:pt>
                <c:pt idx="51">
                  <c:v>20</c:v>
                </c:pt>
                <c:pt idx="52">
                  <c:v>24</c:v>
                </c:pt>
                <c:pt idx="53">
                  <c:v>22.5</c:v>
                </c:pt>
                <c:pt idx="54">
                  <c:v>30.3</c:v>
                </c:pt>
                <c:pt idx="55">
                  <c:v>32</c:v>
                </c:pt>
                <c:pt idx="56">
                  <c:v>42.2</c:v>
                </c:pt>
                <c:pt idx="57">
                  <c:v>53</c:v>
                </c:pt>
                <c:pt idx="58">
                  <c:v>56.3</c:v>
                </c:pt>
                <c:pt idx="59">
                  <c:v>66.5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Débit prévu par le modèle</c:v>
                </c:pt>
              </c:strCache>
            </c:strRef>
          </c:tx>
          <c:spPr>
            <a:ln w="25400">
              <a:solidFill>
                <a:srgbClr val="ED7D31"/>
              </a:solidFill>
            </a:ln>
          </c:spPr>
          <c:marker>
            <c:symbol val="none"/>
          </c:marker>
          <c:cat>
            <c:strRef>
              <c:f>Sheet1!$A$2:$A$61</c:f>
              <c:strCache>
                <c:ptCount val="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</c:strCache>
            </c:strRef>
          </c:cat>
          <c:val>
            <c:numRef>
              <c:f>Sheet1!$C$2:$C$61</c:f>
              <c:numCache>
                <c:formatCode>General</c:formatCode>
                <c:ptCount val="60"/>
                <c:pt idx="0">
                  <c:v>28.8</c:v>
                </c:pt>
                <c:pt idx="1">
                  <c:v>24</c:v>
                </c:pt>
                <c:pt idx="2">
                  <c:v>21</c:v>
                </c:pt>
                <c:pt idx="3">
                  <c:v>20</c:v>
                </c:pt>
                <c:pt idx="4">
                  <c:v>21</c:v>
                </c:pt>
                <c:pt idx="5">
                  <c:v>24</c:v>
                </c:pt>
                <c:pt idx="6">
                  <c:v>28.8</c:v>
                </c:pt>
                <c:pt idx="7">
                  <c:v>35</c:v>
                </c:pt>
                <c:pt idx="8">
                  <c:v>42.2</c:v>
                </c:pt>
                <c:pt idx="9">
                  <c:v>50</c:v>
                </c:pt>
                <c:pt idx="10">
                  <c:v>57.8</c:v>
                </c:pt>
                <c:pt idx="11">
                  <c:v>65</c:v>
                </c:pt>
                <c:pt idx="12">
                  <c:v>71.2</c:v>
                </c:pt>
                <c:pt idx="13">
                  <c:v>76</c:v>
                </c:pt>
                <c:pt idx="14">
                  <c:v>79</c:v>
                </c:pt>
                <c:pt idx="15">
                  <c:v>80</c:v>
                </c:pt>
                <c:pt idx="16">
                  <c:v>79</c:v>
                </c:pt>
                <c:pt idx="17">
                  <c:v>76</c:v>
                </c:pt>
                <c:pt idx="18">
                  <c:v>71.2</c:v>
                </c:pt>
                <c:pt idx="19">
                  <c:v>65</c:v>
                </c:pt>
                <c:pt idx="20">
                  <c:v>57.8</c:v>
                </c:pt>
                <c:pt idx="21">
                  <c:v>50</c:v>
                </c:pt>
                <c:pt idx="22">
                  <c:v>42.2</c:v>
                </c:pt>
                <c:pt idx="23">
                  <c:v>35</c:v>
                </c:pt>
                <c:pt idx="24">
                  <c:v>28.8</c:v>
                </c:pt>
                <c:pt idx="25">
                  <c:v>24</c:v>
                </c:pt>
                <c:pt idx="26">
                  <c:v>21</c:v>
                </c:pt>
                <c:pt idx="27">
                  <c:v>20</c:v>
                </c:pt>
                <c:pt idx="28">
                  <c:v>21</c:v>
                </c:pt>
                <c:pt idx="29">
                  <c:v>24</c:v>
                </c:pt>
                <c:pt idx="30">
                  <c:v>28.8</c:v>
                </c:pt>
                <c:pt idx="31">
                  <c:v>35</c:v>
                </c:pt>
                <c:pt idx="32">
                  <c:v>42.2</c:v>
                </c:pt>
                <c:pt idx="33">
                  <c:v>50</c:v>
                </c:pt>
                <c:pt idx="34">
                  <c:v>57.8</c:v>
                </c:pt>
                <c:pt idx="35">
                  <c:v>65</c:v>
                </c:pt>
                <c:pt idx="36">
                  <c:v>71.2</c:v>
                </c:pt>
                <c:pt idx="37">
                  <c:v>76</c:v>
                </c:pt>
                <c:pt idx="38">
                  <c:v>79</c:v>
                </c:pt>
                <c:pt idx="39">
                  <c:v>80</c:v>
                </c:pt>
                <c:pt idx="40">
                  <c:v>79</c:v>
                </c:pt>
                <c:pt idx="41">
                  <c:v>76</c:v>
                </c:pt>
                <c:pt idx="42">
                  <c:v>71.2</c:v>
                </c:pt>
                <c:pt idx="43">
                  <c:v>65</c:v>
                </c:pt>
                <c:pt idx="44">
                  <c:v>57.8</c:v>
                </c:pt>
                <c:pt idx="45">
                  <c:v>50</c:v>
                </c:pt>
                <c:pt idx="46">
                  <c:v>42.2</c:v>
                </c:pt>
                <c:pt idx="47">
                  <c:v>35</c:v>
                </c:pt>
                <c:pt idx="48">
                  <c:v>28.8</c:v>
                </c:pt>
                <c:pt idx="49">
                  <c:v>24</c:v>
                </c:pt>
                <c:pt idx="50">
                  <c:v>21</c:v>
                </c:pt>
                <c:pt idx="51">
                  <c:v>20</c:v>
                </c:pt>
                <c:pt idx="52">
                  <c:v>21</c:v>
                </c:pt>
                <c:pt idx="53">
                  <c:v>24</c:v>
                </c:pt>
                <c:pt idx="54">
                  <c:v>28.8</c:v>
                </c:pt>
                <c:pt idx="55">
                  <c:v>35</c:v>
                </c:pt>
                <c:pt idx="56">
                  <c:v>42.2</c:v>
                </c:pt>
                <c:pt idx="57">
                  <c:v>50</c:v>
                </c:pt>
                <c:pt idx="58">
                  <c:v>57.8</c:v>
                </c:pt>
                <c:pt idx="59">
                  <c:v>65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54" b="0">
                    <a:solidFill>
                      <a:srgbClr val="404040"/>
                    </a:solidFill>
                  </a:rPr>
                  <a:t>Temps (heures)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tickLblSkip val="6"/>
        <c:noMultiLvlLbl val="0"/>
      </c:catAx>
      <c:valAx>
        <c:axId val="2140495176"/>
        <c:scaling>
          <c:max val="120.000000"/>
          <c:min val="0.00000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54" b="0">
                    <a:solidFill>
                      <a:srgbClr val="404040"/>
                    </a:solidFill>
                  </a:rPr>
                  <a:t>Débit (Mb/s)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54"/>
          </a:pPr>
        </a:p>
      </c:txPr>
    </c:legend>
    <c:plotVisOnly val="1"/>
    <c:dispBlanksAs val="gap"/>
    <c:showDLblsOverMax val="0"/>
  </c:chart>
  <c:txPr>
    <a:bodyPr/>
    <a:lstStyle/>
    <a:p>
      <a:pPr>
        <a:defRPr sz="1154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chart>
    <c:title>
      <c:tx>
        <c:rich>
          <a:bodyPr/>
          <a:lstStyle/>
          <a:p>
            <a:r>
              <a:rPr sz="1246" b="0">
                <a:solidFill>
                  <a:srgbClr val="404040"/>
                </a:solidFill>
              </a:rPr>
              <a:t>Exemple fictif : contribution des features à une alerte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Sheet1!$A$2:$A$6</c:f>
              <c:strCache>
                <c:ptCount val="5"/>
                <c:pt idx="0">
                  <c:v>SYN sans ACK par seconde</c:v>
                </c:pt>
                <c:pt idx="1">
                  <c:v>Destinations distinctes</c:v>
                </c:pt>
                <c:pt idx="2">
                  <c:v>Taille moy. des paquets</c:v>
                </c:pt>
                <c:pt idx="3">
                  <c:v>Durée du flux</c:v>
                </c:pt>
                <c:pt idx="4">
                  <c:v>Inter-arrivée moyenne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0.36</c:v>
                </c:pt>
                <c:pt idx="1">
                  <c:v>0.27</c:v>
                </c:pt>
                <c:pt idx="2">
                  <c:v>0.16</c:v>
                </c:pt>
                <c:pt idx="3">
                  <c:v>0.12</c:v>
                </c:pt>
                <c:pt idx="4">
                  <c:v>0.09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54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450000"/>
          <c:min val="0.000000"/>
        </c:scaling>
        <c:delete val="0"/>
        <c:axPos val="b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54" b="0">
                    <a:solidFill>
                      <a:srgbClr val="404040"/>
                    </a:solidFill>
                  </a:rPr>
                  <a:t>Contribution relative (somme = 1)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54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embeddings/_rels/Microsoft_Excel_Worksheet1.xlsx.rels><?xml version="1.0" encoding="UTF-8" standalone="yes"?><Relationships xmlns="http://schemas.openxmlformats.org/package/2006/relationships"></Relationships>
</file>

<file path=ppt/embeddings/_rels/Microsoft_Excel_Worksheet2.xlsx.rels><?xml version="1.0" encoding="UTF-8" standalone="yes"?><Relationships xmlns="http://schemas.openxmlformats.org/package/2006/relationships"></Relationships>
</file>

<file path=ppt/embeddings/_rels/Microsoft_Excel_Worksheet3.xlsx.rels><?xml version="1.0" encoding="UTF-8" standalone="yes"?><Relationships xmlns="http://schemas.openxmlformats.org/package/2006/relationships"></Relationships>
</file>

<file path=ppt/embeddings/_rels/Microsoft_Excel_Worksheet4.xlsx.rels><?xml version="1.0" encoding="UTF-8" standalone="yes"?><Relationships xmlns="http://schemas.openxmlformats.org/package/2006/relationships"></Relationships>
</file>

<file path=ppt/embeddings/_rels/Microsoft_Excel_Worksheet5.xlsx.rels><?xml version="1.0" encoding="UTF-8" standalone="yes"?><Relationships xmlns="http://schemas.openxmlformats.org/package/2006/relationships"></Relationships>
</file>

<file path=ppt/embeddings/_rels/Microsoft_Excel_Worksheet6.xlsx.rels><?xml version="1.0" encoding="UTF-8" standalone="yes"?><Relationships xmlns="http://schemas.openxmlformats.org/package/2006/relationships"></Relationships>
</file>

<file path=ppt/embeddings/_rels/Microsoft_Excel_Worksheet7.xlsx.rels><?xml version="1.0" encoding="UTF-8" standalone="yes"?><Relationships xmlns="http://schemas.openxmlformats.org/package/2006/relationships"></Relationships>
</file>

<file path=ppt/embeddings/_rels/Microsoft_Excel_Worksheet8.xlsx.rels><?xml version="1.0" encoding="UTF-8" standalone="yes"?><Relationships xmlns="http://schemas.openxmlformats.org/package/2006/relationships"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Chaque point d’observation a ses angles morts. Insister sur le fait qu’on combine souvent plusieurs vues.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Schéma hors échelle : les en-têtes font environ 54 octets, la charge utile jusqu’à 1 460 octets pour une MTU de 1 500.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eBPF = extended Berkeley Packet Filter. Insister : tout se passe sur UNE machine, dans le noyau Linux, pas dans le réseau.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Entraînement : on ajuste les paramètres sur des données passées. Inférence : on applique le modèle figé à de nouvelles données. En réseau, l’inférence a des contraintes de latence.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Bernaille, Teixeira, Salamatian (CoNEXT 2006).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Schéma simplifié à partir des publications du Netflix Technology Blog. Vérifier les détails à jour avant de les enseigner comme exacts.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/>
              <a:t>Loïc Desgeorges</a:t>
            </a:r>
            <a:endParaRPr/>
          </a:p>
          <a:p>
            <a:pPr>
              <a:defRPr/>
            </a:pPr>
            <a:r>
              <a:rPr/>
              <a:t>Université Claude Bernard Lyon 1</a:t>
            </a:r>
            <a:endParaRPr/>
          </a:p>
          <a:p>
            <a:pPr>
              <a:defRPr/>
            </a:pPr>
            <a:r>
              <a:rPr/>
              <a:t>loic.desgeorges@univ-lyon1.fr</a:t>
            </a:r>
            <a:endParaRPr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4D22B4E-C269-277E-495F-EA198F3A0023}" type="datetime1">
              <a:rPr lang="fr-FR"/>
              <a:t>01/09/2025</a:t>
            </a:fld>
            <a:endParaRPr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F31500-673E-C58D-A24F-8A3B9B602C12}" type="datetime1">
              <a:rPr lang="fr-FR"/>
              <a:t>01/09/2025</a:t>
            </a:fld>
            <a:endParaRPr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0745980-14A9-F22B-4700-93764E53E684}" type="datetime1">
              <a:rPr lang="fr-FR"/>
              <a:t>01/09/2025</a:t>
            </a:fld>
            <a:endParaRPr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F199DE-9788-4F00-2B0F-87D35C91B0C1}" type="datetime1">
              <a:rPr lang="fr-FR"/>
              <a:t>01/09/2025</a:t>
            </a:fld>
            <a:endParaRPr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53A4A5E-C217-94AE-E22F-3EF79DC37031}" type="datetime1">
              <a:rPr lang="fr-FR"/>
              <a:t>01/09/2025</a:t>
            </a:fld>
            <a:endParaRPr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A9676B8-4993-8891-90A3-9BB501A4F1DA}" type="datetime1">
              <a:rPr lang="fr-FR"/>
              <a:t>01/09/2025</a:t>
            </a:fld>
            <a:endParaRPr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8CE516C-8AA4-8F34-2E1A-8C8B8182571E}" type="datetime1">
              <a:rPr lang="fr-FR"/>
              <a:t>01/09/2025</a:t>
            </a:fld>
            <a:endParaRPr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973EBB8-358F-D349-D42C-75B5A06CFA6F}" type="datetime1">
              <a:rPr lang="fr-FR"/>
              <a:t>01/09/2025</a:t>
            </a:fld>
            <a:endParaRPr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pour une image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D9BA146-A839-0AD0-55D8-CFDF2443131A}" type="datetime1">
              <a:rPr lang="fr-FR"/>
              <a:t>01/09/2025</a:t>
            </a:fld>
            <a:endParaRPr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52B1BB7-4BF7-6FBE-4C7D-1665EC5D7D13}" type="datetime1">
              <a:rPr lang="fr-FR"/>
              <a:t>01/09/2025</a:t>
            </a:fld>
            <a:endParaRPr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B9A416A-4589-A3E5-2EC4-93720A714C11}" type="datetime1">
              <a:rPr lang="fr-FR"/>
              <a:t>01/09/2025</a:t>
            </a:fld>
            <a:endParaRPr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rgbClr val="C00000"/>
                </a:solidFill>
              </a:defRPr>
            </a:lvl2pPr>
            <a:lvl3pPr>
              <a:defRPr>
                <a:solidFill>
                  <a:schemeClr val="accent5">
                    <a:lumMod val="75000"/>
                  </a:schemeClr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52DDDA-60A7-B237-99BA-18F8CD74636C}" type="datetime1">
              <a:rPr lang="fr-FR"/>
              <a:t>01/09/2025</a:t>
            </a:fld>
            <a:endParaRPr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1" ftr="1" hdr="0" sldNum="1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 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 /></Relationships>
</file>

<file path=ppt/slides/_rels/slide7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 /></Relationships>
</file>

<file path=ppt/slides/_rels/slide8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8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 /></Relationships>
</file>

<file path=ppt/slides/_rels/slide9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6.xml" /></Relationships>
</file>

<file path=ppt/slides/_rels/slide10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7.xml" /></Relationships>
</file>

<file path=ppt/slides/_rels/slide10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8.xml" /></Relationships>
</file>

<file path=ppt/slides/_rels/slide1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1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/>
              <a:t>L’intelligence artificielle dans les réseaux informatiques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SIEM, gestion des données et cas d’usage</a:t>
            </a:r>
          </a:p>
          <a:p>
            <a:r>
              <a:rPr sz="2000"/>
              <a:t>Université Claude Bernard Lyon 1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Objectifs du cours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452628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Collecter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choisir où et comment observer un réseau (TAP, eBPF, flux, télémétrie, logs, SIEM)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Modéliser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relier entrées, sorties et familles de modèles, et évaluer sans se tromper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Classifier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réduire le volume dès la collecte en ne gardant que l’utile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Appliquer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détecter des anomalies et inférer la qualité d’expérience vidéo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Plan du cours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265176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Collecte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TAP, eBPF, flux, logs, SIEM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L’IA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entrées, sorties, modèles, évaluation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Classification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réduire le volume dès la collecte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Détection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règles, ML, UEBA, SIEM, SOAR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Performances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inférence de QoE, cas Netflix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4370831"/>
            <a:ext cx="1499751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04" b="0" i="1">
                <a:solidFill>
                  <a:schemeClr val="tx2"/>
                </a:solidFill>
              </a:rPr>
              <a:t>Partie 1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838504" y="4663440"/>
            <a:ext cx="1499751" cy="822960"/>
          </a:xfrm>
          <a:prstGeom prst="roundRect">
            <a:avLst>
              <a:gd name="adj" fmla="val 888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Collecte</a:t>
            </a:r>
          </a:p>
        </p:txBody>
      </p:sp>
      <p:cxnSp>
        <p:nvCxnSpPr>
          <p:cNvPr id="9006" name="Connector 9005"/>
          <p:cNvCxnSpPr/>
          <p:nvPr/>
        </p:nvCxnSpPr>
        <p:spPr>
          <a:xfrm>
            <a:off x="2364263" y="5074920"/>
            <a:ext cx="251404" cy="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sp>
        <p:nvSpPr>
          <p:cNvPr id="9007" name="TextBox 9006"/>
          <p:cNvSpPr txBox="1"/>
          <p:nvPr/>
        </p:nvSpPr>
        <p:spPr>
          <a:xfrm>
            <a:off x="2641674" y="4370831"/>
            <a:ext cx="1499751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04" b="0" i="1">
                <a:solidFill>
                  <a:schemeClr val="tx2"/>
                </a:solidFill>
              </a:rPr>
              <a:t>Partie 2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2641674" y="4663440"/>
            <a:ext cx="1499751" cy="822960"/>
          </a:xfrm>
          <a:prstGeom prst="roundRect">
            <a:avLst>
              <a:gd name="adj" fmla="val 888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Données</a:t>
            </a:r>
          </a:p>
        </p:txBody>
      </p:sp>
      <p:cxnSp>
        <p:nvCxnSpPr>
          <p:cNvPr id="9009" name="Connector 9008"/>
          <p:cNvCxnSpPr/>
          <p:nvPr/>
        </p:nvCxnSpPr>
        <p:spPr>
          <a:xfrm>
            <a:off x="4167433" y="5074920"/>
            <a:ext cx="251403" cy="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sp>
        <p:nvSpPr>
          <p:cNvPr id="9010" name="TextBox 9009"/>
          <p:cNvSpPr txBox="1"/>
          <p:nvPr/>
        </p:nvSpPr>
        <p:spPr>
          <a:xfrm>
            <a:off x="4444844" y="4370831"/>
            <a:ext cx="1499751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04" b="0" i="1">
                <a:solidFill>
                  <a:schemeClr val="tx2"/>
                </a:solidFill>
              </a:rPr>
              <a:t>Partie 2</a:t>
            </a:r>
          </a:p>
        </p:txBody>
      </p:sp>
      <p:sp>
        <p:nvSpPr>
          <p:cNvPr id="9011" name="Rounded Rectangle 9010"/>
          <p:cNvSpPr/>
          <p:nvPr/>
        </p:nvSpPr>
        <p:spPr>
          <a:xfrm>
            <a:off x="4444844" y="4663440"/>
            <a:ext cx="1499751" cy="822960"/>
          </a:xfrm>
          <a:prstGeom prst="roundRect">
            <a:avLst>
              <a:gd name="adj" fmla="val 888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Modèle</a:t>
            </a:r>
          </a:p>
        </p:txBody>
      </p:sp>
      <p:cxnSp>
        <p:nvCxnSpPr>
          <p:cNvPr id="9012" name="Connector 9011"/>
          <p:cNvCxnSpPr/>
          <p:nvPr/>
        </p:nvCxnSpPr>
        <p:spPr>
          <a:xfrm>
            <a:off x="5970603" y="5074920"/>
            <a:ext cx="251403" cy="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sp>
        <p:nvSpPr>
          <p:cNvPr id="9013" name="TextBox 9012"/>
          <p:cNvSpPr txBox="1"/>
          <p:nvPr/>
        </p:nvSpPr>
        <p:spPr>
          <a:xfrm>
            <a:off x="6248013" y="4370831"/>
            <a:ext cx="1499751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04" b="0" i="1">
                <a:solidFill>
                  <a:schemeClr val="tx2"/>
                </a:solidFill>
              </a:rPr>
              <a:t>Partie 3</a:t>
            </a:r>
          </a:p>
        </p:txBody>
      </p:sp>
      <p:sp>
        <p:nvSpPr>
          <p:cNvPr id="9014" name="Rounded Rectangle 9013"/>
          <p:cNvSpPr/>
          <p:nvPr/>
        </p:nvSpPr>
        <p:spPr>
          <a:xfrm>
            <a:off x="6248013" y="4663440"/>
            <a:ext cx="1499751" cy="822960"/>
          </a:xfrm>
          <a:prstGeom prst="roundRect">
            <a:avLst>
              <a:gd name="adj" fmla="val 888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Classification</a:t>
            </a:r>
          </a:p>
        </p:txBody>
      </p:sp>
      <p:cxnSp>
        <p:nvCxnSpPr>
          <p:cNvPr id="9015" name="Connector 9014"/>
          <p:cNvCxnSpPr/>
          <p:nvPr/>
        </p:nvCxnSpPr>
        <p:spPr>
          <a:xfrm>
            <a:off x="7773772" y="5074920"/>
            <a:ext cx="251404" cy="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sp>
        <p:nvSpPr>
          <p:cNvPr id="9016" name="TextBox 9015"/>
          <p:cNvSpPr txBox="1"/>
          <p:nvPr/>
        </p:nvSpPr>
        <p:spPr>
          <a:xfrm>
            <a:off x="8051183" y="4370831"/>
            <a:ext cx="1499751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04" b="0" i="1">
                <a:solidFill>
                  <a:schemeClr val="tx2"/>
                </a:solidFill>
              </a:rPr>
              <a:t>Parties 4 et 5</a:t>
            </a:r>
          </a:p>
        </p:txBody>
      </p:sp>
      <p:sp>
        <p:nvSpPr>
          <p:cNvPr id="9017" name="Rounded Rectangle 9016"/>
          <p:cNvSpPr/>
          <p:nvPr/>
        </p:nvSpPr>
        <p:spPr>
          <a:xfrm>
            <a:off x="8051183" y="4663440"/>
            <a:ext cx="1499751" cy="822960"/>
          </a:xfrm>
          <a:prstGeom prst="roundRect">
            <a:avLst>
              <a:gd name="adj" fmla="val 888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Cas d’usage</a:t>
            </a:r>
          </a:p>
        </p:txBody>
      </p:sp>
      <p:cxnSp>
        <p:nvCxnSpPr>
          <p:cNvPr id="9018" name="Connector 9017"/>
          <p:cNvCxnSpPr/>
          <p:nvPr/>
        </p:nvCxnSpPr>
        <p:spPr>
          <a:xfrm>
            <a:off x="9576942" y="5074920"/>
            <a:ext cx="251403" cy="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sp>
        <p:nvSpPr>
          <p:cNvPr id="9019" name="TextBox 9018"/>
          <p:cNvSpPr txBox="1"/>
          <p:nvPr/>
        </p:nvSpPr>
        <p:spPr>
          <a:xfrm>
            <a:off x="9854353" y="4370831"/>
            <a:ext cx="1499751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04" b="0" i="1">
                <a:solidFill>
                  <a:schemeClr val="tx2"/>
                </a:solidFill>
              </a:rPr>
              <a:t>Partie 6</a:t>
            </a:r>
          </a:p>
        </p:txBody>
      </p:sp>
      <p:sp>
        <p:nvSpPr>
          <p:cNvPr id="9020" name="Rounded Rectangle 9019"/>
          <p:cNvSpPr/>
          <p:nvPr/>
        </p:nvSpPr>
        <p:spPr>
          <a:xfrm>
            <a:off x="9854353" y="4663440"/>
            <a:ext cx="1499751" cy="822960"/>
          </a:xfrm>
          <a:prstGeom prst="roundRect">
            <a:avLst>
              <a:gd name="adj" fmla="val 888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Déploiement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Ce que l’IA apporte à l’exploitation d’un réseau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Table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645920"/>
          <a:ext cx="10515598" cy="3840480"/>
        </p:xfrm>
        <a:graphic>
          <a:graphicData uri="http://schemas.openxmlformats.org/drawingml/2006/table">
            <a:tbl>
              <a:tblPr firstRow="1" bandRow="0"/>
              <a:tblGrid>
                <a:gridCol w="2340652"/>
                <a:gridCol w="2774107"/>
                <a:gridCol w="3034179"/>
                <a:gridCol w="2366660"/>
              </a:tblGrid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Besoin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Aujourd’hui (sans IA)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Avec l’IA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Remplace ou complète ?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Détecter les attaques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Signatures et règles écrites à la main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Détection de comportements jamais vus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Complète les règles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Superviser les performances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Seuils fixes sur les compteurs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Seuils adaptatifs, prévision de la charge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Remplace les seuils manuels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Classifier le trafic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Numéros de port, inspection du contenu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Classification sur les métadonnées, même chiffré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Remplace l’inspection du contenu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Estimer la qualité vécue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Mesures de QoS (débit, latence)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Inférence de la QoE de l’abonné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Complète la QoS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Répondre aux incidents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Diagnostic et réponse manuels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Aide à la décision, automatisation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Complète l’opérateur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L’IA ne remplace pas l’opérateur ni les protections de base (pare-feu, mises à jour) : elle les complète.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Trois raisons d’utiliser l’IA dans les réseaux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452628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Volume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liens à 10, 40, 100 Gb/s : des millions de paquets par seconde, impossibles à inspecter à la main.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Complexité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réseaux multi-constructeurs, cloud, IoT, SDN : trop d’interactions pour des règles écrites une à une.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Opacité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le trafic est massivement chiffré : on ne voit plus le contenu, il faut apprendre à partir des métadonnées.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Les outils d’exploitation réseau et leurs limites sans IA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Table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645920"/>
          <a:ext cx="10515598" cy="3840480"/>
        </p:xfrm>
        <a:graphic>
          <a:graphicData uri="http://schemas.openxmlformats.org/drawingml/2006/table">
            <a:tbl>
              <a:tblPr firstRow="1" bandRow="0"/>
              <a:tblGrid>
                <a:gridCol w="3380943"/>
                <a:gridCol w="2514034"/>
                <a:gridCol w="1560435"/>
                <a:gridCol w="3060186"/>
              </a:tblGrid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Outil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À quoi il sert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Données traitées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Limites sans IA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Supervision</a:t>
                      </a:r>
                    </a:p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(Zabbix, Nagios, Prometheus)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Surveiller la disponibilité et les performances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SNMP, flux, métriques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Seuils fixes réglés à la main ; pas de prévision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IDS / IPS : détection et prévention d’intrusion</a:t>
                      </a:r>
                    </a:p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(Snort, Suricata)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Détecter ou bloquer des attaques connues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Paquets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Aveugle aux attaques nouvelles ; signatures à maintenir ; peu utile sur trafic chiffré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NDR : Network Detection and Response</a:t>
                      </a:r>
                    </a:p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(Darktrace, Vectra)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Détecter des menaces dans le trafic réseau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Flux, paquets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Règles de comportement écrites à la main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SIEM : Security Information and Event Management</a:t>
                      </a:r>
                    </a:p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(Splunk, Elastic, Wazuh)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Centraliser et corréler les logs de tout le SI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Logs, événements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Règles de corrélation à écrire ; déluge d’alertes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SOAR : Security Orchestration, Automation and Response</a:t>
                      </a:r>
                    </a:p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(Cortex XSOAR, Shuffle)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Automatiser la réponse aux alertes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Alertes du SIEM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Scénarios figés : ne traite que ce qui a été prévu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Ces outils sont ceux d’un opérateur ou d’un SOC (Security Operations Center, l’équipe d’analystes).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Les limites des approches classiques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452628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Seuils manuels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« Alerte si le débit dépasse X ». Ignore la saisonnalité, génère du bruit, se règle lien par lien.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Signatures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détectent ce qui est déjà connu (IDS : Snort, Suricata). Aveugles aux attaques nouvelles ou obfusquées.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Règles statiques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corrélation écrite par des experts. Lisible et auditable, mais coûteuse à maintenir et facile à contourner.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Ce que le ML apporte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600200"/>
            <a:ext cx="504107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2024" b="1" i="0">
                <a:solidFill>
                  <a:schemeClr val="accent2"/>
                </a:solidFill>
              </a:rPr>
              <a:t>Règles expertes</a:t>
            </a:r>
          </a:p>
        </p:txBody>
      </p:sp>
      <p:sp>
        <p:nvSpPr>
          <p:cNvPr id="9005" name="TextBox 9004"/>
          <p:cNvSpPr txBox="1"/>
          <p:nvPr/>
        </p:nvSpPr>
        <p:spPr>
          <a:xfrm>
            <a:off x="838504" y="2194560"/>
            <a:ext cx="5041072" cy="320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Connaissance codée à la main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Comportement prévisible et explicable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Couverture limitée à ce qu’on a anticipé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Maintenance continue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6313031" y="1600200"/>
            <a:ext cx="504107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2024" b="1" i="0">
                <a:solidFill>
                  <a:schemeClr val="accent2"/>
                </a:solidFill>
              </a:rPr>
              <a:t>Apprentissage automatique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6313031" y="2194560"/>
            <a:ext cx="5041072" cy="320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Régularités apprises sur les données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Détecte des motifs que personne n’a écrits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Dépend de la qualité des données et des labels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Peut dériver : à surveiller et à réentraîner</a:t>
            </a:r>
          </a:p>
        </p:txBody>
      </p:sp>
      <p:sp>
        <p:nvSpPr>
          <p:cNvPr id="9008" name="TextBox 9007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Le ML ne remplace pas les règles : il complète ce qu’elles ne couvrent pas.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Quand ne pas utiliser le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388620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Peu de données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ou aucune vérité terrain exploitable</a:t>
            </a:r>
          </a:p>
          <a:p>
            <a:pPr marL="857250" lvl="1" indent="-342900" algn="l">
              <a:spcAft>
                <a:spcPts val="400"/>
              </a:spcAft>
              <a:buFont typeface="Arial"/>
              <a:buChar char="•"/>
            </a:pP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Exemple : le réseau d’une petite agence, quelques dizaines de flux par jour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Problème bien défini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une règle ou un seuil suffit</a:t>
            </a:r>
          </a:p>
          <a:p>
            <a:pPr marL="857250" lvl="1" indent="-342900" algn="l">
              <a:spcAft>
                <a:spcPts val="400"/>
              </a:spcAft>
              <a:buFont typeface="Arial"/>
              <a:buChar char="•"/>
            </a:pP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Exemple : interdire Telnet (port 23) est une règle de pare-feu, pas un modèle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Explicabilité exigée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audit, conformité, décision à fort impact</a:t>
            </a:r>
          </a:p>
          <a:p>
            <a:pPr marL="857250" lvl="1" indent="-342900" algn="l">
              <a:spcAft>
                <a:spcPts val="400"/>
              </a:spcAft>
              <a:buFont typeface="Arial"/>
              <a:buChar char="•"/>
            </a:pP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Exemple : couper l’accès d’un client doit pouvoir être justifié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Contraintes strictes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de latence ou de ressources</a:t>
            </a:r>
          </a:p>
          <a:p>
            <a:pPr marL="857250" lvl="1" indent="-342900" algn="l">
              <a:spcAft>
                <a:spcPts val="400"/>
              </a:spcAft>
              <a:buFont typeface="Arial"/>
              <a:buChar char="•"/>
            </a:pP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Exemple : classer chaque paquet à 100 Gb/s sur un équipement sans processeur dédié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Règle d’or : toujours commencer par une baseline simple. Le ML doit la battre pour se justifier.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Ce que l’IA apporte à ces outils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Table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645920"/>
          <a:ext cx="10515599" cy="4389120"/>
        </p:xfrm>
        <a:graphic>
          <a:graphicData uri="http://schemas.openxmlformats.org/drawingml/2006/table">
            <a:tbl>
              <a:tblPr firstRow="1" bandRow="0"/>
              <a:tblGrid>
                <a:gridCol w="2080580"/>
                <a:gridCol w="3814397"/>
                <a:gridCol w="4620622"/>
              </a:tblGrid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Outil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Ce que l’IA apporte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Exemple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Supervision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Seuils adaptatifs, prévision de charge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Un pic à 3 h du matin est détecté, alors qu’un seuil fixe ne dit rien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IDS / IPS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Détection d’attaques inconnues par le comportement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Un scan lent, jamais vu auparavant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NDR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Profils de trafic appris automatiquement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Un poste qui parle soudain à de nouvelles destinations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SIEM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Alertes de modèles en plus des règles ; UEBA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Un utilisateur qui se connecte à des heures inhabituelles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SOAR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Aide à la décision et priorisation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Traiter d’abord les alertes à plus fort risque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Fil rouge : le pipeline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5544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748" b="0" i="0">
                <a:solidFill>
                  <a:schemeClr val="tx2"/>
                </a:solidFill>
              </a:rPr>
              <a:t>Chaque partie du cours correspond à un maillon de cette chaîne.</a:t>
            </a:r>
          </a:p>
        </p:txBody>
      </p:sp>
      <p:sp>
        <p:nvSpPr>
          <p:cNvPr id="9005" name="TextBox 9004"/>
          <p:cNvSpPr txBox="1"/>
          <p:nvPr/>
        </p:nvSpPr>
        <p:spPr>
          <a:xfrm>
            <a:off x="838504" y="2450592"/>
            <a:ext cx="1499751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04" b="0" i="1">
                <a:solidFill>
                  <a:schemeClr val="tx2"/>
                </a:solidFill>
              </a:rPr>
              <a:t>Partie 1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838504" y="2743200"/>
            <a:ext cx="1499751" cy="822960"/>
          </a:xfrm>
          <a:prstGeom prst="roundRect">
            <a:avLst>
              <a:gd name="adj" fmla="val 888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Collecte</a:t>
            </a:r>
          </a:p>
        </p:txBody>
      </p:sp>
      <p:cxnSp>
        <p:nvCxnSpPr>
          <p:cNvPr id="9007" name="Connector 9006"/>
          <p:cNvCxnSpPr/>
          <p:nvPr/>
        </p:nvCxnSpPr>
        <p:spPr>
          <a:xfrm>
            <a:off x="2364263" y="3154680"/>
            <a:ext cx="251404" cy="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sp>
        <p:nvSpPr>
          <p:cNvPr id="9008" name="TextBox 9007"/>
          <p:cNvSpPr txBox="1"/>
          <p:nvPr/>
        </p:nvSpPr>
        <p:spPr>
          <a:xfrm>
            <a:off x="838504" y="3675887"/>
            <a:ext cx="1499751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Où et comment observer le réseau : TAP, eBPF, flux, logs</a:t>
            </a:r>
          </a:p>
        </p:txBody>
      </p:sp>
      <p:sp>
        <p:nvSpPr>
          <p:cNvPr id="9009" name="TextBox 9008"/>
          <p:cNvSpPr txBox="1"/>
          <p:nvPr/>
        </p:nvSpPr>
        <p:spPr>
          <a:xfrm>
            <a:off x="2641674" y="2450592"/>
            <a:ext cx="1499751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04" b="0" i="1">
                <a:solidFill>
                  <a:schemeClr val="tx2"/>
                </a:solidFill>
              </a:rPr>
              <a:t>Partie 2</a:t>
            </a:r>
          </a:p>
        </p:txBody>
      </p:sp>
      <p:sp>
        <p:nvSpPr>
          <p:cNvPr id="9010" name="Rounded Rectangle 9009"/>
          <p:cNvSpPr/>
          <p:nvPr/>
        </p:nvSpPr>
        <p:spPr>
          <a:xfrm>
            <a:off x="2641674" y="2743200"/>
            <a:ext cx="1499751" cy="822960"/>
          </a:xfrm>
          <a:prstGeom prst="roundRect">
            <a:avLst>
              <a:gd name="adj" fmla="val 888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Données</a:t>
            </a:r>
          </a:p>
        </p:txBody>
      </p:sp>
      <p:cxnSp>
        <p:nvCxnSpPr>
          <p:cNvPr id="9011" name="Connector 9010"/>
          <p:cNvCxnSpPr/>
          <p:nvPr/>
        </p:nvCxnSpPr>
        <p:spPr>
          <a:xfrm>
            <a:off x="4167433" y="3154680"/>
            <a:ext cx="251403" cy="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sp>
        <p:nvSpPr>
          <p:cNvPr id="9012" name="TextBox 9011"/>
          <p:cNvSpPr txBox="1"/>
          <p:nvPr/>
        </p:nvSpPr>
        <p:spPr>
          <a:xfrm>
            <a:off x="2641674" y="3675887"/>
            <a:ext cx="1499751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Nettoyer, agréger, calculer des features</a:t>
            </a:r>
          </a:p>
        </p:txBody>
      </p:sp>
      <p:sp>
        <p:nvSpPr>
          <p:cNvPr id="9013" name="TextBox 9012"/>
          <p:cNvSpPr txBox="1"/>
          <p:nvPr/>
        </p:nvSpPr>
        <p:spPr>
          <a:xfrm>
            <a:off x="4444844" y="2450592"/>
            <a:ext cx="1499751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04" b="0" i="1">
                <a:solidFill>
                  <a:schemeClr val="tx2"/>
                </a:solidFill>
              </a:rPr>
              <a:t>Partie 2</a:t>
            </a:r>
          </a:p>
        </p:txBody>
      </p:sp>
      <p:sp>
        <p:nvSpPr>
          <p:cNvPr id="9014" name="Rounded Rectangle 9013"/>
          <p:cNvSpPr/>
          <p:nvPr/>
        </p:nvSpPr>
        <p:spPr>
          <a:xfrm>
            <a:off x="4444844" y="2743200"/>
            <a:ext cx="1499751" cy="822960"/>
          </a:xfrm>
          <a:prstGeom prst="roundRect">
            <a:avLst>
              <a:gd name="adj" fmla="val 888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Modèle</a:t>
            </a:r>
          </a:p>
        </p:txBody>
      </p:sp>
      <p:cxnSp>
        <p:nvCxnSpPr>
          <p:cNvPr id="9015" name="Connector 9014"/>
          <p:cNvCxnSpPr/>
          <p:nvPr/>
        </p:nvCxnSpPr>
        <p:spPr>
          <a:xfrm>
            <a:off x="5970603" y="3154680"/>
            <a:ext cx="251403" cy="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sp>
        <p:nvSpPr>
          <p:cNvPr id="9016" name="TextBox 9015"/>
          <p:cNvSpPr txBox="1"/>
          <p:nvPr/>
        </p:nvSpPr>
        <p:spPr>
          <a:xfrm>
            <a:off x="4444844" y="3675887"/>
            <a:ext cx="1499751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Choisir un modèle, l’entraîner, l’évaluer</a:t>
            </a:r>
          </a:p>
        </p:txBody>
      </p:sp>
      <p:sp>
        <p:nvSpPr>
          <p:cNvPr id="9017" name="TextBox 9016"/>
          <p:cNvSpPr txBox="1"/>
          <p:nvPr/>
        </p:nvSpPr>
        <p:spPr>
          <a:xfrm>
            <a:off x="6248013" y="2450592"/>
            <a:ext cx="1499751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04" b="0" i="1">
                <a:solidFill>
                  <a:schemeClr val="tx2"/>
                </a:solidFill>
              </a:rPr>
              <a:t>Partie 3</a:t>
            </a:r>
          </a:p>
        </p:txBody>
      </p:sp>
      <p:sp>
        <p:nvSpPr>
          <p:cNvPr id="9018" name="Rounded Rectangle 9017"/>
          <p:cNvSpPr/>
          <p:nvPr/>
        </p:nvSpPr>
        <p:spPr>
          <a:xfrm>
            <a:off x="6248013" y="2743200"/>
            <a:ext cx="1499751" cy="822960"/>
          </a:xfrm>
          <a:prstGeom prst="roundRect">
            <a:avLst>
              <a:gd name="adj" fmla="val 888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Classification</a:t>
            </a:r>
          </a:p>
        </p:txBody>
      </p:sp>
      <p:cxnSp>
        <p:nvCxnSpPr>
          <p:cNvPr id="9019" name="Connector 9018"/>
          <p:cNvCxnSpPr/>
          <p:nvPr/>
        </p:nvCxnSpPr>
        <p:spPr>
          <a:xfrm>
            <a:off x="7773772" y="3154680"/>
            <a:ext cx="251404" cy="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sp>
        <p:nvSpPr>
          <p:cNvPr id="9020" name="TextBox 9019"/>
          <p:cNvSpPr txBox="1"/>
          <p:nvPr/>
        </p:nvSpPr>
        <p:spPr>
          <a:xfrm>
            <a:off x="6248013" y="3675887"/>
            <a:ext cx="1499751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Décider tôt ce qu’on garde, pour réduire le volume</a:t>
            </a:r>
          </a:p>
        </p:txBody>
      </p:sp>
      <p:sp>
        <p:nvSpPr>
          <p:cNvPr id="9021" name="TextBox 9020"/>
          <p:cNvSpPr txBox="1"/>
          <p:nvPr/>
        </p:nvSpPr>
        <p:spPr>
          <a:xfrm>
            <a:off x="8051183" y="2450592"/>
            <a:ext cx="1499751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04" b="0" i="1">
                <a:solidFill>
                  <a:schemeClr val="tx2"/>
                </a:solidFill>
              </a:rPr>
              <a:t>Parties 4 et 5</a:t>
            </a:r>
          </a:p>
        </p:txBody>
      </p:sp>
      <p:sp>
        <p:nvSpPr>
          <p:cNvPr id="9022" name="Rounded Rectangle 9021"/>
          <p:cNvSpPr/>
          <p:nvPr/>
        </p:nvSpPr>
        <p:spPr>
          <a:xfrm>
            <a:off x="8051183" y="2743200"/>
            <a:ext cx="1499751" cy="822960"/>
          </a:xfrm>
          <a:prstGeom prst="roundRect">
            <a:avLst>
              <a:gd name="adj" fmla="val 888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Cas d’usage</a:t>
            </a:r>
          </a:p>
        </p:txBody>
      </p:sp>
      <p:cxnSp>
        <p:nvCxnSpPr>
          <p:cNvPr id="9023" name="Connector 9022"/>
          <p:cNvCxnSpPr/>
          <p:nvPr/>
        </p:nvCxnSpPr>
        <p:spPr>
          <a:xfrm>
            <a:off x="9576942" y="3154680"/>
            <a:ext cx="251403" cy="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sp>
        <p:nvSpPr>
          <p:cNvPr id="9024" name="TextBox 9023"/>
          <p:cNvSpPr txBox="1"/>
          <p:nvPr/>
        </p:nvSpPr>
        <p:spPr>
          <a:xfrm>
            <a:off x="8051183" y="3675887"/>
            <a:ext cx="1499751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Détection d’anomalies et inférence de QoE</a:t>
            </a:r>
          </a:p>
        </p:txBody>
      </p:sp>
      <p:sp>
        <p:nvSpPr>
          <p:cNvPr id="9025" name="TextBox 9024"/>
          <p:cNvSpPr txBox="1"/>
          <p:nvPr/>
        </p:nvSpPr>
        <p:spPr>
          <a:xfrm>
            <a:off x="9854353" y="2450592"/>
            <a:ext cx="1499751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04" b="0" i="1">
                <a:solidFill>
                  <a:schemeClr val="tx2"/>
                </a:solidFill>
              </a:rPr>
              <a:t>Partie 6</a:t>
            </a:r>
          </a:p>
        </p:txBody>
      </p:sp>
      <p:sp>
        <p:nvSpPr>
          <p:cNvPr id="9026" name="Rounded Rectangle 9025"/>
          <p:cNvSpPr/>
          <p:nvPr/>
        </p:nvSpPr>
        <p:spPr>
          <a:xfrm>
            <a:off x="9854353" y="2743200"/>
            <a:ext cx="1499751" cy="822960"/>
          </a:xfrm>
          <a:prstGeom prst="roundRect">
            <a:avLst>
              <a:gd name="adj" fmla="val 888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Déploiement</a:t>
            </a:r>
          </a:p>
        </p:txBody>
      </p:sp>
      <p:sp>
        <p:nvSpPr>
          <p:cNvPr id="9027" name="TextBox 9026"/>
          <p:cNvSpPr txBox="1"/>
          <p:nvPr/>
        </p:nvSpPr>
        <p:spPr>
          <a:xfrm>
            <a:off x="9854353" y="3675887"/>
            <a:ext cx="1499751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Mise en production, surveillance, réentraînement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Collecte des données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Où observer un réseau ?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Rounded Rectangle 9003"/>
          <p:cNvSpPr/>
          <p:nvPr/>
        </p:nvSpPr>
        <p:spPr>
          <a:xfrm>
            <a:off x="838504" y="2331720"/>
            <a:ext cx="1733816" cy="822960"/>
          </a:xfrm>
          <a:prstGeom prst="roundRect">
            <a:avLst>
              <a:gd name="adj" fmla="val 8888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Hôte / serveur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3766054" y="2331720"/>
            <a:ext cx="1733816" cy="822960"/>
          </a:xfrm>
          <a:prstGeom prst="roundRect">
            <a:avLst>
              <a:gd name="adj" fmla="val 8888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Switch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6692737" y="2331720"/>
            <a:ext cx="1733816" cy="822960"/>
          </a:xfrm>
          <a:prstGeom prst="roundRect">
            <a:avLst>
              <a:gd name="adj" fmla="val 8888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Routeur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9620287" y="2331720"/>
            <a:ext cx="1733816" cy="822960"/>
          </a:xfrm>
          <a:prstGeom prst="roundRect">
            <a:avLst>
              <a:gd name="adj" fmla="val 8888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Service / Internet</a:t>
            </a:r>
          </a:p>
        </p:txBody>
      </p:sp>
      <p:cxnSp>
        <p:nvCxnSpPr>
          <p:cNvPr id="9008" name="Connector 9007"/>
          <p:cNvCxnSpPr/>
          <p:nvPr/>
        </p:nvCxnSpPr>
        <p:spPr>
          <a:xfrm>
            <a:off x="2572321" y="2743200"/>
            <a:ext cx="1193733" cy="0"/>
          </a:xfrm>
          <a:prstGeom prst="line">
            <a:avLst/>
          </a:prstGeom>
          <a:ln w="25400">
            <a:solidFill>
              <a:schemeClr val="tx2"/>
            </a:solidFill>
            <a:headEnd type="triangle"/>
            <a:tailEnd type="triangle"/>
          </a:ln>
        </p:spPr>
      </p:cxnSp>
      <p:cxnSp>
        <p:nvCxnSpPr>
          <p:cNvPr id="9009" name="Connector 9008"/>
          <p:cNvCxnSpPr/>
          <p:nvPr/>
        </p:nvCxnSpPr>
        <p:spPr>
          <a:xfrm>
            <a:off x="5499871" y="2743200"/>
            <a:ext cx="1192866" cy="0"/>
          </a:xfrm>
          <a:prstGeom prst="line">
            <a:avLst/>
          </a:prstGeom>
          <a:ln w="25400">
            <a:solidFill>
              <a:schemeClr val="tx2"/>
            </a:solidFill>
            <a:headEnd type="triangle"/>
            <a:tailEnd type="triangle"/>
          </a:ln>
        </p:spPr>
      </p:cxnSp>
      <p:cxnSp>
        <p:nvCxnSpPr>
          <p:cNvPr id="9010" name="Connector 9009"/>
          <p:cNvCxnSpPr/>
          <p:nvPr/>
        </p:nvCxnSpPr>
        <p:spPr>
          <a:xfrm>
            <a:off x="8426554" y="2743200"/>
            <a:ext cx="1193733" cy="0"/>
          </a:xfrm>
          <a:prstGeom prst="line">
            <a:avLst/>
          </a:prstGeom>
          <a:ln w="25400">
            <a:solidFill>
              <a:schemeClr val="tx2"/>
            </a:solidFill>
            <a:headEnd type="triangle"/>
            <a:tailEnd type="triangle"/>
          </a:ln>
        </p:spPr>
      </p:cxnSp>
      <p:sp>
        <p:nvSpPr>
          <p:cNvPr id="9011" name="Oval 9010"/>
          <p:cNvSpPr/>
          <p:nvPr/>
        </p:nvSpPr>
        <p:spPr>
          <a:xfrm>
            <a:off x="1476813" y="1508760"/>
            <a:ext cx="457200" cy="457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sz="1472" b="1" i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012" name="Connector 9011"/>
          <p:cNvCxnSpPr/>
          <p:nvPr/>
        </p:nvCxnSpPr>
        <p:spPr>
          <a:xfrm>
            <a:off x="1705413" y="1965960"/>
            <a:ext cx="0" cy="365760"/>
          </a:xfrm>
          <a:prstGeom prst="line">
            <a:avLst/>
          </a:prstGeom>
          <a:ln w="19050">
            <a:solidFill>
              <a:schemeClr val="accent5"/>
            </a:solidFill>
            <a:prstDash val="dash"/>
            <a:tailEnd type="triangle"/>
          </a:ln>
        </p:spPr>
      </p:cxnSp>
      <p:sp>
        <p:nvSpPr>
          <p:cNvPr id="9013" name="Oval 9012"/>
          <p:cNvSpPr/>
          <p:nvPr/>
        </p:nvSpPr>
        <p:spPr>
          <a:xfrm>
            <a:off x="5867704" y="1508760"/>
            <a:ext cx="457200" cy="457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sz="1472" b="1" i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9014" name="Connector 9013"/>
          <p:cNvCxnSpPr/>
          <p:nvPr/>
        </p:nvCxnSpPr>
        <p:spPr>
          <a:xfrm>
            <a:off x="6096304" y="1965960"/>
            <a:ext cx="0" cy="731520"/>
          </a:xfrm>
          <a:prstGeom prst="line">
            <a:avLst/>
          </a:prstGeom>
          <a:ln w="19050">
            <a:solidFill>
              <a:schemeClr val="accent5"/>
            </a:solidFill>
            <a:prstDash val="dash"/>
            <a:tailEnd type="triangle"/>
          </a:ln>
        </p:spPr>
      </p:cxnSp>
      <p:sp>
        <p:nvSpPr>
          <p:cNvPr id="9015" name="Oval 9014"/>
          <p:cNvSpPr/>
          <p:nvPr/>
        </p:nvSpPr>
        <p:spPr>
          <a:xfrm>
            <a:off x="7331046" y="1508760"/>
            <a:ext cx="457200" cy="457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sz="1472" b="1" i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9016" name="Connector 9015"/>
          <p:cNvCxnSpPr/>
          <p:nvPr/>
        </p:nvCxnSpPr>
        <p:spPr>
          <a:xfrm>
            <a:off x="7559646" y="1965960"/>
            <a:ext cx="0" cy="365760"/>
          </a:xfrm>
          <a:prstGeom prst="line">
            <a:avLst/>
          </a:prstGeom>
          <a:ln w="19050">
            <a:solidFill>
              <a:schemeClr val="accent5"/>
            </a:solidFill>
            <a:prstDash val="dash"/>
            <a:tailEnd type="triangle"/>
          </a:ln>
        </p:spPr>
      </p:cxnSp>
      <p:sp>
        <p:nvSpPr>
          <p:cNvPr id="9017" name="Oval 9016"/>
          <p:cNvSpPr/>
          <p:nvPr/>
        </p:nvSpPr>
        <p:spPr>
          <a:xfrm>
            <a:off x="10258596" y="1508760"/>
            <a:ext cx="457200" cy="457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sz="1472" b="1" i="0">
                <a:solidFill>
                  <a:schemeClr val="bg1"/>
                </a:solidFill>
              </a:rPr>
              <a:t>4</a:t>
            </a:r>
          </a:p>
        </p:txBody>
      </p:sp>
      <p:cxnSp>
        <p:nvCxnSpPr>
          <p:cNvPr id="9018" name="Connector 9017"/>
          <p:cNvCxnSpPr/>
          <p:nvPr/>
        </p:nvCxnSpPr>
        <p:spPr>
          <a:xfrm>
            <a:off x="10487196" y="1965960"/>
            <a:ext cx="0" cy="365760"/>
          </a:xfrm>
          <a:prstGeom prst="line">
            <a:avLst/>
          </a:prstGeom>
          <a:ln w="19050">
            <a:solidFill>
              <a:schemeClr val="accent5"/>
            </a:solidFill>
            <a:prstDash val="dash"/>
            <a:tailEnd type="triangle"/>
          </a:ln>
        </p:spPr>
      </p:cxnSp>
      <p:sp>
        <p:nvSpPr>
          <p:cNvPr id="9019" name="Rounded Rectangle 9018"/>
          <p:cNvSpPr/>
          <p:nvPr/>
        </p:nvSpPr>
        <p:spPr>
          <a:xfrm>
            <a:off x="838504" y="3749039"/>
            <a:ext cx="2466354" cy="2194560"/>
          </a:xfrm>
          <a:prstGeom prst="roundRect">
            <a:avLst>
              <a:gd name="adj" fmla="val 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0" name="Oval 9019"/>
          <p:cNvSpPr/>
          <p:nvPr/>
        </p:nvSpPr>
        <p:spPr>
          <a:xfrm>
            <a:off x="1001913" y="3931920"/>
            <a:ext cx="384048" cy="38404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9021" name="TextBox 9020"/>
          <p:cNvSpPr txBox="1"/>
          <p:nvPr/>
        </p:nvSpPr>
        <p:spPr>
          <a:xfrm>
            <a:off x="1488686" y="3931920"/>
            <a:ext cx="1686137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Sur l’hôte</a:t>
            </a:r>
          </a:p>
        </p:txBody>
      </p:sp>
      <p:sp>
        <p:nvSpPr>
          <p:cNvPr id="9022" name="TextBox 9021"/>
          <p:cNvSpPr txBox="1"/>
          <p:nvPr/>
        </p:nvSpPr>
        <p:spPr>
          <a:xfrm>
            <a:off x="1011886" y="4572000"/>
            <a:ext cx="2119591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eBPF, logs système, conteneurs. Contexte processus et socket.</a:t>
            </a:r>
          </a:p>
        </p:txBody>
      </p:sp>
      <p:sp>
        <p:nvSpPr>
          <p:cNvPr id="9023" name="Rounded Rectangle 9022"/>
          <p:cNvSpPr/>
          <p:nvPr/>
        </p:nvSpPr>
        <p:spPr>
          <a:xfrm>
            <a:off x="3521586" y="3749039"/>
            <a:ext cx="2466354" cy="2194560"/>
          </a:xfrm>
          <a:prstGeom prst="roundRect">
            <a:avLst>
              <a:gd name="adj" fmla="val 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4" name="Oval 9023"/>
          <p:cNvSpPr/>
          <p:nvPr/>
        </p:nvSpPr>
        <p:spPr>
          <a:xfrm>
            <a:off x="3684995" y="3931920"/>
            <a:ext cx="384048" cy="38404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025" name="TextBox 9024"/>
          <p:cNvSpPr txBox="1"/>
          <p:nvPr/>
        </p:nvSpPr>
        <p:spPr>
          <a:xfrm>
            <a:off x="4171767" y="3931920"/>
            <a:ext cx="1686137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Sur le lien</a:t>
            </a:r>
          </a:p>
        </p:txBody>
      </p:sp>
      <p:sp>
        <p:nvSpPr>
          <p:cNvPr id="9026" name="TextBox 9025"/>
          <p:cNvSpPr txBox="1"/>
          <p:nvPr/>
        </p:nvSpPr>
        <p:spPr>
          <a:xfrm>
            <a:off x="3694968" y="4572000"/>
            <a:ext cx="2119591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TAP, port mirroring. Paquets complets, vue réseau.</a:t>
            </a:r>
          </a:p>
        </p:txBody>
      </p:sp>
      <p:sp>
        <p:nvSpPr>
          <p:cNvPr id="9027" name="Rounded Rectangle 9026"/>
          <p:cNvSpPr/>
          <p:nvPr/>
        </p:nvSpPr>
        <p:spPr>
          <a:xfrm>
            <a:off x="6204668" y="3749039"/>
            <a:ext cx="2466354" cy="2194560"/>
          </a:xfrm>
          <a:prstGeom prst="roundRect">
            <a:avLst>
              <a:gd name="adj" fmla="val 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8" name="Oval 9027"/>
          <p:cNvSpPr/>
          <p:nvPr/>
        </p:nvSpPr>
        <p:spPr>
          <a:xfrm>
            <a:off x="6368076" y="3931920"/>
            <a:ext cx="384048" cy="38404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9029" name="TextBox 9028"/>
          <p:cNvSpPr txBox="1"/>
          <p:nvPr/>
        </p:nvSpPr>
        <p:spPr>
          <a:xfrm>
            <a:off x="6854849" y="3931920"/>
            <a:ext cx="1686137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Sur l’équipement</a:t>
            </a:r>
          </a:p>
        </p:txBody>
      </p:sp>
      <p:sp>
        <p:nvSpPr>
          <p:cNvPr id="9030" name="TextBox 9029"/>
          <p:cNvSpPr txBox="1"/>
          <p:nvPr/>
        </p:nvSpPr>
        <p:spPr>
          <a:xfrm>
            <a:off x="6378050" y="4572000"/>
            <a:ext cx="2119591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SNMP, streaming telemetry, NetFlow/IPFIX, sFlow.</a:t>
            </a:r>
          </a:p>
        </p:txBody>
      </p:sp>
      <p:sp>
        <p:nvSpPr>
          <p:cNvPr id="9031" name="Rounded Rectangle 9030"/>
          <p:cNvSpPr/>
          <p:nvPr/>
        </p:nvSpPr>
        <p:spPr>
          <a:xfrm>
            <a:off x="8887750" y="3749039"/>
            <a:ext cx="2466354" cy="2194560"/>
          </a:xfrm>
          <a:prstGeom prst="roundRect">
            <a:avLst>
              <a:gd name="adj" fmla="val 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32" name="Oval 9031"/>
          <p:cNvSpPr/>
          <p:nvPr/>
        </p:nvSpPr>
        <p:spPr>
          <a:xfrm>
            <a:off x="9051158" y="3931920"/>
            <a:ext cx="384048" cy="38404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9033" name="TextBox 9032"/>
          <p:cNvSpPr txBox="1"/>
          <p:nvPr/>
        </p:nvSpPr>
        <p:spPr>
          <a:xfrm>
            <a:off x="9537931" y="3931920"/>
            <a:ext cx="1686137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Dans l’application</a:t>
            </a:r>
          </a:p>
        </p:txBody>
      </p:sp>
      <p:sp>
        <p:nvSpPr>
          <p:cNvPr id="9034" name="TextBox 9033"/>
          <p:cNvSpPr txBox="1"/>
          <p:nvPr/>
        </p:nvSpPr>
        <p:spPr>
          <a:xfrm>
            <a:off x="9061131" y="4572000"/>
            <a:ext cx="2119591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Logs, télémétrie client, SIEM. Vue de l’utilisateur.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Typologie des sources de données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Table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645920"/>
          <a:ext cx="10515598" cy="3840480"/>
        </p:xfrm>
        <a:graphic>
          <a:graphicData uri="http://schemas.openxmlformats.org/drawingml/2006/table">
            <a:tbl>
              <a:tblPr firstRow="1" bandRow="0"/>
              <a:tblGrid>
                <a:gridCol w="1993889"/>
                <a:gridCol w="1820507"/>
                <a:gridCol w="1473744"/>
                <a:gridCol w="2774107"/>
                <a:gridCol w="2453351"/>
              </a:tblGrid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Source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Granularité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Volume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Ce qu’on voit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Outils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Paquets (pcap)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Paquet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Très élevé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Contenu si non chiffré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TAP, SPAN, tcpdump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Flux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Flux (5-tuple)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Moyen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Métadonnées L3/L4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NetFlow, IPFIX, sFlow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Télémétrie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Compteurs, état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Faible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Santé des équipements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SNMP, gNMI, INT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Logs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Événement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Variable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Système et applications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syslog, SIEM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Mesures actives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Sonde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Faible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Bout-en-bout, volontaire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ping, traceroute, iperf3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Passif : on observe le trafic existant, sans l’influencer. Actif : on injecte des sondes (mesure ciblée, mais charge ajoutée).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Exemple 1 : un paquet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5544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840" b="0" i="0">
                <a:solidFill>
                  <a:schemeClr val="tx2"/>
                </a:solidFill>
              </a:rPr>
              <a:t>Un paquet = des en-têtes (qui parle à qui) + une charge utile (les données, souvent chiffrées).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838504" y="2286000"/>
            <a:ext cx="1993889" cy="1554480"/>
          </a:xfrm>
          <a:prstGeom prst="roundRect">
            <a:avLst>
              <a:gd name="adj" fmla="val 4705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Ethernet (14 o)</a:t>
            </a:r>
          </a:p>
          <a:p>
            <a:pPr algn="ctr">
              <a:buNone/>
            </a:pP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adresses MAC source et destination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2919085" y="2286000"/>
            <a:ext cx="2514034" cy="1554480"/>
          </a:xfrm>
          <a:prstGeom prst="roundRect">
            <a:avLst>
              <a:gd name="adj" fmla="val 4705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IP (20 o)</a:t>
            </a:r>
          </a:p>
          <a:p>
            <a:pPr algn="ctr">
              <a:buNone/>
            </a:pP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adresses IP source et destination, TTL, protocole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5519810" y="2286000"/>
            <a:ext cx="2514034" cy="1554480"/>
          </a:xfrm>
          <a:prstGeom prst="roundRect">
            <a:avLst>
              <a:gd name="adj" fmla="val 4705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TCP (20 o)</a:t>
            </a:r>
          </a:p>
          <a:p>
            <a:pPr algn="ctr">
              <a:buNone/>
            </a:pP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ports source et destination, numéros de séquence, flags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8120536" y="2286000"/>
            <a:ext cx="3146877" cy="1554480"/>
          </a:xfrm>
          <a:prstGeom prst="roundRect">
            <a:avLst>
              <a:gd name="adj" fmla="val 4705"/>
            </a:avLst>
          </a:prstGeom>
          <a:solidFill>
            <a:schemeClr val="accent2">
              <a:alpha val="30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Charge utile (≤ 1 460 o)</a:t>
            </a:r>
          </a:p>
          <a:p>
            <a:pPr algn="ctr">
              <a:buNone/>
            </a:pP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données applicatives, chiffrées en TLS</a:t>
            </a:r>
          </a:p>
        </p:txBody>
      </p:sp>
      <p:sp>
        <p:nvSpPr>
          <p:cNvPr id="9009" name="TextBox 9008"/>
          <p:cNvSpPr txBox="1"/>
          <p:nvPr/>
        </p:nvSpPr>
        <p:spPr>
          <a:xfrm>
            <a:off x="838504" y="3886200"/>
            <a:ext cx="346763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104" b="0" i="1">
                <a:solidFill>
                  <a:schemeClr val="tx2"/>
                </a:solidFill>
              </a:rPr>
              <a:t>Schéma hors échelle</a:t>
            </a:r>
          </a:p>
        </p:txBody>
      </p:sp>
      <p:sp>
        <p:nvSpPr>
          <p:cNvPr id="9010" name="TextBox 9009"/>
          <p:cNvSpPr txBox="1"/>
          <p:nvPr/>
        </p:nvSpPr>
        <p:spPr>
          <a:xfrm>
            <a:off x="838504" y="43434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56" b="1" i="0">
                <a:solidFill>
                  <a:schemeClr val="tx2"/>
                </a:solidFill>
              </a:rPr>
              <a:t>Ce que voit tcpdump pour un paquet :</a:t>
            </a:r>
          </a:p>
        </p:txBody>
      </p:sp>
      <p:sp>
        <p:nvSpPr>
          <p:cNvPr id="9011" name="Rounded Rectangle 9010"/>
          <p:cNvSpPr/>
          <p:nvPr/>
        </p:nvSpPr>
        <p:spPr>
          <a:xfrm>
            <a:off x="838504" y="4754880"/>
            <a:ext cx="10515600" cy="822960"/>
          </a:xfrm>
          <a:prstGeom prst="roundRect">
            <a:avLst>
              <a:gd name="adj" fmla="val 8888"/>
            </a:avLst>
          </a:prstGeom>
          <a:solidFill>
            <a:srgbClr val="F2F2F2"/>
          </a:solidFill>
          <a:ln w="15875">
            <a:solidFill>
              <a:srgbClr val="BFBFBF"/>
            </a:solidFill>
          </a:ln>
        </p:spPr>
        <p:txBody>
          <a:bodyPr wrap="square" lIns="127000" tIns="127000" rIns="127000" bIns="127000" rtlCol="0" anchor="ctr">
            <a:noAutofit/>
          </a:bodyPr>
          <a:lstStyle/>
          <a:p>
            <a:pPr algn="l">
              <a:buNone/>
            </a:pPr>
            <a:r>
              <a:rPr sz="1288" b="0" i="0">
                <a:solidFill>
                  <a:srgbClr val="1F1F1F"/>
                </a:solidFill>
              </a:rPr>
              <a:t>14:02:11.532 IP 192.0.2.10.52144 &gt; 203.0.113.7.443: Flags [P.], seq 1:518, ack 1, win 502, length 517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Exemple 2 : flux, télémétrie, log, mesure active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Table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645920"/>
          <a:ext cx="10515598" cy="3657600"/>
        </p:xfrm>
        <a:graphic>
          <a:graphicData uri="http://schemas.openxmlformats.org/drawingml/2006/table">
            <a:tbl>
              <a:tblPr firstRow="1" bandRow="0"/>
              <a:tblGrid>
                <a:gridCol w="1733816"/>
                <a:gridCol w="5288141"/>
                <a:gridCol w="3493641"/>
              </a:tblGrid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Source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Exemple concret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Ce que ça résume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Flux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192.0.2.10:52144 → 203.0.113.7:443, TCP, 48 paquets, 61 200 octets, durée 12 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Un enregistrement remplace 48 paquets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Télémétrie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ifInOctets (interface eth0) = 8 412 903 211, lu toutes les 60 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Un compteur d’interface, sans détail par paquet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Log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Oct 4 14:02:11 srv1 sshd[812]: Failed password for root from 203.0.113.7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Un événement système ou applicatif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Mesure active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ping 203.0.113.7 : ttl=57, temps=18,4 ms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Une mesure de bout en bout, déclenchée volontairement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Du paquet au log, le volume diminue mais le détail aussi : c’est le compromis de la collecte.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Le TAP : copier le trafic sans le perturber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Rounded Rectangle 9003"/>
          <p:cNvSpPr/>
          <p:nvPr/>
        </p:nvSpPr>
        <p:spPr>
          <a:xfrm>
            <a:off x="1098577" y="1737360"/>
            <a:ext cx="1993889" cy="914400"/>
          </a:xfrm>
          <a:prstGeom prst="roundRect">
            <a:avLst>
              <a:gd name="adj" fmla="val 8000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656" b="1" i="0">
                <a:solidFill>
                  <a:schemeClr val="accent5">
                    <a:lumMod val="75000"/>
                  </a:schemeClr>
                </a:solidFill>
              </a:rPr>
              <a:t>Switch A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4999665" y="1737360"/>
            <a:ext cx="2167271" cy="9144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2024" b="1" i="0">
                <a:solidFill>
                  <a:schemeClr val="bg1"/>
                </a:solidFill>
              </a:rPr>
              <a:t>TAP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9074135" y="1737360"/>
            <a:ext cx="1993889" cy="914400"/>
          </a:xfrm>
          <a:prstGeom prst="roundRect">
            <a:avLst>
              <a:gd name="adj" fmla="val 8000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656" b="1" i="0">
                <a:solidFill>
                  <a:schemeClr val="accent5">
                    <a:lumMod val="75000"/>
                  </a:schemeClr>
                </a:solidFill>
              </a:rPr>
              <a:t>Switch B</a:t>
            </a:r>
          </a:p>
        </p:txBody>
      </p:sp>
      <p:cxnSp>
        <p:nvCxnSpPr>
          <p:cNvPr id="9007" name="Connector 9006"/>
          <p:cNvCxnSpPr/>
          <p:nvPr/>
        </p:nvCxnSpPr>
        <p:spPr>
          <a:xfrm>
            <a:off x="3092466" y="2194560"/>
            <a:ext cx="1907199" cy="0"/>
          </a:xfrm>
          <a:prstGeom prst="line">
            <a:avLst/>
          </a:prstGeom>
          <a:ln w="31750">
            <a:solidFill>
              <a:schemeClr val="tx2"/>
            </a:solidFill>
            <a:headEnd type="triangle"/>
            <a:tailEnd type="triangle"/>
          </a:ln>
        </p:spPr>
      </p:cxnSp>
      <p:cxnSp>
        <p:nvCxnSpPr>
          <p:cNvPr id="9008" name="Connector 9007"/>
          <p:cNvCxnSpPr/>
          <p:nvPr/>
        </p:nvCxnSpPr>
        <p:spPr>
          <a:xfrm>
            <a:off x="7166936" y="2194560"/>
            <a:ext cx="1907199" cy="0"/>
          </a:xfrm>
          <a:prstGeom prst="line">
            <a:avLst/>
          </a:prstGeom>
          <a:ln w="31750">
            <a:solidFill>
              <a:schemeClr val="tx2"/>
            </a:solidFill>
            <a:headEnd type="triangle"/>
            <a:tailEnd type="triangle"/>
          </a:ln>
        </p:spPr>
      </p:cxnSp>
      <p:sp>
        <p:nvSpPr>
          <p:cNvPr id="9009" name="TextBox 9008"/>
          <p:cNvSpPr txBox="1"/>
          <p:nvPr/>
        </p:nvSpPr>
        <p:spPr>
          <a:xfrm>
            <a:off x="3005776" y="1600200"/>
            <a:ext cx="20805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tx2"/>
                </a:solidFill>
              </a:rPr>
              <a:t>Trafic de production (inchangé)</a:t>
            </a:r>
          </a:p>
        </p:txBody>
      </p:sp>
      <p:cxnSp>
        <p:nvCxnSpPr>
          <p:cNvPr id="9010" name="Connector 9009"/>
          <p:cNvCxnSpPr/>
          <p:nvPr/>
        </p:nvCxnSpPr>
        <p:spPr>
          <a:xfrm>
            <a:off x="6083301" y="2651760"/>
            <a:ext cx="0" cy="594360"/>
          </a:xfrm>
          <a:prstGeom prst="line">
            <a:avLst/>
          </a:prstGeom>
          <a:ln w="31750">
            <a:solidFill>
              <a:schemeClr val="accent2"/>
            </a:solidFill>
            <a:tailEnd type="triangle"/>
          </a:ln>
        </p:spPr>
      </p:cxnSp>
      <p:sp>
        <p:nvSpPr>
          <p:cNvPr id="9011" name="TextBox 9010"/>
          <p:cNvSpPr txBox="1"/>
          <p:nvPr/>
        </p:nvSpPr>
        <p:spPr>
          <a:xfrm>
            <a:off x="6256682" y="2743200"/>
            <a:ext cx="173381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196" b="1" i="0">
                <a:solidFill>
                  <a:schemeClr val="accent2"/>
                </a:solidFill>
              </a:rPr>
              <a:t>Copie Rx + Tx</a:t>
            </a:r>
          </a:p>
        </p:txBody>
      </p:sp>
      <p:sp>
        <p:nvSpPr>
          <p:cNvPr id="9012" name="Rounded Rectangle 9011"/>
          <p:cNvSpPr/>
          <p:nvPr/>
        </p:nvSpPr>
        <p:spPr>
          <a:xfrm>
            <a:off x="4782938" y="3246120"/>
            <a:ext cx="2600725" cy="731520"/>
          </a:xfrm>
          <a:prstGeom prst="roundRect">
            <a:avLst>
              <a:gd name="adj" fmla="val 10000"/>
            </a:avLst>
          </a:prstGeom>
          <a:solidFill>
            <a:schemeClr val="accent2">
              <a:alpha val="8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Sonde / collecteur</a:t>
            </a:r>
          </a:p>
        </p:txBody>
      </p:sp>
      <p:sp>
        <p:nvSpPr>
          <p:cNvPr id="9013" name="Rounded Rectangle 9012"/>
          <p:cNvSpPr/>
          <p:nvPr/>
        </p:nvSpPr>
        <p:spPr>
          <a:xfrm>
            <a:off x="838504" y="4343400"/>
            <a:ext cx="3331818" cy="1737360"/>
          </a:xfrm>
          <a:prstGeom prst="roundRect">
            <a:avLst>
              <a:gd name="adj" fmla="val 421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4" name="TextBox 9013"/>
          <p:cNvSpPr txBox="1"/>
          <p:nvPr/>
        </p:nvSpPr>
        <p:spPr>
          <a:xfrm>
            <a:off x="1055231" y="4480560"/>
            <a:ext cx="289836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1" i="0">
                <a:solidFill>
                  <a:schemeClr val="accent5"/>
                </a:solidFill>
              </a:rPr>
              <a:t>Passif</a:t>
            </a:r>
          </a:p>
        </p:txBody>
      </p:sp>
      <p:sp>
        <p:nvSpPr>
          <p:cNvPr id="9015" name="TextBox 9014"/>
          <p:cNvSpPr txBox="1"/>
          <p:nvPr/>
        </p:nvSpPr>
        <p:spPr>
          <a:xfrm>
            <a:off x="1055231" y="4937760"/>
            <a:ext cx="2898364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Paquets complets, horodatage précis : la fidélité est maximale.</a:t>
            </a:r>
          </a:p>
        </p:txBody>
      </p:sp>
      <p:sp>
        <p:nvSpPr>
          <p:cNvPr id="9016" name="Rounded Rectangle 9015"/>
          <p:cNvSpPr/>
          <p:nvPr/>
        </p:nvSpPr>
        <p:spPr>
          <a:xfrm>
            <a:off x="4430395" y="4343400"/>
            <a:ext cx="3331818" cy="1737360"/>
          </a:xfrm>
          <a:prstGeom prst="roundRect">
            <a:avLst>
              <a:gd name="adj" fmla="val 421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7" name="TextBox 9016"/>
          <p:cNvSpPr txBox="1"/>
          <p:nvPr/>
        </p:nvSpPr>
        <p:spPr>
          <a:xfrm>
            <a:off x="4647122" y="4480560"/>
            <a:ext cx="289836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1" i="0">
                <a:solidFill>
                  <a:schemeClr val="accent1"/>
                </a:solidFill>
              </a:rPr>
              <a:t>Sans impact</a:t>
            </a:r>
          </a:p>
        </p:txBody>
      </p:sp>
      <p:sp>
        <p:nvSpPr>
          <p:cNvPr id="9018" name="TextBox 9017"/>
          <p:cNvSpPr txBox="1"/>
          <p:nvPr/>
        </p:nvSpPr>
        <p:spPr>
          <a:xfrm>
            <a:off x="4647122" y="4937760"/>
            <a:ext cx="2898364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Le trafic de production n’est pas modifié, même si la sonde tombe.</a:t>
            </a:r>
          </a:p>
        </p:txBody>
      </p:sp>
      <p:sp>
        <p:nvSpPr>
          <p:cNvPr id="9019" name="Rounded Rectangle 9018"/>
          <p:cNvSpPr/>
          <p:nvPr/>
        </p:nvSpPr>
        <p:spPr>
          <a:xfrm>
            <a:off x="8022286" y="4343400"/>
            <a:ext cx="3331818" cy="1737360"/>
          </a:xfrm>
          <a:prstGeom prst="roundRect">
            <a:avLst>
              <a:gd name="adj" fmla="val 421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0" name="TextBox 9019"/>
          <p:cNvSpPr txBox="1"/>
          <p:nvPr/>
        </p:nvSpPr>
        <p:spPr>
          <a:xfrm>
            <a:off x="8239013" y="4480560"/>
            <a:ext cx="289836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1" i="0">
                <a:solidFill>
                  <a:srgbClr val="C00000"/>
                </a:solidFill>
              </a:rPr>
              <a:t>Limites</a:t>
            </a:r>
          </a:p>
        </p:txBody>
      </p:sp>
      <p:sp>
        <p:nvSpPr>
          <p:cNvPr id="9021" name="TextBox 9020"/>
          <p:cNvSpPr txBox="1"/>
          <p:nvPr/>
        </p:nvSpPr>
        <p:spPr>
          <a:xfrm>
            <a:off x="8239013" y="4937760"/>
            <a:ext cx="2898364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Coût, accès physique au lien, volume énorme à traiter ou à stocker.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TAP ou port mirroring (SPAN) ?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600200"/>
            <a:ext cx="504107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2024" b="1" i="0">
                <a:solidFill>
                  <a:schemeClr val="accent2"/>
                </a:solidFill>
              </a:rPr>
              <a:t>TAP</a:t>
            </a:r>
          </a:p>
        </p:txBody>
      </p:sp>
      <p:sp>
        <p:nvSpPr>
          <p:cNvPr id="9005" name="TextBox 9004"/>
          <p:cNvSpPr txBox="1"/>
          <p:nvPr/>
        </p:nvSpPr>
        <p:spPr>
          <a:xfrm>
            <a:off x="838504" y="2194560"/>
            <a:ext cx="5041072" cy="320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Copie matérielle (optique : séparateur, cuivre : actif)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Aucune perte, horodatage fiable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Coût et intervention physique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Packet brokers : agréger, filtrer, dédupliquer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6313031" y="1600200"/>
            <a:ext cx="504107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2024" b="1" i="0">
                <a:solidFill>
                  <a:schemeClr val="accent2"/>
                </a:solidFill>
              </a:rPr>
              <a:t>Port mirroring (SPAN)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6313031" y="2194560"/>
            <a:ext cx="5041072" cy="320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Fonction du switch, configurable à distance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Peut perdre des paquets (sur-souscription)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Priorité basse, charge CPU/ASIC, horodatage altéré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RSPAN / ERSPAN : miroir à travers le réseau</a:t>
            </a:r>
          </a:p>
        </p:txBody>
      </p:sp>
      <p:sp>
        <p:nvSpPr>
          <p:cNvPr id="9008" name="TextBox 9007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À haut débit en production : TAP + packet broker. En lab ou en campus : SPAN suffit souvent.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Capturer en pratique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Rounded Rectangle 9003"/>
          <p:cNvSpPr/>
          <p:nvPr/>
        </p:nvSpPr>
        <p:spPr>
          <a:xfrm>
            <a:off x="838504" y="1600200"/>
            <a:ext cx="6675195" cy="4526280"/>
          </a:xfrm>
          <a:prstGeom prst="roundRect">
            <a:avLst>
              <a:gd name="adj" fmla="val 1010"/>
            </a:avLst>
          </a:prstGeom>
          <a:solidFill>
            <a:srgbClr val="F2F2F2"/>
          </a:solidFill>
          <a:ln w="15875">
            <a:solidFill>
              <a:srgbClr val="BFBFBF"/>
            </a:solidFill>
          </a:ln>
        </p:spPr>
        <p:txBody>
          <a:bodyPr rtlCol="0" anchor="ctr"/>
          <a:lstStyle/>
          <a:p/>
        </p:txBody>
      </p:sp>
      <p:sp>
        <p:nvSpPr>
          <p:cNvPr id="9005" name="TextBox 9004"/>
          <p:cNvSpPr txBox="1"/>
          <p:nvPr/>
        </p:nvSpPr>
        <p:spPr>
          <a:xfrm>
            <a:off x="1055231" y="1783080"/>
            <a:ext cx="6241741" cy="4160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0" i="0">
                <a:solidFill>
                  <a:srgbClr val="1F1F1F"/>
                </a:solidFill>
                <a:latin typeface="Courier New"/>
              </a:rPr>
              <a:t># Capture limitée aux en-têtes (96 octets/paquet)</a:t>
            </a:r>
          </a:p>
          <a:p>
            <a:pPr algn="l">
              <a:buNone/>
            </a:pPr>
            <a:r>
              <a:rPr sz="1600" b="0" i="0">
                <a:solidFill>
                  <a:srgbClr val="1F1F1F"/>
                </a:solidFill>
                <a:latin typeface="Courier New"/>
              </a:rPr>
              <a:t>tcpdump -i eth0 -s 96 -w capture.pcap 'tcp port 443'</a:t>
            </a:r>
          </a:p>
          <a:p>
            <a:pPr algn="l">
              <a:buNone/>
            </a:pPr>
            <a:r>
              <a:rPr sz="1600" b="0" i="0">
                <a:solidFill>
                  <a:srgbClr val="1F1F1F"/>
                </a:solidFill>
                <a:latin typeface="Courier New"/>
              </a:rPr>
              <a:t/>
            </a:r>
          </a:p>
          <a:p>
            <a:pPr algn="l">
              <a:buNone/>
            </a:pPr>
            <a:r>
              <a:rPr sz="1600" b="0" i="0">
                <a:solidFill>
                  <a:srgbClr val="1F1F1F"/>
                </a:solidFill>
                <a:latin typeface="Courier New"/>
              </a:rPr>
              <a:t># Rejouer et résumer en connexions (Zeek)</a:t>
            </a:r>
          </a:p>
          <a:p>
            <a:pPr algn="l">
              <a:buNone/>
            </a:pPr>
            <a:r>
              <a:rPr sz="1600" b="0" i="0">
                <a:solidFill>
                  <a:srgbClr val="1F1F1F"/>
                </a:solidFill>
                <a:latin typeface="Courier New"/>
              </a:rPr>
              <a:t>zeek -r capture.pcap</a:t>
            </a:r>
          </a:p>
          <a:p>
            <a:pPr algn="l">
              <a:buNone/>
            </a:pPr>
            <a:r>
              <a:rPr sz="1600" b="0" i="0">
                <a:solidFill>
                  <a:srgbClr val="1F1F1F"/>
                </a:solidFill>
                <a:latin typeface="Courier New"/>
              </a:rPr>
              <a:t>head conn.log</a:t>
            </a:r>
          </a:p>
          <a:p>
            <a:pPr algn="l">
              <a:buNone/>
            </a:pPr>
            <a:r>
              <a:rPr sz="1600" b="0" i="0">
                <a:solidFill>
                  <a:srgbClr val="1F1F1F"/>
                </a:solidFill>
                <a:latin typeface="Courier New"/>
              </a:rPr>
              <a:t/>
            </a:r>
          </a:p>
          <a:p>
            <a:pPr algn="l">
              <a:buNone/>
            </a:pPr>
            <a:r>
              <a:rPr sz="1600" b="0" i="0">
                <a:solidFill>
                  <a:srgbClr val="1F1F1F"/>
                </a:solidFill>
                <a:latin typeface="Courier New"/>
              </a:rPr>
              <a:t># Extraire des champs avec tshark</a:t>
            </a:r>
          </a:p>
          <a:p>
            <a:pPr algn="l">
              <a:buNone/>
            </a:pPr>
            <a:r>
              <a:rPr sz="1600" b="0" i="0">
                <a:solidFill>
                  <a:srgbClr val="1F1F1F"/>
                </a:solidFill>
                <a:latin typeface="Courier New"/>
              </a:rPr>
              <a:t>tshark -r capture.pcap -T fields \</a:t>
            </a:r>
          </a:p>
          <a:p>
            <a:pPr algn="l">
              <a:buNone/>
            </a:pPr>
            <a:r>
              <a:rPr sz="1600" b="0" i="0">
                <a:solidFill>
                  <a:srgbClr val="1F1F1F"/>
                </a:solidFill>
                <a:latin typeface="Courier New"/>
              </a:rPr>
              <a:t>  -e ip.src -e ip.dst \</a:t>
            </a:r>
          </a:p>
          <a:p>
            <a:pPr algn="l">
              <a:buNone/>
            </a:pPr>
            <a:r>
              <a:rPr sz="1600" b="0" i="0">
                <a:solidFill>
                  <a:srgbClr val="1F1F1F"/>
                </a:solidFill>
                <a:latin typeface="Courier New"/>
              </a:rPr>
              <a:t>  -e frame.len -e frame.time_epoch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7817118" y="1645920"/>
            <a:ext cx="3536986" cy="4480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tcpdump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capture, filtres BPF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-s 96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on garde les en-têtes, pas la charge utile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Zeek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transforme le pcap en logs structurés (conn.log)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tshark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extraction de champs pour le ML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Le défi du volume : combien de données par jour ?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Chart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554480"/>
          <a:ext cx="6415122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7513700" y="1645920"/>
            <a:ext cx="3840404" cy="4480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Ce que montre le graphique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la quantité de paquets à stocker si on capture tout, selon le débit du lien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Calcul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débit × 86 400 s ÷ 8. À 1 Gb/s : 0,125 Go/s, soit 10,8 To par jour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À 100 Gb/s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environ 1 Po par jour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Lien avec la suite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tout garder est impossible, d’où le filtrage à la source (eBPF), les flux et la classification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838504" y="6126480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920" b="0" i="1">
                <a:solidFill>
                  <a:schemeClr val="tx2"/>
                </a:solidFill>
              </a:rPr>
              <a:t>Source : calcul théorique (lien saturé, sans compression ni en-têtes de capture). Il s’agit d’un ordre de grandeur, pas d’une mesure.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eBPF : où s’exécute-t-il ?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Rounded Rectangle 9003"/>
          <p:cNvSpPr/>
          <p:nvPr/>
        </p:nvSpPr>
        <p:spPr>
          <a:xfrm>
            <a:off x="838504" y="1554480"/>
            <a:ext cx="6588504" cy="4434840"/>
          </a:xfrm>
          <a:prstGeom prst="roundRect">
            <a:avLst>
              <a:gd name="adj" fmla="val 1649"/>
            </a:avLst>
          </a:prstGeom>
          <a:noFill/>
          <a:ln w="19050">
            <a:solidFill>
              <a:schemeClr val="tx2"/>
            </a:solidFill>
          </a:ln>
        </p:spPr>
        <p:txBody>
          <a:bodyPr rtlCol="0" anchor="ctr"/>
          <a:lstStyle/>
          <a:p/>
        </p:txBody>
      </p:sp>
      <p:sp>
        <p:nvSpPr>
          <p:cNvPr id="9005" name="TextBox 9004"/>
          <p:cNvSpPr txBox="1"/>
          <p:nvPr/>
        </p:nvSpPr>
        <p:spPr>
          <a:xfrm>
            <a:off x="1011886" y="1627632"/>
            <a:ext cx="6241741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288" b="1" i="0">
                <a:solidFill>
                  <a:schemeClr val="tx2"/>
                </a:solidFill>
              </a:rPr>
              <a:t>Machine Linux (serveur, hôte, conteneur)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1098577" y="2011680"/>
            <a:ext cx="6068359" cy="1097280"/>
          </a:xfrm>
          <a:prstGeom prst="roundRect">
            <a:avLst>
              <a:gd name="adj" fmla="val 6666"/>
            </a:avLst>
          </a:prstGeom>
          <a:solidFill>
            <a:schemeClr val="accent1">
              <a:alpha val="25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Espace utilisateur</a:t>
            </a:r>
          </a:p>
          <a:p>
            <a:pPr algn="ctr">
              <a:buNone/>
            </a:pP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applications, agent de collecte, outils (bpftool, Python)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1098577" y="3291840"/>
            <a:ext cx="6068359" cy="1600200"/>
          </a:xfrm>
          <a:prstGeom prst="roundRect">
            <a:avLst>
              <a:gd name="adj" fmla="val 4571"/>
            </a:avLst>
          </a:prstGeom>
          <a:solidFill>
            <a:schemeClr val="tx2">
              <a:alpha val="15000"/>
            </a:schemeClr>
          </a:solidFill>
          <a:ln w="15875">
            <a:solidFill>
              <a:schemeClr val="tx2"/>
            </a:solidFill>
          </a:ln>
        </p:spPr>
        <p:txBody>
          <a:bodyPr rtlCol="0" anchor="ctr"/>
          <a:lstStyle/>
          <a:p/>
        </p:txBody>
      </p:sp>
      <p:sp>
        <p:nvSpPr>
          <p:cNvPr id="9008" name="TextBox 9007"/>
          <p:cNvSpPr txBox="1"/>
          <p:nvPr/>
        </p:nvSpPr>
        <p:spPr>
          <a:xfrm>
            <a:off x="1228613" y="3364992"/>
            <a:ext cx="2600725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Noyau Linux</a:t>
            </a:r>
          </a:p>
        </p:txBody>
      </p:sp>
      <p:sp>
        <p:nvSpPr>
          <p:cNvPr id="9009" name="Rounded Rectangle 9008"/>
          <p:cNvSpPr/>
          <p:nvPr/>
        </p:nvSpPr>
        <p:spPr>
          <a:xfrm>
            <a:off x="1271959" y="3794760"/>
            <a:ext cx="1733816" cy="822960"/>
          </a:xfrm>
          <a:prstGeom prst="roundRect">
            <a:avLst>
              <a:gd name="adj" fmla="val 8888"/>
            </a:avLst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Pilotes réseau</a:t>
            </a:r>
          </a:p>
        </p:txBody>
      </p:sp>
      <p:sp>
        <p:nvSpPr>
          <p:cNvPr id="9010" name="Rounded Rectangle 9009"/>
          <p:cNvSpPr/>
          <p:nvPr/>
        </p:nvSpPr>
        <p:spPr>
          <a:xfrm>
            <a:off x="3179157" y="3794760"/>
            <a:ext cx="1733816" cy="822960"/>
          </a:xfrm>
          <a:prstGeom prst="roundRect">
            <a:avLst>
              <a:gd name="adj" fmla="val 8888"/>
            </a:avLst>
          </a:prstGeom>
          <a:solidFill>
            <a:schemeClr val="bg1"/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Pile IP / TCP</a:t>
            </a:r>
          </a:p>
        </p:txBody>
      </p:sp>
      <p:sp>
        <p:nvSpPr>
          <p:cNvPr id="9011" name="Rounded Rectangle 9010"/>
          <p:cNvSpPr/>
          <p:nvPr/>
        </p:nvSpPr>
        <p:spPr>
          <a:xfrm>
            <a:off x="5086356" y="3794760"/>
            <a:ext cx="1907198" cy="822960"/>
          </a:xfrm>
          <a:prstGeom prst="roundRect">
            <a:avLst>
              <a:gd name="adj" fmla="val 8888"/>
            </a:avLst>
          </a:prstGeom>
          <a:solidFill>
            <a:schemeClr val="accent2">
              <a:alpha val="8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Programmes eBPF</a:t>
            </a:r>
          </a:p>
        </p:txBody>
      </p:sp>
      <p:cxnSp>
        <p:nvCxnSpPr>
          <p:cNvPr id="9012" name="Connector 9011"/>
          <p:cNvCxnSpPr/>
          <p:nvPr/>
        </p:nvCxnSpPr>
        <p:spPr>
          <a:xfrm flipH="1">
            <a:off x="4930312" y="4206240"/>
            <a:ext cx="156044" cy="0"/>
          </a:xfrm>
          <a:prstGeom prst="line">
            <a:avLst/>
          </a:prstGeom>
          <a:ln w="25400">
            <a:solidFill>
              <a:schemeClr val="accent2"/>
            </a:solidFill>
            <a:headEnd type="triangle"/>
            <a:tailEnd type="triangle"/>
          </a:ln>
        </p:spPr>
      </p:cxnSp>
      <p:sp>
        <p:nvSpPr>
          <p:cNvPr id="9013" name="Rounded Rectangle 9012"/>
          <p:cNvSpPr/>
          <p:nvPr/>
        </p:nvSpPr>
        <p:spPr>
          <a:xfrm>
            <a:off x="1098577" y="5074920"/>
            <a:ext cx="6068359" cy="731520"/>
          </a:xfrm>
          <a:prstGeom prst="roundRect">
            <a:avLst>
              <a:gd name="adj" fmla="val 10000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Carte réseau (matériel)</a:t>
            </a:r>
          </a:p>
        </p:txBody>
      </p:sp>
      <p:cxnSp>
        <p:nvCxnSpPr>
          <p:cNvPr id="9014" name="Connector 9013"/>
          <p:cNvCxnSpPr/>
          <p:nvPr/>
        </p:nvCxnSpPr>
        <p:spPr>
          <a:xfrm flipV="1">
            <a:off x="2138867" y="4645152"/>
            <a:ext cx="0" cy="384048"/>
          </a:xfrm>
          <a:prstGeom prst="line">
            <a:avLst/>
          </a:prstGeom>
          <a:ln w="25400">
            <a:solidFill>
              <a:schemeClr val="accent5"/>
            </a:solidFill>
            <a:tailEnd type="triangle"/>
          </a:ln>
        </p:spPr>
      </p:cxnSp>
      <p:sp>
        <p:nvSpPr>
          <p:cNvPr id="9015" name="TextBox 9014"/>
          <p:cNvSpPr txBox="1"/>
          <p:nvPr/>
        </p:nvSpPr>
        <p:spPr>
          <a:xfrm>
            <a:off x="2225558" y="4754880"/>
            <a:ext cx="8669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104" b="0" i="0">
                <a:solidFill>
                  <a:schemeClr val="accent5"/>
                </a:solidFill>
              </a:rPr>
              <a:t>paquets</a:t>
            </a:r>
          </a:p>
        </p:txBody>
      </p:sp>
      <p:sp>
        <p:nvSpPr>
          <p:cNvPr id="9016" name="TextBox 9015"/>
          <p:cNvSpPr txBox="1"/>
          <p:nvPr/>
        </p:nvSpPr>
        <p:spPr>
          <a:xfrm>
            <a:off x="7860463" y="1645920"/>
            <a:ext cx="3493641" cy="4206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eBPF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une machine virtuelle dans le noyau Linux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On y charge de </a:t>
            </a: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petits programmes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Ils s’exécutent quand un </a:t>
            </a: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événement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survient (paquet reçu, appel système…)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Sans modifier le noyau ni écrire de module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Pourquoi eBPF est sûr : le chemin d’un programme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554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748" b="0" i="0">
                <a:solidFill>
                  <a:schemeClr val="tx2"/>
                </a:solidFill>
              </a:rPr>
              <a:t>Objectif : comprendre pourquoi on peut charger du code dans le noyau sans risquer de le faire planter.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838504" y="2377440"/>
            <a:ext cx="2368827" cy="822960"/>
          </a:xfrm>
          <a:prstGeom prst="roundRect">
            <a:avLst>
              <a:gd name="adj" fmla="val 888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1. Écrire et compiler</a:t>
            </a:r>
          </a:p>
        </p:txBody>
      </p:sp>
      <p:cxnSp>
        <p:nvCxnSpPr>
          <p:cNvPr id="9006" name="Connector 9005"/>
          <p:cNvCxnSpPr/>
          <p:nvPr/>
        </p:nvCxnSpPr>
        <p:spPr>
          <a:xfrm>
            <a:off x="3242008" y="2788920"/>
            <a:ext cx="277411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07" name="TextBox 9006"/>
          <p:cNvSpPr txBox="1"/>
          <p:nvPr/>
        </p:nvSpPr>
        <p:spPr>
          <a:xfrm>
            <a:off x="838504" y="3310128"/>
            <a:ext cx="2368827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Programme en C restreint, compilé en bytecode eBPF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3554095" y="2377440"/>
            <a:ext cx="2368827" cy="822960"/>
          </a:xfrm>
          <a:prstGeom prst="roundRect">
            <a:avLst>
              <a:gd name="adj" fmla="val 888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2. Charger</a:t>
            </a:r>
          </a:p>
        </p:txBody>
      </p:sp>
      <p:cxnSp>
        <p:nvCxnSpPr>
          <p:cNvPr id="9009" name="Connector 9008"/>
          <p:cNvCxnSpPr/>
          <p:nvPr/>
        </p:nvCxnSpPr>
        <p:spPr>
          <a:xfrm>
            <a:off x="5957599" y="2788920"/>
            <a:ext cx="277411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10" name="TextBox 9009"/>
          <p:cNvSpPr txBox="1"/>
          <p:nvPr/>
        </p:nvSpPr>
        <p:spPr>
          <a:xfrm>
            <a:off x="3554095" y="3310128"/>
            <a:ext cx="2368827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L’espace utilisateur demande au noyau de charger le programme (appel système bpf)</a:t>
            </a:r>
          </a:p>
        </p:txBody>
      </p:sp>
      <p:sp>
        <p:nvSpPr>
          <p:cNvPr id="9011" name="Rounded Rectangle 9010"/>
          <p:cNvSpPr/>
          <p:nvPr/>
        </p:nvSpPr>
        <p:spPr>
          <a:xfrm>
            <a:off x="6269686" y="2377440"/>
            <a:ext cx="2368827" cy="822960"/>
          </a:xfrm>
          <a:prstGeom prst="roundRect">
            <a:avLst>
              <a:gd name="adj" fmla="val 8888"/>
            </a:avLst>
          </a:prstGeom>
          <a:solidFill>
            <a:srgbClr val="C00000">
              <a:alpha val="30000"/>
            </a:srgbClr>
          </a:solidFill>
          <a:ln w="15875">
            <a:solidFill>
              <a:srgbClr val="C00000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3. Vérifier</a:t>
            </a:r>
          </a:p>
        </p:txBody>
      </p:sp>
      <p:cxnSp>
        <p:nvCxnSpPr>
          <p:cNvPr id="9012" name="Connector 9011"/>
          <p:cNvCxnSpPr/>
          <p:nvPr/>
        </p:nvCxnSpPr>
        <p:spPr>
          <a:xfrm>
            <a:off x="8673190" y="2788920"/>
            <a:ext cx="277411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13" name="TextBox 9012"/>
          <p:cNvSpPr txBox="1"/>
          <p:nvPr/>
        </p:nvSpPr>
        <p:spPr>
          <a:xfrm>
            <a:off x="6269686" y="3310128"/>
            <a:ext cx="2368827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Le vérificateur refuse tout programme qui peut boucler ou lire hors de sa mémoire</a:t>
            </a:r>
          </a:p>
        </p:txBody>
      </p:sp>
      <p:sp>
        <p:nvSpPr>
          <p:cNvPr id="9014" name="Rounded Rectangle 9013"/>
          <p:cNvSpPr/>
          <p:nvPr/>
        </p:nvSpPr>
        <p:spPr>
          <a:xfrm>
            <a:off x="8985277" y="2377440"/>
            <a:ext cx="2368827" cy="822960"/>
          </a:xfrm>
          <a:prstGeom prst="roundRect">
            <a:avLst>
              <a:gd name="adj" fmla="val 8888"/>
            </a:avLst>
          </a:prstGeom>
          <a:solidFill>
            <a:schemeClr val="accent2"/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bg1"/>
                </a:solidFill>
              </a:rPr>
              <a:t>4. Attacher</a:t>
            </a:r>
          </a:p>
        </p:txBody>
      </p:sp>
      <p:sp>
        <p:nvSpPr>
          <p:cNvPr id="9015" name="TextBox 9014"/>
          <p:cNvSpPr txBox="1"/>
          <p:nvPr/>
        </p:nvSpPr>
        <p:spPr>
          <a:xfrm>
            <a:off x="8985277" y="3310128"/>
            <a:ext cx="2368827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Le programme accepté est traduit en code natif (JIT) et attaché à un hook</a:t>
            </a:r>
          </a:p>
        </p:txBody>
      </p:sp>
      <p:sp>
        <p:nvSpPr>
          <p:cNvPr id="9016" name="TextBox 9015"/>
          <p:cNvSpPr txBox="1"/>
          <p:nvPr/>
        </p:nvSpPr>
        <p:spPr>
          <a:xfrm>
            <a:off x="838504" y="493776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Résultat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un programme eBPF ne peut pas faire planter le noyau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Conséquence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on peut le charger et le retirer à chaud, sans redémarrage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Qu’est-ce qu’un hook ?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508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56" b="0" i="0">
                <a:solidFill>
                  <a:schemeClr val="tx2"/>
                </a:solidFill>
              </a:rPr>
              <a:t>Un hook (point d’accroche) est un endroit précis du noyau où l’on peut attacher un programme eBPF. Les points orange ci-dessous sont des hooks : à chaque passage d’un paquet, le noyau exécute le programme attaché, qui peut alors observer.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838504" y="2743200"/>
            <a:ext cx="1733816" cy="731520"/>
          </a:xfrm>
          <a:prstGeom prst="roundRect">
            <a:avLst>
              <a:gd name="adj" fmla="val 10000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Carte réseau</a:t>
            </a:r>
          </a:p>
        </p:txBody>
      </p:sp>
      <p:cxnSp>
        <p:nvCxnSpPr>
          <p:cNvPr id="9006" name="Connector 9005"/>
          <p:cNvCxnSpPr/>
          <p:nvPr/>
        </p:nvCxnSpPr>
        <p:spPr>
          <a:xfrm>
            <a:off x="2589659" y="3108960"/>
            <a:ext cx="398778" cy="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sp>
        <p:nvSpPr>
          <p:cNvPr id="9007" name="Oval 9006"/>
          <p:cNvSpPr/>
          <p:nvPr/>
        </p:nvSpPr>
        <p:spPr>
          <a:xfrm>
            <a:off x="1568253" y="3611880"/>
            <a:ext cx="274320" cy="2743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08" name="TextBox 9007"/>
          <p:cNvSpPr txBox="1"/>
          <p:nvPr/>
        </p:nvSpPr>
        <p:spPr>
          <a:xfrm>
            <a:off x="838504" y="3931920"/>
            <a:ext cx="173381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2"/>
                </a:solidFill>
              </a:rPr>
              <a:t>XDP</a:t>
            </a:r>
          </a:p>
        </p:txBody>
      </p:sp>
      <p:sp>
        <p:nvSpPr>
          <p:cNvPr id="9009" name="TextBox 9008"/>
          <p:cNvSpPr txBox="1"/>
          <p:nvPr/>
        </p:nvSpPr>
        <p:spPr>
          <a:xfrm>
            <a:off x="838504" y="4251960"/>
            <a:ext cx="1820507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96" b="0" i="0">
                <a:solidFill>
                  <a:schemeClr val="accent5">
                    <a:lumMod val="75000"/>
                  </a:schemeClr>
                </a:solidFill>
              </a:rPr>
              <a:t>Paquets bruts à l’arrivée : tailles, adresses, ports</a:t>
            </a:r>
          </a:p>
        </p:txBody>
      </p:sp>
      <p:sp>
        <p:nvSpPr>
          <p:cNvPr id="9010" name="Rounded Rectangle 9009"/>
          <p:cNvSpPr/>
          <p:nvPr/>
        </p:nvSpPr>
        <p:spPr>
          <a:xfrm>
            <a:off x="3005776" y="2743200"/>
            <a:ext cx="1733816" cy="731520"/>
          </a:xfrm>
          <a:prstGeom prst="roundRect">
            <a:avLst>
              <a:gd name="adj" fmla="val 10000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Pilote</a:t>
            </a:r>
          </a:p>
        </p:txBody>
      </p:sp>
      <p:cxnSp>
        <p:nvCxnSpPr>
          <p:cNvPr id="9011" name="Connector 9010"/>
          <p:cNvCxnSpPr/>
          <p:nvPr/>
        </p:nvCxnSpPr>
        <p:spPr>
          <a:xfrm>
            <a:off x="4756931" y="3108960"/>
            <a:ext cx="398778" cy="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sp>
        <p:nvSpPr>
          <p:cNvPr id="9012" name="Oval 9011"/>
          <p:cNvSpPr/>
          <p:nvPr/>
        </p:nvSpPr>
        <p:spPr>
          <a:xfrm>
            <a:off x="3735524" y="3611880"/>
            <a:ext cx="274320" cy="2743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3" name="TextBox 9012"/>
          <p:cNvSpPr txBox="1"/>
          <p:nvPr/>
        </p:nvSpPr>
        <p:spPr>
          <a:xfrm>
            <a:off x="3005776" y="3931920"/>
            <a:ext cx="173381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2"/>
                </a:solidFill>
              </a:rPr>
              <a:t>tc</a:t>
            </a:r>
          </a:p>
        </p:txBody>
      </p:sp>
      <p:sp>
        <p:nvSpPr>
          <p:cNvPr id="9014" name="TextBox 9013"/>
          <p:cNvSpPr txBox="1"/>
          <p:nvPr/>
        </p:nvSpPr>
        <p:spPr>
          <a:xfrm>
            <a:off x="3005776" y="4251960"/>
            <a:ext cx="1820507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96" b="0" i="0">
                <a:solidFill>
                  <a:schemeClr val="accent5">
                    <a:lumMod val="75000"/>
                  </a:schemeClr>
                </a:solidFill>
              </a:rPr>
              <a:t>Paquets marqués : mesures par flux</a:t>
            </a:r>
          </a:p>
        </p:txBody>
      </p:sp>
      <p:sp>
        <p:nvSpPr>
          <p:cNvPr id="9015" name="Rounded Rectangle 9014"/>
          <p:cNvSpPr/>
          <p:nvPr/>
        </p:nvSpPr>
        <p:spPr>
          <a:xfrm>
            <a:off x="5173047" y="2743200"/>
            <a:ext cx="1733816" cy="731520"/>
          </a:xfrm>
          <a:prstGeom prst="roundRect">
            <a:avLst>
              <a:gd name="adj" fmla="val 10000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Pile IP / TCP</a:t>
            </a:r>
          </a:p>
        </p:txBody>
      </p:sp>
      <p:cxnSp>
        <p:nvCxnSpPr>
          <p:cNvPr id="9016" name="Connector 9015"/>
          <p:cNvCxnSpPr/>
          <p:nvPr/>
        </p:nvCxnSpPr>
        <p:spPr>
          <a:xfrm>
            <a:off x="6924202" y="3108960"/>
            <a:ext cx="398778" cy="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sp>
        <p:nvSpPr>
          <p:cNvPr id="9017" name="Oval 9016"/>
          <p:cNvSpPr/>
          <p:nvPr/>
        </p:nvSpPr>
        <p:spPr>
          <a:xfrm>
            <a:off x="5902795" y="3611880"/>
            <a:ext cx="274320" cy="2743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8" name="TextBox 9017"/>
          <p:cNvSpPr txBox="1"/>
          <p:nvPr/>
        </p:nvSpPr>
        <p:spPr>
          <a:xfrm>
            <a:off x="5173047" y="3931920"/>
            <a:ext cx="173381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2"/>
                </a:solidFill>
              </a:rPr>
              <a:t>kprobe, tracepoint</a:t>
            </a:r>
          </a:p>
        </p:txBody>
      </p:sp>
      <p:sp>
        <p:nvSpPr>
          <p:cNvPr id="9019" name="TextBox 9018"/>
          <p:cNvSpPr txBox="1"/>
          <p:nvPr/>
        </p:nvSpPr>
        <p:spPr>
          <a:xfrm>
            <a:off x="5173047" y="4251960"/>
            <a:ext cx="1820507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96" b="0" i="0">
                <a:solidFill>
                  <a:schemeClr val="accent5">
                    <a:lumMod val="75000"/>
                  </a:schemeClr>
                </a:solidFill>
              </a:rPr>
              <a:t>Événements du noyau : retransmissions TCP, pertes</a:t>
            </a:r>
          </a:p>
        </p:txBody>
      </p:sp>
      <p:sp>
        <p:nvSpPr>
          <p:cNvPr id="9020" name="Rounded Rectangle 9019"/>
          <p:cNvSpPr/>
          <p:nvPr/>
        </p:nvSpPr>
        <p:spPr>
          <a:xfrm>
            <a:off x="7340318" y="2743200"/>
            <a:ext cx="1733816" cy="731520"/>
          </a:xfrm>
          <a:prstGeom prst="roundRect">
            <a:avLst>
              <a:gd name="adj" fmla="val 10000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Socket</a:t>
            </a:r>
          </a:p>
        </p:txBody>
      </p:sp>
      <p:cxnSp>
        <p:nvCxnSpPr>
          <p:cNvPr id="9021" name="Connector 9020"/>
          <p:cNvCxnSpPr/>
          <p:nvPr/>
        </p:nvCxnSpPr>
        <p:spPr>
          <a:xfrm>
            <a:off x="9091473" y="3108960"/>
            <a:ext cx="398778" cy="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sp>
        <p:nvSpPr>
          <p:cNvPr id="9022" name="Oval 9021"/>
          <p:cNvSpPr/>
          <p:nvPr/>
        </p:nvSpPr>
        <p:spPr>
          <a:xfrm>
            <a:off x="8070066" y="3611880"/>
            <a:ext cx="274320" cy="2743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3" name="TextBox 9022"/>
          <p:cNvSpPr txBox="1"/>
          <p:nvPr/>
        </p:nvSpPr>
        <p:spPr>
          <a:xfrm>
            <a:off x="7340318" y="3931920"/>
            <a:ext cx="173381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2"/>
                </a:solidFill>
              </a:rPr>
              <a:t>socket, cgroup</a:t>
            </a:r>
          </a:p>
        </p:txBody>
      </p:sp>
      <p:sp>
        <p:nvSpPr>
          <p:cNvPr id="9024" name="TextBox 9023"/>
          <p:cNvSpPr txBox="1"/>
          <p:nvPr/>
        </p:nvSpPr>
        <p:spPr>
          <a:xfrm>
            <a:off x="7340318" y="4251960"/>
            <a:ext cx="1820507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96" b="0" i="0">
                <a:solidFill>
                  <a:schemeClr val="accent5">
                    <a:lumMod val="75000"/>
                  </a:schemeClr>
                </a:solidFill>
              </a:rPr>
              <a:t>Connexions : octets par socket ou par conteneur</a:t>
            </a:r>
          </a:p>
        </p:txBody>
      </p:sp>
      <p:sp>
        <p:nvSpPr>
          <p:cNvPr id="9025" name="Rounded Rectangle 9024"/>
          <p:cNvSpPr/>
          <p:nvPr/>
        </p:nvSpPr>
        <p:spPr>
          <a:xfrm>
            <a:off x="9507589" y="2743200"/>
            <a:ext cx="1733816" cy="731520"/>
          </a:xfrm>
          <a:prstGeom prst="roundRect">
            <a:avLst>
              <a:gd name="adj" fmla="val 10000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Application</a:t>
            </a:r>
          </a:p>
        </p:txBody>
      </p:sp>
      <p:sp>
        <p:nvSpPr>
          <p:cNvPr id="9026" name="Oval 9025"/>
          <p:cNvSpPr/>
          <p:nvPr/>
        </p:nvSpPr>
        <p:spPr>
          <a:xfrm>
            <a:off x="10237338" y="3611880"/>
            <a:ext cx="274320" cy="2743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7" name="TextBox 9026"/>
          <p:cNvSpPr txBox="1"/>
          <p:nvPr/>
        </p:nvSpPr>
        <p:spPr>
          <a:xfrm>
            <a:off x="9507589" y="3931920"/>
            <a:ext cx="173381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2"/>
                </a:solidFill>
              </a:rPr>
              <a:t>uprobe</a:t>
            </a:r>
          </a:p>
        </p:txBody>
      </p:sp>
      <p:sp>
        <p:nvSpPr>
          <p:cNvPr id="9028" name="TextBox 9027"/>
          <p:cNvSpPr txBox="1"/>
          <p:nvPr/>
        </p:nvSpPr>
        <p:spPr>
          <a:xfrm>
            <a:off x="9507589" y="4251960"/>
            <a:ext cx="1820507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96" b="0" i="0">
                <a:solidFill>
                  <a:schemeClr val="accent5">
                    <a:lumMod val="75000"/>
                  </a:schemeClr>
                </a:solidFill>
              </a:rPr>
              <a:t>Appels applicatifs : données avant chiffrement TLS</a:t>
            </a:r>
          </a:p>
        </p:txBody>
      </p:sp>
      <p:sp>
        <p:nvSpPr>
          <p:cNvPr id="9029" name="TextBox 9028"/>
          <p:cNvSpPr txBox="1"/>
          <p:nvPr/>
        </p:nvSpPr>
        <p:spPr>
          <a:xfrm>
            <a:off x="838504" y="54406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56" b="1" i="0">
                <a:solidFill>
                  <a:schemeClr val="tx2"/>
                </a:solidFill>
              </a:rPr>
              <a:t>Sur chaque hook, on observe un type de donnée différent.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Les points d’accroche eBPF pour le réseau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Table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645920"/>
          <a:ext cx="10515599" cy="3840480"/>
        </p:xfrm>
        <a:graphic>
          <a:graphicData uri="http://schemas.openxmlformats.org/drawingml/2006/table">
            <a:tbl>
              <a:tblPr firstRow="1" bandRow="0"/>
              <a:tblGrid>
                <a:gridCol w="2340652"/>
                <a:gridCol w="3987779"/>
                <a:gridCol w="4187168"/>
              </a:tblGrid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Hook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Position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Usage typique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XDP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Pilote de la carte, avant allocation du paquet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Filtrage, anti-DDoS, compteurs à haut débit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tc (ingress / egress)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Couche de contrôle de trafic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Classification, marquage, mesures par flux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Socket / cgroup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Sockets et conteneurs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Contrôle par conteneur, observabilité L4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kprobes / tracepoints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Fonctions du noyau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Retransmissions TCP, pertes, latences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uprobes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Fonctions applicatives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Contexte applicatif (ex. bibliothèque TLS)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Plus on est bas dans la pile (XDP), plus c’est rapide, mais moins on a de contexte.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Qu’est-ce qu’une map eBPF ?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600200"/>
            <a:ext cx="5461523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Map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une table de données (clé → valeur) gardée dans le noyau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Un programme eBPF s’exécute sans mémoire d’une fois sur l’autre : la map conserve l’état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Le noyau et l’espace utilisateur peuvent la lire et l’écrire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Types usuels : table de hachage, tableau</a:t>
            </a:r>
          </a:p>
        </p:txBody>
      </p:sp>
      <p:sp>
        <p:nvSpPr>
          <p:cNvPr id="9005" name="TextBox 9004"/>
          <p:cNvSpPr txBox="1"/>
          <p:nvPr/>
        </p:nvSpPr>
        <p:spPr>
          <a:xfrm>
            <a:off x="6733482" y="1645920"/>
            <a:ext cx="459461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472" b="1" i="0">
                <a:solidFill>
                  <a:schemeClr val="tx2"/>
                </a:solidFill>
              </a:rPr>
              <a:t>Exemple : compter les paquets par IP source</a:t>
            </a:r>
          </a:p>
        </p:txBody>
      </p:sp>
      <p:graphicFrame>
        <p:nvGraphicFramePr>
          <p:cNvPr id="9006" name="Table 9005"/>
          <p:cNvGraphicFramePr>
            <a:graphicFrameLocks xmlns:a="http://schemas.openxmlformats.org/drawingml/2006/main" noGrp="1"/>
          </p:cNvGraphicFramePr>
          <p:nvPr/>
        </p:nvGraphicFramePr>
        <p:xfrm>
          <a:off x="6733482" y="2103120"/>
          <a:ext cx="4620621" cy="1828800"/>
        </p:xfrm>
        <a:graphic>
          <a:graphicData uri="http://schemas.openxmlformats.org/drawingml/2006/table">
            <a:tbl>
              <a:tblPr firstRow="1" bandRow="0"/>
              <a:tblGrid>
                <a:gridCol w="2514034"/>
                <a:gridCol w="2106587"/>
              </a:tblGrid>
              <a:tr h="45720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Clé : IP source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Valeur : paquets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192.0.2.10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4 812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198.51.100.7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37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203.0.113.9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1 205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007" name="TextBox 9006"/>
          <p:cNvSpPr txBox="1"/>
          <p:nvPr/>
        </p:nvSpPr>
        <p:spPr>
          <a:xfrm>
            <a:off x="6733482" y="4114800"/>
            <a:ext cx="4594615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380" b="0" i="1">
                <a:solidFill>
                  <a:schemeClr val="tx2"/>
                </a:solidFill>
              </a:rPr>
              <a:t>À chaque paquet, le programme met à jour la ligne correspondante.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Programme eBPF et map eBPF : deux rôles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Table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645920"/>
          <a:ext cx="10515598" cy="3840480"/>
        </p:xfrm>
        <a:graphic>
          <a:graphicData uri="http://schemas.openxmlformats.org/drawingml/2006/table">
            <a:tbl>
              <a:tblPr firstRow="1" bandRow="0"/>
              <a:tblGrid>
                <a:gridCol w="1907198"/>
                <a:gridCol w="4247851"/>
                <a:gridCol w="4360549"/>
              </a:tblGrid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/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Programme eBPF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Map eBPF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Nature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Code (bytecode vérifié)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Structure de données clé → valeur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Rôle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Traite chaque événement (paquet, appel système)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Garde l’état : compteurs, tables, résultats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Durée de vie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Une exécution très courte, sans mémoire propre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Persiste tant que la map existe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Accès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S’exécute dans le noyau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Lue et écrite par le noyau et l’espace utilisateur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Exemple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« Incrémenter le compteur de cette IP »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Table IP source → nombre de paquets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Le programme calcule, la map se souvient.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Agréger à la source avec les maps eBPF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388620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Paquets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arrivent sur l’interface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Programme eBPF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extrait le 5-tuple, met à jour la map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Map eBPF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clé : 5-tuple. Valeur : paquets, octets, horodatage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Lecture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L’espace utilisateur lit la map toutes les N secondes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Features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tailles, débits, durées par flux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On remonte quelques kilo-octets de compteurs au lieu de gigaoctets de paquets.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Exemple : compter les paquets par IP source (XDP)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Rounded Rectangle 9003"/>
          <p:cNvSpPr/>
          <p:nvPr/>
        </p:nvSpPr>
        <p:spPr>
          <a:xfrm>
            <a:off x="838504" y="1600200"/>
            <a:ext cx="6675195" cy="4526280"/>
          </a:xfrm>
          <a:prstGeom prst="roundRect">
            <a:avLst>
              <a:gd name="adj" fmla="val 1010"/>
            </a:avLst>
          </a:prstGeom>
          <a:solidFill>
            <a:srgbClr val="F2F2F2"/>
          </a:solidFill>
          <a:ln w="15875">
            <a:solidFill>
              <a:srgbClr val="BFBFBF"/>
            </a:solidFill>
          </a:ln>
        </p:spPr>
        <p:txBody>
          <a:bodyPr rtlCol="0" anchor="ctr"/>
          <a:lstStyle/>
          <a:p/>
        </p:txBody>
      </p:sp>
      <p:sp>
        <p:nvSpPr>
          <p:cNvPr id="9005" name="TextBox 9004"/>
          <p:cNvSpPr txBox="1"/>
          <p:nvPr/>
        </p:nvSpPr>
        <p:spPr>
          <a:xfrm>
            <a:off x="1055231" y="1783080"/>
            <a:ext cx="6241741" cy="4160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// includes omis</a:t>
            </a:r>
          </a:p>
          <a:p>
            <a:pPr algn="l">
              <a:buNone/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struct { __uint(type, BPF_MAP_TYPE_HASH);</a:t>
            </a:r>
          </a:p>
          <a:p>
            <a:pPr algn="l">
              <a:buNone/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  __type(key, __u32); __type(value, __u64);</a:t>
            </a:r>
          </a:p>
          <a:p>
            <a:pPr algn="l">
              <a:buNone/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  __uint(max_entries, 65536); } pkts SEC(".maps");</a:t>
            </a:r>
          </a:p>
          <a:p>
            <a:pPr algn="l">
              <a:buNone/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/>
            </a:r>
          </a:p>
          <a:p>
            <a:pPr algn="l">
              <a:buNone/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SEC("xdp")</a:t>
            </a:r>
          </a:p>
          <a:p>
            <a:pPr algn="l">
              <a:buNone/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int count(struct xdp_md *ctx) {</a:t>
            </a:r>
          </a:p>
          <a:p>
            <a:pPr algn="l">
              <a:buNone/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  void *data = (void *)(long)ctx-&gt;data;</a:t>
            </a:r>
          </a:p>
          <a:p>
            <a:pPr algn="l">
              <a:buNone/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  void *end  = (void *)(long)ctx-&gt;data_end;</a:t>
            </a:r>
          </a:p>
          <a:p>
            <a:pPr algn="l">
              <a:buNone/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  struct ethhdr *eth = data;</a:t>
            </a:r>
          </a:p>
          <a:p>
            <a:pPr algn="l">
              <a:buNone/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  if ((void *)(eth + 1) &gt; end) return XDP_PASS;</a:t>
            </a:r>
          </a:p>
          <a:p>
            <a:pPr algn="l">
              <a:buNone/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  if (eth-&gt;h_proto != bpf_htons(ETH_P_IP))</a:t>
            </a:r>
          </a:p>
          <a:p>
            <a:pPr algn="l">
              <a:buNone/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    return XDP_PASS;</a:t>
            </a:r>
          </a:p>
          <a:p>
            <a:pPr algn="l">
              <a:buNone/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  struct iphdr *ip = (void *)(eth + 1);</a:t>
            </a:r>
          </a:p>
          <a:p>
            <a:pPr algn="l">
              <a:buNone/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  if ((void *)(ip + 1) &gt; end) return XDP_PASS;</a:t>
            </a:r>
          </a:p>
          <a:p>
            <a:pPr algn="l">
              <a:buNone/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  __u64 one = 1, *v = bpf_map_lookup_elem(&amp;pkts, &amp;ip-&gt;saddr);</a:t>
            </a:r>
          </a:p>
          <a:p>
            <a:pPr algn="l">
              <a:buNone/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  if (v) __sync_fetch_and_add(v, 1);</a:t>
            </a:r>
          </a:p>
          <a:p>
            <a:pPr algn="l">
              <a:buNone/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  else bpf_map_update_elem(&amp;pkts, &amp;ip-&gt;saddr, &amp;one, BPF_ANY);</a:t>
            </a:r>
          </a:p>
          <a:p>
            <a:pPr algn="l">
              <a:buNone/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  return XDP_PASS;</a:t>
            </a:r>
          </a:p>
          <a:p>
            <a:pPr algn="l">
              <a:buNone/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}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7817118" y="1645920"/>
            <a:ext cx="3536986" cy="4480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La map est une table de hachage : IP source → compteur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Chaque accès mémoire est vérifié (bornes)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XDP_PASS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le paquet continue normalement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Compilation : clang -O2 -target bpf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Ce que le TAP ne voit pas, eBPF le voit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600200"/>
            <a:ext cx="504107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2024" b="1" i="0">
                <a:solidFill>
                  <a:schemeClr val="accent2"/>
                </a:solidFill>
              </a:rPr>
              <a:t>TAP / SPAN</a:t>
            </a:r>
          </a:p>
        </p:txBody>
      </p:sp>
      <p:sp>
        <p:nvSpPr>
          <p:cNvPr id="9005" name="TextBox 9004"/>
          <p:cNvSpPr txBox="1"/>
          <p:nvPr/>
        </p:nvSpPr>
        <p:spPr>
          <a:xfrm>
            <a:off x="838504" y="2194560"/>
            <a:ext cx="5041072" cy="320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Voit : tous les paquets du lien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Ne voit pas : quel processus ou conteneur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Ne voit pas : le trafic interne à l’hôte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Charge utile chiffrée = opaque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6313031" y="1600200"/>
            <a:ext cx="504107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2024" b="1" i="0">
                <a:solidFill>
                  <a:schemeClr val="accent2"/>
                </a:solidFill>
              </a:rPr>
              <a:t>eBPF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6313031" y="2194560"/>
            <a:ext cx="5041072" cy="320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Voit : processus, conteneur, socket, appel système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Peut observer avant le chiffrement (uprobes sur une bibliothèque TLS)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Ne voit que les hôtes équipés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Sensible : données personnelles, droits élevés requis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Quelques outils fondés sur eBPF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Table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645920"/>
          <a:ext cx="10515599" cy="3657600"/>
        </p:xfrm>
        <a:graphic>
          <a:graphicData uri="http://schemas.openxmlformats.org/drawingml/2006/table">
            <a:tbl>
              <a:tblPr firstRow="1" bandRow="0"/>
              <a:tblGrid>
                <a:gridCol w="2427343"/>
                <a:gridCol w="3987779"/>
                <a:gridCol w="4100477"/>
              </a:tblGrid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Outil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Rôle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Ce qu’il observe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Cilium / Hubble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Observabilité réseau dans Kubernetes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Les flux entre pods et services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Pixie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Observabilité des applications Kubernetes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Requêtes HTTP, DNS, sans modifier le code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Falco, Tetragon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Sécurité à l’exécution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Appels système suspects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bpftrace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Diagnostic ponctuel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N’importe quel événement du noyau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Ce sont des applications d’eBPF, pas des alternatives au TAP : ils observent l’intérieur de la machine.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Comparatif : TAP / SPAN et eBPF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Table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645920"/>
          <a:ext cx="10515598" cy="4480560"/>
        </p:xfrm>
        <a:graphic>
          <a:graphicData uri="http://schemas.openxmlformats.org/drawingml/2006/table">
            <a:tbl>
              <a:tblPr firstRow="1" bandRow="0"/>
              <a:tblGrid>
                <a:gridCol w="1993889"/>
                <a:gridCol w="4247851"/>
                <a:gridCol w="4273858"/>
              </a:tblGrid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Critère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TAP / SPAN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eBPF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Position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Sur le lien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Sur l’hôte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Visibilité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Tout le trafic du lien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Uniquement les hôtes équipés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Contenu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Paquets complets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Au choix : agrégats ou événements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Contexte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Aucun (réseau seul)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Processus, conteneur, socket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Coût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Matériel et intervention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Logiciel, déploiement sur le parc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Limite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Débit, stockage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Droits élevés, compatibilité noyau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Des paquets aux flux : agréger pour réduire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55448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656" b="0" i="0">
                <a:solidFill>
                  <a:schemeClr val="accent5">
                    <a:lumMod val="75000"/>
                  </a:schemeClr>
                </a:solidFill>
              </a:rPr>
              <a:t>Jusqu’ici (TAP, eBPF) : on capture des </a:t>
            </a:r>
            <a:r>
              <a:rPr sz="1656" b="1" i="0">
                <a:solidFill>
                  <a:schemeClr val="accent5">
                    <a:lumMod val="75000"/>
                  </a:schemeClr>
                </a:solidFill>
              </a:rPr>
              <a:t>paquets</a:t>
            </a:r>
            <a:r>
              <a:rPr sz="1656" b="0" i="0">
                <a:solidFill>
                  <a:schemeClr val="accent5">
                    <a:lumMod val="75000"/>
                  </a:schemeClr>
                </a:solidFill>
              </a:rPr>
              <a:t> ou des événements sur l’hôte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656" b="0" i="0">
                <a:solidFill>
                  <a:schemeClr val="accent5">
                    <a:lumMod val="75000"/>
                  </a:schemeClr>
                </a:solidFill>
              </a:rPr>
              <a:t>Problème : le volume est trop grand (voir le graphique précédent)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656" b="0" i="0">
                <a:solidFill>
                  <a:schemeClr val="accent5">
                    <a:lumMod val="75000"/>
                  </a:schemeClr>
                </a:solidFill>
              </a:rPr>
              <a:t>Idée : regrouper les paquets d’une même communication et ne garder qu’un résumé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656" b="1" i="0">
                <a:solidFill>
                  <a:schemeClr val="accent5">
                    <a:lumMod val="75000"/>
                  </a:schemeClr>
                </a:solidFill>
              </a:rPr>
              <a:t>Flux</a:t>
            </a:r>
            <a:r>
              <a:rPr sz="1656" b="0" i="0">
                <a:solidFill>
                  <a:schemeClr val="accent5">
                    <a:lumMod val="75000"/>
                  </a:schemeClr>
                </a:solidFill>
              </a:rPr>
              <a:t> : ensemble de paquets qui partagent le même 5-tuple (IP source, IP destination, port source, port destination, protocole)</a:t>
            </a:r>
          </a:p>
        </p:txBody>
      </p:sp>
      <p:graphicFrame>
        <p:nvGraphicFramePr>
          <p:cNvPr id="9005" name="Table 9004"/>
          <p:cNvGraphicFramePr>
            <a:graphicFrameLocks xmlns:a="http://schemas.openxmlformats.org/drawingml/2006/main" noGrp="1"/>
          </p:cNvGraphicFramePr>
          <p:nvPr/>
        </p:nvGraphicFramePr>
        <p:xfrm>
          <a:off x="838504" y="3977639"/>
          <a:ext cx="6935264" cy="1554480"/>
        </p:xfrm>
        <a:graphic>
          <a:graphicData uri="http://schemas.openxmlformats.org/drawingml/2006/table">
            <a:tbl>
              <a:tblPr firstRow="1" bandRow="0"/>
              <a:tblGrid>
                <a:gridCol w="780217"/>
                <a:gridCol w="1300362"/>
                <a:gridCol w="1300362"/>
                <a:gridCol w="866908"/>
                <a:gridCol w="866908"/>
                <a:gridCol w="780217"/>
                <a:gridCol w="1040290"/>
              </a:tblGrid>
              <a:tr h="31089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Paquet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IP source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IP dest.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Port src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Port dst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Proto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Taille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192.0.2.10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203.0.113.7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52144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443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TCP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74 o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192.0.2.10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203.0.113.7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52144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443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TCP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66 o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192.0.2.10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203.0.113.7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52144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443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TCP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517 o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192.0.2.10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203.0.113.7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52144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443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TCP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1 460 o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9006" name="Connector 9005"/>
          <p:cNvCxnSpPr/>
          <p:nvPr/>
        </p:nvCxnSpPr>
        <p:spPr>
          <a:xfrm>
            <a:off x="7903809" y="4754880"/>
            <a:ext cx="520145" cy="0"/>
          </a:xfrm>
          <a:prstGeom prst="line">
            <a:avLst/>
          </a:prstGeom>
          <a:ln w="38100">
            <a:solidFill>
              <a:schemeClr val="accent5"/>
            </a:solidFill>
            <a:tailEnd type="triangle"/>
          </a:ln>
        </p:spPr>
      </p:cxnSp>
      <p:sp>
        <p:nvSpPr>
          <p:cNvPr id="9007" name="Rounded Rectangle 9006"/>
          <p:cNvSpPr/>
          <p:nvPr/>
        </p:nvSpPr>
        <p:spPr>
          <a:xfrm>
            <a:off x="8467299" y="4069080"/>
            <a:ext cx="2886805" cy="13716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 w="15875">
            <a:solidFill>
              <a:srgbClr val="BFBFBF"/>
            </a:solidFill>
          </a:ln>
        </p:spPr>
        <p:txBody>
          <a:bodyPr wrap="square" lIns="101600" tIns="101600" rIns="101600" bIns="101600" rtlCol="0" anchor="ctr">
            <a:noAutofit/>
          </a:bodyPr>
          <a:lstStyle/>
          <a:p>
            <a:pPr algn="l">
              <a:buNone/>
            </a:pPr>
            <a:r>
              <a:rPr sz="1196" b="0" i="0">
                <a:solidFill>
                  <a:srgbClr val="1F1F1F"/>
                </a:solidFill>
              </a:rPr>
              <a:t>Un flux</a:t>
            </a:r>
          </a:p>
          <a:p>
            <a:pPr algn="l">
              <a:buNone/>
            </a:pPr>
            <a:r>
              <a:rPr sz="1196" b="0" i="0">
                <a:solidFill>
                  <a:srgbClr val="1F1F1F"/>
                </a:solidFill>
              </a:rPr>
              <a:t>192.0.2.10:52144 → 203.0.113.7:443</a:t>
            </a:r>
          </a:p>
          <a:p>
            <a:pPr algn="l">
              <a:buNone/>
            </a:pPr>
            <a:r>
              <a:rPr sz="1196" b="0" i="0">
                <a:solidFill>
                  <a:srgbClr val="1F1F1F"/>
                </a:solidFill>
              </a:rPr>
              <a:t>TCP, 4 paquets, 2 117 octets</a:t>
            </a:r>
          </a:p>
        </p:txBody>
      </p:sp>
      <p:sp>
        <p:nvSpPr>
          <p:cNvPr id="9008" name="TextBox 9007"/>
          <p:cNvSpPr txBox="1"/>
          <p:nvPr/>
        </p:nvSpPr>
        <p:spPr>
          <a:xfrm>
            <a:off x="838504" y="57150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472" b="0" i="1">
                <a:solidFill>
                  <a:schemeClr val="accent2"/>
                </a:solidFill>
              </a:rPr>
              <a:t>Les outils suivants (NetFlow, IPFIX, sFlow) construisent ces flux directement sur le routeur, sans capturer les paquets.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Qu’est-ce que NetFlow et IPFIX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452628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NetFlow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technologie de Cisco (versions 5 et 9) où le routeur construit lui-même des enregistrements de flux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IPFIX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standard de l’IETF (RFC 7011), issu de NetFlow v9 et indépendant du constructeur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Principe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l’équipement garde en mémoire les flux en cours, puis exporte chaque enregistrement terminé vers un collecteur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Différence avec sFlow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NetFlow et IPFIX comptent en principe tous les paquets (l’échantillonnage est optionnel) ; sFlow échantillonne toujours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NetFlow et IPFIX : à quoi ça sert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Rounded Rectangle 9003"/>
          <p:cNvSpPr/>
          <p:nvPr/>
        </p:nvSpPr>
        <p:spPr>
          <a:xfrm>
            <a:off x="838504" y="1645920"/>
            <a:ext cx="2860798" cy="1188720"/>
          </a:xfrm>
          <a:prstGeom prst="roundRect">
            <a:avLst>
              <a:gd name="adj" fmla="val 6153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Routeur / switch</a:t>
            </a:r>
          </a:p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(cache de flux, exporteur)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4652902" y="1645920"/>
            <a:ext cx="2600725" cy="1188720"/>
          </a:xfrm>
          <a:prstGeom prst="roundRect">
            <a:avLst>
              <a:gd name="adj" fmla="val 6153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Collecteur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8207226" y="1645920"/>
            <a:ext cx="3146877" cy="1188720"/>
          </a:xfrm>
          <a:prstGeom prst="roundRect">
            <a:avLst>
              <a:gd name="adj" fmla="val 6153"/>
            </a:avLst>
          </a:prstGeom>
          <a:solidFill>
            <a:schemeClr val="accent5"/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472" b="1" i="0">
                <a:solidFill>
                  <a:schemeClr val="bg1"/>
                </a:solidFill>
              </a:rPr>
              <a:t>Analyse / ML</a:t>
            </a:r>
          </a:p>
        </p:txBody>
      </p:sp>
      <p:cxnSp>
        <p:nvCxnSpPr>
          <p:cNvPr id="9007" name="Connector 9006"/>
          <p:cNvCxnSpPr/>
          <p:nvPr/>
        </p:nvCxnSpPr>
        <p:spPr>
          <a:xfrm>
            <a:off x="3742648" y="2240280"/>
            <a:ext cx="866908" cy="0"/>
          </a:xfrm>
          <a:prstGeom prst="line">
            <a:avLst/>
          </a:prstGeom>
          <a:ln w="31750">
            <a:solidFill>
              <a:schemeClr val="accent5"/>
            </a:solidFill>
            <a:tailEnd type="triangle"/>
          </a:ln>
        </p:spPr>
      </p:cxnSp>
      <p:cxnSp>
        <p:nvCxnSpPr>
          <p:cNvPr id="9008" name="Connector 9007"/>
          <p:cNvCxnSpPr/>
          <p:nvPr/>
        </p:nvCxnSpPr>
        <p:spPr>
          <a:xfrm>
            <a:off x="7296973" y="2240280"/>
            <a:ext cx="866908" cy="0"/>
          </a:xfrm>
          <a:prstGeom prst="line">
            <a:avLst/>
          </a:prstGeom>
          <a:ln w="31750">
            <a:solidFill>
              <a:schemeClr val="accent5"/>
            </a:solidFill>
            <a:tailEnd type="triangle"/>
          </a:ln>
        </p:spPr>
      </p:cxnSp>
      <p:sp>
        <p:nvSpPr>
          <p:cNvPr id="9009" name="TextBox 9008"/>
          <p:cNvSpPr txBox="1"/>
          <p:nvPr/>
        </p:nvSpPr>
        <p:spPr>
          <a:xfrm>
            <a:off x="3699302" y="1828800"/>
            <a:ext cx="95359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012" b="0" i="0">
                <a:solidFill>
                  <a:schemeClr val="tx2"/>
                </a:solidFill>
              </a:rPr>
              <a:t>export UDP</a:t>
            </a:r>
          </a:p>
        </p:txBody>
      </p:sp>
      <p:sp>
        <p:nvSpPr>
          <p:cNvPr id="9010" name="Rounded Rectangle 9009"/>
          <p:cNvSpPr/>
          <p:nvPr/>
        </p:nvSpPr>
        <p:spPr>
          <a:xfrm>
            <a:off x="838504" y="3200400"/>
            <a:ext cx="5114760" cy="2834640"/>
          </a:xfrm>
          <a:prstGeom prst="roundRect">
            <a:avLst>
              <a:gd name="adj" fmla="val 258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1" name="TextBox 9010"/>
          <p:cNvSpPr txBox="1"/>
          <p:nvPr/>
        </p:nvSpPr>
        <p:spPr>
          <a:xfrm>
            <a:off x="1098577" y="3337560"/>
            <a:ext cx="468130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À quoi ça sert</a:t>
            </a:r>
          </a:p>
        </p:txBody>
      </p:sp>
      <p:sp>
        <p:nvSpPr>
          <p:cNvPr id="9012" name="TextBox 9011"/>
          <p:cNvSpPr txBox="1"/>
          <p:nvPr/>
        </p:nvSpPr>
        <p:spPr>
          <a:xfrm>
            <a:off x="1098577" y="3840480"/>
            <a:ext cx="4681305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Voir qui parle à qui, et combien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Détecter scans et DDoS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Planifier la capacité, enquêter après un incident</a:t>
            </a:r>
          </a:p>
        </p:txBody>
      </p:sp>
      <p:sp>
        <p:nvSpPr>
          <p:cNvPr id="9013" name="Rounded Rectangle 9012"/>
          <p:cNvSpPr/>
          <p:nvPr/>
        </p:nvSpPr>
        <p:spPr>
          <a:xfrm>
            <a:off x="6239344" y="3200400"/>
            <a:ext cx="5114760" cy="2834640"/>
          </a:xfrm>
          <a:prstGeom prst="roundRect">
            <a:avLst>
              <a:gd name="adj" fmla="val 258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4" name="TextBox 9013"/>
          <p:cNvSpPr txBox="1"/>
          <p:nvPr/>
        </p:nvSpPr>
        <p:spPr>
          <a:xfrm>
            <a:off x="6499417" y="3337560"/>
            <a:ext cx="468130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Réglages</a:t>
            </a:r>
          </a:p>
        </p:txBody>
      </p:sp>
      <p:sp>
        <p:nvSpPr>
          <p:cNvPr id="9015" name="TextBox 9014"/>
          <p:cNvSpPr txBox="1"/>
          <p:nvPr/>
        </p:nvSpPr>
        <p:spPr>
          <a:xfrm>
            <a:off x="6499417" y="3840480"/>
            <a:ext cx="4681305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Timeouts actif et inactif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Taux d’échantillonnage (optionnel)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Champs exportés (IPFIX, extensible)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sFlow : échantillonner plutôt que tout compter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452628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sFlow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technologie d’échantillonnage présente sur de nombreux commutateurs et routeurs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Principe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l’équipement copie </a:t>
            </a: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1 paquet sur N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(ex. N = 1000) et l’envoie à un collecteur, avec les compteurs d’interface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Avantage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charge très faible, même à 100 Gb/s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Limite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la vue est statistique, on estime le trafic en multipliant par N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Question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quelle part des petits flux échappe à cette observation ?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Que perd-on avec l’échantillonnage ?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Chart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554480"/>
          <a:ext cx="6415122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7513700" y="1645920"/>
            <a:ext cx="3840404" cy="4480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Question</a:t>
            </a: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 : avec 1 paquet sur 1000, voit-on un flux de k paquets ?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Formule</a:t>
            </a: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 : P(voir au moins 1 paquet) = 1 − (1 − 1/N)^k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Exemple</a:t>
            </a: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 : k = 100 donne P = 1 − 0,999^100 ≈ 9,5 %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Lecture</a:t>
            </a: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 : un gros flux (10 000 paquets : DDoS, vidéo) est vu à coup sûr ; un scan de 3 paquets par cible n’a que 0,3 % de chances d’être vu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Qu’est-ce que SNMP ?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600200"/>
            <a:ext cx="6068359" cy="4480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656" b="1" i="0">
                <a:solidFill>
                  <a:schemeClr val="accent5">
                    <a:lumMod val="75000"/>
                  </a:schemeClr>
                </a:solidFill>
              </a:rPr>
              <a:t>SNMP</a:t>
            </a:r>
            <a:r>
              <a:rPr sz="1656" b="0" i="0">
                <a:solidFill>
                  <a:schemeClr val="accent5">
                    <a:lumMod val="75000"/>
                  </a:schemeClr>
                </a:solidFill>
              </a:rPr>
              <a:t> (Simple Network Management Protocol) : protocole standard de supervision des équipements, créé en 1988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656" b="1" i="0">
                <a:solidFill>
                  <a:schemeClr val="accent5">
                    <a:lumMod val="75000"/>
                  </a:schemeClr>
                </a:solidFill>
              </a:rPr>
              <a:t>Gestionnaire</a:t>
            </a:r>
            <a:r>
              <a:rPr sz="1656" b="0" i="0">
                <a:solidFill>
                  <a:schemeClr val="accent5">
                    <a:lumMod val="75000"/>
                  </a:schemeClr>
                </a:solidFill>
              </a:rPr>
              <a:t> : le serveur de supervision, qui interroge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656" b="1" i="0">
                <a:solidFill>
                  <a:schemeClr val="accent5">
                    <a:lumMod val="75000"/>
                  </a:schemeClr>
                </a:solidFill>
              </a:rPr>
              <a:t>Agent</a:t>
            </a:r>
            <a:r>
              <a:rPr sz="1656" b="0" i="0">
                <a:solidFill>
                  <a:schemeClr val="accent5">
                    <a:lumMod val="75000"/>
                  </a:schemeClr>
                </a:solidFill>
              </a:rPr>
              <a:t> : un logiciel sur chaque équipement, qui répond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656" b="1" i="0">
                <a:solidFill>
                  <a:schemeClr val="accent5">
                    <a:lumMod val="75000"/>
                  </a:schemeClr>
                </a:solidFill>
              </a:rPr>
              <a:t>MIB</a:t>
            </a:r>
            <a:r>
              <a:rPr sz="1656" b="0" i="0">
                <a:solidFill>
                  <a:schemeClr val="accent5">
                    <a:lumMod val="75000"/>
                  </a:schemeClr>
                </a:solidFill>
              </a:rPr>
              <a:t> : le catalogue des grandeurs mesurables (octets par interface, CPU, état des ports)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7600391" y="2651760"/>
            <a:ext cx="1733816" cy="9144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bg1"/>
                </a:solidFill>
              </a:rPr>
              <a:t>Gestionnaire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9767662" y="1737360"/>
            <a:ext cx="1586442" cy="822960"/>
          </a:xfrm>
          <a:prstGeom prst="roundRect">
            <a:avLst>
              <a:gd name="adj" fmla="val 8888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Routeur</a:t>
            </a:r>
          </a:p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(agent)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9767662" y="3657600"/>
            <a:ext cx="1586442" cy="822960"/>
          </a:xfrm>
          <a:prstGeom prst="roundRect">
            <a:avLst>
              <a:gd name="adj" fmla="val 8888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Switch</a:t>
            </a:r>
          </a:p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(agent)</a:t>
            </a:r>
          </a:p>
        </p:txBody>
      </p:sp>
      <p:cxnSp>
        <p:nvCxnSpPr>
          <p:cNvPr id="9008" name="Connector 9007"/>
          <p:cNvCxnSpPr/>
          <p:nvPr/>
        </p:nvCxnSpPr>
        <p:spPr>
          <a:xfrm flipV="1">
            <a:off x="9377553" y="2286000"/>
            <a:ext cx="346763" cy="548640"/>
          </a:xfrm>
          <a:prstGeom prst="line">
            <a:avLst/>
          </a:prstGeom>
          <a:ln w="25400">
            <a:solidFill>
              <a:schemeClr val="tx2"/>
            </a:solidFill>
            <a:headEnd type="triangle"/>
            <a:tailEnd type="triangle"/>
          </a:ln>
        </p:spPr>
      </p:cxnSp>
      <p:cxnSp>
        <p:nvCxnSpPr>
          <p:cNvPr id="9009" name="Connector 9008"/>
          <p:cNvCxnSpPr/>
          <p:nvPr/>
        </p:nvCxnSpPr>
        <p:spPr>
          <a:xfrm>
            <a:off x="9377553" y="3383280"/>
            <a:ext cx="346763" cy="548640"/>
          </a:xfrm>
          <a:prstGeom prst="line">
            <a:avLst/>
          </a:prstGeom>
          <a:ln w="25400">
            <a:solidFill>
              <a:schemeClr val="tx2"/>
            </a:solidFill>
            <a:headEnd type="triangle"/>
            <a:tailEnd type="triangle"/>
          </a:ln>
        </p:spPr>
      </p:cxnSp>
      <p:sp>
        <p:nvSpPr>
          <p:cNvPr id="9010" name="TextBox 9009"/>
          <p:cNvSpPr txBox="1"/>
          <p:nvPr/>
        </p:nvSpPr>
        <p:spPr>
          <a:xfrm>
            <a:off x="7427009" y="4754880"/>
            <a:ext cx="390108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288" b="0" i="0">
                <a:solidFill>
                  <a:schemeClr val="tx2"/>
                </a:solidFill>
              </a:rPr>
              <a:t>GET : lire un compteur</a:t>
            </a:r>
          </a:p>
          <a:p>
            <a:pPr algn="l">
              <a:buNone/>
            </a:pPr>
            <a:r>
              <a:rPr sz="1288" b="0" i="0">
                <a:solidFill>
                  <a:schemeClr val="tx2"/>
                </a:solidFill>
              </a:rPr>
              <a:t>TRAP : alerte envoyée par l’équipement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SNMP : un exemple de requête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Rounded Rectangle 9003"/>
          <p:cNvSpPr/>
          <p:nvPr/>
        </p:nvSpPr>
        <p:spPr>
          <a:xfrm>
            <a:off x="838504" y="1600200"/>
            <a:ext cx="6675195" cy="4526280"/>
          </a:xfrm>
          <a:prstGeom prst="roundRect">
            <a:avLst>
              <a:gd name="adj" fmla="val 1010"/>
            </a:avLst>
          </a:prstGeom>
          <a:solidFill>
            <a:srgbClr val="F2F2F2"/>
          </a:solidFill>
          <a:ln w="15875">
            <a:solidFill>
              <a:srgbClr val="BFBFBF"/>
            </a:solidFill>
          </a:ln>
        </p:spPr>
        <p:txBody>
          <a:bodyPr rtlCol="0" anchor="ctr"/>
          <a:lstStyle/>
          <a:p/>
        </p:txBody>
      </p:sp>
      <p:sp>
        <p:nvSpPr>
          <p:cNvPr id="9005" name="TextBox 9004"/>
          <p:cNvSpPr txBox="1"/>
          <p:nvPr/>
        </p:nvSpPr>
        <p:spPr>
          <a:xfrm>
            <a:off x="1055231" y="1783080"/>
            <a:ext cx="6241741" cy="4160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# Lire le compteur d’octets reçus de l’interface 2</a:t>
            </a:r>
          </a:p>
          <a:p>
            <a:pPr algn="l">
              <a:buNone/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snmpget -v2c -c public 192.0.2.1 \</a:t>
            </a:r>
          </a:p>
          <a:p>
            <a:pPr algn="l">
              <a:buNone/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  IF-MIB::ifInOctets.2</a:t>
            </a:r>
          </a:p>
          <a:p>
            <a:pPr algn="l">
              <a:buNone/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/>
            </a:r>
          </a:p>
          <a:p>
            <a:pPr algn="l">
              <a:buNone/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# Réponse de l’agent</a:t>
            </a:r>
          </a:p>
          <a:p>
            <a:pPr algn="l">
              <a:buNone/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IF-MIB::ifInOctets.2 = Counter32: 8412903211</a:t>
            </a:r>
          </a:p>
          <a:p>
            <a:pPr algn="l">
              <a:buNone/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/>
            </a:r>
          </a:p>
          <a:p>
            <a:pPr algn="l">
              <a:buNone/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# OID correspondant</a:t>
            </a:r>
          </a:p>
          <a:p>
            <a:pPr algn="l">
              <a:buNone/>
            </a:pPr>
            <a:r>
              <a:rPr sz="1300" b="0" i="0">
                <a:solidFill>
                  <a:srgbClr val="1F1F1F"/>
                </a:solidFill>
                <a:latin typeface="Courier New"/>
              </a:rPr>
              <a:t>1.3.6.1.2.1.2.2.1.10.2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7817118" y="1645920"/>
            <a:ext cx="3536986" cy="4480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Opérations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GET, GETBULK, SET, TRAP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OID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l’identifiant de la grandeur (ici ifInOctets)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Transport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UDP, ports 161 et 162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Versions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v2c (communauté en clair), v3 (authentifiée et chiffrée)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Mode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polling, le gestionnaire interroge à intervalle régulier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Qu’est-ce que gNMI ?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600200"/>
            <a:ext cx="6068359" cy="4480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656" b="1" i="0">
                <a:solidFill>
                  <a:schemeClr val="accent5">
                    <a:lumMod val="75000"/>
                  </a:schemeClr>
                </a:solidFill>
              </a:rPr>
              <a:t>gNMI</a:t>
            </a:r>
            <a:r>
              <a:rPr sz="1656" b="0" i="0">
                <a:solidFill>
                  <a:schemeClr val="accent5">
                    <a:lumMod val="75000"/>
                  </a:schemeClr>
                </a:solidFill>
              </a:rPr>
              <a:t> (gRPC Network Management Interface) : protocole moderne de supervision et de configuration, défini par OpenConfig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656" b="1" i="0">
                <a:solidFill>
                  <a:schemeClr val="accent5">
                    <a:lumMod val="75000"/>
                  </a:schemeClr>
                </a:solidFill>
              </a:rPr>
              <a:t>Principe</a:t>
            </a:r>
            <a:r>
              <a:rPr sz="1656" b="0" i="0">
                <a:solidFill>
                  <a:schemeClr val="accent5">
                    <a:lumMod val="75000"/>
                  </a:schemeClr>
                </a:solidFill>
              </a:rPr>
              <a:t> : au lieu d’être interrogé, l’équipement </a:t>
            </a:r>
            <a:r>
              <a:rPr sz="1656" b="1" i="0">
                <a:solidFill>
                  <a:schemeClr val="accent5">
                    <a:lumMod val="75000"/>
                  </a:schemeClr>
                </a:solidFill>
              </a:rPr>
              <a:t>publie</a:t>
            </a:r>
            <a:r>
              <a:rPr sz="1656" b="0" i="0">
                <a:solidFill>
                  <a:schemeClr val="accent5">
                    <a:lumMod val="75000"/>
                  </a:schemeClr>
                </a:solidFill>
              </a:rPr>
              <a:t> ses mesures en continu (streaming telemetry)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656" b="1" i="0">
                <a:solidFill>
                  <a:schemeClr val="accent5">
                    <a:lumMod val="75000"/>
                  </a:schemeClr>
                </a:solidFill>
              </a:rPr>
              <a:t>Données</a:t>
            </a:r>
            <a:r>
              <a:rPr sz="1656" b="0" i="0">
                <a:solidFill>
                  <a:schemeClr val="accent5">
                    <a:lumMod val="75000"/>
                  </a:schemeClr>
                </a:solidFill>
              </a:rPr>
              <a:t> : décrites par des modèles YANG et adressées par un chemin (ex. /interfaces/interface/state/counters)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656" b="1" i="0">
                <a:solidFill>
                  <a:schemeClr val="accent5">
                    <a:lumMod val="75000"/>
                  </a:schemeClr>
                </a:solidFill>
              </a:rPr>
              <a:t>Pourquoi après SNMP</a:t>
            </a:r>
            <a:r>
              <a:rPr sz="1656" b="0" i="0">
                <a:solidFill>
                  <a:schemeClr val="accent5">
                    <a:lumMod val="75000"/>
                  </a:schemeClr>
                </a:solidFill>
              </a:rPr>
              <a:t> : mesures plus fréquentes (secondes) et moins de charge sur l’équipement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7600391" y="2286000"/>
            <a:ext cx="1733816" cy="914400"/>
          </a:xfrm>
          <a:prstGeom prst="roundRect">
            <a:avLst>
              <a:gd name="adj" fmla="val 8000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Équipement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9854353" y="2286000"/>
            <a:ext cx="1499751" cy="9144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bg1"/>
                </a:solidFill>
              </a:rPr>
              <a:t>Collecteur</a:t>
            </a:r>
          </a:p>
        </p:txBody>
      </p:sp>
      <p:cxnSp>
        <p:nvCxnSpPr>
          <p:cNvPr id="9007" name="Connector 9006"/>
          <p:cNvCxnSpPr/>
          <p:nvPr/>
        </p:nvCxnSpPr>
        <p:spPr>
          <a:xfrm>
            <a:off x="9377553" y="2880360"/>
            <a:ext cx="433454" cy="0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</p:cxnSp>
      <p:cxnSp>
        <p:nvCxnSpPr>
          <p:cNvPr id="9008" name="Connector 9007"/>
          <p:cNvCxnSpPr/>
          <p:nvPr/>
        </p:nvCxnSpPr>
        <p:spPr>
          <a:xfrm flipH="1">
            <a:off x="9377553" y="2606040"/>
            <a:ext cx="433454" cy="0"/>
          </a:xfrm>
          <a:prstGeom prst="line">
            <a:avLst/>
          </a:prstGeom>
          <a:ln w="25400">
            <a:solidFill>
              <a:schemeClr val="tx2"/>
            </a:solidFill>
            <a:prstDash val="dash"/>
            <a:tailEnd type="triangle"/>
          </a:ln>
        </p:spPr>
      </p:cxnSp>
      <p:sp>
        <p:nvSpPr>
          <p:cNvPr id="9009" name="TextBox 9008"/>
          <p:cNvSpPr txBox="1"/>
          <p:nvPr/>
        </p:nvSpPr>
        <p:spPr>
          <a:xfrm>
            <a:off x="7427009" y="3474720"/>
            <a:ext cx="390108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288" b="0" i="0">
                <a:solidFill>
                  <a:schemeClr val="tx2"/>
                </a:solidFill>
              </a:rPr>
              <a:t>Subscribe (abonnement), puis flux continu de mesures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gNMI : un exemple d’abonnement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Rounded Rectangle 9003"/>
          <p:cNvSpPr/>
          <p:nvPr/>
        </p:nvSpPr>
        <p:spPr>
          <a:xfrm>
            <a:off x="838504" y="1600200"/>
            <a:ext cx="6675195" cy="4526280"/>
          </a:xfrm>
          <a:prstGeom prst="roundRect">
            <a:avLst>
              <a:gd name="adj" fmla="val 1010"/>
            </a:avLst>
          </a:prstGeom>
          <a:solidFill>
            <a:srgbClr val="F2F2F2"/>
          </a:solidFill>
          <a:ln w="15875">
            <a:solidFill>
              <a:srgbClr val="BFBFBF"/>
            </a:solidFill>
          </a:ln>
        </p:spPr>
        <p:txBody>
          <a:bodyPr rtlCol="0" anchor="ctr"/>
          <a:lstStyle/>
          <a:p/>
        </p:txBody>
      </p:sp>
      <p:sp>
        <p:nvSpPr>
          <p:cNvPr id="9005" name="TextBox 9004"/>
          <p:cNvSpPr txBox="1"/>
          <p:nvPr/>
        </p:nvSpPr>
        <p:spPr>
          <a:xfrm>
            <a:off x="1055231" y="1783080"/>
            <a:ext cx="6241741" cy="4160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200" b="0" i="0">
                <a:solidFill>
                  <a:srgbClr val="1F1F1F"/>
                </a:solidFill>
                <a:latin typeface="Courier New"/>
              </a:rPr>
              <a:t># Souscrire aux compteurs d’interface,</a:t>
            </a:r>
          </a:p>
          <a:p>
            <a:pPr algn="l">
              <a:buNone/>
            </a:pPr>
            <a:r>
              <a:rPr sz="1200" b="0" i="0">
                <a:solidFill>
                  <a:srgbClr val="1F1F1F"/>
                </a:solidFill>
                <a:latin typeface="Courier New"/>
              </a:rPr>
              <a:t># une mesure toutes les 10 secondes</a:t>
            </a:r>
          </a:p>
          <a:p>
            <a:pPr algn="l">
              <a:buNone/>
            </a:pPr>
            <a:r>
              <a:rPr sz="1200" b="0" i="0">
                <a:solidFill>
                  <a:srgbClr val="1F1F1F"/>
                </a:solidFill>
                <a:latin typeface="Courier New"/>
              </a:rPr>
              <a:t>gnmic -a 192.0.2.1:57400 subscribe \</a:t>
            </a:r>
          </a:p>
          <a:p>
            <a:pPr algn="l">
              <a:buNone/>
            </a:pPr>
            <a:r>
              <a:rPr sz="1200" b="0" i="0">
                <a:solidFill>
                  <a:srgbClr val="1F1F1F"/>
                </a:solidFill>
                <a:latin typeface="Courier New"/>
              </a:rPr>
              <a:t>  --path "/interfaces/interface/state/counters" \</a:t>
            </a:r>
          </a:p>
          <a:p>
            <a:pPr algn="l">
              <a:buNone/>
            </a:pPr>
            <a:r>
              <a:rPr sz="1200" b="0" i="0">
                <a:solidFill>
                  <a:srgbClr val="1F1F1F"/>
                </a:solidFill>
                <a:latin typeface="Courier New"/>
              </a:rPr>
              <a:t>  --mode stream \</a:t>
            </a:r>
          </a:p>
          <a:p>
            <a:pPr algn="l">
              <a:buNone/>
            </a:pPr>
            <a:r>
              <a:rPr sz="1200" b="0" i="0">
                <a:solidFill>
                  <a:srgbClr val="1F1F1F"/>
                </a:solidFill>
                <a:latin typeface="Courier New"/>
              </a:rPr>
              <a:t>  --stream-mode sample \</a:t>
            </a:r>
          </a:p>
          <a:p>
            <a:pPr algn="l">
              <a:buNone/>
            </a:pPr>
            <a:r>
              <a:rPr sz="1200" b="0" i="0">
                <a:solidFill>
                  <a:srgbClr val="1F1F1F"/>
                </a:solidFill>
                <a:latin typeface="Courier New"/>
              </a:rPr>
              <a:t>  --sample-interval 10s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7817118" y="1645920"/>
            <a:ext cx="3536986" cy="4480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Subscribe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l’équipement publie en continu, à intervalle fixe ou sur changement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Transport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gRPC (HTTP/2) avec TLS, encodage protobuf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Opérations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Get, Set, Capabilities, Subscribe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Intérêt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fréquence fine et moins de charge que le polling SNMP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SNMP ou streaming telemetry ?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Table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645920"/>
          <a:ext cx="10515599" cy="3840480"/>
        </p:xfrm>
        <a:graphic>
          <a:graphicData uri="http://schemas.openxmlformats.org/drawingml/2006/table">
            <a:tbl>
              <a:tblPr firstRow="1" bandRow="0"/>
              <a:tblGrid>
                <a:gridCol w="2600725"/>
                <a:gridCol w="3814397"/>
                <a:gridCol w="4100477"/>
              </a:tblGrid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/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SNMP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Streaming telemetry (gNMI)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Modèle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Pull : le collecteur interroge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Push : l’équipement publie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Fréquence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Minutes (polling)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Secondes ou moins, sur événement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Modèle de données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MIB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YANG / OpenConfig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Encodage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ASN.1 / BER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Protobuf sur gRPC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Charge équipement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Élevée si polling fréquent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Plus efficace à grande échelle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La télémétrie en continu fournit des séries temporelles fines, directement exploitables par des modèles.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INT : la télémétrie dans les paquets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554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748" b="0" i="0">
                <a:solidFill>
                  <a:schemeClr val="tx2"/>
                </a:solidFill>
              </a:rPr>
              <a:t>INT (In-band Network Telemetry) : chaque équipement traversé ajoute ses propres mesures dans le paquet lui-même.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838504" y="2377440"/>
            <a:ext cx="1733816" cy="731520"/>
          </a:xfrm>
          <a:prstGeom prst="roundRect">
            <a:avLst>
              <a:gd name="adj" fmla="val 10000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Source</a:t>
            </a:r>
          </a:p>
        </p:txBody>
      </p:sp>
      <p:cxnSp>
        <p:nvCxnSpPr>
          <p:cNvPr id="9006" name="Connector 9005"/>
          <p:cNvCxnSpPr/>
          <p:nvPr/>
        </p:nvCxnSpPr>
        <p:spPr>
          <a:xfrm>
            <a:off x="2589659" y="2743200"/>
            <a:ext cx="398778" cy="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sp>
        <p:nvSpPr>
          <p:cNvPr id="9007" name="Rounded Rectangle 9006"/>
          <p:cNvSpPr/>
          <p:nvPr/>
        </p:nvSpPr>
        <p:spPr>
          <a:xfrm>
            <a:off x="3005776" y="2377440"/>
            <a:ext cx="1733816" cy="731520"/>
          </a:xfrm>
          <a:prstGeom prst="roundRect">
            <a:avLst>
              <a:gd name="adj" fmla="val 10000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Switch 1</a:t>
            </a:r>
          </a:p>
        </p:txBody>
      </p:sp>
      <p:cxnSp>
        <p:nvCxnSpPr>
          <p:cNvPr id="9008" name="Connector 9007"/>
          <p:cNvCxnSpPr/>
          <p:nvPr/>
        </p:nvCxnSpPr>
        <p:spPr>
          <a:xfrm>
            <a:off x="4756931" y="2743200"/>
            <a:ext cx="398778" cy="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sp>
        <p:nvSpPr>
          <p:cNvPr id="9009" name="Rounded Rectangle 9008"/>
          <p:cNvSpPr/>
          <p:nvPr/>
        </p:nvSpPr>
        <p:spPr>
          <a:xfrm>
            <a:off x="5173047" y="2377440"/>
            <a:ext cx="1733816" cy="731520"/>
          </a:xfrm>
          <a:prstGeom prst="roundRect">
            <a:avLst>
              <a:gd name="adj" fmla="val 10000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Switch 2</a:t>
            </a:r>
          </a:p>
        </p:txBody>
      </p:sp>
      <p:cxnSp>
        <p:nvCxnSpPr>
          <p:cNvPr id="9010" name="Connector 9009"/>
          <p:cNvCxnSpPr/>
          <p:nvPr/>
        </p:nvCxnSpPr>
        <p:spPr>
          <a:xfrm>
            <a:off x="6924202" y="2743200"/>
            <a:ext cx="398778" cy="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sp>
        <p:nvSpPr>
          <p:cNvPr id="9011" name="Rounded Rectangle 9010"/>
          <p:cNvSpPr/>
          <p:nvPr/>
        </p:nvSpPr>
        <p:spPr>
          <a:xfrm>
            <a:off x="7340318" y="2377440"/>
            <a:ext cx="1733816" cy="731520"/>
          </a:xfrm>
          <a:prstGeom prst="roundRect">
            <a:avLst>
              <a:gd name="adj" fmla="val 10000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Switch 3</a:t>
            </a:r>
          </a:p>
        </p:txBody>
      </p:sp>
      <p:cxnSp>
        <p:nvCxnSpPr>
          <p:cNvPr id="9012" name="Connector 9011"/>
          <p:cNvCxnSpPr/>
          <p:nvPr/>
        </p:nvCxnSpPr>
        <p:spPr>
          <a:xfrm>
            <a:off x="9091473" y="2743200"/>
            <a:ext cx="398778" cy="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sp>
        <p:nvSpPr>
          <p:cNvPr id="9013" name="Rounded Rectangle 9012"/>
          <p:cNvSpPr/>
          <p:nvPr/>
        </p:nvSpPr>
        <p:spPr>
          <a:xfrm>
            <a:off x="9507589" y="2377440"/>
            <a:ext cx="1733816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bg1"/>
                </a:solidFill>
              </a:rPr>
              <a:t>Collecteur</a:t>
            </a:r>
          </a:p>
        </p:txBody>
      </p:sp>
      <p:sp>
        <p:nvSpPr>
          <p:cNvPr id="9014" name="Rounded Rectangle 9013"/>
          <p:cNvSpPr/>
          <p:nvPr/>
        </p:nvSpPr>
        <p:spPr>
          <a:xfrm>
            <a:off x="3005776" y="3383280"/>
            <a:ext cx="866908" cy="457200"/>
          </a:xfrm>
          <a:prstGeom prst="roundRect">
            <a:avLst>
              <a:gd name="adj" fmla="val 16000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paquet</a:t>
            </a:r>
          </a:p>
        </p:txBody>
      </p:sp>
      <p:sp>
        <p:nvSpPr>
          <p:cNvPr id="9015" name="Rounded Rectangle 9014"/>
          <p:cNvSpPr/>
          <p:nvPr/>
        </p:nvSpPr>
        <p:spPr>
          <a:xfrm>
            <a:off x="3872684" y="3383280"/>
            <a:ext cx="390108" cy="457200"/>
          </a:xfrm>
          <a:prstGeom prst="roundRect">
            <a:avLst>
              <a:gd name="adj" fmla="val 18751"/>
            </a:avLst>
          </a:prstGeom>
          <a:solidFill>
            <a:schemeClr val="accent2">
              <a:alpha val="8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104" b="1" i="0">
                <a:solidFill>
                  <a:schemeClr val="accent5">
                    <a:lumMod val="75000"/>
                  </a:schemeClr>
                </a:solidFill>
              </a:rPr>
              <a:t>M1</a:t>
            </a:r>
          </a:p>
        </p:txBody>
      </p:sp>
      <p:sp>
        <p:nvSpPr>
          <p:cNvPr id="9016" name="Rounded Rectangle 9015"/>
          <p:cNvSpPr/>
          <p:nvPr/>
        </p:nvSpPr>
        <p:spPr>
          <a:xfrm>
            <a:off x="5173047" y="3383280"/>
            <a:ext cx="866908" cy="457200"/>
          </a:xfrm>
          <a:prstGeom prst="roundRect">
            <a:avLst>
              <a:gd name="adj" fmla="val 16000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paquet</a:t>
            </a:r>
          </a:p>
        </p:txBody>
      </p:sp>
      <p:sp>
        <p:nvSpPr>
          <p:cNvPr id="9017" name="Rounded Rectangle 9016"/>
          <p:cNvSpPr/>
          <p:nvPr/>
        </p:nvSpPr>
        <p:spPr>
          <a:xfrm>
            <a:off x="6039955" y="3383280"/>
            <a:ext cx="390108" cy="457200"/>
          </a:xfrm>
          <a:prstGeom prst="roundRect">
            <a:avLst>
              <a:gd name="adj" fmla="val 18751"/>
            </a:avLst>
          </a:prstGeom>
          <a:solidFill>
            <a:schemeClr val="accent2">
              <a:alpha val="8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104" b="1" i="0">
                <a:solidFill>
                  <a:schemeClr val="accent5">
                    <a:lumMod val="75000"/>
                  </a:schemeClr>
                </a:solidFill>
              </a:rPr>
              <a:t>M1</a:t>
            </a:r>
          </a:p>
        </p:txBody>
      </p:sp>
      <p:sp>
        <p:nvSpPr>
          <p:cNvPr id="9018" name="Rounded Rectangle 9017"/>
          <p:cNvSpPr/>
          <p:nvPr/>
        </p:nvSpPr>
        <p:spPr>
          <a:xfrm>
            <a:off x="6430064" y="3383280"/>
            <a:ext cx="390108" cy="457200"/>
          </a:xfrm>
          <a:prstGeom prst="roundRect">
            <a:avLst>
              <a:gd name="adj" fmla="val 18751"/>
            </a:avLst>
          </a:prstGeom>
          <a:solidFill>
            <a:schemeClr val="accent2">
              <a:alpha val="8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104" b="1" i="0">
                <a:solidFill>
                  <a:schemeClr val="accent5">
                    <a:lumMod val="75000"/>
                  </a:schemeClr>
                </a:solidFill>
              </a:rPr>
              <a:t>M2</a:t>
            </a:r>
          </a:p>
        </p:txBody>
      </p:sp>
      <p:sp>
        <p:nvSpPr>
          <p:cNvPr id="9019" name="Rounded Rectangle 9018"/>
          <p:cNvSpPr/>
          <p:nvPr/>
        </p:nvSpPr>
        <p:spPr>
          <a:xfrm>
            <a:off x="7340318" y="3383280"/>
            <a:ext cx="866908" cy="457200"/>
          </a:xfrm>
          <a:prstGeom prst="roundRect">
            <a:avLst>
              <a:gd name="adj" fmla="val 16000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paquet</a:t>
            </a:r>
          </a:p>
        </p:txBody>
      </p:sp>
      <p:sp>
        <p:nvSpPr>
          <p:cNvPr id="9020" name="Rounded Rectangle 9019"/>
          <p:cNvSpPr/>
          <p:nvPr/>
        </p:nvSpPr>
        <p:spPr>
          <a:xfrm>
            <a:off x="8207226" y="3383280"/>
            <a:ext cx="390108" cy="457200"/>
          </a:xfrm>
          <a:prstGeom prst="roundRect">
            <a:avLst>
              <a:gd name="adj" fmla="val 18751"/>
            </a:avLst>
          </a:prstGeom>
          <a:solidFill>
            <a:schemeClr val="accent2">
              <a:alpha val="8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104" b="1" i="0">
                <a:solidFill>
                  <a:schemeClr val="accent5">
                    <a:lumMod val="75000"/>
                  </a:schemeClr>
                </a:solidFill>
              </a:rPr>
              <a:t>M1</a:t>
            </a:r>
          </a:p>
        </p:txBody>
      </p:sp>
      <p:sp>
        <p:nvSpPr>
          <p:cNvPr id="9021" name="Rounded Rectangle 9020"/>
          <p:cNvSpPr/>
          <p:nvPr/>
        </p:nvSpPr>
        <p:spPr>
          <a:xfrm>
            <a:off x="8597335" y="3383280"/>
            <a:ext cx="390108" cy="457200"/>
          </a:xfrm>
          <a:prstGeom prst="roundRect">
            <a:avLst>
              <a:gd name="adj" fmla="val 18751"/>
            </a:avLst>
          </a:prstGeom>
          <a:solidFill>
            <a:schemeClr val="accent2">
              <a:alpha val="8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104" b="1" i="0">
                <a:solidFill>
                  <a:schemeClr val="accent5">
                    <a:lumMod val="75000"/>
                  </a:schemeClr>
                </a:solidFill>
              </a:rPr>
              <a:t>M2</a:t>
            </a:r>
          </a:p>
        </p:txBody>
      </p:sp>
      <p:sp>
        <p:nvSpPr>
          <p:cNvPr id="9022" name="Rounded Rectangle 9021"/>
          <p:cNvSpPr/>
          <p:nvPr/>
        </p:nvSpPr>
        <p:spPr>
          <a:xfrm>
            <a:off x="8987444" y="3383280"/>
            <a:ext cx="390108" cy="457200"/>
          </a:xfrm>
          <a:prstGeom prst="roundRect">
            <a:avLst>
              <a:gd name="adj" fmla="val 18751"/>
            </a:avLst>
          </a:prstGeom>
          <a:solidFill>
            <a:schemeClr val="accent2">
              <a:alpha val="8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104" b="1" i="0">
                <a:solidFill>
                  <a:schemeClr val="accent5">
                    <a:lumMod val="75000"/>
                  </a:schemeClr>
                </a:solidFill>
              </a:rPr>
              <a:t>M3</a:t>
            </a:r>
          </a:p>
        </p:txBody>
      </p:sp>
      <p:sp>
        <p:nvSpPr>
          <p:cNvPr id="9023" name="Rounded Rectangle 9022"/>
          <p:cNvSpPr/>
          <p:nvPr/>
        </p:nvSpPr>
        <p:spPr>
          <a:xfrm>
            <a:off x="9507589" y="3383280"/>
            <a:ext cx="1846515" cy="457200"/>
          </a:xfrm>
          <a:prstGeom prst="roundRect">
            <a:avLst>
              <a:gd name="adj" fmla="val 16000"/>
            </a:avLst>
          </a:prstGeom>
          <a:solidFill>
            <a:schemeClr val="accent2">
              <a:alpha val="4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M1 + M2 + M3</a:t>
            </a:r>
          </a:p>
        </p:txBody>
      </p:sp>
      <p:sp>
        <p:nvSpPr>
          <p:cNvPr id="9024" name="TextBox 9023"/>
          <p:cNvSpPr txBox="1"/>
          <p:nvPr/>
        </p:nvSpPr>
        <p:spPr>
          <a:xfrm>
            <a:off x="838504" y="3977639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196" b="0" i="1">
                <a:solidFill>
                  <a:schemeClr val="tx2"/>
                </a:solidFill>
              </a:rPr>
              <a:t>M = métadonnées d’un équipement : identifiant, horodatages, longueur de file</a:t>
            </a:r>
          </a:p>
        </p:txBody>
      </p:sp>
      <p:sp>
        <p:nvSpPr>
          <p:cNvPr id="9025" name="TextBox 9024"/>
          <p:cNvSpPr txBox="1"/>
          <p:nvPr/>
        </p:nvSpPr>
        <p:spPr>
          <a:xfrm>
            <a:off x="838504" y="45720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Atout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vue précise du chemin et des délais de file, paquet par paquet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Limites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matériel programmable (P4), octets ajoutés à chaque paquet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Mesures actives et mesures passives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452628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Mesures actives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on injecte des sondes (ping, traceroute, iperf3, RIPE Atlas) pour mesurer le bout en bout</a:t>
            </a:r>
          </a:p>
          <a:p>
            <a:pPr marL="857250" lvl="1" indent="-342900" algn="l">
              <a:spcAft>
                <a:spcPts val="4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Contrôlées et reproductibles, mais elles ajoutent de la charge et ne reflètent pas toujours le trafic réel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Mesures passives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on observe le trafic existant (TAP, flux, télémétrie)</a:t>
            </a:r>
          </a:p>
          <a:p>
            <a:pPr marL="857250" lvl="1" indent="-342900" algn="l">
              <a:spcAft>
                <a:spcPts val="4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Non intrusives et représentatives, mais dépendantes du trafic présent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En pratique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on combine les deux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Qu’est-ce qu’un SIEM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452628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SIEM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Security Information and Event Management. Il combine la gestion des logs (SIM) et l’analyse des événements en temps réel (SEM)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Il collecte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les logs de sources très différentes : pare-feu, serveurs, IDS, cloud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Il normalise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ces logs dans un format commun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Il stocke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les logs pour l’investigation et la conformité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Il corrèle et détecte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règles, puis ML (UEBA)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Il alerte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une console unique pour les analystes du SOC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La gestion des logs : le pipeline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5544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748" b="0" i="0">
                <a:solidFill>
                  <a:schemeClr val="tx2"/>
                </a:solidFill>
              </a:rPr>
              <a:t>Le SIEM transforme des logs dispersés en alertes exploitables, en cinq étapes.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838504" y="2468880"/>
            <a:ext cx="1825709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1. Sources</a:t>
            </a:r>
          </a:p>
        </p:txBody>
      </p:sp>
      <p:cxnSp>
        <p:nvCxnSpPr>
          <p:cNvPr id="9006" name="Connector 9005"/>
          <p:cNvCxnSpPr/>
          <p:nvPr/>
        </p:nvCxnSpPr>
        <p:spPr>
          <a:xfrm>
            <a:off x="2698890" y="2834640"/>
            <a:ext cx="277411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07" name="TextBox 9006"/>
          <p:cNvSpPr txBox="1"/>
          <p:nvPr/>
        </p:nvSpPr>
        <p:spPr>
          <a:xfrm>
            <a:off x="838504" y="3310128"/>
            <a:ext cx="1825709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Pare-feu, serveurs, IDS, flux, cloud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3010977" y="2468880"/>
            <a:ext cx="1825709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2. Collecte</a:t>
            </a:r>
          </a:p>
        </p:txBody>
      </p:sp>
      <p:cxnSp>
        <p:nvCxnSpPr>
          <p:cNvPr id="9009" name="Connector 9008"/>
          <p:cNvCxnSpPr/>
          <p:nvPr/>
        </p:nvCxnSpPr>
        <p:spPr>
          <a:xfrm>
            <a:off x="4871363" y="2834640"/>
            <a:ext cx="277410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10" name="TextBox 9009"/>
          <p:cNvSpPr txBox="1"/>
          <p:nvPr/>
        </p:nvSpPr>
        <p:spPr>
          <a:xfrm>
            <a:off x="3010977" y="3310128"/>
            <a:ext cx="1825709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syslog, agents (Beats, Wazuh), API</a:t>
            </a:r>
          </a:p>
        </p:txBody>
      </p:sp>
      <p:sp>
        <p:nvSpPr>
          <p:cNvPr id="9011" name="Rounded Rectangle 9010"/>
          <p:cNvSpPr/>
          <p:nvPr/>
        </p:nvSpPr>
        <p:spPr>
          <a:xfrm>
            <a:off x="5183450" y="2468880"/>
            <a:ext cx="1825709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3. Normalisation</a:t>
            </a:r>
          </a:p>
        </p:txBody>
      </p:sp>
      <p:cxnSp>
        <p:nvCxnSpPr>
          <p:cNvPr id="9012" name="Connector 9011"/>
          <p:cNvCxnSpPr/>
          <p:nvPr/>
        </p:nvCxnSpPr>
        <p:spPr>
          <a:xfrm>
            <a:off x="7043835" y="2834640"/>
            <a:ext cx="277411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13" name="TextBox 9012"/>
          <p:cNvSpPr txBox="1"/>
          <p:nvPr/>
        </p:nvSpPr>
        <p:spPr>
          <a:xfrm>
            <a:off x="5183450" y="3310128"/>
            <a:ext cx="1825709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Format commun (ex. ECS) pour comparer des logs différents</a:t>
            </a:r>
          </a:p>
        </p:txBody>
      </p:sp>
      <p:sp>
        <p:nvSpPr>
          <p:cNvPr id="9014" name="Rounded Rectangle 9013"/>
          <p:cNvSpPr/>
          <p:nvPr/>
        </p:nvSpPr>
        <p:spPr>
          <a:xfrm>
            <a:off x="7355922" y="2468880"/>
            <a:ext cx="1825709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4. Stockage</a:t>
            </a:r>
          </a:p>
        </p:txBody>
      </p:sp>
      <p:cxnSp>
        <p:nvCxnSpPr>
          <p:cNvPr id="9015" name="Connector 9014"/>
          <p:cNvCxnSpPr/>
          <p:nvPr/>
        </p:nvCxnSpPr>
        <p:spPr>
          <a:xfrm>
            <a:off x="9216308" y="2834640"/>
            <a:ext cx="277411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16" name="TextBox 9015"/>
          <p:cNvSpPr txBox="1"/>
          <p:nvPr/>
        </p:nvSpPr>
        <p:spPr>
          <a:xfrm>
            <a:off x="7355922" y="3310128"/>
            <a:ext cx="1825709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Index, recherche rapide, rétention</a:t>
            </a:r>
          </a:p>
        </p:txBody>
      </p:sp>
      <p:sp>
        <p:nvSpPr>
          <p:cNvPr id="9017" name="Rounded Rectangle 9016"/>
          <p:cNvSpPr/>
          <p:nvPr/>
        </p:nvSpPr>
        <p:spPr>
          <a:xfrm>
            <a:off x="9528395" y="2468880"/>
            <a:ext cx="1825709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bg1"/>
                </a:solidFill>
              </a:rPr>
              <a:t>5. Corrélation</a:t>
            </a:r>
          </a:p>
        </p:txBody>
      </p:sp>
      <p:sp>
        <p:nvSpPr>
          <p:cNvPr id="9018" name="TextBox 9017"/>
          <p:cNvSpPr txBox="1"/>
          <p:nvPr/>
        </p:nvSpPr>
        <p:spPr>
          <a:xfrm>
            <a:off x="9528395" y="3310128"/>
            <a:ext cx="1825709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Règles et ML qui relient des événements et lèvent des alertes</a:t>
            </a:r>
          </a:p>
        </p:txBody>
      </p:sp>
      <p:sp>
        <p:nvSpPr>
          <p:cNvPr id="9019" name="TextBox 9018"/>
          <p:cNvSpPr txBox="1"/>
          <p:nvPr/>
        </p:nvSpPr>
        <p:spPr>
          <a:xfrm>
            <a:off x="838504" y="52120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Les étapes 3, 4 et 5 sont détaillées dans les slides suivantes ; la corrélation est le sujet de la partie 4.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Normaliser un événement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Rounded Rectangle 9003"/>
          <p:cNvSpPr/>
          <p:nvPr/>
        </p:nvSpPr>
        <p:spPr>
          <a:xfrm>
            <a:off x="838504" y="1600200"/>
            <a:ext cx="6675195" cy="4526280"/>
          </a:xfrm>
          <a:prstGeom prst="roundRect">
            <a:avLst>
              <a:gd name="adj" fmla="val 1010"/>
            </a:avLst>
          </a:prstGeom>
          <a:solidFill>
            <a:srgbClr val="F2F2F2"/>
          </a:solidFill>
          <a:ln w="15875">
            <a:solidFill>
              <a:srgbClr val="BFBFBF"/>
            </a:solidFill>
          </a:ln>
        </p:spPr>
        <p:txBody>
          <a:bodyPr rtlCol="0" anchor="ctr"/>
          <a:lstStyle/>
          <a:p/>
        </p:txBody>
      </p:sp>
      <p:sp>
        <p:nvSpPr>
          <p:cNvPr id="9005" name="TextBox 9004"/>
          <p:cNvSpPr txBox="1"/>
          <p:nvPr/>
        </p:nvSpPr>
        <p:spPr>
          <a:xfrm>
            <a:off x="1055231" y="1783080"/>
            <a:ext cx="6241741" cy="4160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# Log brut (syslog)</a:t>
            </a:r>
          </a:p>
          <a:p>
            <a:pPr algn="l">
              <a:buNone/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Oct  4 14:02:11 srv1 sshd[812]: Failed password</a:t>
            </a:r>
          </a:p>
          <a:p>
            <a:pPr algn="l">
              <a:buNone/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  for root from 203.0.113.7 port 52144 ssh2</a:t>
            </a:r>
          </a:p>
          <a:p>
            <a:pPr algn="l">
              <a:buNone/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/>
            </a:r>
          </a:p>
          <a:p>
            <a:pPr algn="l">
              <a:buNone/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# Événement normalisé (schéma de type ECS)</a:t>
            </a:r>
          </a:p>
          <a:p>
            <a:pPr algn="l">
              <a:buNone/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{</a:t>
            </a:r>
          </a:p>
          <a:p>
            <a:pPr algn="l">
              <a:buNone/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  "@timestamp": "2026-10-04T14:02:11Z",</a:t>
            </a:r>
          </a:p>
          <a:p>
            <a:pPr algn="l">
              <a:buNone/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  "host.name": "srv1",</a:t>
            </a:r>
          </a:p>
          <a:p>
            <a:pPr algn="l">
              <a:buNone/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  "event.category": "authentication",</a:t>
            </a:r>
          </a:p>
          <a:p>
            <a:pPr algn="l">
              <a:buNone/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  "event.outcome": "failure",</a:t>
            </a:r>
          </a:p>
          <a:p>
            <a:pPr algn="l">
              <a:buNone/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  "user.name": "root",</a:t>
            </a:r>
          </a:p>
          <a:p>
            <a:pPr algn="l">
              <a:buNone/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  "source.ip": "203.0.113.7",</a:t>
            </a:r>
          </a:p>
          <a:p>
            <a:pPr algn="l">
              <a:buNone/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  "source.port": 52144</a:t>
            </a:r>
          </a:p>
          <a:p>
            <a:pPr algn="l">
              <a:buNone/>
            </a:pPr>
            <a:r>
              <a:rPr sz="1400" b="0" i="0">
                <a:solidFill>
                  <a:srgbClr val="1F1F1F"/>
                </a:solidFill>
                <a:latin typeface="Courier New"/>
              </a:rPr>
              <a:t>}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7817118" y="1645920"/>
            <a:ext cx="3536986" cy="4480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Champs communs : corrélation entre sources hétérogènes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ECS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(Elastic Common Schema) : noms de champs standardisés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Parsing : grok, décodeurs Wazuh, pipelines d’ingestion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La qualité du parsing fixe la qualité des détections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Stockage et conservation des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452628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840" b="1" i="0">
                <a:solidFill>
                  <a:schemeClr val="accent5">
                    <a:lumMod val="75000"/>
                  </a:schemeClr>
                </a:solidFill>
              </a:rPr>
              <a:t>Pourquoi stocker</a:t>
            </a:r>
            <a:r>
              <a:rPr sz="1840" b="0" i="0">
                <a:solidFill>
                  <a:schemeClr val="accent5">
                    <a:lumMod val="75000"/>
                  </a:schemeClr>
                </a:solidFill>
              </a:rPr>
              <a:t> : enquêter après un incident, prouver la conformité, entraîner des modèles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840" b="1" i="0">
                <a:solidFill>
                  <a:schemeClr val="accent5">
                    <a:lumMod val="75000"/>
                  </a:schemeClr>
                </a:solidFill>
              </a:rPr>
              <a:t>Indexer</a:t>
            </a:r>
            <a:r>
              <a:rPr sz="1840" b="0" i="0">
                <a:solidFill>
                  <a:schemeClr val="accent5">
                    <a:lumMod val="75000"/>
                  </a:schemeClr>
                </a:solidFill>
              </a:rPr>
              <a:t> : rendre la recherche rapide sur des millions d’événements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840" b="1" i="0">
                <a:solidFill>
                  <a:schemeClr val="accent5">
                    <a:lumMod val="75000"/>
                  </a:schemeClr>
                </a:solidFill>
              </a:rPr>
              <a:t>Niveaux de stockage</a:t>
            </a:r>
            <a:r>
              <a:rPr sz="1840" b="0" i="0">
                <a:solidFill>
                  <a:schemeClr val="accent5">
                    <a:lumMod val="75000"/>
                  </a:schemeClr>
                </a:solidFill>
              </a:rPr>
              <a:t> : récent (rapide, cher), ancien (lent, peu cher), archive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840" b="1" i="0">
                <a:solidFill>
                  <a:schemeClr val="accent5">
                    <a:lumMod val="75000"/>
                  </a:schemeClr>
                </a:solidFill>
              </a:rPr>
              <a:t>Rétention</a:t>
            </a:r>
            <a:r>
              <a:rPr sz="1840" b="0" i="0">
                <a:solidFill>
                  <a:schemeClr val="accent5">
                    <a:lumMod val="75000"/>
                  </a:schemeClr>
                </a:solidFill>
              </a:rPr>
              <a:t> : durée fixée par la loi et la politique de sécurité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840" b="1" i="0">
                <a:solidFill>
                  <a:schemeClr val="accent5">
                    <a:lumMod val="75000"/>
                  </a:schemeClr>
                </a:solidFill>
              </a:rPr>
              <a:t>Coût</a:t>
            </a:r>
            <a:r>
              <a:rPr sz="1840" b="0" i="0">
                <a:solidFill>
                  <a:schemeClr val="accent5">
                    <a:lumMod val="75000"/>
                  </a:schemeClr>
                </a:solidFill>
              </a:rPr>
              <a:t> : l’ingestion est souvent facturée au volume, d’où l’intérêt de filtrer et de résumer avant d’envoyer (partie 3)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840" b="1" i="0">
                <a:solidFill>
                  <a:schemeClr val="accent5">
                    <a:lumMod val="75000"/>
                  </a:schemeClr>
                </a:solidFill>
              </a:rPr>
              <a:t>Lien avec l’IA</a:t>
            </a:r>
            <a:r>
              <a:rPr sz="1840" b="0" i="0">
                <a:solidFill>
                  <a:schemeClr val="accent5">
                    <a:lumMod val="75000"/>
                  </a:schemeClr>
                </a:solidFill>
              </a:rPr>
              <a:t> : ces logs historiques servent de données d’entraînement (partie 2)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La corrélation : relier des événements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5544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840" b="0" i="0">
                <a:solidFill>
                  <a:schemeClr val="tx2"/>
                </a:solidFill>
              </a:rPr>
              <a:t>Un événement isolé est banal ; c’est la séquence qui est suspecte.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838504" y="2377440"/>
            <a:ext cx="2600725" cy="1005840"/>
          </a:xfrm>
          <a:prstGeom prst="roundRect">
            <a:avLst>
              <a:gd name="adj" fmla="val 7272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5 échecs de connexion SSH en 1 minute</a:t>
            </a:r>
          </a:p>
        </p:txBody>
      </p:sp>
      <p:cxnSp>
        <p:nvCxnSpPr>
          <p:cNvPr id="9006" name="Connector 9005"/>
          <p:cNvCxnSpPr/>
          <p:nvPr/>
        </p:nvCxnSpPr>
        <p:spPr>
          <a:xfrm>
            <a:off x="3465237" y="2880360"/>
            <a:ext cx="294749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07" name="Rounded Rectangle 9006"/>
          <p:cNvSpPr/>
          <p:nvPr/>
        </p:nvSpPr>
        <p:spPr>
          <a:xfrm>
            <a:off x="3785993" y="2377440"/>
            <a:ext cx="2600725" cy="1005840"/>
          </a:xfrm>
          <a:prstGeom prst="roundRect">
            <a:avLst>
              <a:gd name="adj" fmla="val 7272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Connexion réussie depuis la même IP</a:t>
            </a:r>
          </a:p>
        </p:txBody>
      </p:sp>
      <p:cxnSp>
        <p:nvCxnSpPr>
          <p:cNvPr id="9008" name="Connector 9007"/>
          <p:cNvCxnSpPr/>
          <p:nvPr/>
        </p:nvCxnSpPr>
        <p:spPr>
          <a:xfrm>
            <a:off x="6412726" y="2880360"/>
            <a:ext cx="294749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09" name="Rounded Rectangle 9008"/>
          <p:cNvSpPr/>
          <p:nvPr/>
        </p:nvSpPr>
        <p:spPr>
          <a:xfrm>
            <a:off x="6733482" y="2377440"/>
            <a:ext cx="2600725" cy="1005840"/>
          </a:xfrm>
          <a:prstGeom prst="roundRect">
            <a:avLst>
              <a:gd name="adj" fmla="val 7272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Transfert sortant inhabituel</a:t>
            </a:r>
          </a:p>
        </p:txBody>
      </p:sp>
      <p:cxnSp>
        <p:nvCxnSpPr>
          <p:cNvPr id="9010" name="Connector 9009"/>
          <p:cNvCxnSpPr/>
          <p:nvPr/>
        </p:nvCxnSpPr>
        <p:spPr>
          <a:xfrm>
            <a:off x="10114425" y="2880360"/>
            <a:ext cx="346764" cy="0"/>
          </a:xfrm>
          <a:prstGeom prst="line">
            <a:avLst/>
          </a:prstGeom>
          <a:ln w="38100">
            <a:solidFill>
              <a:srgbClr val="C00000"/>
            </a:solidFill>
            <a:tailEnd type="triangle"/>
          </a:ln>
        </p:spPr>
      </p:cxnSp>
      <p:sp>
        <p:nvSpPr>
          <p:cNvPr id="9011" name="Rounded Rectangle 9010"/>
          <p:cNvSpPr/>
          <p:nvPr/>
        </p:nvSpPr>
        <p:spPr>
          <a:xfrm>
            <a:off x="10461189" y="2377440"/>
            <a:ext cx="892915" cy="1005840"/>
          </a:xfrm>
          <a:prstGeom prst="roundRect">
            <a:avLst>
              <a:gd name="adj" fmla="val 8192"/>
            </a:avLst>
          </a:prstGeom>
          <a:solidFill>
            <a:srgbClr val="C00000"/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bg1"/>
                </a:solidFill>
              </a:rPr>
              <a:t>Alerte</a:t>
            </a:r>
          </a:p>
        </p:txBody>
      </p:sp>
      <p:sp>
        <p:nvSpPr>
          <p:cNvPr id="9012" name="TextBox 9011"/>
          <p:cNvSpPr txBox="1"/>
          <p:nvPr/>
        </p:nvSpPr>
        <p:spPr>
          <a:xfrm>
            <a:off x="838504" y="3840480"/>
            <a:ext cx="1051560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Règle de corrélation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écrite à la main par un expert (ex. cette séquence en moins de 10 minutes)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Corrélation apprise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un modèle repère des séquences inhabituelles sans règle écrite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Les deux approches sont comparées dans la partie 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Panorama des SIEM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Table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645920"/>
          <a:ext cx="10515598" cy="4389120"/>
        </p:xfrm>
        <a:graphic>
          <a:graphicData uri="http://schemas.openxmlformats.org/drawingml/2006/table">
            <a:tbl>
              <a:tblPr firstRow="1" bandRow="0"/>
              <a:tblGrid>
                <a:gridCol w="2253962"/>
                <a:gridCol w="1820507"/>
                <a:gridCol w="1820507"/>
                <a:gridCol w="4620622"/>
              </a:tblGrid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Outil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Modèle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Requêtes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Particularité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Splunk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Commercial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SPL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Très répandu ; coût lié au volume ingéré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Elastic Security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Open core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KQL, EQL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Schéma ECS, modules de ML intégrés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Microsoft Sentinel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Cloud (Azure)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KQL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Facturation à l’ingestion, intégration Microsoft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IBM QRadar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Commercial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AQL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Corrélation orientée « offenses »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Wazuh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Open source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OpenSearch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HIDS + SIEM, idéal pour les TP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Granularité, volume, coût : le compromis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Rounded Rectangle 9003"/>
          <p:cNvSpPr/>
          <p:nvPr/>
        </p:nvSpPr>
        <p:spPr>
          <a:xfrm>
            <a:off x="2572321" y="1554480"/>
            <a:ext cx="2253962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656" b="1" i="0">
                <a:solidFill>
                  <a:schemeClr val="bg1"/>
                </a:solidFill>
              </a:rPr>
              <a:t>Granularité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838504" y="4480560"/>
            <a:ext cx="208058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656" b="1" i="0">
                <a:solidFill>
                  <a:schemeClr val="bg1"/>
                </a:solidFill>
              </a:rPr>
              <a:t>Volume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4479520" y="4480560"/>
            <a:ext cx="2080580" cy="73152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656" b="1" i="0">
                <a:solidFill>
                  <a:schemeClr val="bg1"/>
                </a:solidFill>
              </a:rPr>
              <a:t>Coût</a:t>
            </a:r>
          </a:p>
        </p:txBody>
      </p:sp>
      <p:cxnSp>
        <p:nvCxnSpPr>
          <p:cNvPr id="9007" name="Connector 9006"/>
          <p:cNvCxnSpPr/>
          <p:nvPr/>
        </p:nvCxnSpPr>
        <p:spPr>
          <a:xfrm flipH="1">
            <a:off x="1965485" y="2331720"/>
            <a:ext cx="1126981" cy="210312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cxnSp>
        <p:nvCxnSpPr>
          <p:cNvPr id="9008" name="Connector 9007"/>
          <p:cNvCxnSpPr/>
          <p:nvPr/>
        </p:nvCxnSpPr>
        <p:spPr>
          <a:xfrm>
            <a:off x="4306138" y="2331720"/>
            <a:ext cx="1126981" cy="210312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cxnSp>
        <p:nvCxnSpPr>
          <p:cNvPr id="9009" name="Connector 9008"/>
          <p:cNvCxnSpPr/>
          <p:nvPr/>
        </p:nvCxnSpPr>
        <p:spPr>
          <a:xfrm>
            <a:off x="2962430" y="4846320"/>
            <a:ext cx="1473745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10" name="TextBox 9009"/>
          <p:cNvSpPr txBox="1"/>
          <p:nvPr/>
        </p:nvSpPr>
        <p:spPr>
          <a:xfrm>
            <a:off x="838504" y="3017520"/>
            <a:ext cx="164712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sz="1104" b="0" i="0">
                <a:solidFill>
                  <a:schemeClr val="tx2"/>
                </a:solidFill>
              </a:rPr>
              <a:t>plus fin = plus de données</a:t>
            </a:r>
          </a:p>
        </p:txBody>
      </p:sp>
      <p:sp>
        <p:nvSpPr>
          <p:cNvPr id="9011" name="TextBox 9010"/>
          <p:cNvSpPr txBox="1"/>
          <p:nvPr/>
        </p:nvSpPr>
        <p:spPr>
          <a:xfrm>
            <a:off x="4999665" y="3017520"/>
            <a:ext cx="1820507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104" b="0" i="0">
                <a:solidFill>
                  <a:schemeClr val="tx2"/>
                </a:solidFill>
              </a:rPr>
              <a:t>plus de données = plus de stockage</a:t>
            </a:r>
          </a:p>
        </p:txBody>
      </p:sp>
      <p:sp>
        <p:nvSpPr>
          <p:cNvPr id="9012" name="TextBox 9011"/>
          <p:cNvSpPr txBox="1"/>
          <p:nvPr/>
        </p:nvSpPr>
        <p:spPr>
          <a:xfrm>
            <a:off x="2919085" y="5285232"/>
            <a:ext cx="156043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tx2"/>
                </a:solidFill>
              </a:rPr>
              <a:t>ingestion SIEM</a:t>
            </a:r>
          </a:p>
        </p:txBody>
      </p:sp>
      <p:sp>
        <p:nvSpPr>
          <p:cNvPr id="9013" name="TextBox 9012"/>
          <p:cNvSpPr txBox="1"/>
          <p:nvPr/>
        </p:nvSpPr>
        <p:spPr>
          <a:xfrm>
            <a:off x="7253627" y="1554480"/>
            <a:ext cx="4100477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Paquets complets</a:t>
            </a: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 : fidélité maximale, stockage ingérable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Flux</a:t>
            </a: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 : bon compromis, perte de détail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Échantillonnage</a:t>
            </a: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 : volume faible, biais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SIEM</a:t>
            </a: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 : le coût d’ingestion pousse à filtrer ou résumer avant d’envoyer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Chiffrement : ce qui reste visible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Table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645920"/>
          <a:ext cx="10515599" cy="3840480"/>
        </p:xfrm>
        <a:graphic>
          <a:graphicData uri="http://schemas.openxmlformats.org/drawingml/2006/table">
            <a:tbl>
              <a:tblPr firstRow="1" bandRow="0"/>
              <a:tblGrid>
                <a:gridCol w="2947488"/>
                <a:gridCol w="2253962"/>
                <a:gridCol w="2860798"/>
                <a:gridCol w="2453351"/>
              </a:tblGrid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Élément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TLS 1.2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TLS 1.3 / QUIC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Avec ECH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En-têtes IP, ports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Visibles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Visibles (QUIC : UDP/443)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Visibles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SNI (nom du site)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En clair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En clair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Chiffré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Certificat serveur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En clair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Chiffré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Chiffré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Charge utile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Chiffrée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Chiffrée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Chiffrée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Tailles, rythme, direction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Visibles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Visibles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Visibles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Le DPI classique recule ; restent les métadonnées : d’où le ML sur les tailles et les temps.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Vie privée et RGPD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388620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Donnée personnelle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une adresse IP identifie le plus souvent une personne (jurisprudence européenne).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Minimisation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ne collecter que ce qui sert la finalité : en-têtes plutôt que contenu.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Anonymisation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crypto-PAn : les IP sont remplacées en préservant les préfixes, donc la structure du réseau.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Conservation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durée limitée, accès contrôlé, finalité documentée (sécurité, supervision).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Slide pour information : on ne détaille pas le cadre juridique dans ce cours.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Étiquetage : le vrai goulot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388620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Étiqueter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associer à chaque donnée la réponse attendue (sa classe). Exemple : ce flux est de la vidéo, ce paquet fait partie d’une attaque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Pourquoi c’est un goulot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un modèle supervisé a besoin de milliers d’exemples étiquetés, rarement disponibles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D’où viennent les étiquettes ?</a:t>
            </a:r>
          </a:p>
          <a:p>
            <a:pPr marL="857250" lvl="1" indent="-342900" algn="l">
              <a:spcAft>
                <a:spcPts val="400"/>
              </a:spcAft>
              <a:buFont typeface="Arial"/>
              <a:buChar char="•"/>
            </a:pP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Testbed, simulation : contrôlé et reproductible, mais peu réaliste</a:t>
            </a:r>
          </a:p>
          <a:p>
            <a:pPr marL="857250" lvl="1" indent="-342900" algn="l">
              <a:spcAft>
                <a:spcPts val="400"/>
              </a:spcAft>
              <a:buFont typeface="Arial"/>
              <a:buChar char="•"/>
            </a:pP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Règles ou IDS : rapide, mais circulaire (le modèle apprend la règle)</a:t>
            </a:r>
          </a:p>
          <a:p>
            <a:pPr marL="857250" lvl="1" indent="-342900" algn="l">
              <a:spcAft>
                <a:spcPts val="400"/>
              </a:spcAft>
              <a:buFont typeface="Arial"/>
              <a:buChar char="•"/>
            </a:pP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Annotation experte : fiable, mais lente et coûteuse</a:t>
            </a:r>
          </a:p>
          <a:p>
            <a:pPr marL="857250" lvl="1" indent="-342900" algn="l">
              <a:spcAft>
                <a:spcPts val="400"/>
              </a:spcAft>
              <a:buFont typeface="Arial"/>
              <a:buChar char="•"/>
            </a:pP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Télémétrie client : excellente vérité terrain pour la QoE (côté plateforme)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Sans vérité terrain fiable, on ne sait ni entraîner ni évaluer correctement.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À retenir : la collecte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452628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Où ?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hôte, lien, équipement, application : chaque point de vue a ses angles morts.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Comment ?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TAP et SPAN pour les paquets, eBPF pour le contexte hôte, flux et télémétrie pour un volume maîtrisé.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À quel prix ?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volume, chiffrement, vie privée et étiquetage dictent la suite du pipeline.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L’IA : entrées, sorties, modèles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Plusieurs familles : IA, ML, deep learning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Rounded Rectangle 9003"/>
          <p:cNvSpPr/>
          <p:nvPr/>
        </p:nvSpPr>
        <p:spPr>
          <a:xfrm>
            <a:off x="838504" y="1463040"/>
            <a:ext cx="6761886" cy="4572000"/>
          </a:xfrm>
          <a:prstGeom prst="roundRect">
            <a:avLst>
              <a:gd name="adj" fmla="val 1600"/>
            </a:avLst>
          </a:prstGeom>
          <a:solidFill>
            <a:schemeClr val="accent5">
              <a:alpha val="10000"/>
            </a:schemeClr>
          </a:solidFill>
          <a:ln w="15875">
            <a:solidFill>
              <a:schemeClr val="accent5"/>
            </a:solidFill>
          </a:ln>
        </p:spPr>
        <p:txBody>
          <a:bodyPr rtlCol="0" anchor="ctr"/>
          <a:lstStyle/>
          <a:p/>
        </p:txBody>
      </p:sp>
      <p:sp>
        <p:nvSpPr>
          <p:cNvPr id="9005" name="TextBox 9004"/>
          <p:cNvSpPr txBox="1"/>
          <p:nvPr/>
        </p:nvSpPr>
        <p:spPr>
          <a:xfrm>
            <a:off x="1055231" y="1554480"/>
            <a:ext cx="433454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Intelligence artificielle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1185268" y="2057400"/>
            <a:ext cx="6068359" cy="3749039"/>
          </a:xfrm>
          <a:prstGeom prst="roundRect">
            <a:avLst>
              <a:gd name="adj" fmla="val 1951"/>
            </a:avLst>
          </a:prstGeom>
          <a:solidFill>
            <a:schemeClr val="accent5">
              <a:alpha val="20000"/>
            </a:schemeClr>
          </a:solidFill>
          <a:ln w="15875">
            <a:solidFill>
              <a:schemeClr val="accent5"/>
            </a:solidFill>
          </a:ln>
        </p:spPr>
        <p:txBody>
          <a:bodyPr rtlCol="0" anchor="ctr"/>
          <a:lstStyle/>
          <a:p/>
        </p:txBody>
      </p:sp>
      <p:sp>
        <p:nvSpPr>
          <p:cNvPr id="9007" name="TextBox 9006"/>
          <p:cNvSpPr txBox="1"/>
          <p:nvPr/>
        </p:nvSpPr>
        <p:spPr>
          <a:xfrm>
            <a:off x="1401995" y="2148840"/>
            <a:ext cx="433454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Machine learning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1532031" y="2651760"/>
            <a:ext cx="5374832" cy="2971800"/>
          </a:xfrm>
          <a:prstGeom prst="roundRect">
            <a:avLst>
              <a:gd name="adj" fmla="val 2461"/>
            </a:avLst>
          </a:prstGeom>
          <a:solidFill>
            <a:schemeClr val="accent5">
              <a:alpha val="38000"/>
            </a:schemeClr>
          </a:solidFill>
          <a:ln w="15875">
            <a:solidFill>
              <a:schemeClr val="accent5"/>
            </a:solidFill>
          </a:ln>
        </p:spPr>
        <p:txBody>
          <a:bodyPr rtlCol="0" anchor="ctr"/>
          <a:lstStyle/>
          <a:p/>
        </p:txBody>
      </p:sp>
      <p:sp>
        <p:nvSpPr>
          <p:cNvPr id="9009" name="TextBox 9008"/>
          <p:cNvSpPr txBox="1"/>
          <p:nvPr/>
        </p:nvSpPr>
        <p:spPr>
          <a:xfrm>
            <a:off x="1748758" y="2743200"/>
            <a:ext cx="433454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Deep learning</a:t>
            </a:r>
          </a:p>
        </p:txBody>
      </p:sp>
      <p:sp>
        <p:nvSpPr>
          <p:cNvPr id="9010" name="Rounded Rectangle 9009"/>
          <p:cNvSpPr/>
          <p:nvPr/>
        </p:nvSpPr>
        <p:spPr>
          <a:xfrm>
            <a:off x="1878794" y="3291840"/>
            <a:ext cx="4681305" cy="2103120"/>
          </a:xfrm>
          <a:prstGeom prst="roundRect">
            <a:avLst>
              <a:gd name="adj" fmla="val 3478"/>
            </a:avLst>
          </a:prstGeom>
          <a:solidFill>
            <a:schemeClr val="accent2">
              <a:alpha val="65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656" b="1" i="0">
                <a:solidFill>
                  <a:schemeClr val="accent5">
                    <a:lumMod val="75000"/>
                  </a:schemeClr>
                </a:solidFill>
              </a:rPr>
              <a:t>LLM</a:t>
            </a:r>
          </a:p>
        </p:txBody>
      </p:sp>
      <p:sp>
        <p:nvSpPr>
          <p:cNvPr id="9011" name="TextBox 9010"/>
          <p:cNvSpPr txBox="1"/>
          <p:nvPr/>
        </p:nvSpPr>
        <p:spPr>
          <a:xfrm>
            <a:off x="7947154" y="1554480"/>
            <a:ext cx="340695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Idée</a:t>
            </a: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 : chaque famille est incluse dans la précédente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IA</a:t>
            </a: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 : règles expertes, recherche, planification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ML</a:t>
            </a: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 : apprendre à partir de données (arbres, SVM, k-means)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Deep learning</a:t>
            </a: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 : réseaux profonds (CNN, LSTM, Transformers)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LLM</a:t>
            </a: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 : modèles de langage (logs, assistants)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Entraînement : apprendre un modèle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5544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840" b="0" i="0">
                <a:solidFill>
                  <a:schemeClr val="tx2"/>
                </a:solidFill>
              </a:rPr>
              <a:t>Objectif : construire un modèle à partir de données passées dont on connaît la réponse.</a:t>
            </a:r>
          </a:p>
        </p:txBody>
      </p:sp>
      <p:sp>
        <p:nvSpPr>
          <p:cNvPr id="9005" name="TextBox 9004"/>
          <p:cNvSpPr txBox="1"/>
          <p:nvPr/>
        </p:nvSpPr>
        <p:spPr>
          <a:xfrm>
            <a:off x="838504" y="2240279"/>
            <a:ext cx="294748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2"/>
                </a:solidFill>
              </a:rPr>
              <a:t>ENTRÉE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7773772" y="2240279"/>
            <a:ext cx="358033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2"/>
                </a:solidFill>
              </a:rPr>
              <a:t>SORTIE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838504" y="2651760"/>
            <a:ext cx="2947488" cy="1188720"/>
          </a:xfrm>
          <a:prstGeom prst="roundRect">
            <a:avLst>
              <a:gd name="adj" fmla="val 6153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Données étiquetées</a:t>
            </a:r>
          </a:p>
          <a:p>
            <a:pPr algn="ctr">
              <a:buNone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(X, y)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4392829" y="2651760"/>
            <a:ext cx="2774107" cy="1188720"/>
          </a:xfrm>
          <a:prstGeom prst="roundRect">
            <a:avLst>
              <a:gd name="adj" fmla="val 6153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Algorithme d’apprentissage</a:t>
            </a:r>
          </a:p>
        </p:txBody>
      </p:sp>
      <p:sp>
        <p:nvSpPr>
          <p:cNvPr id="9009" name="Rounded Rectangle 9008"/>
          <p:cNvSpPr/>
          <p:nvPr/>
        </p:nvSpPr>
        <p:spPr>
          <a:xfrm>
            <a:off x="7773772" y="2651760"/>
            <a:ext cx="3580332" cy="1188720"/>
          </a:xfrm>
          <a:prstGeom prst="roundRect">
            <a:avLst>
              <a:gd name="adj" fmla="val 6153"/>
            </a:avLst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Modèle</a:t>
            </a:r>
          </a:p>
          <a:p>
            <a:pPr algn="ctr">
              <a:buNone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(paramètres appris)</a:t>
            </a:r>
          </a:p>
        </p:txBody>
      </p:sp>
      <p:cxnSp>
        <p:nvCxnSpPr>
          <p:cNvPr id="9010" name="Connector 9009"/>
          <p:cNvCxnSpPr/>
          <p:nvPr/>
        </p:nvCxnSpPr>
        <p:spPr>
          <a:xfrm>
            <a:off x="3829339" y="3246120"/>
            <a:ext cx="520145" cy="0"/>
          </a:xfrm>
          <a:prstGeom prst="line">
            <a:avLst/>
          </a:prstGeom>
          <a:ln w="31750">
            <a:solidFill>
              <a:schemeClr val="accent5"/>
            </a:solidFill>
            <a:tailEnd type="triangle"/>
          </a:ln>
        </p:spPr>
      </p:cxnSp>
      <p:cxnSp>
        <p:nvCxnSpPr>
          <p:cNvPr id="9011" name="Connector 9010"/>
          <p:cNvCxnSpPr/>
          <p:nvPr/>
        </p:nvCxnSpPr>
        <p:spPr>
          <a:xfrm>
            <a:off x="7210282" y="3246120"/>
            <a:ext cx="520145" cy="0"/>
          </a:xfrm>
          <a:prstGeom prst="line">
            <a:avLst/>
          </a:prstGeom>
          <a:ln w="31750">
            <a:solidFill>
              <a:schemeClr val="accent5"/>
            </a:solidFill>
            <a:tailEnd type="triangle"/>
          </a:ln>
        </p:spPr>
      </p:cxnSp>
      <p:sp>
        <p:nvSpPr>
          <p:cNvPr id="9012" name="TextBox 9011"/>
          <p:cNvSpPr txBox="1"/>
          <p:nvPr/>
        </p:nvSpPr>
        <p:spPr>
          <a:xfrm>
            <a:off x="838504" y="3977639"/>
            <a:ext cx="294748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0" i="1">
                <a:solidFill>
                  <a:schemeClr val="tx2"/>
                </a:solidFill>
              </a:rPr>
              <a:t>Ex. : 100 000 flux dont on connaît l’application</a:t>
            </a:r>
          </a:p>
        </p:txBody>
      </p:sp>
      <p:sp>
        <p:nvSpPr>
          <p:cNvPr id="9013" name="TextBox 9012"/>
          <p:cNvSpPr txBox="1"/>
          <p:nvPr/>
        </p:nvSpPr>
        <p:spPr>
          <a:xfrm>
            <a:off x="7773772" y="3977639"/>
            <a:ext cx="358033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0" i="1">
                <a:solidFill>
                  <a:schemeClr val="tx2"/>
                </a:solidFill>
              </a:rPr>
              <a:t>Un modèle qui résume le comportement de référence</a:t>
            </a:r>
          </a:p>
        </p:txBody>
      </p:sp>
      <p:sp>
        <p:nvSpPr>
          <p:cNvPr id="9014" name="TextBox 9013"/>
          <p:cNvSpPr txBox="1"/>
          <p:nvPr/>
        </p:nvSpPr>
        <p:spPr>
          <a:xfrm>
            <a:off x="838504" y="484632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Se fait hors ligne, avec des données historiques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Se refait périodiquement pour suivre l’évolution du trafic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Inférence : utiliser le modèle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5544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840" b="0" i="0">
                <a:solidFill>
                  <a:schemeClr val="tx2"/>
                </a:solidFill>
              </a:rPr>
              <a:t>Objectif : à partir de données observées sur le réseau, obtenir une prédiction.</a:t>
            </a:r>
          </a:p>
        </p:txBody>
      </p:sp>
      <p:sp>
        <p:nvSpPr>
          <p:cNvPr id="9005" name="TextBox 9004"/>
          <p:cNvSpPr txBox="1"/>
          <p:nvPr/>
        </p:nvSpPr>
        <p:spPr>
          <a:xfrm>
            <a:off x="838504" y="2240279"/>
            <a:ext cx="294748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2"/>
                </a:solidFill>
              </a:rPr>
              <a:t>ENTRÉE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7773772" y="2240279"/>
            <a:ext cx="358033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2"/>
                </a:solidFill>
              </a:rPr>
              <a:t>SORTIE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838504" y="2651760"/>
            <a:ext cx="2947488" cy="1188720"/>
          </a:xfrm>
          <a:prstGeom prst="roundRect">
            <a:avLst>
              <a:gd name="adj" fmla="val 6153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Nouvelles données observées</a:t>
            </a:r>
          </a:p>
          <a:p>
            <a:pPr algn="ctr">
              <a:buNone/>
            </a:pP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(un flux, une fenêtre)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4392829" y="2651760"/>
            <a:ext cx="2774107" cy="1188720"/>
          </a:xfrm>
          <a:prstGeom prst="roundRect">
            <a:avLst>
              <a:gd name="adj" fmla="val 6153"/>
            </a:avLst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Comparaison avec le modèle appris</a:t>
            </a:r>
          </a:p>
        </p:txBody>
      </p:sp>
      <p:sp>
        <p:nvSpPr>
          <p:cNvPr id="9009" name="Rounded Rectangle 9008"/>
          <p:cNvSpPr/>
          <p:nvPr/>
        </p:nvSpPr>
        <p:spPr>
          <a:xfrm>
            <a:off x="7773772" y="2651760"/>
            <a:ext cx="3580332" cy="1188720"/>
          </a:xfrm>
          <a:prstGeom prst="roundRect">
            <a:avLst>
              <a:gd name="adj" fmla="val 6153"/>
            </a:avLst>
          </a:prstGeom>
          <a:solidFill>
            <a:schemeClr val="accent5"/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472" b="0" i="0">
                <a:solidFill>
                  <a:schemeClr val="bg1"/>
                </a:solidFill>
              </a:rPr>
              <a:t>Prédiction</a:t>
            </a:r>
          </a:p>
          <a:p>
            <a:pPr algn="ctr">
              <a:buNone/>
            </a:pPr>
            <a:r>
              <a:rPr sz="1472" b="0" i="0">
                <a:solidFill>
                  <a:schemeClr val="bg1"/>
                </a:solidFill>
              </a:rPr>
              <a:t>(classe, score, valeur)</a:t>
            </a:r>
          </a:p>
        </p:txBody>
      </p:sp>
      <p:cxnSp>
        <p:nvCxnSpPr>
          <p:cNvPr id="9010" name="Connector 9009"/>
          <p:cNvCxnSpPr/>
          <p:nvPr/>
        </p:nvCxnSpPr>
        <p:spPr>
          <a:xfrm>
            <a:off x="3829339" y="3246120"/>
            <a:ext cx="520145" cy="0"/>
          </a:xfrm>
          <a:prstGeom prst="line">
            <a:avLst/>
          </a:prstGeom>
          <a:ln w="31750">
            <a:solidFill>
              <a:schemeClr val="accent5"/>
            </a:solidFill>
            <a:tailEnd type="triangle"/>
          </a:ln>
        </p:spPr>
      </p:cxnSp>
      <p:cxnSp>
        <p:nvCxnSpPr>
          <p:cNvPr id="9011" name="Connector 9010"/>
          <p:cNvCxnSpPr/>
          <p:nvPr/>
        </p:nvCxnSpPr>
        <p:spPr>
          <a:xfrm>
            <a:off x="7210282" y="3246120"/>
            <a:ext cx="520145" cy="0"/>
          </a:xfrm>
          <a:prstGeom prst="line">
            <a:avLst/>
          </a:prstGeom>
          <a:ln w="31750">
            <a:solidFill>
              <a:schemeClr val="accent5"/>
            </a:solidFill>
            <a:tailEnd type="triangle"/>
          </a:ln>
        </p:spPr>
      </p:cxnSp>
      <p:sp>
        <p:nvSpPr>
          <p:cNvPr id="9012" name="TextBox 9011"/>
          <p:cNvSpPr txBox="1"/>
          <p:nvPr/>
        </p:nvSpPr>
        <p:spPr>
          <a:xfrm>
            <a:off x="838504" y="420624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On confronte les observations à ce que le modèle a appris (le comportement de référence)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La prédiction en découle : « ce flux est de la vidéo », « ce flux est anormal »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Se fait en continu : latence et débit comptent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Entraînement et inférence : vue d’ensemble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463040"/>
            <a:ext cx="260072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56" b="1" i="0">
                <a:solidFill>
                  <a:schemeClr val="accent1"/>
                </a:solidFill>
              </a:rPr>
              <a:t>Entraînement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838504" y="1920240"/>
            <a:ext cx="2774107" cy="1188720"/>
          </a:xfrm>
          <a:prstGeom prst="roundRect">
            <a:avLst>
              <a:gd name="adj" fmla="val 6153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Entrée : données étiquetées (X, y)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4306138" y="1920240"/>
            <a:ext cx="2774107" cy="1188720"/>
          </a:xfrm>
          <a:prstGeom prst="roundRect">
            <a:avLst>
              <a:gd name="adj" fmla="val 6153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Algorithme d’apprentissage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7773772" y="1920240"/>
            <a:ext cx="3580332" cy="1188720"/>
          </a:xfrm>
          <a:prstGeom prst="roundRect">
            <a:avLst>
              <a:gd name="adj" fmla="val 6153"/>
            </a:avLst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Sortie : modèle (paramètres appris)</a:t>
            </a:r>
          </a:p>
        </p:txBody>
      </p:sp>
      <p:cxnSp>
        <p:nvCxnSpPr>
          <p:cNvPr id="9008" name="Connector 9007"/>
          <p:cNvCxnSpPr/>
          <p:nvPr/>
        </p:nvCxnSpPr>
        <p:spPr>
          <a:xfrm>
            <a:off x="3655957" y="2514600"/>
            <a:ext cx="606836" cy="0"/>
          </a:xfrm>
          <a:prstGeom prst="line">
            <a:avLst/>
          </a:prstGeom>
          <a:ln w="31750">
            <a:solidFill>
              <a:schemeClr val="accent5"/>
            </a:solidFill>
            <a:tailEnd type="triangle"/>
          </a:ln>
        </p:spPr>
      </p:cxnSp>
      <p:cxnSp>
        <p:nvCxnSpPr>
          <p:cNvPr id="9009" name="Connector 9008"/>
          <p:cNvCxnSpPr/>
          <p:nvPr/>
        </p:nvCxnSpPr>
        <p:spPr>
          <a:xfrm>
            <a:off x="7123591" y="2514600"/>
            <a:ext cx="606836" cy="0"/>
          </a:xfrm>
          <a:prstGeom prst="line">
            <a:avLst/>
          </a:prstGeom>
          <a:ln w="31750">
            <a:solidFill>
              <a:schemeClr val="accent5"/>
            </a:solidFill>
            <a:tailEnd type="triangle"/>
          </a:ln>
        </p:spPr>
      </p:cxnSp>
      <p:sp>
        <p:nvSpPr>
          <p:cNvPr id="9010" name="TextBox 9009"/>
          <p:cNvSpPr txBox="1"/>
          <p:nvPr/>
        </p:nvSpPr>
        <p:spPr>
          <a:xfrm>
            <a:off x="838504" y="3657600"/>
            <a:ext cx="260072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56" b="1" i="0">
                <a:solidFill>
                  <a:schemeClr val="accent5"/>
                </a:solidFill>
              </a:rPr>
              <a:t>Inférence</a:t>
            </a:r>
          </a:p>
        </p:txBody>
      </p:sp>
      <p:sp>
        <p:nvSpPr>
          <p:cNvPr id="9011" name="Rounded Rectangle 9010"/>
          <p:cNvSpPr/>
          <p:nvPr/>
        </p:nvSpPr>
        <p:spPr>
          <a:xfrm>
            <a:off x="838504" y="4114800"/>
            <a:ext cx="2774107" cy="1188720"/>
          </a:xfrm>
          <a:prstGeom prst="roundRect">
            <a:avLst>
              <a:gd name="adj" fmla="val 6153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Entrée : nouvelle donnée x (un flux, une fenêtre)</a:t>
            </a:r>
          </a:p>
        </p:txBody>
      </p:sp>
      <p:sp>
        <p:nvSpPr>
          <p:cNvPr id="9012" name="Rounded Rectangle 9011"/>
          <p:cNvSpPr/>
          <p:nvPr/>
        </p:nvSpPr>
        <p:spPr>
          <a:xfrm>
            <a:off x="4306138" y="4114800"/>
            <a:ext cx="2774107" cy="1188720"/>
          </a:xfrm>
          <a:prstGeom prst="roundRect">
            <a:avLst>
              <a:gd name="adj" fmla="val 6153"/>
            </a:avLst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Modèle</a:t>
            </a:r>
          </a:p>
        </p:txBody>
      </p:sp>
      <p:sp>
        <p:nvSpPr>
          <p:cNvPr id="9013" name="Rounded Rectangle 9012"/>
          <p:cNvSpPr/>
          <p:nvPr/>
        </p:nvSpPr>
        <p:spPr>
          <a:xfrm>
            <a:off x="7773772" y="4114800"/>
            <a:ext cx="3580332" cy="1188720"/>
          </a:xfrm>
          <a:prstGeom prst="roundRect">
            <a:avLst>
              <a:gd name="adj" fmla="val 6153"/>
            </a:avLst>
          </a:prstGeom>
          <a:solidFill>
            <a:schemeClr val="accent5"/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0" i="0">
                <a:solidFill>
                  <a:schemeClr val="bg1"/>
                </a:solidFill>
              </a:rPr>
              <a:t>Sortie : prédiction ŷ (classe, score, valeur)</a:t>
            </a:r>
          </a:p>
        </p:txBody>
      </p:sp>
      <p:cxnSp>
        <p:nvCxnSpPr>
          <p:cNvPr id="9014" name="Connector 9013"/>
          <p:cNvCxnSpPr/>
          <p:nvPr/>
        </p:nvCxnSpPr>
        <p:spPr>
          <a:xfrm>
            <a:off x="3655957" y="4709160"/>
            <a:ext cx="606836" cy="0"/>
          </a:xfrm>
          <a:prstGeom prst="line">
            <a:avLst/>
          </a:prstGeom>
          <a:ln w="31750">
            <a:solidFill>
              <a:schemeClr val="accent5"/>
            </a:solidFill>
            <a:tailEnd type="triangle"/>
          </a:ln>
        </p:spPr>
      </p:cxnSp>
      <p:cxnSp>
        <p:nvCxnSpPr>
          <p:cNvPr id="9015" name="Connector 9014"/>
          <p:cNvCxnSpPr/>
          <p:nvPr/>
        </p:nvCxnSpPr>
        <p:spPr>
          <a:xfrm>
            <a:off x="7123591" y="4709160"/>
            <a:ext cx="606836" cy="0"/>
          </a:xfrm>
          <a:prstGeom prst="line">
            <a:avLst/>
          </a:prstGeom>
          <a:ln w="31750">
            <a:solidFill>
              <a:schemeClr val="accent5"/>
            </a:solidFill>
            <a:tailEnd type="triangle"/>
          </a:ln>
        </p:spPr>
      </p:cxnSp>
      <p:cxnSp>
        <p:nvCxnSpPr>
          <p:cNvPr id="9016" name="Connector 9015"/>
          <p:cNvCxnSpPr/>
          <p:nvPr/>
        </p:nvCxnSpPr>
        <p:spPr>
          <a:xfrm>
            <a:off x="9550935" y="3154680"/>
            <a:ext cx="0" cy="914400"/>
          </a:xfrm>
          <a:prstGeom prst="line">
            <a:avLst/>
          </a:prstGeom>
          <a:ln w="19050">
            <a:solidFill>
              <a:schemeClr val="tx2"/>
            </a:solidFill>
            <a:prstDash val="dash"/>
            <a:tailEnd type="triangle"/>
          </a:ln>
        </p:spPr>
      </p:cxnSp>
      <p:sp>
        <p:nvSpPr>
          <p:cNvPr id="9017" name="TextBox 9016"/>
          <p:cNvSpPr txBox="1"/>
          <p:nvPr/>
        </p:nvSpPr>
        <p:spPr>
          <a:xfrm>
            <a:off x="838504" y="5623560"/>
            <a:ext cx="104895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380" b="0" i="1">
                <a:solidFill>
                  <a:schemeClr val="tx2"/>
                </a:solidFill>
              </a:rPr>
              <a:t>En réseau : x = features d’un flux ou d’une fenêtre, ŷ = classe, score ou valeur.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Entrées : ce qu’on donne au modèle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Table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645920"/>
          <a:ext cx="10515598" cy="3840480"/>
        </p:xfrm>
        <a:graphic>
          <a:graphicData uri="http://schemas.openxmlformats.org/drawingml/2006/table">
            <a:tbl>
              <a:tblPr firstRow="1" bandRow="0"/>
              <a:tblGrid>
                <a:gridCol w="2600725"/>
                <a:gridCol w="4854687"/>
                <a:gridCol w="3060186"/>
              </a:tblGrid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Type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Exemple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Source (partie 1)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Paquets bruts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En-têtes, premiers octets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TAP, SPAN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Features par flux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Tailles, inter-arrivées, durée, flags TCP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NetFlow, IPFIX, eBPF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Séries temporelles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Débit par fenêtre, compteurs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SNMP, gNMI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Logs et événements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Échecs de connexion, alertes IDS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syslog, SIEM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Graphes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Qui communique avec qui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Flux, logs DNS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La source de collecte impose la granularité, donc la famille de modèles possibles.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Entrée : paquets bruts, apprendre sur les octets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452628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Entrée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en-têtes et premiers octets (ex. 784 octets ↔ image 28×28)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Modèles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CNN 1D ou 2D, autoencodeurs, Transformers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Atout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pas de feature engineering manuel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Limites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coût de calcul, charge utile chiffrée donc peu informative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Attention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un modèle qui lit les adresses IP apprend le jeu de données, pas le comportement : à masquer ou anonymiser.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Entrée : features par flux, un exemple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Table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645920"/>
          <a:ext cx="10515596" cy="2926080"/>
        </p:xfrm>
        <a:graphic>
          <a:graphicData uri="http://schemas.openxmlformats.org/drawingml/2006/table">
            <a:tbl>
              <a:tblPr firstRow="1" bandRow="0"/>
              <a:tblGrid>
                <a:gridCol w="1040290"/>
                <a:gridCol w="1300362"/>
                <a:gridCol w="1647126"/>
                <a:gridCol w="1473744"/>
                <a:gridCol w="1820507"/>
                <a:gridCol w="1733816"/>
                <a:gridCol w="1499751"/>
              </a:tblGrid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Flux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Paquets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Octets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Durée (s)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Taille moy. (o)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IAT moy. (ms)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Classe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5 400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0,8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450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70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web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4 800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6 100 000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62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1 270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vidéo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180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0,01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60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scan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Exemple illustratif. Features usuelles : tailles (moy., σ, min, max), inter-arrivées (IAT), durée, débit, flags TCP, ratio montant/descendant. Outils : CICFlowMeter, nfstream, Zeek.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Entrée : séries temporelles et fenêtrage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50876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0">
                <a:solidFill>
                  <a:schemeClr val="tx2"/>
                </a:solidFill>
              </a:rPr>
              <a:t>Une série temporelle est une suite de mesures à intervalles réguliers (ici le débit chaque minute). Le modèle ne reçoit pas la série entière : on la découpe en fenêtres, chacune résumée en un vecteur de features.</a:t>
            </a:r>
          </a:p>
        </p:txBody>
      </p:sp>
      <p:cxnSp>
        <p:nvCxnSpPr>
          <p:cNvPr id="9005" name="Connector 9004"/>
          <p:cNvCxnSpPr/>
          <p:nvPr/>
        </p:nvCxnSpPr>
        <p:spPr>
          <a:xfrm>
            <a:off x="1098577" y="5212080"/>
            <a:ext cx="6068359" cy="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cxnSp>
        <p:nvCxnSpPr>
          <p:cNvPr id="9006" name="Connector 9005"/>
          <p:cNvCxnSpPr/>
          <p:nvPr/>
        </p:nvCxnSpPr>
        <p:spPr>
          <a:xfrm>
            <a:off x="1098577" y="5138928"/>
            <a:ext cx="0" cy="146304"/>
          </a:xfrm>
          <a:prstGeom prst="line">
            <a:avLst/>
          </a:prstGeom>
          <a:ln w="19050">
            <a:solidFill>
              <a:schemeClr val="tx2"/>
            </a:solidFill>
          </a:ln>
        </p:spPr>
      </p:cxnSp>
      <p:sp>
        <p:nvSpPr>
          <p:cNvPr id="9007" name="TextBox 9006"/>
          <p:cNvSpPr txBox="1"/>
          <p:nvPr/>
        </p:nvSpPr>
        <p:spPr>
          <a:xfrm>
            <a:off x="925195" y="5321808"/>
            <a:ext cx="34676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tx2"/>
                </a:solidFill>
              </a:rPr>
              <a:t>t0</a:t>
            </a:r>
          </a:p>
        </p:txBody>
      </p:sp>
      <p:cxnSp>
        <p:nvCxnSpPr>
          <p:cNvPr id="9008" name="Connector 9007"/>
          <p:cNvCxnSpPr/>
          <p:nvPr/>
        </p:nvCxnSpPr>
        <p:spPr>
          <a:xfrm>
            <a:off x="1835449" y="5138928"/>
            <a:ext cx="0" cy="146304"/>
          </a:xfrm>
          <a:prstGeom prst="line">
            <a:avLst/>
          </a:prstGeom>
          <a:ln w="19050">
            <a:solidFill>
              <a:schemeClr val="tx2"/>
            </a:solidFill>
          </a:ln>
        </p:spPr>
      </p:cxnSp>
      <p:sp>
        <p:nvSpPr>
          <p:cNvPr id="9009" name="TextBox 9008"/>
          <p:cNvSpPr txBox="1"/>
          <p:nvPr/>
        </p:nvSpPr>
        <p:spPr>
          <a:xfrm>
            <a:off x="1662067" y="5321808"/>
            <a:ext cx="34676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tx2"/>
                </a:solidFill>
              </a:rPr>
              <a:t>t1</a:t>
            </a:r>
          </a:p>
        </p:txBody>
      </p:sp>
      <p:cxnSp>
        <p:nvCxnSpPr>
          <p:cNvPr id="9010" name="Connector 9009"/>
          <p:cNvCxnSpPr/>
          <p:nvPr/>
        </p:nvCxnSpPr>
        <p:spPr>
          <a:xfrm>
            <a:off x="2572321" y="5138928"/>
            <a:ext cx="0" cy="146304"/>
          </a:xfrm>
          <a:prstGeom prst="line">
            <a:avLst/>
          </a:prstGeom>
          <a:ln w="19050">
            <a:solidFill>
              <a:schemeClr val="tx2"/>
            </a:solidFill>
          </a:ln>
        </p:spPr>
      </p:cxnSp>
      <p:sp>
        <p:nvSpPr>
          <p:cNvPr id="9011" name="TextBox 9010"/>
          <p:cNvSpPr txBox="1"/>
          <p:nvPr/>
        </p:nvSpPr>
        <p:spPr>
          <a:xfrm>
            <a:off x="2398940" y="5321808"/>
            <a:ext cx="34676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tx2"/>
                </a:solidFill>
              </a:rPr>
              <a:t>t2</a:t>
            </a:r>
          </a:p>
        </p:txBody>
      </p:sp>
      <p:cxnSp>
        <p:nvCxnSpPr>
          <p:cNvPr id="9012" name="Connector 9011"/>
          <p:cNvCxnSpPr/>
          <p:nvPr/>
        </p:nvCxnSpPr>
        <p:spPr>
          <a:xfrm>
            <a:off x="3309194" y="5138928"/>
            <a:ext cx="0" cy="146304"/>
          </a:xfrm>
          <a:prstGeom prst="line">
            <a:avLst/>
          </a:prstGeom>
          <a:ln w="19050">
            <a:solidFill>
              <a:schemeClr val="tx2"/>
            </a:solidFill>
          </a:ln>
        </p:spPr>
      </p:cxnSp>
      <p:sp>
        <p:nvSpPr>
          <p:cNvPr id="9013" name="TextBox 9012"/>
          <p:cNvSpPr txBox="1"/>
          <p:nvPr/>
        </p:nvSpPr>
        <p:spPr>
          <a:xfrm>
            <a:off x="3135812" y="5321808"/>
            <a:ext cx="34676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tx2"/>
                </a:solidFill>
              </a:rPr>
              <a:t>t3</a:t>
            </a:r>
          </a:p>
        </p:txBody>
      </p:sp>
      <p:cxnSp>
        <p:nvCxnSpPr>
          <p:cNvPr id="9014" name="Connector 9013"/>
          <p:cNvCxnSpPr/>
          <p:nvPr/>
        </p:nvCxnSpPr>
        <p:spPr>
          <a:xfrm>
            <a:off x="4046066" y="5138928"/>
            <a:ext cx="0" cy="146304"/>
          </a:xfrm>
          <a:prstGeom prst="line">
            <a:avLst/>
          </a:prstGeom>
          <a:ln w="19050">
            <a:solidFill>
              <a:schemeClr val="tx2"/>
            </a:solidFill>
          </a:ln>
        </p:spPr>
      </p:cxnSp>
      <p:sp>
        <p:nvSpPr>
          <p:cNvPr id="9015" name="TextBox 9014"/>
          <p:cNvSpPr txBox="1"/>
          <p:nvPr/>
        </p:nvSpPr>
        <p:spPr>
          <a:xfrm>
            <a:off x="3872684" y="5321808"/>
            <a:ext cx="34676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tx2"/>
                </a:solidFill>
              </a:rPr>
              <a:t>t4</a:t>
            </a:r>
          </a:p>
        </p:txBody>
      </p:sp>
      <p:cxnSp>
        <p:nvCxnSpPr>
          <p:cNvPr id="9016" name="Connector 9015"/>
          <p:cNvCxnSpPr/>
          <p:nvPr/>
        </p:nvCxnSpPr>
        <p:spPr>
          <a:xfrm>
            <a:off x="4782938" y="5138928"/>
            <a:ext cx="0" cy="146304"/>
          </a:xfrm>
          <a:prstGeom prst="line">
            <a:avLst/>
          </a:prstGeom>
          <a:ln w="19050">
            <a:solidFill>
              <a:schemeClr val="tx2"/>
            </a:solidFill>
          </a:ln>
        </p:spPr>
      </p:cxnSp>
      <p:sp>
        <p:nvSpPr>
          <p:cNvPr id="9017" name="TextBox 9016"/>
          <p:cNvSpPr txBox="1"/>
          <p:nvPr/>
        </p:nvSpPr>
        <p:spPr>
          <a:xfrm>
            <a:off x="4609556" y="5321808"/>
            <a:ext cx="34676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tx2"/>
                </a:solidFill>
              </a:rPr>
              <a:t>t5</a:t>
            </a:r>
          </a:p>
        </p:txBody>
      </p:sp>
      <p:cxnSp>
        <p:nvCxnSpPr>
          <p:cNvPr id="9018" name="Connector 9017"/>
          <p:cNvCxnSpPr/>
          <p:nvPr/>
        </p:nvCxnSpPr>
        <p:spPr>
          <a:xfrm>
            <a:off x="5519810" y="5138928"/>
            <a:ext cx="0" cy="146304"/>
          </a:xfrm>
          <a:prstGeom prst="line">
            <a:avLst/>
          </a:prstGeom>
          <a:ln w="19050">
            <a:solidFill>
              <a:schemeClr val="tx2"/>
            </a:solidFill>
          </a:ln>
        </p:spPr>
      </p:cxnSp>
      <p:sp>
        <p:nvSpPr>
          <p:cNvPr id="9019" name="TextBox 9018"/>
          <p:cNvSpPr txBox="1"/>
          <p:nvPr/>
        </p:nvSpPr>
        <p:spPr>
          <a:xfrm>
            <a:off x="5346428" y="5321808"/>
            <a:ext cx="34676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tx2"/>
                </a:solidFill>
              </a:rPr>
              <a:t>t6</a:t>
            </a:r>
          </a:p>
        </p:txBody>
      </p:sp>
      <p:cxnSp>
        <p:nvCxnSpPr>
          <p:cNvPr id="9020" name="Connector 9019"/>
          <p:cNvCxnSpPr/>
          <p:nvPr/>
        </p:nvCxnSpPr>
        <p:spPr>
          <a:xfrm>
            <a:off x="6256682" y="5138928"/>
            <a:ext cx="0" cy="146304"/>
          </a:xfrm>
          <a:prstGeom prst="line">
            <a:avLst/>
          </a:prstGeom>
          <a:ln w="19050">
            <a:solidFill>
              <a:schemeClr val="tx2"/>
            </a:solidFill>
          </a:ln>
        </p:spPr>
      </p:cxnSp>
      <p:sp>
        <p:nvSpPr>
          <p:cNvPr id="9021" name="TextBox 9020"/>
          <p:cNvSpPr txBox="1"/>
          <p:nvPr/>
        </p:nvSpPr>
        <p:spPr>
          <a:xfrm>
            <a:off x="6083301" y="5321808"/>
            <a:ext cx="34676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tx2"/>
                </a:solidFill>
              </a:rPr>
              <a:t>t7</a:t>
            </a:r>
          </a:p>
        </p:txBody>
      </p:sp>
      <p:cxnSp>
        <p:nvCxnSpPr>
          <p:cNvPr id="9022" name="Connector 9021"/>
          <p:cNvCxnSpPr/>
          <p:nvPr/>
        </p:nvCxnSpPr>
        <p:spPr>
          <a:xfrm>
            <a:off x="6993555" y="5138928"/>
            <a:ext cx="0" cy="146304"/>
          </a:xfrm>
          <a:prstGeom prst="line">
            <a:avLst/>
          </a:prstGeom>
          <a:ln w="19050">
            <a:solidFill>
              <a:schemeClr val="tx2"/>
            </a:solidFill>
          </a:ln>
        </p:spPr>
      </p:cxnSp>
      <p:sp>
        <p:nvSpPr>
          <p:cNvPr id="9023" name="TextBox 9022"/>
          <p:cNvSpPr txBox="1"/>
          <p:nvPr/>
        </p:nvSpPr>
        <p:spPr>
          <a:xfrm>
            <a:off x="6820173" y="5321808"/>
            <a:ext cx="34676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tx2"/>
                </a:solidFill>
              </a:rPr>
              <a:t>t8</a:t>
            </a:r>
          </a:p>
        </p:txBody>
      </p:sp>
      <p:sp>
        <p:nvSpPr>
          <p:cNvPr id="9024" name="Rounded Rectangle 9023"/>
          <p:cNvSpPr/>
          <p:nvPr/>
        </p:nvSpPr>
        <p:spPr>
          <a:xfrm>
            <a:off x="1098577" y="2651760"/>
            <a:ext cx="2947488" cy="640080"/>
          </a:xfrm>
          <a:prstGeom prst="roundRect">
            <a:avLst>
              <a:gd name="adj" fmla="val 11428"/>
            </a:avLst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bg1"/>
                </a:solidFill>
              </a:rPr>
              <a:t>Fenêtre 1</a:t>
            </a:r>
          </a:p>
        </p:txBody>
      </p:sp>
      <p:sp>
        <p:nvSpPr>
          <p:cNvPr id="9025" name="Rounded Rectangle 9024"/>
          <p:cNvSpPr/>
          <p:nvPr/>
        </p:nvSpPr>
        <p:spPr>
          <a:xfrm>
            <a:off x="2572321" y="3474720"/>
            <a:ext cx="2947488" cy="640080"/>
          </a:xfrm>
          <a:prstGeom prst="roundRect">
            <a:avLst>
              <a:gd name="adj" fmla="val 11428"/>
            </a:avLst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bg1"/>
                </a:solidFill>
              </a:rPr>
              <a:t>Fenêtre 2</a:t>
            </a:r>
          </a:p>
        </p:txBody>
      </p:sp>
      <p:sp>
        <p:nvSpPr>
          <p:cNvPr id="9026" name="Rounded Rectangle 9025"/>
          <p:cNvSpPr/>
          <p:nvPr/>
        </p:nvSpPr>
        <p:spPr>
          <a:xfrm>
            <a:off x="4046066" y="4297680"/>
            <a:ext cx="2947488" cy="640080"/>
          </a:xfrm>
          <a:prstGeom prst="roundRect">
            <a:avLst>
              <a:gd name="adj" fmla="val 11428"/>
            </a:avLst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Fenêtre 3</a:t>
            </a:r>
          </a:p>
        </p:txBody>
      </p:sp>
      <p:sp>
        <p:nvSpPr>
          <p:cNvPr id="9027" name="TextBox 9026"/>
          <p:cNvSpPr txBox="1"/>
          <p:nvPr/>
        </p:nvSpPr>
        <p:spPr>
          <a:xfrm>
            <a:off x="1098577" y="5669280"/>
            <a:ext cx="606835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104" b="0" i="1">
                <a:solidFill>
                  <a:schemeClr val="tx2"/>
                </a:solidFill>
              </a:rPr>
              <a:t>Fenêtres glissantes (taille 4, pas 2)</a:t>
            </a:r>
          </a:p>
        </p:txBody>
      </p:sp>
      <p:sp>
        <p:nvSpPr>
          <p:cNvPr id="9028" name="Rounded Rectangle 9027"/>
          <p:cNvSpPr/>
          <p:nvPr/>
        </p:nvSpPr>
        <p:spPr>
          <a:xfrm>
            <a:off x="7600391" y="2560320"/>
            <a:ext cx="3753713" cy="3383280"/>
          </a:xfrm>
          <a:prstGeom prst="roundRect">
            <a:avLst>
              <a:gd name="adj" fmla="val 2162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9" name="TextBox 9028"/>
          <p:cNvSpPr txBox="1"/>
          <p:nvPr/>
        </p:nvSpPr>
        <p:spPr>
          <a:xfrm>
            <a:off x="7773772" y="2651760"/>
            <a:ext cx="3467633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Exemple : débit (Mb/s) par minute</a:t>
            </a:r>
          </a:p>
        </p:txBody>
      </p:sp>
      <p:sp>
        <p:nvSpPr>
          <p:cNvPr id="9030" name="TextBox 9029"/>
          <p:cNvSpPr txBox="1"/>
          <p:nvPr/>
        </p:nvSpPr>
        <p:spPr>
          <a:xfrm>
            <a:off x="7773772" y="3063240"/>
            <a:ext cx="3467633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Série : 12, 14, 13, 55, 12, 13, 14, 12</a:t>
            </a:r>
          </a:p>
        </p:txBody>
      </p:sp>
      <p:sp>
        <p:nvSpPr>
          <p:cNvPr id="9031" name="TextBox 9030"/>
          <p:cNvSpPr txBox="1"/>
          <p:nvPr/>
        </p:nvSpPr>
        <p:spPr>
          <a:xfrm>
            <a:off x="7773772" y="3566160"/>
            <a:ext cx="3467633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Fenêtre 1 : 12, 14, 13, 55 → moyenne 23,5 ; max 55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Fenêtre 2 : 13, 55, 12, 13 → moyenne 23,3 ; max 55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Fenêtre 3 : 12, 13, 14, 12 → moyenne 12,8 ; max 14</a:t>
            </a:r>
          </a:p>
        </p:txBody>
      </p:sp>
      <p:sp>
        <p:nvSpPr>
          <p:cNvPr id="9032" name="TextBox 9031"/>
          <p:cNvSpPr txBox="1"/>
          <p:nvPr/>
        </p:nvSpPr>
        <p:spPr>
          <a:xfrm>
            <a:off x="7773772" y="5166360"/>
            <a:ext cx="3467633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196" b="0" i="1">
                <a:solidFill>
                  <a:schemeClr val="tx2"/>
                </a:solidFill>
              </a:rPr>
              <a:t>Chaque ligne est un vecteur de features donné au modèle.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Sorties : ce qu’on attend du modèle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Table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645920"/>
          <a:ext cx="10515598" cy="4389120"/>
        </p:xfrm>
        <a:graphic>
          <a:graphicData uri="http://schemas.openxmlformats.org/drawingml/2006/table">
            <a:tbl>
              <a:tblPr firstRow="1" bandRow="0"/>
              <a:tblGrid>
                <a:gridCol w="2427343"/>
                <a:gridCol w="5201450"/>
                <a:gridCol w="2886805"/>
              </a:tblGrid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Sortie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Exemple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Tâche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Une classe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Application (vidéo, web, VoIP) ; bénin ou malveillant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Classification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Un score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Degré d’anomalie d’un flux ou d’un hôte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Détection d’anomalies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Une valeur continue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Résolution vidéo, délai de démarrage, débit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Régression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Une série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Charge prévue dans l’heure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Prévision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Une alerte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Score, explication et contexte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Aide à la décision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Les familles de tâches (fil conducteur)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Table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645920"/>
          <a:ext cx="10515598" cy="2926080"/>
        </p:xfrm>
        <a:graphic>
          <a:graphicData uri="http://schemas.openxmlformats.org/drawingml/2006/table">
            <a:tbl>
              <a:tblPr firstRow="1" bandRow="0"/>
              <a:tblGrid>
                <a:gridCol w="2080580"/>
                <a:gridCol w="2600725"/>
                <a:gridCol w="2080580"/>
                <a:gridCol w="2774107"/>
                <a:gridCol w="979606"/>
              </a:tblGrid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Tâche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Entrée typique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Sortie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Modèle courant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Partie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Classification de flux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Features des premiers paquets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Classe d’application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Forêt aléatoire, gradient boosting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Détection d’anomalies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Features par fenêtre, logs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Score ou alerte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Isolation Forest, autoencodeur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Inférence de QoE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Tailles et rythme des segments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Résolution, interruptions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Gradient boosting, LSTM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Ce tableau sert de fil conducteur : on y revient dans chaque partie.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Supervisé, non supervisé, semi-supervisé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246888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656" b="1" i="0">
                <a:solidFill>
                  <a:schemeClr val="accent5">
                    <a:lumMod val="75000"/>
                  </a:schemeClr>
                </a:solidFill>
              </a:rPr>
              <a:t>Supervisé</a:t>
            </a:r>
            <a:r>
              <a:rPr sz="1656" b="0" i="0">
                <a:solidFill>
                  <a:schemeClr val="accent5">
                    <a:lumMod val="75000"/>
                  </a:schemeClr>
                </a:solidFill>
              </a:rPr>
              <a:t> : données étiquetées. Précis sur les cas connus, mais exige des labels. Ex. : classer les applications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656" b="1" i="0">
                <a:solidFill>
                  <a:schemeClr val="accent5">
                    <a:lumMod val="75000"/>
                  </a:schemeClr>
                </a:solidFill>
              </a:rPr>
              <a:t>Non supervisé</a:t>
            </a:r>
            <a:r>
              <a:rPr sz="1656" b="0" i="0">
                <a:solidFill>
                  <a:schemeClr val="accent5">
                    <a:lumMod val="75000"/>
                  </a:schemeClr>
                </a:solidFill>
              </a:rPr>
              <a:t> : aucun label. Modélise le « normal » ou regroupe. Beaucoup de faux positifs. Ex. : détecter des anomalies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656" b="1" i="0">
                <a:solidFill>
                  <a:schemeClr val="accent5">
                    <a:lumMod val="75000"/>
                  </a:schemeClr>
                </a:solidFill>
              </a:rPr>
              <a:t>Semi-supervisé</a:t>
            </a:r>
            <a:r>
              <a:rPr sz="1656" b="0" i="0">
                <a:solidFill>
                  <a:schemeClr val="accent5">
                    <a:lumMod val="75000"/>
                  </a:schemeClr>
                </a:solidFill>
              </a:rPr>
              <a:t> : apprend sur du trafic normal seulement, ou avec peu de labels. Compromis fréquent en sécurité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40690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472" b="1" i="0">
                <a:solidFill>
                  <a:schemeClr val="tx2"/>
                </a:solidFill>
              </a:rPr>
              <a:t>Ce qui change : les données d’entraînement. Le reste du pipeline est identique.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838504" y="4526280"/>
            <a:ext cx="2368827" cy="640080"/>
          </a:xfrm>
          <a:prstGeom prst="roundRect">
            <a:avLst>
              <a:gd name="adj" fmla="val 11428"/>
            </a:avLst>
          </a:prstGeom>
          <a:solidFill>
            <a:schemeClr val="accent2"/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bg1"/>
                </a:solidFill>
              </a:rPr>
              <a:t>Données d’entraînement</a:t>
            </a:r>
          </a:p>
        </p:txBody>
      </p:sp>
      <p:cxnSp>
        <p:nvCxnSpPr>
          <p:cNvPr id="9006" name="Connector 9005"/>
          <p:cNvCxnSpPr/>
          <p:nvPr/>
        </p:nvCxnSpPr>
        <p:spPr>
          <a:xfrm>
            <a:off x="3242008" y="4846320"/>
            <a:ext cx="277411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07" name="Rounded Rectangle 9006"/>
          <p:cNvSpPr/>
          <p:nvPr/>
        </p:nvSpPr>
        <p:spPr>
          <a:xfrm>
            <a:off x="3554095" y="4526280"/>
            <a:ext cx="2368827" cy="640080"/>
          </a:xfrm>
          <a:prstGeom prst="roundRect">
            <a:avLst>
              <a:gd name="adj" fmla="val 1142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Entraînement</a:t>
            </a:r>
          </a:p>
        </p:txBody>
      </p:sp>
      <p:cxnSp>
        <p:nvCxnSpPr>
          <p:cNvPr id="9008" name="Connector 9007"/>
          <p:cNvCxnSpPr/>
          <p:nvPr/>
        </p:nvCxnSpPr>
        <p:spPr>
          <a:xfrm>
            <a:off x="5957599" y="4846320"/>
            <a:ext cx="277411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09" name="Rounded Rectangle 9008"/>
          <p:cNvSpPr/>
          <p:nvPr/>
        </p:nvSpPr>
        <p:spPr>
          <a:xfrm>
            <a:off x="6269686" y="4526280"/>
            <a:ext cx="2368827" cy="640080"/>
          </a:xfrm>
          <a:prstGeom prst="roundRect">
            <a:avLst>
              <a:gd name="adj" fmla="val 1142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Modèle</a:t>
            </a:r>
          </a:p>
        </p:txBody>
      </p:sp>
      <p:cxnSp>
        <p:nvCxnSpPr>
          <p:cNvPr id="9010" name="Connector 9009"/>
          <p:cNvCxnSpPr/>
          <p:nvPr/>
        </p:nvCxnSpPr>
        <p:spPr>
          <a:xfrm>
            <a:off x="8673190" y="4846320"/>
            <a:ext cx="277411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11" name="Rounded Rectangle 9010"/>
          <p:cNvSpPr/>
          <p:nvPr/>
        </p:nvSpPr>
        <p:spPr>
          <a:xfrm>
            <a:off x="8985277" y="4526280"/>
            <a:ext cx="2368827" cy="640080"/>
          </a:xfrm>
          <a:prstGeom prst="roundRect">
            <a:avLst>
              <a:gd name="adj" fmla="val 1142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Inférence</a:t>
            </a:r>
          </a:p>
        </p:txBody>
      </p:sp>
      <p:sp>
        <p:nvSpPr>
          <p:cNvPr id="9012" name="TextBox 9011"/>
          <p:cNvSpPr txBox="1"/>
          <p:nvPr/>
        </p:nvSpPr>
        <p:spPr>
          <a:xfrm>
            <a:off x="838504" y="5303520"/>
            <a:ext cx="6935267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288" b="0" i="0">
                <a:solidFill>
                  <a:schemeClr val="accent2"/>
                </a:solidFill>
              </a:rPr>
              <a:t>Supervisé : données + étiquettes</a:t>
            </a:r>
          </a:p>
          <a:p>
            <a:pPr algn="l">
              <a:buNone/>
            </a:pPr>
            <a:r>
              <a:rPr sz="1288" b="0" i="0">
                <a:solidFill>
                  <a:schemeClr val="accent2"/>
                </a:solidFill>
              </a:rPr>
              <a:t>Non supervisé : données seules</a:t>
            </a:r>
          </a:p>
          <a:p>
            <a:pPr algn="l">
              <a:buNone/>
            </a:pPr>
            <a:r>
              <a:rPr sz="1288" b="0" i="0">
                <a:solidFill>
                  <a:schemeClr val="accent2"/>
                </a:solidFill>
              </a:rPr>
              <a:t>Semi-supervisé : peu d’étiquettes, ou trafic normal seulement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Arbres, forêts et gradient boosting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Rounded Rectangle 9003"/>
          <p:cNvSpPr/>
          <p:nvPr/>
        </p:nvSpPr>
        <p:spPr>
          <a:xfrm>
            <a:off x="2659012" y="1554480"/>
            <a:ext cx="2514034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bg1"/>
                </a:solidFill>
              </a:rPr>
              <a:t>Taille moyenne &gt; 900 o ?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925195" y="2926080"/>
            <a:ext cx="2340652" cy="731520"/>
          </a:xfrm>
          <a:prstGeom prst="roundRect">
            <a:avLst>
              <a:gd name="adj" fmla="val 10000"/>
            </a:avLst>
          </a:prstGeom>
          <a:solidFill>
            <a:schemeClr val="accent5">
              <a:alpha val="8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bg1"/>
                </a:solidFill>
              </a:rPr>
              <a:t>Durée &gt; 30 s ?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4566211" y="2926080"/>
            <a:ext cx="2340652" cy="731520"/>
          </a:xfrm>
          <a:prstGeom prst="roundRect">
            <a:avLst>
              <a:gd name="adj" fmla="val 10000"/>
            </a:avLst>
          </a:prstGeom>
          <a:solidFill>
            <a:schemeClr val="accent5">
              <a:alpha val="8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bg1"/>
                </a:solidFill>
              </a:rPr>
              <a:t>SYN seuls ?</a:t>
            </a:r>
          </a:p>
        </p:txBody>
      </p:sp>
      <p:cxnSp>
        <p:nvCxnSpPr>
          <p:cNvPr id="9007" name="Connector 9006"/>
          <p:cNvCxnSpPr/>
          <p:nvPr/>
        </p:nvCxnSpPr>
        <p:spPr>
          <a:xfrm flipH="1">
            <a:off x="2095522" y="2331720"/>
            <a:ext cx="1170326" cy="54864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cxnSp>
        <p:nvCxnSpPr>
          <p:cNvPr id="9008" name="Connector 9007"/>
          <p:cNvCxnSpPr/>
          <p:nvPr/>
        </p:nvCxnSpPr>
        <p:spPr>
          <a:xfrm>
            <a:off x="4566211" y="2331720"/>
            <a:ext cx="1170326" cy="54864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sp>
        <p:nvSpPr>
          <p:cNvPr id="9009" name="TextBox 9008"/>
          <p:cNvSpPr txBox="1"/>
          <p:nvPr/>
        </p:nvSpPr>
        <p:spPr>
          <a:xfrm>
            <a:off x="2485630" y="2377440"/>
            <a:ext cx="43345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104" b="0" i="0">
                <a:solidFill>
                  <a:schemeClr val="tx2"/>
                </a:solidFill>
              </a:rPr>
              <a:t>oui</a:t>
            </a:r>
          </a:p>
        </p:txBody>
      </p:sp>
      <p:sp>
        <p:nvSpPr>
          <p:cNvPr id="9010" name="TextBox 9009"/>
          <p:cNvSpPr txBox="1"/>
          <p:nvPr/>
        </p:nvSpPr>
        <p:spPr>
          <a:xfrm>
            <a:off x="4999665" y="2377440"/>
            <a:ext cx="43345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104" b="0" i="0">
                <a:solidFill>
                  <a:schemeClr val="tx2"/>
                </a:solidFill>
              </a:rPr>
              <a:t>non</a:t>
            </a:r>
          </a:p>
        </p:txBody>
      </p:sp>
      <p:sp>
        <p:nvSpPr>
          <p:cNvPr id="9011" name="Rounded Rectangle 9010"/>
          <p:cNvSpPr/>
          <p:nvPr/>
        </p:nvSpPr>
        <p:spPr>
          <a:xfrm>
            <a:off x="838504" y="4572000"/>
            <a:ext cx="1257017" cy="640080"/>
          </a:xfrm>
          <a:prstGeom prst="roundRect">
            <a:avLst>
              <a:gd name="adj" fmla="val 11428"/>
            </a:avLst>
          </a:prstGeom>
          <a:solidFill>
            <a:schemeClr val="accent6"/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bg1"/>
                </a:solidFill>
              </a:rPr>
              <a:t>Vidéo</a:t>
            </a:r>
          </a:p>
        </p:txBody>
      </p:sp>
      <p:sp>
        <p:nvSpPr>
          <p:cNvPr id="9012" name="Rounded Rectangle 9011"/>
          <p:cNvSpPr/>
          <p:nvPr/>
        </p:nvSpPr>
        <p:spPr>
          <a:xfrm>
            <a:off x="2355594" y="4572000"/>
            <a:ext cx="1257017" cy="640080"/>
          </a:xfrm>
          <a:prstGeom prst="roundRect">
            <a:avLst>
              <a:gd name="adj" fmla="val 11428"/>
            </a:avLst>
          </a:prstGeom>
          <a:solidFill>
            <a:schemeClr val="accent1"/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bg1"/>
                </a:solidFill>
              </a:rPr>
              <a:t>Web</a:t>
            </a:r>
          </a:p>
        </p:txBody>
      </p:sp>
      <p:sp>
        <p:nvSpPr>
          <p:cNvPr id="9013" name="Rounded Rectangle 9012"/>
          <p:cNvSpPr/>
          <p:nvPr/>
        </p:nvSpPr>
        <p:spPr>
          <a:xfrm>
            <a:off x="4479520" y="4572000"/>
            <a:ext cx="1257017" cy="640080"/>
          </a:xfrm>
          <a:prstGeom prst="roundRect">
            <a:avLst>
              <a:gd name="adj" fmla="val 11428"/>
            </a:avLst>
          </a:prstGeom>
          <a:solidFill>
            <a:srgbClr val="C00000"/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bg1"/>
                </a:solidFill>
              </a:rPr>
              <a:t>Scan</a:t>
            </a:r>
          </a:p>
        </p:txBody>
      </p:sp>
      <p:sp>
        <p:nvSpPr>
          <p:cNvPr id="9014" name="Rounded Rectangle 9013"/>
          <p:cNvSpPr/>
          <p:nvPr/>
        </p:nvSpPr>
        <p:spPr>
          <a:xfrm>
            <a:off x="5996610" y="4572000"/>
            <a:ext cx="1257017" cy="640080"/>
          </a:xfrm>
          <a:prstGeom prst="roundRect">
            <a:avLst>
              <a:gd name="adj" fmla="val 11428"/>
            </a:avLst>
          </a:prstGeom>
          <a:solidFill>
            <a:schemeClr val="accent1"/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bg1"/>
                </a:solidFill>
              </a:rPr>
              <a:t>Web</a:t>
            </a:r>
          </a:p>
        </p:txBody>
      </p:sp>
      <p:cxnSp>
        <p:nvCxnSpPr>
          <p:cNvPr id="9015" name="Connector 9014"/>
          <p:cNvCxnSpPr/>
          <p:nvPr/>
        </p:nvCxnSpPr>
        <p:spPr>
          <a:xfrm flipH="1">
            <a:off x="1445340" y="3703320"/>
            <a:ext cx="173382" cy="82296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cxnSp>
        <p:nvCxnSpPr>
          <p:cNvPr id="9016" name="Connector 9015"/>
          <p:cNvCxnSpPr/>
          <p:nvPr/>
        </p:nvCxnSpPr>
        <p:spPr>
          <a:xfrm>
            <a:off x="2572321" y="3703320"/>
            <a:ext cx="346764" cy="82296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cxnSp>
        <p:nvCxnSpPr>
          <p:cNvPr id="9017" name="Connector 9016"/>
          <p:cNvCxnSpPr/>
          <p:nvPr/>
        </p:nvCxnSpPr>
        <p:spPr>
          <a:xfrm flipH="1">
            <a:off x="5086356" y="3703320"/>
            <a:ext cx="86691" cy="82296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cxnSp>
        <p:nvCxnSpPr>
          <p:cNvPr id="9018" name="Connector 9017"/>
          <p:cNvCxnSpPr/>
          <p:nvPr/>
        </p:nvCxnSpPr>
        <p:spPr>
          <a:xfrm>
            <a:off x="6300028" y="3703320"/>
            <a:ext cx="260072" cy="82296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sp>
        <p:nvSpPr>
          <p:cNvPr id="9019" name="TextBox 9018"/>
          <p:cNvSpPr txBox="1"/>
          <p:nvPr/>
        </p:nvSpPr>
        <p:spPr>
          <a:xfrm>
            <a:off x="838504" y="5486400"/>
            <a:ext cx="606835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104" b="0" i="1">
                <a:solidFill>
                  <a:schemeClr val="tx2"/>
                </a:solidFill>
              </a:rPr>
              <a:t>Un arbre de décision pour classer des flux (exemple simplifié)</a:t>
            </a:r>
          </a:p>
        </p:txBody>
      </p:sp>
      <p:sp>
        <p:nvSpPr>
          <p:cNvPr id="9020" name="TextBox 9019"/>
          <p:cNvSpPr txBox="1"/>
          <p:nvPr/>
        </p:nvSpPr>
        <p:spPr>
          <a:xfrm>
            <a:off x="7600391" y="1554480"/>
            <a:ext cx="3753713" cy="4480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Arbre de décision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 : une suite de questions sur les features ; chaque feuille donne une classe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Cas d’usage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 : classer un flux (vidéo, web, scan) à partir de la taille moyenne de ses paquets, de sa durée, de ses flags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Forêt aléatoire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 : plusieurs arbres qui votent, plus robuste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Gradient boosting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 (XGBoost, LightGBM) : arbres construits l’un après l’autre pour corriger les erreurs des précédents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Limite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 : pas de notion de séquence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Autres modèles classiques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Table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645920"/>
          <a:ext cx="10515598" cy="3657600"/>
        </p:xfrm>
        <a:graphic>
          <a:graphicData uri="http://schemas.openxmlformats.org/drawingml/2006/table">
            <a:tbl>
              <a:tblPr firstRow="1" bandRow="0"/>
              <a:tblGrid>
                <a:gridCol w="2427343"/>
                <a:gridCol w="2860798"/>
                <a:gridCol w="2947488"/>
                <a:gridCol w="2279969"/>
              </a:tblGrid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Modèle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Principe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Usage réseau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Limite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Régression logistique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Frontière linéaire, probabilités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Baseline rapide, interprétable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Relations non linéaires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SVM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Marge maximale (noyaux)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Classification de flux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Passage à l’échelle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k-NN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Voisins les plus proches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Prototype, peu de données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Coût à l’inférence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k-means, DBSCAN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Regroupement sans label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Profils de trafic, outliers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Choix de k, de la distance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Détection non supervisée : modéliser le normal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Rounded Rectangle 9003"/>
          <p:cNvSpPr/>
          <p:nvPr/>
        </p:nvSpPr>
        <p:spPr>
          <a:xfrm>
            <a:off x="838504" y="1920240"/>
            <a:ext cx="1040290" cy="2011680"/>
          </a:xfrm>
          <a:prstGeom prst="roundRect">
            <a:avLst>
              <a:gd name="adj" fmla="val 7031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x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2138867" y="2194560"/>
            <a:ext cx="1300362" cy="1463040"/>
          </a:xfrm>
          <a:prstGeom prst="roundRect">
            <a:avLst>
              <a:gd name="adj" fmla="val 5625"/>
            </a:avLst>
          </a:prstGeom>
          <a:solidFill>
            <a:schemeClr val="accent1">
              <a:alpha val="35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Encodeur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3785993" y="2560320"/>
            <a:ext cx="780217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z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4826283" y="2194560"/>
            <a:ext cx="1300362" cy="1463040"/>
          </a:xfrm>
          <a:prstGeom prst="roundRect">
            <a:avLst>
              <a:gd name="adj" fmla="val 5625"/>
            </a:avLst>
          </a:prstGeom>
          <a:solidFill>
            <a:schemeClr val="accent1">
              <a:alpha val="35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Décodeur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6473409" y="1920240"/>
            <a:ext cx="1040290" cy="2011680"/>
          </a:xfrm>
          <a:prstGeom prst="roundRect">
            <a:avLst>
              <a:gd name="adj" fmla="val 7031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x̂</a:t>
            </a:r>
          </a:p>
        </p:txBody>
      </p:sp>
      <p:cxnSp>
        <p:nvCxnSpPr>
          <p:cNvPr id="9009" name="Connector 9008"/>
          <p:cNvCxnSpPr/>
          <p:nvPr/>
        </p:nvCxnSpPr>
        <p:spPr>
          <a:xfrm>
            <a:off x="1896133" y="2926080"/>
            <a:ext cx="225396" cy="0"/>
          </a:xfrm>
          <a:prstGeom prst="line">
            <a:avLst/>
          </a:prstGeom>
          <a:ln w="25400">
            <a:solidFill>
              <a:schemeClr val="accent5"/>
            </a:solidFill>
            <a:tailEnd type="triangle"/>
          </a:ln>
        </p:spPr>
      </p:cxnSp>
      <p:cxnSp>
        <p:nvCxnSpPr>
          <p:cNvPr id="9010" name="Connector 9009"/>
          <p:cNvCxnSpPr/>
          <p:nvPr/>
        </p:nvCxnSpPr>
        <p:spPr>
          <a:xfrm>
            <a:off x="3456568" y="2926080"/>
            <a:ext cx="312087" cy="0"/>
          </a:xfrm>
          <a:prstGeom prst="line">
            <a:avLst/>
          </a:prstGeom>
          <a:ln w="25400">
            <a:solidFill>
              <a:schemeClr val="accent5"/>
            </a:solidFill>
            <a:tailEnd type="triangle"/>
          </a:ln>
        </p:spPr>
      </p:cxnSp>
      <p:cxnSp>
        <p:nvCxnSpPr>
          <p:cNvPr id="9011" name="Connector 9010"/>
          <p:cNvCxnSpPr/>
          <p:nvPr/>
        </p:nvCxnSpPr>
        <p:spPr>
          <a:xfrm>
            <a:off x="4496858" y="2926080"/>
            <a:ext cx="312087" cy="0"/>
          </a:xfrm>
          <a:prstGeom prst="line">
            <a:avLst/>
          </a:prstGeom>
          <a:ln w="25400">
            <a:solidFill>
              <a:schemeClr val="accent5"/>
            </a:solidFill>
            <a:tailEnd type="triangle"/>
          </a:ln>
        </p:spPr>
      </p:cxnSp>
      <p:cxnSp>
        <p:nvCxnSpPr>
          <p:cNvPr id="9012" name="Connector 9011"/>
          <p:cNvCxnSpPr/>
          <p:nvPr/>
        </p:nvCxnSpPr>
        <p:spPr>
          <a:xfrm>
            <a:off x="6230675" y="2926080"/>
            <a:ext cx="225396" cy="0"/>
          </a:xfrm>
          <a:prstGeom prst="line">
            <a:avLst/>
          </a:prstGeom>
          <a:ln w="25400">
            <a:solidFill>
              <a:schemeClr val="accent5"/>
            </a:solidFill>
            <a:tailEnd type="triangle"/>
          </a:ln>
        </p:spPr>
      </p:cxnSp>
      <p:sp>
        <p:nvSpPr>
          <p:cNvPr id="9013" name="TextBox 9012"/>
          <p:cNvSpPr txBox="1"/>
          <p:nvPr/>
        </p:nvSpPr>
        <p:spPr>
          <a:xfrm>
            <a:off x="3569266" y="3383280"/>
            <a:ext cx="121367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012" b="0" i="0">
                <a:solidFill>
                  <a:schemeClr val="tx2"/>
                </a:solidFill>
              </a:rPr>
              <a:t>espace latent</a:t>
            </a:r>
          </a:p>
        </p:txBody>
      </p:sp>
      <p:sp>
        <p:nvSpPr>
          <p:cNvPr id="9014" name="Rounded Rectangle 9013"/>
          <p:cNvSpPr/>
          <p:nvPr/>
        </p:nvSpPr>
        <p:spPr>
          <a:xfrm>
            <a:off x="1705413" y="4572000"/>
            <a:ext cx="5894977" cy="914400"/>
          </a:xfrm>
          <a:prstGeom prst="roundRect">
            <a:avLst>
              <a:gd name="adj" fmla="val 8000"/>
            </a:avLst>
          </a:prstGeom>
          <a:solidFill>
            <a:srgbClr val="C00000">
              <a:alpha val="20000"/>
            </a:srgb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Score d’anomalie = erreur de reconstruction  ‖x − x̂‖²</a:t>
            </a:r>
          </a:p>
        </p:txBody>
      </p:sp>
      <p:sp>
        <p:nvSpPr>
          <p:cNvPr id="9015" name="TextBox 9014"/>
          <p:cNvSpPr txBox="1"/>
          <p:nvPr/>
        </p:nvSpPr>
        <p:spPr>
          <a:xfrm>
            <a:off x="1705413" y="5623560"/>
            <a:ext cx="5894977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96" b="0" i="1">
                <a:solidFill>
                  <a:schemeClr val="tx2"/>
                </a:solidFill>
              </a:rPr>
              <a:t>Entraîné sur du trafic normal uniquement</a:t>
            </a:r>
          </a:p>
        </p:txBody>
      </p:sp>
      <p:sp>
        <p:nvSpPr>
          <p:cNvPr id="9016" name="TextBox 9015"/>
          <p:cNvSpPr txBox="1"/>
          <p:nvPr/>
        </p:nvSpPr>
        <p:spPr>
          <a:xfrm>
            <a:off x="8727372" y="1554480"/>
            <a:ext cx="2626732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x</a:t>
            </a: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 : les features d’un flux (ex. taille moyenne 450 o, durée 0,8 s, 12 paquets)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x̂</a:t>
            </a: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 : ce que l’autoencodeur reconstruit après avoir compressé x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Flux normal : x̂ ≈ x, erreur faible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Flux anormal : x̂ s’écarte de x, erreur élevée → alerte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Deep learning : quel réseau pour quel problème ?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Table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645920"/>
          <a:ext cx="10515599" cy="3840480"/>
        </p:xfrm>
        <a:graphic>
          <a:graphicData uri="http://schemas.openxmlformats.org/drawingml/2006/table">
            <a:tbl>
              <a:tblPr firstRow="1" bandRow="0"/>
              <a:tblGrid>
                <a:gridCol w="2253962"/>
                <a:gridCol w="2947488"/>
                <a:gridCol w="5314149"/>
              </a:tblGrid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Architecture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Convient à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Exemple réseau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MLP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Features tabulaires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Classification de flux (rarement meilleur que les arbres)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CNN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Motifs locaux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Paquets bruts, séquences d’octets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LSTM / GRU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Séquences temporelles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Séquences de paquets, télémétrie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Transformer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Longues dépendances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Séquences de flux, logs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GNN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Graphes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Mouvement latéral, topologie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LLM : analyse de logs, assistants SOC/NOC, génération de configurations (voir l’ouverture).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Comment choisir un modèle ?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Rounded Rectangle 9003"/>
          <p:cNvSpPr/>
          <p:nvPr/>
        </p:nvSpPr>
        <p:spPr>
          <a:xfrm>
            <a:off x="2398940" y="1463040"/>
            <a:ext cx="2600725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bg1"/>
                </a:solidFill>
              </a:rPr>
              <a:t>Des labels ?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838504" y="2834640"/>
            <a:ext cx="2514034" cy="1005840"/>
          </a:xfrm>
          <a:prstGeom prst="roundRect">
            <a:avLst>
              <a:gd name="adj" fmla="val 7272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196" b="1" i="0">
                <a:solidFill>
                  <a:schemeClr val="accent5">
                    <a:lumMod val="75000"/>
                  </a:schemeClr>
                </a:solidFill>
              </a:rPr>
              <a:t>Non supervisé ou semi-supervisé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4132757" y="2834640"/>
            <a:ext cx="2687416" cy="731520"/>
          </a:xfrm>
          <a:prstGeom prst="roundRect">
            <a:avLst>
              <a:gd name="adj" fmla="val 10000"/>
            </a:avLst>
          </a:prstGeom>
          <a:solidFill>
            <a:schemeClr val="accent5">
              <a:alpha val="8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bg1"/>
                </a:solidFill>
              </a:rPr>
              <a:t>Données tabulaires ?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3525921" y="4389120"/>
            <a:ext cx="1647126" cy="822960"/>
          </a:xfrm>
          <a:prstGeom prst="roundRect">
            <a:avLst>
              <a:gd name="adj" fmla="val 8888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196" b="1" i="0">
                <a:solidFill>
                  <a:schemeClr val="accent5">
                    <a:lumMod val="75000"/>
                  </a:schemeClr>
                </a:solidFill>
              </a:rPr>
              <a:t>Forêts, boosting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5346428" y="4389120"/>
            <a:ext cx="1647126" cy="822960"/>
          </a:xfrm>
          <a:prstGeom prst="roundRect">
            <a:avLst>
              <a:gd name="adj" fmla="val 8888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196" b="1" i="0">
                <a:solidFill>
                  <a:schemeClr val="accent5">
                    <a:lumMod val="75000"/>
                  </a:schemeClr>
                </a:solidFill>
              </a:rPr>
              <a:t>LSTM, CNN, GNN</a:t>
            </a:r>
          </a:p>
        </p:txBody>
      </p:sp>
      <p:cxnSp>
        <p:nvCxnSpPr>
          <p:cNvPr id="9009" name="Connector 9008"/>
          <p:cNvCxnSpPr/>
          <p:nvPr/>
        </p:nvCxnSpPr>
        <p:spPr>
          <a:xfrm flipH="1">
            <a:off x="2225558" y="2240280"/>
            <a:ext cx="693527" cy="54864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cxnSp>
        <p:nvCxnSpPr>
          <p:cNvPr id="9010" name="Connector 9009"/>
          <p:cNvCxnSpPr/>
          <p:nvPr/>
        </p:nvCxnSpPr>
        <p:spPr>
          <a:xfrm>
            <a:off x="4479520" y="2240280"/>
            <a:ext cx="693527" cy="54864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cxnSp>
        <p:nvCxnSpPr>
          <p:cNvPr id="9011" name="Connector 9010"/>
          <p:cNvCxnSpPr/>
          <p:nvPr/>
        </p:nvCxnSpPr>
        <p:spPr>
          <a:xfrm flipH="1">
            <a:off x="4392829" y="3611880"/>
            <a:ext cx="433454" cy="73152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cxnSp>
        <p:nvCxnSpPr>
          <p:cNvPr id="9012" name="Connector 9011"/>
          <p:cNvCxnSpPr/>
          <p:nvPr/>
        </p:nvCxnSpPr>
        <p:spPr>
          <a:xfrm>
            <a:off x="6126646" y="3611880"/>
            <a:ext cx="173382" cy="73152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sp>
        <p:nvSpPr>
          <p:cNvPr id="9013" name="TextBox 9012"/>
          <p:cNvSpPr txBox="1"/>
          <p:nvPr/>
        </p:nvSpPr>
        <p:spPr>
          <a:xfrm>
            <a:off x="2225558" y="2286000"/>
            <a:ext cx="43345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104" b="0" i="0">
                <a:solidFill>
                  <a:schemeClr val="tx2"/>
                </a:solidFill>
              </a:rPr>
              <a:t>non</a:t>
            </a:r>
          </a:p>
        </p:txBody>
      </p:sp>
      <p:sp>
        <p:nvSpPr>
          <p:cNvPr id="9014" name="TextBox 9013"/>
          <p:cNvSpPr txBox="1"/>
          <p:nvPr/>
        </p:nvSpPr>
        <p:spPr>
          <a:xfrm>
            <a:off x="4999665" y="2286000"/>
            <a:ext cx="43345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104" b="0" i="0">
                <a:solidFill>
                  <a:schemeClr val="tx2"/>
                </a:solidFill>
              </a:rPr>
              <a:t>oui</a:t>
            </a:r>
          </a:p>
        </p:txBody>
      </p:sp>
      <p:sp>
        <p:nvSpPr>
          <p:cNvPr id="9015" name="TextBox 9014"/>
          <p:cNvSpPr txBox="1"/>
          <p:nvPr/>
        </p:nvSpPr>
        <p:spPr>
          <a:xfrm>
            <a:off x="4219447" y="3749039"/>
            <a:ext cx="43345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104" b="0" i="0">
                <a:solidFill>
                  <a:schemeClr val="tx2"/>
                </a:solidFill>
              </a:rPr>
              <a:t>oui</a:t>
            </a:r>
          </a:p>
        </p:txBody>
      </p:sp>
      <p:sp>
        <p:nvSpPr>
          <p:cNvPr id="9016" name="TextBox 9015"/>
          <p:cNvSpPr txBox="1"/>
          <p:nvPr/>
        </p:nvSpPr>
        <p:spPr>
          <a:xfrm>
            <a:off x="6300028" y="3749039"/>
            <a:ext cx="43345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104" b="0" i="0">
                <a:solidFill>
                  <a:schemeClr val="tx2"/>
                </a:solidFill>
              </a:rPr>
              <a:t>non</a:t>
            </a:r>
          </a:p>
        </p:txBody>
      </p:sp>
      <p:sp>
        <p:nvSpPr>
          <p:cNvPr id="9017" name="TextBox 9016"/>
          <p:cNvSpPr txBox="1"/>
          <p:nvPr/>
        </p:nvSpPr>
        <p:spPr>
          <a:xfrm>
            <a:off x="7513700" y="1554480"/>
            <a:ext cx="3840404" cy="3657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Latence</a:t>
            </a: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 : inférence au débit ligne ?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Explicabilité</a:t>
            </a: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 : l’opérateur doit-il comprendre ?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Volume</a:t>
            </a: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 : assez de données pour le deep learning ?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Ressources</a:t>
            </a: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 : CPU, mémoire, GPU disponibles</a:t>
            </a:r>
          </a:p>
        </p:txBody>
      </p:sp>
      <p:sp>
        <p:nvSpPr>
          <p:cNvPr id="9018" name="Rounded Rectangle 9017"/>
          <p:cNvSpPr/>
          <p:nvPr/>
        </p:nvSpPr>
        <p:spPr>
          <a:xfrm>
            <a:off x="838504" y="5486400"/>
            <a:ext cx="10515600" cy="594360"/>
          </a:xfrm>
          <a:prstGeom prst="roundRect">
            <a:avLst>
              <a:gd name="adj" fmla="val 12307"/>
            </a:avLst>
          </a:prstGeom>
          <a:solidFill>
            <a:schemeClr val="accent2">
              <a:alpha val="18000"/>
            </a:schemeClr>
          </a:solidFill>
          <a:ln>
            <a:noFill/>
          </a:ln>
        </p:spPr>
        <p:txBody>
          <a:bodyPr wrap="square" lIns="152400" tIns="152400" rIns="152400" bIns="152400" rtlCol="0" anchor="ctr">
            <a:noAutofit/>
          </a:bodyPr>
          <a:lstStyle/>
          <a:p>
            <a:pPr algn="l">
              <a:buNone/>
            </a:pP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Message clé : un modèle simple sur de bonnes features bat souvent un modèle complexe sur de mauvaises.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Sur-apprentissage et jeu de test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600200"/>
            <a:ext cx="5721596" cy="4480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Sur-apprentissage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(overfitting) : le modèle apprend les données d’entraînement par cœur, bruit compris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Symptôme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excellents résultats à l’entraînement, mauvais sur de nouvelles données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Causes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modèle trop complexe, peu de données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Parade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toujours évaluer sur des données jamais vues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6993555" y="1737360"/>
            <a:ext cx="4360549" cy="1097280"/>
          </a:xfrm>
          <a:prstGeom prst="roundRect">
            <a:avLst>
              <a:gd name="adj" fmla="val 6666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Entraînement (≈ 70 %)</a:t>
            </a:r>
          </a:p>
          <a:p>
            <a:pPr algn="ctr">
              <a:buNone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ajuste les paramètres du modèle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6993555" y="3108960"/>
            <a:ext cx="4360549" cy="1097280"/>
          </a:xfrm>
          <a:prstGeom prst="roundRect">
            <a:avLst>
              <a:gd name="adj" fmla="val 6666"/>
            </a:avLst>
          </a:prstGeom>
          <a:solidFill>
            <a:schemeClr val="accent2">
              <a:alpha val="30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Validation (≈ 15 %)</a:t>
            </a:r>
          </a:p>
          <a:p>
            <a:pPr algn="ctr">
              <a:buNone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choisit le modèle et ses réglages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6993555" y="4480560"/>
            <a:ext cx="4360549" cy="1097280"/>
          </a:xfrm>
          <a:prstGeom prst="roundRect">
            <a:avLst>
              <a:gd name="adj" fmla="val 6666"/>
            </a:avLst>
          </a:prstGeom>
          <a:solidFill>
            <a:srgbClr val="C00000">
              <a:alpha val="30000"/>
            </a:srgbClr>
          </a:solidFill>
          <a:ln w="15875">
            <a:solidFill>
              <a:srgbClr val="C00000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Test (≈ 15 %)</a:t>
            </a:r>
          </a:p>
          <a:p>
            <a:pPr algn="ctr">
              <a:buNone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mesure finale, utilisée une seule fois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Évaluer un modèle : matrice de confusion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2138867" y="1463040"/>
            <a:ext cx="190719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Prédit : attaque</a:t>
            </a:r>
          </a:p>
        </p:txBody>
      </p:sp>
      <p:sp>
        <p:nvSpPr>
          <p:cNvPr id="9005" name="TextBox 9004"/>
          <p:cNvSpPr txBox="1"/>
          <p:nvPr/>
        </p:nvSpPr>
        <p:spPr>
          <a:xfrm>
            <a:off x="4132757" y="1463040"/>
            <a:ext cx="190719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Prédit : normal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665123" y="2011680"/>
            <a:ext cx="1387053" cy="1371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Réel : attaque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665123" y="3474720"/>
            <a:ext cx="1387053" cy="1371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Réel : normal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2138867" y="2011680"/>
            <a:ext cx="1907198" cy="1371600"/>
          </a:xfrm>
          <a:prstGeom prst="roundRect">
            <a:avLst>
              <a:gd name="adj" fmla="val 5333"/>
            </a:avLst>
          </a:prstGeom>
          <a:solidFill>
            <a:schemeClr val="accent6">
              <a:alpha val="3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VP : attaque détectée</a:t>
            </a:r>
          </a:p>
        </p:txBody>
      </p:sp>
      <p:sp>
        <p:nvSpPr>
          <p:cNvPr id="9009" name="Rounded Rectangle 9008"/>
          <p:cNvSpPr/>
          <p:nvPr/>
        </p:nvSpPr>
        <p:spPr>
          <a:xfrm>
            <a:off x="4132757" y="2011680"/>
            <a:ext cx="1907198" cy="1371600"/>
          </a:xfrm>
          <a:prstGeom prst="roundRect">
            <a:avLst>
              <a:gd name="adj" fmla="val 5333"/>
            </a:avLst>
          </a:prstGeom>
          <a:solidFill>
            <a:srgbClr val="C00000">
              <a:alpha val="30000"/>
            </a:srgb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FN : attaque manquée</a:t>
            </a:r>
          </a:p>
        </p:txBody>
      </p:sp>
      <p:sp>
        <p:nvSpPr>
          <p:cNvPr id="9010" name="Rounded Rectangle 9009"/>
          <p:cNvSpPr/>
          <p:nvPr/>
        </p:nvSpPr>
        <p:spPr>
          <a:xfrm>
            <a:off x="2138867" y="3474720"/>
            <a:ext cx="1907198" cy="1371600"/>
          </a:xfrm>
          <a:prstGeom prst="roundRect">
            <a:avLst>
              <a:gd name="adj" fmla="val 5333"/>
            </a:avLst>
          </a:prstGeom>
          <a:solidFill>
            <a:schemeClr val="accent2">
              <a:alpha val="3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FP : fausse alarme</a:t>
            </a:r>
          </a:p>
        </p:txBody>
      </p:sp>
      <p:sp>
        <p:nvSpPr>
          <p:cNvPr id="9011" name="Rounded Rectangle 9010"/>
          <p:cNvSpPr/>
          <p:nvPr/>
        </p:nvSpPr>
        <p:spPr>
          <a:xfrm>
            <a:off x="4132757" y="3474720"/>
            <a:ext cx="1907198" cy="1371600"/>
          </a:xfrm>
          <a:prstGeom prst="roundRect">
            <a:avLst>
              <a:gd name="adj" fmla="val 5333"/>
            </a:avLst>
          </a:prstGeom>
          <a:solidFill>
            <a:schemeClr val="accent6">
              <a:alpha val="3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VN : normal reconnu</a:t>
            </a:r>
          </a:p>
        </p:txBody>
      </p:sp>
      <p:sp>
        <p:nvSpPr>
          <p:cNvPr id="9012" name="Rounded Rectangle 9011"/>
          <p:cNvSpPr/>
          <p:nvPr/>
        </p:nvSpPr>
        <p:spPr>
          <a:xfrm>
            <a:off x="6646791" y="1554480"/>
            <a:ext cx="4707313" cy="960120"/>
          </a:xfrm>
          <a:prstGeom prst="roundRect">
            <a:avLst>
              <a:gd name="adj" fmla="val 7619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3" name="TextBox 9012"/>
          <p:cNvSpPr txBox="1"/>
          <p:nvPr/>
        </p:nvSpPr>
        <p:spPr>
          <a:xfrm>
            <a:off x="6820173" y="1645920"/>
            <a:ext cx="199388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Précision</a:t>
            </a:r>
          </a:p>
        </p:txBody>
      </p:sp>
      <p:sp>
        <p:nvSpPr>
          <p:cNvPr id="9014" name="TextBox 9013"/>
          <p:cNvSpPr txBox="1"/>
          <p:nvPr/>
        </p:nvSpPr>
        <p:spPr>
          <a:xfrm>
            <a:off x="8640681" y="1645920"/>
            <a:ext cx="260072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380" b="1" i="0">
                <a:solidFill>
                  <a:schemeClr val="accent5"/>
                </a:solidFill>
              </a:rPr>
              <a:t>VP / (VP + FP)</a:t>
            </a:r>
          </a:p>
        </p:txBody>
      </p:sp>
      <p:sp>
        <p:nvSpPr>
          <p:cNvPr id="9015" name="TextBox 9014"/>
          <p:cNvSpPr txBox="1"/>
          <p:nvPr/>
        </p:nvSpPr>
        <p:spPr>
          <a:xfrm>
            <a:off x="6820173" y="2057400"/>
            <a:ext cx="4421233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Parmi les alertes, combien sont vraies ?</a:t>
            </a:r>
          </a:p>
        </p:txBody>
      </p:sp>
      <p:sp>
        <p:nvSpPr>
          <p:cNvPr id="9016" name="Rounded Rectangle 9015"/>
          <p:cNvSpPr/>
          <p:nvPr/>
        </p:nvSpPr>
        <p:spPr>
          <a:xfrm>
            <a:off x="6646791" y="2651760"/>
            <a:ext cx="4707313" cy="960120"/>
          </a:xfrm>
          <a:prstGeom prst="roundRect">
            <a:avLst>
              <a:gd name="adj" fmla="val 7619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7" name="TextBox 9016"/>
          <p:cNvSpPr txBox="1"/>
          <p:nvPr/>
        </p:nvSpPr>
        <p:spPr>
          <a:xfrm>
            <a:off x="6820173" y="2743200"/>
            <a:ext cx="199388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Rappel</a:t>
            </a:r>
          </a:p>
        </p:txBody>
      </p:sp>
      <p:sp>
        <p:nvSpPr>
          <p:cNvPr id="9018" name="TextBox 9017"/>
          <p:cNvSpPr txBox="1"/>
          <p:nvPr/>
        </p:nvSpPr>
        <p:spPr>
          <a:xfrm>
            <a:off x="8640681" y="2743200"/>
            <a:ext cx="260072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380" b="1" i="0">
                <a:solidFill>
                  <a:schemeClr val="accent5"/>
                </a:solidFill>
              </a:rPr>
              <a:t>VP / (VP + FN)</a:t>
            </a:r>
          </a:p>
        </p:txBody>
      </p:sp>
      <p:sp>
        <p:nvSpPr>
          <p:cNvPr id="9019" name="TextBox 9018"/>
          <p:cNvSpPr txBox="1"/>
          <p:nvPr/>
        </p:nvSpPr>
        <p:spPr>
          <a:xfrm>
            <a:off x="6820173" y="3154680"/>
            <a:ext cx="4421233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Parmi les attaques, combien détectées ?</a:t>
            </a:r>
          </a:p>
        </p:txBody>
      </p:sp>
      <p:sp>
        <p:nvSpPr>
          <p:cNvPr id="9020" name="Rounded Rectangle 9019"/>
          <p:cNvSpPr/>
          <p:nvPr/>
        </p:nvSpPr>
        <p:spPr>
          <a:xfrm>
            <a:off x="6646791" y="3749039"/>
            <a:ext cx="4707313" cy="960120"/>
          </a:xfrm>
          <a:prstGeom prst="roundRect">
            <a:avLst>
              <a:gd name="adj" fmla="val 7619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1" name="TextBox 9020"/>
          <p:cNvSpPr txBox="1"/>
          <p:nvPr/>
        </p:nvSpPr>
        <p:spPr>
          <a:xfrm>
            <a:off x="6820173" y="3840479"/>
            <a:ext cx="199388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F1</a:t>
            </a:r>
          </a:p>
        </p:txBody>
      </p:sp>
      <p:sp>
        <p:nvSpPr>
          <p:cNvPr id="9022" name="TextBox 9021"/>
          <p:cNvSpPr txBox="1"/>
          <p:nvPr/>
        </p:nvSpPr>
        <p:spPr>
          <a:xfrm>
            <a:off x="8640681" y="3840479"/>
            <a:ext cx="260072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380" b="1" i="0">
                <a:solidFill>
                  <a:schemeClr val="accent5"/>
                </a:solidFill>
              </a:rPr>
              <a:t>2·P·R / (P + R)</a:t>
            </a:r>
          </a:p>
        </p:txBody>
      </p:sp>
      <p:sp>
        <p:nvSpPr>
          <p:cNvPr id="9023" name="TextBox 9022"/>
          <p:cNvSpPr txBox="1"/>
          <p:nvPr/>
        </p:nvSpPr>
        <p:spPr>
          <a:xfrm>
            <a:off x="6820173" y="4251959"/>
            <a:ext cx="4421233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Compromis précision / rappel</a:t>
            </a:r>
          </a:p>
        </p:txBody>
      </p:sp>
      <p:sp>
        <p:nvSpPr>
          <p:cNvPr id="9024" name="Rounded Rectangle 9023"/>
          <p:cNvSpPr/>
          <p:nvPr/>
        </p:nvSpPr>
        <p:spPr>
          <a:xfrm>
            <a:off x="6646791" y="4846320"/>
            <a:ext cx="4707313" cy="960120"/>
          </a:xfrm>
          <a:prstGeom prst="roundRect">
            <a:avLst>
              <a:gd name="adj" fmla="val 7619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5" name="TextBox 9024"/>
          <p:cNvSpPr txBox="1"/>
          <p:nvPr/>
        </p:nvSpPr>
        <p:spPr>
          <a:xfrm>
            <a:off x="6820173" y="4937759"/>
            <a:ext cx="199388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Fausses alarmes</a:t>
            </a:r>
          </a:p>
        </p:txBody>
      </p:sp>
      <p:sp>
        <p:nvSpPr>
          <p:cNvPr id="9026" name="TextBox 9025"/>
          <p:cNvSpPr txBox="1"/>
          <p:nvPr/>
        </p:nvSpPr>
        <p:spPr>
          <a:xfrm>
            <a:off x="8640681" y="4937759"/>
            <a:ext cx="260072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380" b="1" i="0">
                <a:solidFill>
                  <a:schemeClr val="accent5"/>
                </a:solidFill>
              </a:rPr>
              <a:t>FP / (FP + VN)</a:t>
            </a:r>
          </a:p>
        </p:txBody>
      </p:sp>
      <p:sp>
        <p:nvSpPr>
          <p:cNvPr id="9027" name="TextBox 9026"/>
          <p:cNvSpPr txBox="1"/>
          <p:nvPr/>
        </p:nvSpPr>
        <p:spPr>
          <a:xfrm>
            <a:off x="6820173" y="5349240"/>
            <a:ext cx="4421233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Part du normal signalé à tort</a:t>
            </a:r>
          </a:p>
        </p:txBody>
      </p:sp>
      <p:sp>
        <p:nvSpPr>
          <p:cNvPr id="9028" name="TextBox 9027"/>
          <p:cNvSpPr txBox="1"/>
          <p:nvPr/>
        </p:nvSpPr>
        <p:spPr>
          <a:xfrm>
            <a:off x="838504" y="589788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288" b="0" i="1">
                <a:solidFill>
                  <a:schemeClr val="accent2"/>
                </a:solidFill>
              </a:rPr>
              <a:t>Ici « positif » = attaque. Le schéma vaut pour toute question oui / non : flux vidéo ou non, panne ou non, QoE dégradée ou non.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Le piège de l’accuracy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Chart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554480"/>
          <a:ext cx="6415122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7513700" y="1645920"/>
            <a:ext cx="3840404" cy="4480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Situation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 : 1 000 000 flux, dont 1 000 attaques (0,1 %)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Modèle « tout est normal »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 : il ne détecte rien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Accuracy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 = bonnes réponses / total = 999 000 / 1 000 000 = </a:t>
            </a: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99,9 %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Rappel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 = attaques détectées / attaques réelles = 0 / 1 000 = </a:t>
            </a: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0 %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Conclusion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 : une accuracy excellente peut cacher un modèle inutile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Deux modèles, une accuracy trompeuse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Table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645920"/>
          <a:ext cx="10515599" cy="3840480"/>
        </p:xfrm>
        <a:graphic>
          <a:graphicData uri="http://schemas.openxmlformats.org/drawingml/2006/table">
            <a:tbl>
              <a:tblPr firstRow="1" bandRow="0"/>
              <a:tblGrid>
                <a:gridCol w="2774107"/>
                <a:gridCol w="3814397"/>
                <a:gridCol w="3927095"/>
              </a:tblGrid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/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Modèle A (détecteur réel)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Modèle B (« tout est normal »)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Attaques détectées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800 sur 1 000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0 sur 1 000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Fausses alarmes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2 000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Accuracy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99,78 %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99,9 %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Rappel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80 %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0 %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Précision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28,6 %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non définie (aucune alerte)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Le modèle B « gagne » sur l’accuracy et ne sert à rien : il faut regarder le rappel et la précision.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Le paradoxe du taux de base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Table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645920"/>
          <a:ext cx="10515599" cy="2514600"/>
        </p:xfrm>
        <a:graphic>
          <a:graphicData uri="http://schemas.openxmlformats.org/drawingml/2006/table">
            <a:tbl>
              <a:tblPr firstRow="1" bandRow="0"/>
              <a:tblGrid>
                <a:gridCol w="3120870"/>
                <a:gridCol w="7394729"/>
              </a:tblGrid>
              <a:tr h="5029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Valeur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Signification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1 000 000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flux analysés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1 000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attaques réelles (0,1 %)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9 990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fausses alarmes à 1 % de fausses alarmes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≈ 9 %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précision, même avec 100 % de rappel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838504" y="4526280"/>
            <a:ext cx="10515600" cy="16459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840" b="0" i="0">
                <a:solidFill>
                  <a:schemeClr val="accent5">
                    <a:lumMod val="75000"/>
                  </a:schemeClr>
                </a:solidFill>
              </a:rPr>
              <a:t>Un détecteur « à 99 % » peut noyer les analystes : environ 9 alertes sur 10 sont fausses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840" b="0" i="0">
                <a:solidFill>
                  <a:schemeClr val="accent5">
                    <a:lumMod val="75000"/>
                  </a:schemeClr>
                </a:solidFill>
              </a:rPr>
              <a:t>Quand l’événement est rare, la précision dépend surtout du taux de fausses alarmes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Découpage temporel et fuite de données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463040"/>
            <a:ext cx="104895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380" b="1" i="0">
                <a:solidFill>
                  <a:srgbClr val="C00000"/>
                </a:solidFill>
              </a:rPr>
              <a:t>Découpage aléatoire : le test contient des flux très proches de ceux de l’entraînement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838504" y="19202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06" name="Rounded Rectangle 9005"/>
          <p:cNvSpPr/>
          <p:nvPr/>
        </p:nvSpPr>
        <p:spPr>
          <a:xfrm>
            <a:off x="1271959" y="19202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07" name="Rounded Rectangle 9006"/>
          <p:cNvSpPr/>
          <p:nvPr/>
        </p:nvSpPr>
        <p:spPr>
          <a:xfrm>
            <a:off x="1705413" y="19202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08" name="Rounded Rectangle 9007"/>
          <p:cNvSpPr/>
          <p:nvPr/>
        </p:nvSpPr>
        <p:spPr>
          <a:xfrm>
            <a:off x="2138867" y="19202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09" name="Rounded Rectangle 9008"/>
          <p:cNvSpPr/>
          <p:nvPr/>
        </p:nvSpPr>
        <p:spPr>
          <a:xfrm>
            <a:off x="2572321" y="19202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0" name="Rounded Rectangle 9009"/>
          <p:cNvSpPr/>
          <p:nvPr/>
        </p:nvSpPr>
        <p:spPr>
          <a:xfrm>
            <a:off x="3005776" y="19202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1" name="Rounded Rectangle 9010"/>
          <p:cNvSpPr/>
          <p:nvPr/>
        </p:nvSpPr>
        <p:spPr>
          <a:xfrm>
            <a:off x="3439230" y="19202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2" name="Rounded Rectangle 9011"/>
          <p:cNvSpPr/>
          <p:nvPr/>
        </p:nvSpPr>
        <p:spPr>
          <a:xfrm>
            <a:off x="3872684" y="19202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3" name="Rounded Rectangle 9012"/>
          <p:cNvSpPr/>
          <p:nvPr/>
        </p:nvSpPr>
        <p:spPr>
          <a:xfrm>
            <a:off x="4306138" y="19202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4" name="Rounded Rectangle 9013"/>
          <p:cNvSpPr/>
          <p:nvPr/>
        </p:nvSpPr>
        <p:spPr>
          <a:xfrm>
            <a:off x="4739593" y="19202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5" name="Rounded Rectangle 9014"/>
          <p:cNvSpPr/>
          <p:nvPr/>
        </p:nvSpPr>
        <p:spPr>
          <a:xfrm>
            <a:off x="5173047" y="19202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6" name="Rounded Rectangle 9015"/>
          <p:cNvSpPr/>
          <p:nvPr/>
        </p:nvSpPr>
        <p:spPr>
          <a:xfrm>
            <a:off x="5606501" y="19202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7" name="Rounded Rectangle 9016"/>
          <p:cNvSpPr/>
          <p:nvPr/>
        </p:nvSpPr>
        <p:spPr>
          <a:xfrm>
            <a:off x="6039955" y="19202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8" name="Rounded Rectangle 9017"/>
          <p:cNvSpPr/>
          <p:nvPr/>
        </p:nvSpPr>
        <p:spPr>
          <a:xfrm>
            <a:off x="6473409" y="19202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9" name="Rounded Rectangle 9018"/>
          <p:cNvSpPr/>
          <p:nvPr/>
        </p:nvSpPr>
        <p:spPr>
          <a:xfrm>
            <a:off x="6906864" y="19202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0" name="Rounded Rectangle 9019"/>
          <p:cNvSpPr/>
          <p:nvPr/>
        </p:nvSpPr>
        <p:spPr>
          <a:xfrm>
            <a:off x="7340318" y="19202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1" name="Rounded Rectangle 9020"/>
          <p:cNvSpPr/>
          <p:nvPr/>
        </p:nvSpPr>
        <p:spPr>
          <a:xfrm>
            <a:off x="7773772" y="19202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2" name="Rounded Rectangle 9021"/>
          <p:cNvSpPr/>
          <p:nvPr/>
        </p:nvSpPr>
        <p:spPr>
          <a:xfrm>
            <a:off x="8207226" y="19202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3" name="Rounded Rectangle 9022"/>
          <p:cNvSpPr/>
          <p:nvPr/>
        </p:nvSpPr>
        <p:spPr>
          <a:xfrm>
            <a:off x="8640681" y="19202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4" name="Rounded Rectangle 9023"/>
          <p:cNvSpPr/>
          <p:nvPr/>
        </p:nvSpPr>
        <p:spPr>
          <a:xfrm>
            <a:off x="9074135" y="19202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5" name="Rounded Rectangle 9024"/>
          <p:cNvSpPr/>
          <p:nvPr/>
        </p:nvSpPr>
        <p:spPr>
          <a:xfrm>
            <a:off x="9507589" y="19202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6" name="Rounded Rectangle 9025"/>
          <p:cNvSpPr/>
          <p:nvPr/>
        </p:nvSpPr>
        <p:spPr>
          <a:xfrm>
            <a:off x="9941043" y="19202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7" name="Rounded Rectangle 9026"/>
          <p:cNvSpPr/>
          <p:nvPr/>
        </p:nvSpPr>
        <p:spPr>
          <a:xfrm>
            <a:off x="10374498" y="19202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8" name="Rounded Rectangle 9027"/>
          <p:cNvSpPr/>
          <p:nvPr/>
        </p:nvSpPr>
        <p:spPr>
          <a:xfrm>
            <a:off x="10807952" y="19202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9" name="TextBox 9028"/>
          <p:cNvSpPr txBox="1"/>
          <p:nvPr/>
        </p:nvSpPr>
        <p:spPr>
          <a:xfrm>
            <a:off x="838504" y="2834640"/>
            <a:ext cx="104895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380" b="1" i="0">
                <a:solidFill>
                  <a:schemeClr val="accent5"/>
                </a:solidFill>
              </a:rPr>
              <a:t>Découpage temporel : on entraîne sur le passé, on teste sur le futur</a:t>
            </a:r>
          </a:p>
        </p:txBody>
      </p:sp>
      <p:sp>
        <p:nvSpPr>
          <p:cNvPr id="9030" name="Rounded Rectangle 9029"/>
          <p:cNvSpPr/>
          <p:nvPr/>
        </p:nvSpPr>
        <p:spPr>
          <a:xfrm>
            <a:off x="838504" y="32918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31" name="Rounded Rectangle 9030"/>
          <p:cNvSpPr/>
          <p:nvPr/>
        </p:nvSpPr>
        <p:spPr>
          <a:xfrm>
            <a:off x="1271959" y="32918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32" name="Rounded Rectangle 9031"/>
          <p:cNvSpPr/>
          <p:nvPr/>
        </p:nvSpPr>
        <p:spPr>
          <a:xfrm>
            <a:off x="1705413" y="32918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33" name="Rounded Rectangle 9032"/>
          <p:cNvSpPr/>
          <p:nvPr/>
        </p:nvSpPr>
        <p:spPr>
          <a:xfrm>
            <a:off x="2138867" y="32918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34" name="Rounded Rectangle 9033"/>
          <p:cNvSpPr/>
          <p:nvPr/>
        </p:nvSpPr>
        <p:spPr>
          <a:xfrm>
            <a:off x="2572321" y="32918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35" name="Rounded Rectangle 9034"/>
          <p:cNvSpPr/>
          <p:nvPr/>
        </p:nvSpPr>
        <p:spPr>
          <a:xfrm>
            <a:off x="3005776" y="32918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36" name="Rounded Rectangle 9035"/>
          <p:cNvSpPr/>
          <p:nvPr/>
        </p:nvSpPr>
        <p:spPr>
          <a:xfrm>
            <a:off x="3439230" y="32918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37" name="Rounded Rectangle 9036"/>
          <p:cNvSpPr/>
          <p:nvPr/>
        </p:nvSpPr>
        <p:spPr>
          <a:xfrm>
            <a:off x="3872684" y="32918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38" name="Rounded Rectangle 9037"/>
          <p:cNvSpPr/>
          <p:nvPr/>
        </p:nvSpPr>
        <p:spPr>
          <a:xfrm>
            <a:off x="4306138" y="32918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39" name="Rounded Rectangle 9038"/>
          <p:cNvSpPr/>
          <p:nvPr/>
        </p:nvSpPr>
        <p:spPr>
          <a:xfrm>
            <a:off x="4739593" y="32918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40" name="Rounded Rectangle 9039"/>
          <p:cNvSpPr/>
          <p:nvPr/>
        </p:nvSpPr>
        <p:spPr>
          <a:xfrm>
            <a:off x="5173047" y="32918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41" name="Rounded Rectangle 9040"/>
          <p:cNvSpPr/>
          <p:nvPr/>
        </p:nvSpPr>
        <p:spPr>
          <a:xfrm>
            <a:off x="5606501" y="32918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42" name="Rounded Rectangle 9041"/>
          <p:cNvSpPr/>
          <p:nvPr/>
        </p:nvSpPr>
        <p:spPr>
          <a:xfrm>
            <a:off x="6039955" y="32918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43" name="Rounded Rectangle 9042"/>
          <p:cNvSpPr/>
          <p:nvPr/>
        </p:nvSpPr>
        <p:spPr>
          <a:xfrm>
            <a:off x="6473409" y="32918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44" name="Rounded Rectangle 9043"/>
          <p:cNvSpPr/>
          <p:nvPr/>
        </p:nvSpPr>
        <p:spPr>
          <a:xfrm>
            <a:off x="6906864" y="32918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45" name="Rounded Rectangle 9044"/>
          <p:cNvSpPr/>
          <p:nvPr/>
        </p:nvSpPr>
        <p:spPr>
          <a:xfrm>
            <a:off x="7340318" y="32918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46" name="Rounded Rectangle 9045"/>
          <p:cNvSpPr/>
          <p:nvPr/>
        </p:nvSpPr>
        <p:spPr>
          <a:xfrm>
            <a:off x="7773772" y="32918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47" name="Rounded Rectangle 9046"/>
          <p:cNvSpPr/>
          <p:nvPr/>
        </p:nvSpPr>
        <p:spPr>
          <a:xfrm>
            <a:off x="8207226" y="32918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48" name="Rounded Rectangle 9047"/>
          <p:cNvSpPr/>
          <p:nvPr/>
        </p:nvSpPr>
        <p:spPr>
          <a:xfrm>
            <a:off x="8640681" y="32918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49" name="Rounded Rectangle 9048"/>
          <p:cNvSpPr/>
          <p:nvPr/>
        </p:nvSpPr>
        <p:spPr>
          <a:xfrm>
            <a:off x="9074135" y="32918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50" name="Rounded Rectangle 9049"/>
          <p:cNvSpPr/>
          <p:nvPr/>
        </p:nvSpPr>
        <p:spPr>
          <a:xfrm>
            <a:off x="9507589" y="32918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51" name="Rounded Rectangle 9050"/>
          <p:cNvSpPr/>
          <p:nvPr/>
        </p:nvSpPr>
        <p:spPr>
          <a:xfrm>
            <a:off x="9941043" y="32918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52" name="Rounded Rectangle 9051"/>
          <p:cNvSpPr/>
          <p:nvPr/>
        </p:nvSpPr>
        <p:spPr>
          <a:xfrm>
            <a:off x="10374498" y="32918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53" name="Rounded Rectangle 9052"/>
          <p:cNvSpPr/>
          <p:nvPr/>
        </p:nvSpPr>
        <p:spPr>
          <a:xfrm>
            <a:off x="10807952" y="3291840"/>
            <a:ext cx="329425" cy="347472"/>
          </a:xfrm>
          <a:prstGeom prst="roundRect">
            <a:avLst>
              <a:gd name="adj" fmla="val 11102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9054" name="Connector 9053"/>
          <p:cNvCxnSpPr/>
          <p:nvPr/>
        </p:nvCxnSpPr>
        <p:spPr>
          <a:xfrm>
            <a:off x="838504" y="3977639"/>
            <a:ext cx="10402902" cy="0"/>
          </a:xfrm>
          <a:prstGeom prst="line">
            <a:avLst/>
          </a:prstGeom>
          <a:ln w="19050">
            <a:solidFill>
              <a:schemeClr val="tx2"/>
            </a:solidFill>
            <a:tailEnd type="triangle"/>
          </a:ln>
        </p:spPr>
      </p:cxnSp>
      <p:sp>
        <p:nvSpPr>
          <p:cNvPr id="9055" name="TextBox 9054"/>
          <p:cNvSpPr txBox="1"/>
          <p:nvPr/>
        </p:nvSpPr>
        <p:spPr>
          <a:xfrm>
            <a:off x="10374498" y="4023360"/>
            <a:ext cx="8669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sz="1104" b="0" i="0">
                <a:solidFill>
                  <a:schemeClr val="tx2"/>
                </a:solidFill>
              </a:rPr>
              <a:t>temps</a:t>
            </a:r>
          </a:p>
        </p:txBody>
      </p:sp>
      <p:sp>
        <p:nvSpPr>
          <p:cNvPr id="9056" name="Rounded Rectangle 9055"/>
          <p:cNvSpPr/>
          <p:nvPr/>
        </p:nvSpPr>
        <p:spPr>
          <a:xfrm>
            <a:off x="838504" y="4526280"/>
            <a:ext cx="260072" cy="274320"/>
          </a:xfrm>
          <a:prstGeom prst="roundRect">
            <a:avLst>
              <a:gd name="adj" fmla="val 14063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57" name="TextBox 9056"/>
          <p:cNvSpPr txBox="1"/>
          <p:nvPr/>
        </p:nvSpPr>
        <p:spPr>
          <a:xfrm>
            <a:off x="1185268" y="4526280"/>
            <a:ext cx="1560435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196" b="0" i="0">
                <a:solidFill>
                  <a:schemeClr val="accent5">
                    <a:lumMod val="75000"/>
                  </a:schemeClr>
                </a:solidFill>
              </a:rPr>
              <a:t>entraînement</a:t>
            </a:r>
          </a:p>
        </p:txBody>
      </p:sp>
      <p:sp>
        <p:nvSpPr>
          <p:cNvPr id="9058" name="Rounded Rectangle 9057"/>
          <p:cNvSpPr/>
          <p:nvPr/>
        </p:nvSpPr>
        <p:spPr>
          <a:xfrm>
            <a:off x="2919085" y="4526280"/>
            <a:ext cx="260072" cy="274320"/>
          </a:xfrm>
          <a:prstGeom prst="roundRect">
            <a:avLst>
              <a:gd name="adj" fmla="val 14063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59" name="TextBox 9058"/>
          <p:cNvSpPr txBox="1"/>
          <p:nvPr/>
        </p:nvSpPr>
        <p:spPr>
          <a:xfrm>
            <a:off x="3265848" y="4526280"/>
            <a:ext cx="86690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196" b="0" i="0">
                <a:solidFill>
                  <a:schemeClr val="accent5">
                    <a:lumMod val="75000"/>
                  </a:schemeClr>
                </a:solidFill>
              </a:rPr>
              <a:t>test</a:t>
            </a:r>
          </a:p>
        </p:txBody>
      </p:sp>
      <p:sp>
        <p:nvSpPr>
          <p:cNvPr id="9060" name="TextBox 9059"/>
          <p:cNvSpPr txBox="1"/>
          <p:nvPr/>
        </p:nvSpPr>
        <p:spPr>
          <a:xfrm>
            <a:off x="838504" y="5029200"/>
            <a:ext cx="10489592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Fuite</a:t>
            </a: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 : features calculées avec des informations du futur, ou même session des deux côtés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Groupes</a:t>
            </a: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 : découper par hôte, par jour ou par capture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Dérive de concept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Chart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554480"/>
          <a:ext cx="6415122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7513700" y="1645920"/>
            <a:ext cx="3840404" cy="4480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Causes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nouvelles applications, QUIC et HTTP/3, mises à jour des lecteurs, nouvelles attaques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Détecter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surveiller la distribution des features et les métriques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Réagir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réentraînement planifié ou déclenché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Datasets : ce qu’ils contiennent, leurs biais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Table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645920"/>
          <a:ext cx="10515598" cy="3657600"/>
        </p:xfrm>
        <a:graphic>
          <a:graphicData uri="http://schemas.openxmlformats.org/drawingml/2006/table">
            <a:tbl>
              <a:tblPr firstRow="1" bandRow="0"/>
              <a:tblGrid>
                <a:gridCol w="1647126"/>
                <a:gridCol w="780217"/>
                <a:gridCol w="4854687"/>
                <a:gridCol w="3233568"/>
              </a:tblGrid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Dataset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Année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Contenu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Problèmes connus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KDD Cup 99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1999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Connexions TCP décrites par 41 features ; attaques DoS, sondes, R2L, U2R (trafic simulé)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Très redondant, trafic daté ; encore cité à tort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NSL-KDD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2009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Version nettoyée de KDD99 (doublons retirés)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Même trafic obsolète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UNSW-NB15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2015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Trafic généré en laboratoire ; 9 familles d’attaques ; 49 features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Génération synthétique, classes déséquilibrées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CIC-IDS2017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2017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Cinq jours de trafic (bénin, force brute, DoS, botnet, DDoS…) ; environ 80 features par flux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19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Erreurs d’étiquetage et artefacts qui gonflent les scores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À lire : Sommer &amp; Paxson (2010), Arp et al. (USENIX Security 2022), Engelen et al. (2021) sur CIC-IDS2017.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À retenir : l’IA pour les réseaux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452628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Entrées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la source de collecte impose la granularité : paquets, flux, séries, logs, graphes.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Sorties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classe, score, valeur, série : le choix de la sortie définit la tâche et la métrique.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Évaluation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précision et rappel, découpage temporel, dérive : la plupart des erreurs viennent de là.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Classification : réduire le volume dès la collecte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On ne peut pas tout garder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Rounded Rectangle 9003"/>
          <p:cNvSpPr/>
          <p:nvPr/>
        </p:nvSpPr>
        <p:spPr>
          <a:xfrm>
            <a:off x="1328308" y="1508760"/>
            <a:ext cx="9535993" cy="658368"/>
          </a:xfrm>
          <a:prstGeom prst="roundRect">
            <a:avLst>
              <a:gd name="adj" fmla="val 6944"/>
            </a:avLst>
          </a:prstGeom>
          <a:solidFill>
            <a:schemeClr val="accent5">
              <a:alpha val="3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Paquets complets (pcap)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2281907" y="2286000"/>
            <a:ext cx="7628794" cy="658368"/>
          </a:xfrm>
          <a:prstGeom prst="roundRect">
            <a:avLst>
              <a:gd name="adj" fmla="val 6944"/>
            </a:avLst>
          </a:prstGeom>
          <a:solidFill>
            <a:schemeClr val="accent5">
              <a:alpha val="45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En-têtes seuls (snaplen)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3235506" y="3063239"/>
            <a:ext cx="5721596" cy="658368"/>
          </a:xfrm>
          <a:prstGeom prst="roundRect">
            <a:avLst>
              <a:gd name="adj" fmla="val 6944"/>
            </a:avLst>
          </a:prstGeom>
          <a:solidFill>
            <a:schemeClr val="accent5">
              <a:alpha val="6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bg1"/>
                </a:solidFill>
              </a:rPr>
              <a:t>Enregistrements de flux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4189106" y="3840479"/>
            <a:ext cx="3814397" cy="658368"/>
          </a:xfrm>
          <a:prstGeom prst="roundRect">
            <a:avLst>
              <a:gd name="adj" fmla="val 6944"/>
            </a:avLst>
          </a:prstGeom>
          <a:solidFill>
            <a:schemeClr val="accent5">
              <a:alpha val="8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bg1"/>
                </a:solidFill>
              </a:rPr>
              <a:t>Features par fenêtre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5056014" y="4617720"/>
            <a:ext cx="2080580" cy="658368"/>
          </a:xfrm>
          <a:prstGeom prst="roundRect">
            <a:avLst>
              <a:gd name="adj" fmla="val 6944"/>
            </a:avLst>
          </a:prstGeom>
          <a:solidFill>
            <a:schemeClr val="accent5"/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bg1"/>
                </a:solidFill>
              </a:rPr>
              <a:t>Alertes et événements</a:t>
            </a:r>
          </a:p>
        </p:txBody>
      </p:sp>
      <p:sp>
        <p:nvSpPr>
          <p:cNvPr id="9009" name="TextBox 9008"/>
          <p:cNvSpPr txBox="1"/>
          <p:nvPr/>
        </p:nvSpPr>
        <p:spPr>
          <a:xfrm>
            <a:off x="838504" y="5440680"/>
            <a:ext cx="104895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380" b="0" i="1">
                <a:solidFill>
                  <a:schemeClr val="tx2"/>
                </a:solidFill>
              </a:rPr>
              <a:t>Chaque étape divise le volume de plusieurs ordres de grandeur, au prix d’une perte de détail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Classifier pour décider quoi conserver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Rounded Rectangle 9003"/>
          <p:cNvSpPr/>
          <p:nvPr/>
        </p:nvSpPr>
        <p:spPr>
          <a:xfrm>
            <a:off x="838504" y="2880360"/>
            <a:ext cx="1820507" cy="914400"/>
          </a:xfrm>
          <a:prstGeom prst="roundRect">
            <a:avLst>
              <a:gd name="adj" fmla="val 8000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Flux entrant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3265848" y="2468880"/>
            <a:ext cx="2514034" cy="1737360"/>
          </a:xfrm>
          <a:prstGeom prst="roundRect">
            <a:avLst>
              <a:gd name="adj" fmla="val 4210"/>
            </a:avLst>
          </a:prstGeom>
          <a:solidFill>
            <a:schemeClr val="accent5"/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bg1"/>
                </a:solidFill>
              </a:rPr>
              <a:t>Classifieur</a:t>
            </a:r>
          </a:p>
          <a:p>
            <a:pPr algn="ctr">
              <a:buNone/>
            </a:pPr>
            <a:r>
              <a:rPr sz="1380" b="1" i="0">
                <a:solidFill>
                  <a:schemeClr val="bg1"/>
                </a:solidFill>
              </a:rPr>
              <a:t>décide à partir des premiers paquets</a:t>
            </a:r>
          </a:p>
        </p:txBody>
      </p:sp>
      <p:cxnSp>
        <p:nvCxnSpPr>
          <p:cNvPr id="9006" name="Connector 9005"/>
          <p:cNvCxnSpPr/>
          <p:nvPr/>
        </p:nvCxnSpPr>
        <p:spPr>
          <a:xfrm>
            <a:off x="2702358" y="3337560"/>
            <a:ext cx="520145" cy="0"/>
          </a:xfrm>
          <a:prstGeom prst="line">
            <a:avLst/>
          </a:prstGeom>
          <a:ln w="31750">
            <a:solidFill>
              <a:schemeClr val="accent5"/>
            </a:solidFill>
            <a:tailEnd type="triangle"/>
          </a:ln>
        </p:spPr>
      </p:cxnSp>
      <p:sp>
        <p:nvSpPr>
          <p:cNvPr id="9007" name="Rounded Rectangle 9006"/>
          <p:cNvSpPr/>
          <p:nvPr/>
        </p:nvSpPr>
        <p:spPr>
          <a:xfrm>
            <a:off x="6560100" y="1463040"/>
            <a:ext cx="4794003" cy="914400"/>
          </a:xfrm>
          <a:prstGeom prst="roundRect">
            <a:avLst>
              <a:gd name="adj" fmla="val 8000"/>
            </a:avLst>
          </a:prstGeom>
          <a:solidFill>
            <a:srgbClr val="C00000">
              <a:alpha val="22000"/>
            </a:srgbClr>
          </a:solidFill>
          <a:ln w="15875">
            <a:solidFill>
              <a:srgbClr val="C00000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Trafic suspect</a:t>
            </a:r>
          </a:p>
          <a:p>
            <a:pPr algn="ctr">
              <a:buNone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on conserve les paquets complets</a:t>
            </a:r>
          </a:p>
        </p:txBody>
      </p:sp>
      <p:cxnSp>
        <p:nvCxnSpPr>
          <p:cNvPr id="9008" name="Connector 9007"/>
          <p:cNvCxnSpPr/>
          <p:nvPr/>
        </p:nvCxnSpPr>
        <p:spPr>
          <a:xfrm flipV="1">
            <a:off x="5823228" y="1920240"/>
            <a:ext cx="693527" cy="141732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sp>
        <p:nvSpPr>
          <p:cNvPr id="9009" name="Rounded Rectangle 9008"/>
          <p:cNvSpPr/>
          <p:nvPr/>
        </p:nvSpPr>
        <p:spPr>
          <a:xfrm>
            <a:off x="6560100" y="2651760"/>
            <a:ext cx="4794003" cy="914400"/>
          </a:xfrm>
          <a:prstGeom prst="roundRect">
            <a:avLst>
              <a:gd name="adj" fmla="val 8000"/>
            </a:avLst>
          </a:prstGeom>
          <a:solidFill>
            <a:schemeClr val="accent5">
              <a:alpha val="22000"/>
            </a:schemeClr>
          </a:solidFill>
          <a:ln w="15875">
            <a:solidFill>
              <a:schemeClr val="accent5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Trafic d’intérêt (ex. vidéo)</a:t>
            </a:r>
          </a:p>
          <a:p>
            <a:pPr algn="ctr">
              <a:buNone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on conserve seulement les features</a:t>
            </a:r>
          </a:p>
        </p:txBody>
      </p:sp>
      <p:cxnSp>
        <p:nvCxnSpPr>
          <p:cNvPr id="9010" name="Connector 9009"/>
          <p:cNvCxnSpPr/>
          <p:nvPr/>
        </p:nvCxnSpPr>
        <p:spPr>
          <a:xfrm flipV="1">
            <a:off x="5823228" y="3108960"/>
            <a:ext cx="693527" cy="22860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sp>
        <p:nvSpPr>
          <p:cNvPr id="9011" name="Rounded Rectangle 9010"/>
          <p:cNvSpPr/>
          <p:nvPr/>
        </p:nvSpPr>
        <p:spPr>
          <a:xfrm>
            <a:off x="6560100" y="3840480"/>
            <a:ext cx="4794003" cy="914400"/>
          </a:xfrm>
          <a:prstGeom prst="roundRect">
            <a:avLst>
              <a:gd name="adj" fmla="val 8000"/>
            </a:avLst>
          </a:prstGeom>
          <a:solidFill>
            <a:schemeClr val="accent2">
              <a:alpha val="22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Trafic banal</a:t>
            </a:r>
          </a:p>
          <a:p>
            <a:pPr algn="ctr">
              <a:buNone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on échantillonne</a:t>
            </a:r>
          </a:p>
        </p:txBody>
      </p:sp>
      <p:cxnSp>
        <p:nvCxnSpPr>
          <p:cNvPr id="9012" name="Connector 9011"/>
          <p:cNvCxnSpPr/>
          <p:nvPr/>
        </p:nvCxnSpPr>
        <p:spPr>
          <a:xfrm>
            <a:off x="5823228" y="3337560"/>
            <a:ext cx="693527" cy="96012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sp>
        <p:nvSpPr>
          <p:cNvPr id="9013" name="Rounded Rectangle 9012"/>
          <p:cNvSpPr/>
          <p:nvPr/>
        </p:nvSpPr>
        <p:spPr>
          <a:xfrm>
            <a:off x="6560100" y="5029200"/>
            <a:ext cx="4794003" cy="914400"/>
          </a:xfrm>
          <a:prstGeom prst="roundRect">
            <a:avLst>
              <a:gd name="adj" fmla="val 8000"/>
            </a:avLst>
          </a:prstGeom>
          <a:solidFill>
            <a:schemeClr val="tx2">
              <a:alpha val="22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Bruit connu</a:t>
            </a:r>
          </a:p>
          <a:p>
            <a:pPr algn="ctr">
              <a:buNone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on jette</a:t>
            </a:r>
          </a:p>
        </p:txBody>
      </p:sp>
      <p:cxnSp>
        <p:nvCxnSpPr>
          <p:cNvPr id="9014" name="Connector 9013"/>
          <p:cNvCxnSpPr/>
          <p:nvPr/>
        </p:nvCxnSpPr>
        <p:spPr>
          <a:xfrm>
            <a:off x="5823228" y="3337560"/>
            <a:ext cx="693527" cy="214884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Classification précoce sur les premiers paquets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cxnSp>
        <p:nvCxnSpPr>
          <p:cNvPr id="9004" name="Connector 9003"/>
          <p:cNvCxnSpPr/>
          <p:nvPr/>
        </p:nvCxnSpPr>
        <p:spPr>
          <a:xfrm>
            <a:off x="1011886" y="2651760"/>
            <a:ext cx="10090815" cy="0"/>
          </a:xfrm>
          <a:prstGeom prst="line">
            <a:avLst/>
          </a:prstGeom>
          <a:ln w="19050">
            <a:solidFill>
              <a:schemeClr val="tx2"/>
            </a:solidFill>
          </a:ln>
        </p:spPr>
      </p:cxnSp>
      <p:sp>
        <p:nvSpPr>
          <p:cNvPr id="9005" name="Rounded Rectangle 9004"/>
          <p:cNvSpPr/>
          <p:nvPr/>
        </p:nvSpPr>
        <p:spPr>
          <a:xfrm>
            <a:off x="1098577" y="2377440"/>
            <a:ext cx="294748" cy="274320"/>
          </a:xfrm>
          <a:prstGeom prst="roundRect">
            <a:avLst>
              <a:gd name="adj" fmla="val 6666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06" name="Rounded Rectangle 9005"/>
          <p:cNvSpPr/>
          <p:nvPr/>
        </p:nvSpPr>
        <p:spPr>
          <a:xfrm>
            <a:off x="1549369" y="2651760"/>
            <a:ext cx="294748" cy="274320"/>
          </a:xfrm>
          <a:prstGeom prst="roundRect">
            <a:avLst>
              <a:gd name="adj" fmla="val 6666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07" name="Rounded Rectangle 9006"/>
          <p:cNvSpPr/>
          <p:nvPr/>
        </p:nvSpPr>
        <p:spPr>
          <a:xfrm>
            <a:off x="2000162" y="2423160"/>
            <a:ext cx="294748" cy="2286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08" name="Rounded Rectangle 9007"/>
          <p:cNvSpPr/>
          <p:nvPr/>
        </p:nvSpPr>
        <p:spPr>
          <a:xfrm>
            <a:off x="2450954" y="2651760"/>
            <a:ext cx="294748" cy="822960"/>
          </a:xfrm>
          <a:prstGeom prst="roundRect">
            <a:avLst>
              <a:gd name="adj" fmla="val 6204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09" name="Rounded Rectangle 9008"/>
          <p:cNvSpPr/>
          <p:nvPr/>
        </p:nvSpPr>
        <p:spPr>
          <a:xfrm>
            <a:off x="2901747" y="2651760"/>
            <a:ext cx="294748" cy="731520"/>
          </a:xfrm>
          <a:prstGeom prst="roundRect">
            <a:avLst>
              <a:gd name="adj" fmla="val 6204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0" name="Rounded Rectangle 9009"/>
          <p:cNvSpPr/>
          <p:nvPr/>
        </p:nvSpPr>
        <p:spPr>
          <a:xfrm>
            <a:off x="3352539" y="2468879"/>
            <a:ext cx="294748" cy="18288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1" name="Rounded Rectangle 9010"/>
          <p:cNvSpPr/>
          <p:nvPr/>
        </p:nvSpPr>
        <p:spPr>
          <a:xfrm>
            <a:off x="3803331" y="2651760"/>
            <a:ext cx="294748" cy="822960"/>
          </a:xfrm>
          <a:prstGeom prst="roundRect">
            <a:avLst>
              <a:gd name="adj" fmla="val 6204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2" name="Rounded Rectangle 9011"/>
          <p:cNvSpPr/>
          <p:nvPr/>
        </p:nvSpPr>
        <p:spPr>
          <a:xfrm>
            <a:off x="4254124" y="2651760"/>
            <a:ext cx="294748" cy="822960"/>
          </a:xfrm>
          <a:prstGeom prst="roundRect">
            <a:avLst>
              <a:gd name="adj" fmla="val 6204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3" name="Rounded Rectangle 9012"/>
          <p:cNvSpPr/>
          <p:nvPr/>
        </p:nvSpPr>
        <p:spPr>
          <a:xfrm>
            <a:off x="4704916" y="2468879"/>
            <a:ext cx="294748" cy="182880"/>
          </a:xfrm>
          <a:prstGeom prst="roundRect">
            <a:avLst>
              <a:gd name="adj" fmla="val 10000"/>
            </a:avLst>
          </a:prstGeom>
          <a:solidFill>
            <a:schemeClr val="tx2">
              <a:alpha val="4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4" name="Rounded Rectangle 9013"/>
          <p:cNvSpPr/>
          <p:nvPr/>
        </p:nvSpPr>
        <p:spPr>
          <a:xfrm>
            <a:off x="5155709" y="2651760"/>
            <a:ext cx="294748" cy="822960"/>
          </a:xfrm>
          <a:prstGeom prst="roundRect">
            <a:avLst>
              <a:gd name="adj" fmla="val 6204"/>
            </a:avLst>
          </a:prstGeom>
          <a:solidFill>
            <a:schemeClr val="tx2">
              <a:alpha val="4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5" name="Rounded Rectangle 9014"/>
          <p:cNvSpPr/>
          <p:nvPr/>
        </p:nvSpPr>
        <p:spPr>
          <a:xfrm>
            <a:off x="5606501" y="2651760"/>
            <a:ext cx="294748" cy="822960"/>
          </a:xfrm>
          <a:prstGeom prst="roundRect">
            <a:avLst>
              <a:gd name="adj" fmla="val 6204"/>
            </a:avLst>
          </a:prstGeom>
          <a:solidFill>
            <a:schemeClr val="tx2">
              <a:alpha val="4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6" name="Rounded Rectangle 9015"/>
          <p:cNvSpPr/>
          <p:nvPr/>
        </p:nvSpPr>
        <p:spPr>
          <a:xfrm>
            <a:off x="6057293" y="2651760"/>
            <a:ext cx="294748" cy="822960"/>
          </a:xfrm>
          <a:prstGeom prst="roundRect">
            <a:avLst>
              <a:gd name="adj" fmla="val 6204"/>
            </a:avLst>
          </a:prstGeom>
          <a:solidFill>
            <a:schemeClr val="tx2">
              <a:alpha val="4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7" name="Rounded Rectangle 9016"/>
          <p:cNvSpPr/>
          <p:nvPr/>
        </p:nvSpPr>
        <p:spPr>
          <a:xfrm>
            <a:off x="6508086" y="2468879"/>
            <a:ext cx="294748" cy="182880"/>
          </a:xfrm>
          <a:prstGeom prst="roundRect">
            <a:avLst>
              <a:gd name="adj" fmla="val 10000"/>
            </a:avLst>
          </a:prstGeom>
          <a:solidFill>
            <a:schemeClr val="tx2">
              <a:alpha val="4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8" name="Rounded Rectangle 9017"/>
          <p:cNvSpPr/>
          <p:nvPr/>
        </p:nvSpPr>
        <p:spPr>
          <a:xfrm>
            <a:off x="6958878" y="2651760"/>
            <a:ext cx="294748" cy="822960"/>
          </a:xfrm>
          <a:prstGeom prst="roundRect">
            <a:avLst>
              <a:gd name="adj" fmla="val 6204"/>
            </a:avLst>
          </a:prstGeom>
          <a:solidFill>
            <a:schemeClr val="tx2">
              <a:alpha val="4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9" name="Rounded Rectangle 9018"/>
          <p:cNvSpPr/>
          <p:nvPr/>
        </p:nvSpPr>
        <p:spPr>
          <a:xfrm>
            <a:off x="7409671" y="2651760"/>
            <a:ext cx="294748" cy="822960"/>
          </a:xfrm>
          <a:prstGeom prst="roundRect">
            <a:avLst>
              <a:gd name="adj" fmla="val 6204"/>
            </a:avLst>
          </a:prstGeom>
          <a:solidFill>
            <a:schemeClr val="tx2">
              <a:alpha val="4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0" name="Rounded Rectangle 9019"/>
          <p:cNvSpPr/>
          <p:nvPr/>
        </p:nvSpPr>
        <p:spPr>
          <a:xfrm>
            <a:off x="7860463" y="2651760"/>
            <a:ext cx="294748" cy="822960"/>
          </a:xfrm>
          <a:prstGeom prst="roundRect">
            <a:avLst>
              <a:gd name="adj" fmla="val 6204"/>
            </a:avLst>
          </a:prstGeom>
          <a:solidFill>
            <a:schemeClr val="tx2">
              <a:alpha val="4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1" name="Rounded Rectangle 9020"/>
          <p:cNvSpPr/>
          <p:nvPr/>
        </p:nvSpPr>
        <p:spPr>
          <a:xfrm>
            <a:off x="8311255" y="2651760"/>
            <a:ext cx="294748" cy="822960"/>
          </a:xfrm>
          <a:prstGeom prst="roundRect">
            <a:avLst>
              <a:gd name="adj" fmla="val 6204"/>
            </a:avLst>
          </a:prstGeom>
          <a:solidFill>
            <a:schemeClr val="tx2">
              <a:alpha val="4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2" name="Rounded Rectangle 9021"/>
          <p:cNvSpPr/>
          <p:nvPr/>
        </p:nvSpPr>
        <p:spPr>
          <a:xfrm>
            <a:off x="8762048" y="2468879"/>
            <a:ext cx="294748" cy="182880"/>
          </a:xfrm>
          <a:prstGeom prst="roundRect">
            <a:avLst>
              <a:gd name="adj" fmla="val 10000"/>
            </a:avLst>
          </a:prstGeom>
          <a:solidFill>
            <a:schemeClr val="tx2">
              <a:alpha val="4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3" name="Rounded Rectangle 9022"/>
          <p:cNvSpPr/>
          <p:nvPr/>
        </p:nvSpPr>
        <p:spPr>
          <a:xfrm>
            <a:off x="9212840" y="2651760"/>
            <a:ext cx="294748" cy="822960"/>
          </a:xfrm>
          <a:prstGeom prst="roundRect">
            <a:avLst>
              <a:gd name="adj" fmla="val 6204"/>
            </a:avLst>
          </a:prstGeom>
          <a:solidFill>
            <a:schemeClr val="tx2">
              <a:alpha val="4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4" name="Rounded Rectangle 9023"/>
          <p:cNvSpPr/>
          <p:nvPr/>
        </p:nvSpPr>
        <p:spPr>
          <a:xfrm>
            <a:off x="9663633" y="2651760"/>
            <a:ext cx="294748" cy="822960"/>
          </a:xfrm>
          <a:prstGeom prst="roundRect">
            <a:avLst>
              <a:gd name="adj" fmla="val 6204"/>
            </a:avLst>
          </a:prstGeom>
          <a:solidFill>
            <a:schemeClr val="tx2">
              <a:alpha val="4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5" name="Rounded Rectangle 9024"/>
          <p:cNvSpPr/>
          <p:nvPr/>
        </p:nvSpPr>
        <p:spPr>
          <a:xfrm>
            <a:off x="10114425" y="2651760"/>
            <a:ext cx="294748" cy="822960"/>
          </a:xfrm>
          <a:prstGeom prst="roundRect">
            <a:avLst>
              <a:gd name="adj" fmla="val 6204"/>
            </a:avLst>
          </a:prstGeom>
          <a:solidFill>
            <a:schemeClr val="tx2">
              <a:alpha val="4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6" name="Rounded Rectangle 9025"/>
          <p:cNvSpPr/>
          <p:nvPr/>
        </p:nvSpPr>
        <p:spPr>
          <a:xfrm>
            <a:off x="10565218" y="2651760"/>
            <a:ext cx="294748" cy="822960"/>
          </a:xfrm>
          <a:prstGeom prst="roundRect">
            <a:avLst>
              <a:gd name="adj" fmla="val 6204"/>
            </a:avLst>
          </a:prstGeom>
          <a:solidFill>
            <a:schemeClr val="tx2">
              <a:alpha val="4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9027" name="Connector 9026"/>
          <p:cNvCxnSpPr/>
          <p:nvPr/>
        </p:nvCxnSpPr>
        <p:spPr>
          <a:xfrm>
            <a:off x="4626894" y="1463040"/>
            <a:ext cx="0" cy="2331720"/>
          </a:xfrm>
          <a:prstGeom prst="line">
            <a:avLst/>
          </a:prstGeom>
          <a:ln w="25400">
            <a:solidFill>
              <a:srgbClr val="C00000"/>
            </a:solidFill>
            <a:prstDash val="dash"/>
          </a:ln>
        </p:spPr>
      </p:cxnSp>
      <p:sp>
        <p:nvSpPr>
          <p:cNvPr id="9028" name="TextBox 9027"/>
          <p:cNvSpPr txBox="1"/>
          <p:nvPr/>
        </p:nvSpPr>
        <p:spPr>
          <a:xfrm>
            <a:off x="4713585" y="1417320"/>
            <a:ext cx="2600725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288" b="1" i="0">
                <a:solidFill>
                  <a:srgbClr val="C00000"/>
                </a:solidFill>
              </a:rPr>
              <a:t>Décision après N paquets</a:t>
            </a:r>
          </a:p>
        </p:txBody>
      </p:sp>
      <p:sp>
        <p:nvSpPr>
          <p:cNvPr id="9029" name="TextBox 9028"/>
          <p:cNvSpPr txBox="1"/>
          <p:nvPr/>
        </p:nvSpPr>
        <p:spPr>
          <a:xfrm>
            <a:off x="5927257" y="3520440"/>
            <a:ext cx="390108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196" b="0" i="0">
                <a:solidFill>
                  <a:schemeClr val="tx2"/>
                </a:solidFill>
              </a:rPr>
              <a:t>Tronquer, échantillonner ou jeter la suite</a:t>
            </a:r>
          </a:p>
        </p:txBody>
      </p:sp>
      <p:sp>
        <p:nvSpPr>
          <p:cNvPr id="9030" name="TextBox 9029"/>
          <p:cNvSpPr txBox="1"/>
          <p:nvPr/>
        </p:nvSpPr>
        <p:spPr>
          <a:xfrm>
            <a:off x="838504" y="1691640"/>
            <a:ext cx="156043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012" b="0" i="0">
                <a:solidFill>
                  <a:schemeClr val="tx2"/>
                </a:solidFill>
              </a:rPr>
              <a:t>client → serveur</a:t>
            </a:r>
          </a:p>
        </p:txBody>
      </p:sp>
      <p:sp>
        <p:nvSpPr>
          <p:cNvPr id="9031" name="TextBox 9030"/>
          <p:cNvSpPr txBox="1"/>
          <p:nvPr/>
        </p:nvSpPr>
        <p:spPr>
          <a:xfrm>
            <a:off x="838504" y="3520440"/>
            <a:ext cx="156043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012" b="0" i="0">
                <a:solidFill>
                  <a:schemeClr val="tx2"/>
                </a:solidFill>
              </a:rPr>
              <a:t>serveur → client</a:t>
            </a:r>
          </a:p>
        </p:txBody>
      </p:sp>
      <p:sp>
        <p:nvSpPr>
          <p:cNvPr id="9032" name="TextBox 9031"/>
          <p:cNvSpPr txBox="1"/>
          <p:nvPr/>
        </p:nvSpPr>
        <p:spPr>
          <a:xfrm>
            <a:off x="838504" y="4023360"/>
            <a:ext cx="10515600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Idée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chaque application a un début d’échange caractéristique (poignée de main, premières requêtes), visible dans les tailles et le sens des premiers paquets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Résultat fondateur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Bernaille, Teixeira et Salamatian (CoNEXT 2006) montrent que les tailles des 5 premiers paquets d’un flux TCP suffisent à identifier l’application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Compromis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N petit = décision rapide ; N grand = plus précis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Que classe-t-on, et pourquoi est-ce possible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452628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Pourquoi c’est possible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chaque application ou comportement laisse une signature dans les tailles, les sens et les temps des paquets, même chiffrés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Application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vidéo, web, VoIP, jeu. Sert par exemple à isoler le trafic vidéo avant l’inférence de QoE (partie 5)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Malveillant ou bénin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pour garder les paquets complets des flux suspects (partie 4)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Priorité de conservation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un score d’intérêt pour garder, résumer ou jeter selon la valeur de l’information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Où classifier ?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Table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645920"/>
          <a:ext cx="10515598" cy="2926080"/>
        </p:xfrm>
        <a:graphic>
          <a:graphicData uri="http://schemas.openxmlformats.org/drawingml/2006/table">
            <a:tbl>
              <a:tblPr firstRow="1" bandRow="0"/>
              <a:tblGrid>
                <a:gridCol w="2600725"/>
                <a:gridCol w="2080580"/>
                <a:gridCol w="2600725"/>
                <a:gridCol w="3233568"/>
              </a:tblGrid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Emplacement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Débit supporté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Complexité du modèle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Atout et limite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Collecteur derrière le TAP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Moyen (CPU, DPDK)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Élevée (forêts, deep learning)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Flexible ; copie complète du trafic nécessaire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Noyau : XDP / eBPF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Élevé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Faible (arbres, règles)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Décision à la source ; contraintes du vérificateur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Plan de données : P4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Débit ligne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Très faible (arbres quantifiés)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Latence minimale ; matériel programmable, peu de mémoire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Exécuter un modèle dans le commutateur (P4)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50876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0">
                <a:solidFill>
                  <a:schemeClr val="tx2"/>
                </a:solidFill>
              </a:rPr>
              <a:t>P4 est un langage qui programme ce que fait un commutateur de chaque paquet. Objectif : décider à la vitesse du lien, sans envoyer le paquet à un serveur.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838504" y="2560320"/>
            <a:ext cx="2253962" cy="640080"/>
          </a:xfrm>
          <a:prstGeom prst="roundRect">
            <a:avLst>
              <a:gd name="adj" fmla="val 11428"/>
            </a:avLst>
          </a:prstGeom>
          <a:solidFill>
            <a:schemeClr val="accent5"/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bg1"/>
                </a:solidFill>
              </a:rPr>
              <a:t>taille &lt; 200 ?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2832394" y="3657600"/>
            <a:ext cx="2080580" cy="640080"/>
          </a:xfrm>
          <a:prstGeom prst="roundRect">
            <a:avLst>
              <a:gd name="adj" fmla="val 11428"/>
            </a:avLst>
          </a:prstGeom>
          <a:solidFill>
            <a:schemeClr val="accent5">
              <a:alpha val="8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bg1"/>
                </a:solidFill>
              </a:rPr>
              <a:t>IAT &lt; 5 ms ?</a:t>
            </a:r>
          </a:p>
        </p:txBody>
      </p:sp>
      <p:cxnSp>
        <p:nvCxnSpPr>
          <p:cNvPr id="9007" name="Connector 9006"/>
          <p:cNvCxnSpPr/>
          <p:nvPr/>
        </p:nvCxnSpPr>
        <p:spPr>
          <a:xfrm flipH="1">
            <a:off x="1185268" y="3246120"/>
            <a:ext cx="866908" cy="82296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cxnSp>
        <p:nvCxnSpPr>
          <p:cNvPr id="9008" name="Connector 9007"/>
          <p:cNvCxnSpPr/>
          <p:nvPr/>
        </p:nvCxnSpPr>
        <p:spPr>
          <a:xfrm>
            <a:off x="2485630" y="3246120"/>
            <a:ext cx="780218" cy="36576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sp>
        <p:nvSpPr>
          <p:cNvPr id="9009" name="Rounded Rectangle 9008"/>
          <p:cNvSpPr/>
          <p:nvPr/>
        </p:nvSpPr>
        <p:spPr>
          <a:xfrm>
            <a:off x="578432" y="4114800"/>
            <a:ext cx="1126981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196" b="1" i="0">
                <a:solidFill>
                  <a:schemeClr val="bg1"/>
                </a:solidFill>
              </a:rPr>
              <a:t>Classe A</a:t>
            </a:r>
          </a:p>
        </p:txBody>
      </p:sp>
      <p:sp>
        <p:nvSpPr>
          <p:cNvPr id="9010" name="Rounded Rectangle 9009"/>
          <p:cNvSpPr/>
          <p:nvPr/>
        </p:nvSpPr>
        <p:spPr>
          <a:xfrm>
            <a:off x="2572321" y="4937760"/>
            <a:ext cx="1126981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196" b="1" i="0">
                <a:solidFill>
                  <a:schemeClr val="bg1"/>
                </a:solidFill>
              </a:rPr>
              <a:t>Classe B</a:t>
            </a:r>
          </a:p>
        </p:txBody>
      </p:sp>
      <p:sp>
        <p:nvSpPr>
          <p:cNvPr id="9011" name="Rounded Rectangle 9010"/>
          <p:cNvSpPr/>
          <p:nvPr/>
        </p:nvSpPr>
        <p:spPr>
          <a:xfrm>
            <a:off x="4046066" y="4937760"/>
            <a:ext cx="1126981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196" b="1" i="0">
                <a:solidFill>
                  <a:schemeClr val="bg1"/>
                </a:solidFill>
              </a:rPr>
              <a:t>Classe C</a:t>
            </a:r>
          </a:p>
        </p:txBody>
      </p:sp>
      <p:cxnSp>
        <p:nvCxnSpPr>
          <p:cNvPr id="9012" name="Connector 9011"/>
          <p:cNvCxnSpPr/>
          <p:nvPr/>
        </p:nvCxnSpPr>
        <p:spPr>
          <a:xfrm flipH="1">
            <a:off x="3092466" y="4343400"/>
            <a:ext cx="86691" cy="54864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cxnSp>
        <p:nvCxnSpPr>
          <p:cNvPr id="9013" name="Connector 9012"/>
          <p:cNvCxnSpPr/>
          <p:nvPr/>
        </p:nvCxnSpPr>
        <p:spPr>
          <a:xfrm>
            <a:off x="4392829" y="4343400"/>
            <a:ext cx="173382" cy="54864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cxnSp>
        <p:nvCxnSpPr>
          <p:cNvPr id="9014" name="Connector 9013"/>
          <p:cNvCxnSpPr/>
          <p:nvPr/>
        </p:nvCxnSpPr>
        <p:spPr>
          <a:xfrm>
            <a:off x="5433119" y="3657600"/>
            <a:ext cx="866909" cy="0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</p:cxnSp>
      <p:sp>
        <p:nvSpPr>
          <p:cNvPr id="9015" name="TextBox 9014"/>
          <p:cNvSpPr txBox="1"/>
          <p:nvPr/>
        </p:nvSpPr>
        <p:spPr>
          <a:xfrm>
            <a:off x="5173047" y="3017520"/>
            <a:ext cx="130036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012" b="0" i="0">
                <a:solidFill>
                  <a:schemeClr val="accent2"/>
                </a:solidFill>
              </a:rPr>
              <a:t>traduit en table de règles</a:t>
            </a:r>
          </a:p>
        </p:txBody>
      </p:sp>
      <p:graphicFrame>
        <p:nvGraphicFramePr>
          <p:cNvPr id="9016" name="Table 9015"/>
          <p:cNvGraphicFramePr>
            <a:graphicFrameLocks xmlns:a="http://schemas.openxmlformats.org/drawingml/2006/main" noGrp="1"/>
          </p:cNvGraphicFramePr>
          <p:nvPr/>
        </p:nvGraphicFramePr>
        <p:xfrm>
          <a:off x="6560100" y="2606040"/>
          <a:ext cx="4794003" cy="1645920"/>
        </p:xfrm>
        <a:graphic>
          <a:graphicData uri="http://schemas.openxmlformats.org/drawingml/2006/table">
            <a:tbl>
              <a:tblPr firstRow="1" bandRow="0"/>
              <a:tblGrid>
                <a:gridCol w="1473744"/>
                <a:gridCol w="1473744"/>
                <a:gridCol w="1846515"/>
              </a:tblGrid>
              <a:tr h="4114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Taille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IAT (ms)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Action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0–199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*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classe A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200–1500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0–4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classe B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200–1500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 et +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88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classe C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017" name="TextBox 9016"/>
          <p:cNvSpPr txBox="1"/>
          <p:nvPr/>
        </p:nvSpPr>
        <p:spPr>
          <a:xfrm>
            <a:off x="6560100" y="4572000"/>
            <a:ext cx="4794003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Contraintes</a:t>
            </a: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 : pas de flottants, peu de mémoire, pas de boucles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Taille</a:t>
            </a: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 : un arbre de profondeur 4 a au plus 16 feuilles, soit quelques dizaines de règles (ordre de grandeur)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Référence</a:t>
            </a: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 : IIsy (Xiong &amp; Zilberman, HotNets 2019)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Le coût des erreurs de classification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2312249" y="1463040"/>
            <a:ext cx="2600725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Décision : conserver</a:t>
            </a:r>
          </a:p>
        </p:txBody>
      </p:sp>
      <p:sp>
        <p:nvSpPr>
          <p:cNvPr id="9005" name="TextBox 9004"/>
          <p:cNvSpPr txBox="1"/>
          <p:nvPr/>
        </p:nvSpPr>
        <p:spPr>
          <a:xfrm>
            <a:off x="4999665" y="1463040"/>
            <a:ext cx="2600725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Décision : jeter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838504" y="2011680"/>
            <a:ext cx="1387053" cy="1463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Réalité : suspect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838504" y="3566160"/>
            <a:ext cx="1387053" cy="1463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Réalité : banal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2312249" y="2011680"/>
            <a:ext cx="2600725" cy="1463040"/>
          </a:xfrm>
          <a:prstGeom prst="roundRect">
            <a:avLst>
              <a:gd name="adj" fmla="val 5000"/>
            </a:avLst>
          </a:prstGeom>
          <a:solidFill>
            <a:schemeClr val="accent6">
              <a:alpha val="3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Conservé à raison</a:t>
            </a:r>
          </a:p>
        </p:txBody>
      </p:sp>
      <p:sp>
        <p:nvSpPr>
          <p:cNvPr id="9009" name="Rounded Rectangle 9008"/>
          <p:cNvSpPr/>
          <p:nvPr/>
        </p:nvSpPr>
        <p:spPr>
          <a:xfrm>
            <a:off x="4999665" y="2011680"/>
            <a:ext cx="2600725" cy="1463040"/>
          </a:xfrm>
          <a:prstGeom prst="roundRect">
            <a:avLst>
              <a:gd name="adj" fmla="val 5000"/>
            </a:avLst>
          </a:prstGeom>
          <a:solidFill>
            <a:srgbClr val="C00000">
              <a:alpha val="30000"/>
            </a:srgb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Suspect jeté : angle mort définitif</a:t>
            </a:r>
          </a:p>
        </p:txBody>
      </p:sp>
      <p:sp>
        <p:nvSpPr>
          <p:cNvPr id="9010" name="Rounded Rectangle 9009"/>
          <p:cNvSpPr/>
          <p:nvPr/>
        </p:nvSpPr>
        <p:spPr>
          <a:xfrm>
            <a:off x="2312249" y="3566160"/>
            <a:ext cx="2600725" cy="1463040"/>
          </a:xfrm>
          <a:prstGeom prst="roundRect">
            <a:avLst>
              <a:gd name="adj" fmla="val 5000"/>
            </a:avLst>
          </a:prstGeom>
          <a:solidFill>
            <a:schemeClr val="accent2">
              <a:alpha val="3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Volume conservé pour rien</a:t>
            </a:r>
          </a:p>
        </p:txBody>
      </p:sp>
      <p:sp>
        <p:nvSpPr>
          <p:cNvPr id="9011" name="Rounded Rectangle 9010"/>
          <p:cNvSpPr/>
          <p:nvPr/>
        </p:nvSpPr>
        <p:spPr>
          <a:xfrm>
            <a:off x="4999665" y="3566160"/>
            <a:ext cx="2600725" cy="1463040"/>
          </a:xfrm>
          <a:prstGeom prst="roundRect">
            <a:avLst>
              <a:gd name="adj" fmla="val 5000"/>
            </a:avLst>
          </a:prstGeom>
          <a:solidFill>
            <a:schemeClr val="accent6">
              <a:alpha val="30000"/>
            </a:schemeClr>
          </a:solidFill>
          <a:ln>
            <a:noFill/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Économie réalisée</a:t>
            </a:r>
          </a:p>
        </p:txBody>
      </p:sp>
      <p:sp>
        <p:nvSpPr>
          <p:cNvPr id="9012" name="TextBox 9011"/>
          <p:cNvSpPr txBox="1"/>
          <p:nvPr/>
        </p:nvSpPr>
        <p:spPr>
          <a:xfrm>
            <a:off x="7600391" y="1554480"/>
            <a:ext cx="3753713" cy="3657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Un </a:t>
            </a: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faux négatif est irréversible</a:t>
            </a: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 : la donnée jetée n’existe plus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Un faux positif coûte seulement du stockage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On règle donc le seuil pour un </a:t>
            </a: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rappel élevé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Mesurer les deux sur des données récentes</a:t>
            </a:r>
          </a:p>
        </p:txBody>
      </p:sp>
      <p:sp>
        <p:nvSpPr>
          <p:cNvPr id="9013" name="Rounded Rectangle 9012"/>
          <p:cNvSpPr/>
          <p:nvPr/>
        </p:nvSpPr>
        <p:spPr>
          <a:xfrm>
            <a:off x="838504" y="5394960"/>
            <a:ext cx="6501813" cy="640080"/>
          </a:xfrm>
          <a:prstGeom prst="roundRect">
            <a:avLst>
              <a:gd name="adj" fmla="val 11428"/>
            </a:avLst>
          </a:prstGeom>
          <a:solidFill>
            <a:schemeClr val="accent2">
              <a:alpha val="18000"/>
            </a:schemeClr>
          </a:solidFill>
          <a:ln>
            <a:noFill/>
          </a:ln>
        </p:spPr>
        <p:txBody>
          <a:bodyPr wrap="square" lIns="152400" tIns="152400" rIns="152400" bIns="152400" rtlCol="0" anchor="ctr">
            <a:noAutofit/>
          </a:bodyPr>
          <a:lstStyle/>
          <a:p>
            <a:pPr algn="l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Précision et rappel se lisent ici en volume conservé et en détections perdues.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Classer sur des métadonnées chiffrées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Table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645920"/>
          <a:ext cx="10515598" cy="4389120"/>
        </p:xfrm>
        <a:graphic>
          <a:graphicData uri="http://schemas.openxmlformats.org/drawingml/2006/table">
            <a:tbl>
              <a:tblPr firstRow="1" bandRow="0"/>
              <a:tblGrid>
                <a:gridCol w="3467633"/>
                <a:gridCol w="4247851"/>
                <a:gridCol w="2800114"/>
              </a:tblGrid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Indice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Ce qu’il révèle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Résiste au chiffrement ?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Tailles de paquets et sens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Type d’application, phases d’échange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Oui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Inter-arrivées, rafales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Rythme (segments vidéo, requêtes)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Oui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SNI / ALPN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Service, protocole (HTTP/2, HTTP/3)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Jusqu’à ECH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Empreinte du handshake (JA3, JA4)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Famille de client logiciel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Oui (ClientHello visible)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Charge utile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Contenu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Non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Contraintes de débit et de latence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5544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748" b="0" i="0">
                <a:solidFill>
                  <a:schemeClr val="tx2"/>
                </a:solidFill>
              </a:rPr>
              <a:t>Question : combien de temps a-t-on pour traiter un paquet, au pire cas (paquets de 64 octets) ?</a:t>
            </a:r>
          </a:p>
        </p:txBody>
      </p:sp>
      <p:graphicFrame>
        <p:nvGraphicFramePr>
          <p:cNvPr id="9005" name="Table 9004"/>
          <p:cNvGraphicFramePr>
            <a:graphicFrameLocks xmlns:a="http://schemas.openxmlformats.org/drawingml/2006/main" noGrp="1"/>
          </p:cNvGraphicFramePr>
          <p:nvPr/>
        </p:nvGraphicFramePr>
        <p:xfrm>
          <a:off x="838504" y="2194560"/>
          <a:ext cx="10515598" cy="1508760"/>
        </p:xfrm>
        <a:graphic>
          <a:graphicData uri="http://schemas.openxmlformats.org/drawingml/2006/table">
            <a:tbl>
              <a:tblPr firstRow="1" bandRow="0"/>
              <a:tblGrid>
                <a:gridCol w="3034179"/>
                <a:gridCol w="3727706"/>
                <a:gridCol w="3753713"/>
              </a:tblGrid>
              <a:tr h="5029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Débit du lien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Paquets par seconde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Temps disponible par paquet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10 Gb/s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14,88 millions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≈ 67 ns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6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100 Gb/s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148,8 millions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656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≈ 6,7 ns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006" name="TextBox 9005"/>
          <p:cNvSpPr txBox="1"/>
          <p:nvPr/>
        </p:nvSpPr>
        <p:spPr>
          <a:xfrm>
            <a:off x="838504" y="3931920"/>
            <a:ext cx="1051560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Contrainte 1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extraire les features et appliquer le modèle doit tenir dans ce temps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Contrainte 2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un accès à la mémoire principale prend de l’ordre de 100 ns, déjà plus que le budget à 10 Gb/s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Conséquences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décider par flux (premiers paquets) et non par paquet ; modèles très simples (arbres, règles) ; calcul au plus près de la carte (XDP, P4)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Pipeline complet de réduction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5544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748" b="0" i="0">
                <a:solidFill>
                  <a:schemeClr val="tx2"/>
                </a:solidFill>
              </a:rPr>
              <a:t>Du trafic brut au volume utile : chaque étape écarte ce qui n’est pas nécessaire.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838504" y="2468880"/>
            <a:ext cx="1825709" cy="822960"/>
          </a:xfrm>
          <a:prstGeom prst="roundRect">
            <a:avLst>
              <a:gd name="adj" fmla="val 888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TAP / SPAN</a:t>
            </a:r>
          </a:p>
        </p:txBody>
      </p:sp>
      <p:cxnSp>
        <p:nvCxnSpPr>
          <p:cNvPr id="9006" name="Connector 9005"/>
          <p:cNvCxnSpPr/>
          <p:nvPr/>
        </p:nvCxnSpPr>
        <p:spPr>
          <a:xfrm>
            <a:off x="2698890" y="2880360"/>
            <a:ext cx="277411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07" name="TextBox 9006"/>
          <p:cNvSpPr txBox="1"/>
          <p:nvPr/>
        </p:nvSpPr>
        <p:spPr>
          <a:xfrm>
            <a:off x="838504" y="3401568"/>
            <a:ext cx="1825709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Copie du trafic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3010977" y="2468880"/>
            <a:ext cx="1825709" cy="822960"/>
          </a:xfrm>
          <a:prstGeom prst="roundRect">
            <a:avLst>
              <a:gd name="adj" fmla="val 888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Pré-filtre (BPF)</a:t>
            </a:r>
          </a:p>
        </p:txBody>
      </p:sp>
      <p:cxnSp>
        <p:nvCxnSpPr>
          <p:cNvPr id="9009" name="Connector 9008"/>
          <p:cNvCxnSpPr/>
          <p:nvPr/>
        </p:nvCxnSpPr>
        <p:spPr>
          <a:xfrm>
            <a:off x="4871363" y="2880360"/>
            <a:ext cx="277410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10" name="TextBox 9009"/>
          <p:cNvSpPr txBox="1"/>
          <p:nvPr/>
        </p:nvSpPr>
        <p:spPr>
          <a:xfrm>
            <a:off x="3010977" y="3401568"/>
            <a:ext cx="1825709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Écarte le trafic hors périmètre</a:t>
            </a:r>
          </a:p>
        </p:txBody>
      </p:sp>
      <p:sp>
        <p:nvSpPr>
          <p:cNvPr id="9011" name="Rounded Rectangle 9010"/>
          <p:cNvSpPr/>
          <p:nvPr/>
        </p:nvSpPr>
        <p:spPr>
          <a:xfrm>
            <a:off x="5183450" y="2468880"/>
            <a:ext cx="1825709" cy="822960"/>
          </a:xfrm>
          <a:prstGeom prst="roundRect">
            <a:avLst>
              <a:gd name="adj" fmla="val 8888"/>
            </a:avLst>
          </a:prstGeom>
          <a:solidFill>
            <a:schemeClr val="accent2"/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bg1"/>
                </a:solidFill>
              </a:rPr>
              <a:t>Classification précoce</a:t>
            </a:r>
          </a:p>
        </p:txBody>
      </p:sp>
      <p:cxnSp>
        <p:nvCxnSpPr>
          <p:cNvPr id="9012" name="Connector 9011"/>
          <p:cNvCxnSpPr/>
          <p:nvPr/>
        </p:nvCxnSpPr>
        <p:spPr>
          <a:xfrm>
            <a:off x="7043835" y="2880360"/>
            <a:ext cx="277411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13" name="TextBox 9012"/>
          <p:cNvSpPr txBox="1"/>
          <p:nvPr/>
        </p:nvSpPr>
        <p:spPr>
          <a:xfrm>
            <a:off x="5183450" y="3401568"/>
            <a:ext cx="1825709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Décision sur les N premiers paquets</a:t>
            </a:r>
          </a:p>
        </p:txBody>
      </p:sp>
      <p:sp>
        <p:nvSpPr>
          <p:cNvPr id="9014" name="Rounded Rectangle 9013"/>
          <p:cNvSpPr/>
          <p:nvPr/>
        </p:nvSpPr>
        <p:spPr>
          <a:xfrm>
            <a:off x="7355922" y="2468880"/>
            <a:ext cx="1825709" cy="822960"/>
          </a:xfrm>
          <a:prstGeom prst="roundRect">
            <a:avLst>
              <a:gd name="adj" fmla="val 888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Tri</a:t>
            </a:r>
          </a:p>
        </p:txBody>
      </p:sp>
      <p:cxnSp>
        <p:nvCxnSpPr>
          <p:cNvPr id="9015" name="Connector 9014"/>
          <p:cNvCxnSpPr/>
          <p:nvPr/>
        </p:nvCxnSpPr>
        <p:spPr>
          <a:xfrm>
            <a:off x="9216308" y="2880360"/>
            <a:ext cx="277411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16" name="TextBox 9015"/>
          <p:cNvSpPr txBox="1"/>
          <p:nvPr/>
        </p:nvSpPr>
        <p:spPr>
          <a:xfrm>
            <a:off x="7355922" y="3401568"/>
            <a:ext cx="1825709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Paquets complets, features ou rien</a:t>
            </a:r>
          </a:p>
        </p:txBody>
      </p:sp>
      <p:sp>
        <p:nvSpPr>
          <p:cNvPr id="9017" name="Rounded Rectangle 9016"/>
          <p:cNvSpPr/>
          <p:nvPr/>
        </p:nvSpPr>
        <p:spPr>
          <a:xfrm>
            <a:off x="9528395" y="2468880"/>
            <a:ext cx="1825709" cy="822960"/>
          </a:xfrm>
          <a:prstGeom prst="roundRect">
            <a:avLst>
              <a:gd name="adj" fmla="val 888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Stockage et analyse</a:t>
            </a:r>
          </a:p>
        </p:txBody>
      </p:sp>
      <p:sp>
        <p:nvSpPr>
          <p:cNvPr id="9018" name="TextBox 9017"/>
          <p:cNvSpPr txBox="1"/>
          <p:nvPr/>
        </p:nvSpPr>
        <p:spPr>
          <a:xfrm>
            <a:off x="9528395" y="3401568"/>
            <a:ext cx="1825709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Volume maîtrisé, prêt pour le ML</a:t>
            </a:r>
          </a:p>
        </p:txBody>
      </p:sp>
      <p:sp>
        <p:nvSpPr>
          <p:cNvPr id="9019" name="TextBox 9018"/>
          <p:cNvSpPr txBox="1"/>
          <p:nvPr/>
        </p:nvSpPr>
        <p:spPr>
          <a:xfrm>
            <a:off x="838504" y="52120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On conserve des features par flux ou par fenêtre plutôt que des paquets, sauf pour les flux suspects.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À retenir : la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452628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Pourquoi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tout garder est impossible : le volume impose de décider tôt.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Comment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classification précoce sur les premiers paquets, à la source (eBPF, P4).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À quel prix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un faux négatif est une donnée perdue ; le chiffrement limite les indices.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Cas d’usage 1 : la détection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Deux cas d’usage : détection et performances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600200"/>
            <a:ext cx="504107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2024" b="1" i="0">
                <a:solidFill>
                  <a:schemeClr val="accent2"/>
                </a:solidFill>
              </a:rPr>
              <a:t>Détection d’anomalies (sécurité)</a:t>
            </a:r>
          </a:p>
        </p:txBody>
      </p:sp>
      <p:sp>
        <p:nvSpPr>
          <p:cNvPr id="9005" name="TextBox 9004"/>
          <p:cNvSpPr txBox="1"/>
          <p:nvPr/>
        </p:nvSpPr>
        <p:spPr>
          <a:xfrm>
            <a:off x="838504" y="2194560"/>
            <a:ext cx="5041072" cy="320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Question : ce trafic est-il malveillant ou anormal ?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Outils : SIEM, IDS, NDR, SOAR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Difficulté : faux positifs, attaquant adaptatif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Public : analystes du SOC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6313031" y="1600200"/>
            <a:ext cx="504107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2024" b="1" i="0">
                <a:solidFill>
                  <a:schemeClr val="accent2"/>
                </a:solidFill>
              </a:rPr>
              <a:t>Inférence de QoE (performance)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6313031" y="2194560"/>
            <a:ext cx="5041072" cy="320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Question : quelle qualité l’abonné perçoit-il ?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Outils : sondes du FAI, télémétrie client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Difficulté : trafic chiffré, généralisation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Public : opérateurs, FAI</a:t>
            </a:r>
          </a:p>
        </p:txBody>
      </p:sp>
      <p:sp>
        <p:nvSpPr>
          <p:cNvPr id="9008" name="TextBox 9007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Même pipeline, objectifs différents : détection dans cette partie, performances dans la suivante.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Le pipeline de détection de bout en bout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5087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56" b="0" i="0">
                <a:solidFill>
                  <a:schemeClr val="tx2"/>
                </a:solidFill>
              </a:rPr>
              <a:t>Cinq maillons, du réseau à l’analyste. Dans la suite, un repère « Où on est » indique le maillon traité.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838504" y="2286000"/>
            <a:ext cx="1825709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Capteurs</a:t>
            </a:r>
          </a:p>
        </p:txBody>
      </p:sp>
      <p:cxnSp>
        <p:nvCxnSpPr>
          <p:cNvPr id="9006" name="Connector 9005"/>
          <p:cNvCxnSpPr/>
          <p:nvPr/>
        </p:nvCxnSpPr>
        <p:spPr>
          <a:xfrm>
            <a:off x="2698890" y="2651760"/>
            <a:ext cx="277411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07" name="TextBox 9006"/>
          <p:cNvSpPr txBox="1"/>
          <p:nvPr/>
        </p:nvSpPr>
        <p:spPr>
          <a:xfrm>
            <a:off x="838504" y="3127248"/>
            <a:ext cx="1825709" cy="1920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TAP, eBPF, flux, logs (partie 1)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3010977" y="2286000"/>
            <a:ext cx="1825709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Détection</a:t>
            </a:r>
          </a:p>
        </p:txBody>
      </p:sp>
      <p:cxnSp>
        <p:nvCxnSpPr>
          <p:cNvPr id="9009" name="Connector 9008"/>
          <p:cNvCxnSpPr/>
          <p:nvPr/>
        </p:nvCxnSpPr>
        <p:spPr>
          <a:xfrm>
            <a:off x="4871363" y="2651760"/>
            <a:ext cx="277410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10" name="TextBox 9009"/>
          <p:cNvSpPr txBox="1"/>
          <p:nvPr/>
        </p:nvSpPr>
        <p:spPr>
          <a:xfrm>
            <a:off x="3010977" y="3127248"/>
            <a:ext cx="1825709" cy="1920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Règles, ML, UEBA : ce qui décide qu’un événement est anormal</a:t>
            </a:r>
          </a:p>
        </p:txBody>
      </p:sp>
      <p:sp>
        <p:nvSpPr>
          <p:cNvPr id="9011" name="Rounded Rectangle 9010"/>
          <p:cNvSpPr/>
          <p:nvPr/>
        </p:nvSpPr>
        <p:spPr>
          <a:xfrm>
            <a:off x="5183450" y="2286000"/>
            <a:ext cx="1825709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SIEM</a:t>
            </a:r>
          </a:p>
        </p:txBody>
      </p:sp>
      <p:cxnSp>
        <p:nvCxnSpPr>
          <p:cNvPr id="9012" name="Connector 9011"/>
          <p:cNvCxnSpPr/>
          <p:nvPr/>
        </p:nvCxnSpPr>
        <p:spPr>
          <a:xfrm>
            <a:off x="7043835" y="2651760"/>
            <a:ext cx="277411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13" name="TextBox 9012"/>
          <p:cNvSpPr txBox="1"/>
          <p:nvPr/>
        </p:nvSpPr>
        <p:spPr>
          <a:xfrm>
            <a:off x="5183450" y="3127248"/>
            <a:ext cx="1825709" cy="1920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Security Information and Event Management : centralise, corrèle, alerte</a:t>
            </a:r>
          </a:p>
        </p:txBody>
      </p:sp>
      <p:sp>
        <p:nvSpPr>
          <p:cNvPr id="9014" name="Rounded Rectangle 9013"/>
          <p:cNvSpPr/>
          <p:nvPr/>
        </p:nvSpPr>
        <p:spPr>
          <a:xfrm>
            <a:off x="7355922" y="2286000"/>
            <a:ext cx="1825709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SOAR</a:t>
            </a:r>
          </a:p>
        </p:txBody>
      </p:sp>
      <p:cxnSp>
        <p:nvCxnSpPr>
          <p:cNvPr id="9015" name="Connector 9014"/>
          <p:cNvCxnSpPr/>
          <p:nvPr/>
        </p:nvCxnSpPr>
        <p:spPr>
          <a:xfrm>
            <a:off x="9216308" y="2651760"/>
            <a:ext cx="277411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16" name="TextBox 9015"/>
          <p:cNvSpPr txBox="1"/>
          <p:nvPr/>
        </p:nvSpPr>
        <p:spPr>
          <a:xfrm>
            <a:off x="7355922" y="3127248"/>
            <a:ext cx="1825709" cy="1920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Security Orchestration, Automation and Response : exécute la réponse</a:t>
            </a:r>
          </a:p>
        </p:txBody>
      </p:sp>
      <p:sp>
        <p:nvSpPr>
          <p:cNvPr id="9017" name="Rounded Rectangle 9016"/>
          <p:cNvSpPr/>
          <p:nvPr/>
        </p:nvSpPr>
        <p:spPr>
          <a:xfrm>
            <a:off x="9528395" y="2286000"/>
            <a:ext cx="1825709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Analyste</a:t>
            </a:r>
          </a:p>
        </p:txBody>
      </p:sp>
      <p:sp>
        <p:nvSpPr>
          <p:cNvPr id="9018" name="TextBox 9017"/>
          <p:cNvSpPr txBox="1"/>
          <p:nvPr/>
        </p:nvSpPr>
        <p:spPr>
          <a:xfrm>
            <a:off x="9528395" y="3127248"/>
            <a:ext cx="1825709" cy="1920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SOC (Security Operations Center) : l’équipe qui investigue et décide</a:t>
            </a:r>
          </a:p>
        </p:txBody>
      </p:sp>
      <p:sp>
        <p:nvSpPr>
          <p:cNvPr id="9019" name="TextBox 9018"/>
          <p:cNvSpPr txBox="1"/>
          <p:nvPr/>
        </p:nvSpPr>
        <p:spPr>
          <a:xfrm>
            <a:off x="838504" y="52120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472" b="0" i="1">
                <a:solidFill>
                  <a:schemeClr val="accent2"/>
                </a:solidFill>
              </a:rPr>
              <a:t>UEBA : User and Entity Behavior Analytics, l’analyse du comportement des utilisateurs et des machines.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Qu’est-ce qu’une anomalie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452628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Panne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lien coupé, équipement défaillant : le débit s’effondre.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Mauvaise configuration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boucle, route erronée, ACL trop large : trafic inattendu.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Attaque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DDoS, scan, exfiltration, mouvement latéral, force brute.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Événement légitime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afflux de visiteurs, sauvegarde, mise à jour : inhabituel mais bénin.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Trois types d’anomalies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Chart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554480"/>
          <a:ext cx="6415122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7513700" y="1645920"/>
            <a:ext cx="3840404" cy="4480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Ponctuelle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 (rouge) : une valeur extrême isolée, ici un pic vers l’heure 20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Contextuelle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 (orange) : normale ailleurs, anormale ici : un pic à 3 h du matin (heure 27)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Collective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 (vert) : une suite de valeurs anormales ensemble, ici de l’heure 44 à 50 (exfiltration lente)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Baseline : le seuil statistique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Chart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554480"/>
          <a:ext cx="6415122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7513700" y="1645920"/>
            <a:ext cx="3840404" cy="4480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Seuil fixe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simple, mais aveugle à la saisonnalité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Adaptatif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moyenne glissante, EWMA, percentiles par heure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Règle d’or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tout modèle ML doit battre cette baseline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Règles de corrélation dans un SIEM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Rounded Rectangle 9003"/>
          <p:cNvSpPr/>
          <p:nvPr/>
        </p:nvSpPr>
        <p:spPr>
          <a:xfrm>
            <a:off x="838504" y="1783080"/>
            <a:ext cx="6675195" cy="4343400"/>
          </a:xfrm>
          <a:prstGeom prst="roundRect">
            <a:avLst>
              <a:gd name="adj" fmla="val 1052"/>
            </a:avLst>
          </a:prstGeom>
          <a:solidFill>
            <a:srgbClr val="F2F2F2"/>
          </a:solidFill>
          <a:ln w="15875">
            <a:solidFill>
              <a:srgbClr val="BFBFBF"/>
            </a:solidFill>
          </a:ln>
        </p:spPr>
        <p:txBody>
          <a:bodyPr rtlCol="0" anchor="ctr"/>
          <a:lstStyle/>
          <a:p/>
        </p:txBody>
      </p:sp>
      <p:sp>
        <p:nvSpPr>
          <p:cNvPr id="9005" name="TextBox 9004"/>
          <p:cNvSpPr txBox="1"/>
          <p:nvPr/>
        </p:nvSpPr>
        <p:spPr>
          <a:xfrm>
            <a:off x="1055231" y="1965960"/>
            <a:ext cx="6241741" cy="39776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00" b="0" i="0">
                <a:solidFill>
                  <a:srgbClr val="1F1F1F"/>
                </a:solidFill>
                <a:latin typeface="Courier New"/>
              </a:rPr>
              <a:t>title: SSH brute force</a:t>
            </a:r>
          </a:p>
          <a:p>
            <a:pPr algn="l">
              <a:buNone/>
            </a:pPr>
            <a:r>
              <a:rPr sz="1500" b="0" i="0">
                <a:solidFill>
                  <a:srgbClr val="1F1F1F"/>
                </a:solidFill>
                <a:latin typeface="Courier New"/>
              </a:rPr>
              <a:t>logsource:</a:t>
            </a:r>
          </a:p>
          <a:p>
            <a:pPr algn="l">
              <a:buNone/>
            </a:pPr>
            <a:r>
              <a:rPr sz="1500" b="0" i="0">
                <a:solidFill>
                  <a:srgbClr val="1F1F1F"/>
                </a:solidFill>
                <a:latin typeface="Courier New"/>
              </a:rPr>
              <a:t>  product: linux</a:t>
            </a:r>
          </a:p>
          <a:p>
            <a:pPr algn="l">
              <a:buNone/>
            </a:pPr>
            <a:r>
              <a:rPr sz="1500" b="0" i="0">
                <a:solidFill>
                  <a:srgbClr val="1F1F1F"/>
                </a:solidFill>
                <a:latin typeface="Courier New"/>
              </a:rPr>
              <a:t>  service: auth</a:t>
            </a:r>
          </a:p>
          <a:p>
            <a:pPr algn="l">
              <a:buNone/>
            </a:pPr>
            <a:r>
              <a:rPr sz="1500" b="0" i="0">
                <a:solidFill>
                  <a:srgbClr val="1F1F1F"/>
                </a:solidFill>
                <a:latin typeface="Courier New"/>
              </a:rPr>
              <a:t>detection:</a:t>
            </a:r>
          </a:p>
          <a:p>
            <a:pPr algn="l">
              <a:buNone/>
            </a:pPr>
            <a:r>
              <a:rPr sz="1500" b="0" i="0">
                <a:solidFill>
                  <a:srgbClr val="1F1F1F"/>
                </a:solidFill>
                <a:latin typeface="Courier New"/>
              </a:rPr>
              <a:t>  selection:</a:t>
            </a:r>
          </a:p>
          <a:p>
            <a:pPr algn="l">
              <a:buNone/>
            </a:pPr>
            <a:r>
              <a:rPr sz="1500" b="0" i="0">
                <a:solidFill>
                  <a:srgbClr val="1F1F1F"/>
                </a:solidFill>
                <a:latin typeface="Courier New"/>
              </a:rPr>
              <a:t>    event.category: authentication</a:t>
            </a:r>
          </a:p>
          <a:p>
            <a:pPr algn="l">
              <a:buNone/>
            </a:pPr>
            <a:r>
              <a:rPr sz="1500" b="0" i="0">
                <a:solidFill>
                  <a:srgbClr val="1F1F1F"/>
                </a:solidFill>
                <a:latin typeface="Courier New"/>
              </a:rPr>
              <a:t>    event.outcome: failure</a:t>
            </a:r>
          </a:p>
          <a:p>
            <a:pPr algn="l">
              <a:buNone/>
            </a:pPr>
            <a:r>
              <a:rPr sz="1500" b="0" i="0">
                <a:solidFill>
                  <a:srgbClr val="1F1F1F"/>
                </a:solidFill>
                <a:latin typeface="Courier New"/>
              </a:rPr>
              <a:t>  timeframe: 1m</a:t>
            </a:r>
          </a:p>
          <a:p>
            <a:pPr algn="l">
              <a:buNone/>
            </a:pPr>
            <a:r>
              <a:rPr sz="1500" b="0" i="0">
                <a:solidFill>
                  <a:srgbClr val="1F1F1F"/>
                </a:solidFill>
                <a:latin typeface="Courier New"/>
              </a:rPr>
              <a:t>  condition: selection | count() by source.ip &gt;= 5</a:t>
            </a:r>
          </a:p>
          <a:p>
            <a:pPr algn="l">
              <a:buNone/>
            </a:pPr>
            <a:r>
              <a:rPr sz="1500" b="0" i="0">
                <a:solidFill>
                  <a:srgbClr val="1F1F1F"/>
                </a:solidFill>
                <a:latin typeface="Courier New"/>
              </a:rPr>
              <a:t>level: medium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7817118" y="1828800"/>
            <a:ext cx="3536986" cy="4297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Exemple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5 échecs de connexion en 1 minute depuis une même IP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Syntaxe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inspirée de Sigma, convertible vers Splunk, Elastic, Sentinel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Source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logs d’authentification normalisés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Action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alerte, ticket, playbook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838504" y="1298448"/>
            <a:ext cx="95359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104" b="0" i="1">
                <a:solidFill>
                  <a:schemeClr val="tx2"/>
                </a:solidFill>
              </a:rPr>
              <a:t>Où on est :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1835449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Capteurs</a:t>
            </a:r>
          </a:p>
        </p:txBody>
      </p:sp>
      <p:sp>
        <p:nvSpPr>
          <p:cNvPr id="9009" name="Rounded Rectangle 9008"/>
          <p:cNvSpPr/>
          <p:nvPr/>
        </p:nvSpPr>
        <p:spPr>
          <a:xfrm>
            <a:off x="3179157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Détection</a:t>
            </a:r>
          </a:p>
        </p:txBody>
      </p:sp>
      <p:sp>
        <p:nvSpPr>
          <p:cNvPr id="9010" name="Rounded Rectangle 9009"/>
          <p:cNvSpPr/>
          <p:nvPr/>
        </p:nvSpPr>
        <p:spPr>
          <a:xfrm>
            <a:off x="4522865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1" i="0">
                <a:solidFill>
                  <a:schemeClr val="bg1"/>
                </a:solidFill>
              </a:rPr>
              <a:t>SIEM</a:t>
            </a:r>
          </a:p>
        </p:txBody>
      </p:sp>
      <p:sp>
        <p:nvSpPr>
          <p:cNvPr id="9011" name="Rounded Rectangle 9010"/>
          <p:cNvSpPr/>
          <p:nvPr/>
        </p:nvSpPr>
        <p:spPr>
          <a:xfrm>
            <a:off x="5866574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SOAR</a:t>
            </a:r>
          </a:p>
        </p:txBody>
      </p:sp>
      <p:sp>
        <p:nvSpPr>
          <p:cNvPr id="9012" name="Rounded Rectangle 9011"/>
          <p:cNvSpPr/>
          <p:nvPr/>
        </p:nvSpPr>
        <p:spPr>
          <a:xfrm>
            <a:off x="7210282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Analyste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Règles et signatures : forces et limites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600200"/>
            <a:ext cx="504107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2024" b="1" i="0">
                <a:solidFill>
                  <a:schemeClr val="accent2"/>
                </a:solidFill>
              </a:rPr>
              <a:t>Forces</a:t>
            </a:r>
          </a:p>
        </p:txBody>
      </p:sp>
      <p:sp>
        <p:nvSpPr>
          <p:cNvPr id="9005" name="TextBox 9004"/>
          <p:cNvSpPr txBox="1"/>
          <p:nvPr/>
        </p:nvSpPr>
        <p:spPr>
          <a:xfrm>
            <a:off x="838504" y="2194560"/>
            <a:ext cx="5041072" cy="320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Lisibles et auditables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Peu de faux positifs si bien écrites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Rapides à exécuter (Snort, Suricata)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Rattachables aux techniques connues (MITRE ATT&amp;CK)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6313031" y="1600200"/>
            <a:ext cx="504107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2024" b="1" i="0">
                <a:solidFill>
                  <a:schemeClr val="accent2"/>
                </a:solidFill>
              </a:rPr>
              <a:t>Limites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6313031" y="2194560"/>
            <a:ext cx="5041072" cy="320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Aveugles aux attaques inconnues ou obfusquées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Maintenance continue des règles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Contournables si l’attaquant connaît le seuil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Explosion du nombre de règles</a:t>
            </a:r>
          </a:p>
        </p:txBody>
      </p:sp>
      <p:sp>
        <p:nvSpPr>
          <p:cNvPr id="9008" name="TextBox 9007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Signature = ce qu’on sait déjà. Anomalie = ce qui sort de l’ordinaire. Les deux se complètent.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ML supervisé : un IDS appris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783080"/>
            <a:ext cx="10515600" cy="434340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Entrée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features de flux (tailles, durées, flags)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Sortie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bénin ou type d’attaque (DoS, scan, force brute…)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Modèles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forêts aléatoires, gradient boosting, réseaux de neurones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Atout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très bon sur les attaques présentes dans les données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Limites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labels coûteux, faible généralisation à de nouvelles attaques et à d’autres réseaux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Résultat à relativiser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des scores de 99 % sur CIC-IDS2017 reflètent souvent des artefacts du dataset plutôt qu’une détection robuste.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298448"/>
            <a:ext cx="95359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104" b="0" i="1">
                <a:solidFill>
                  <a:schemeClr val="tx2"/>
                </a:solidFill>
              </a:rPr>
              <a:t>Où on est :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1835449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Capteurs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3179157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1" i="0">
                <a:solidFill>
                  <a:schemeClr val="bg1"/>
                </a:solidFill>
              </a:rPr>
              <a:t>Détection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4522865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SIEM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5866574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SOAR</a:t>
            </a:r>
          </a:p>
        </p:txBody>
      </p:sp>
      <p:sp>
        <p:nvSpPr>
          <p:cNvPr id="9009" name="Rounded Rectangle 9008"/>
          <p:cNvSpPr/>
          <p:nvPr/>
        </p:nvSpPr>
        <p:spPr>
          <a:xfrm>
            <a:off x="7210282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Analyste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Non supervisé : isoler les points atypiques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Rounded Rectangle 9003"/>
          <p:cNvSpPr/>
          <p:nvPr/>
        </p:nvSpPr>
        <p:spPr>
          <a:xfrm>
            <a:off x="838504" y="1463040"/>
            <a:ext cx="6241741" cy="4206240"/>
          </a:xfrm>
          <a:prstGeom prst="roundRect">
            <a:avLst>
              <a:gd name="adj" fmla="val 1739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9005" name="Connector 9004"/>
          <p:cNvCxnSpPr/>
          <p:nvPr/>
        </p:nvCxnSpPr>
        <p:spPr>
          <a:xfrm>
            <a:off x="1098577" y="5394960"/>
            <a:ext cx="5808287" cy="0"/>
          </a:xfrm>
          <a:prstGeom prst="line">
            <a:avLst/>
          </a:prstGeom>
          <a:ln w="19050">
            <a:solidFill>
              <a:schemeClr val="tx2"/>
            </a:solidFill>
            <a:tailEnd type="triangle"/>
          </a:ln>
        </p:spPr>
      </p:cxnSp>
      <p:cxnSp>
        <p:nvCxnSpPr>
          <p:cNvPr id="9006" name="Connector 9005"/>
          <p:cNvCxnSpPr/>
          <p:nvPr/>
        </p:nvCxnSpPr>
        <p:spPr>
          <a:xfrm flipV="1">
            <a:off x="1098577" y="1645920"/>
            <a:ext cx="0" cy="3749040"/>
          </a:xfrm>
          <a:prstGeom prst="line">
            <a:avLst/>
          </a:prstGeom>
          <a:ln w="19050">
            <a:solidFill>
              <a:schemeClr val="tx2"/>
            </a:solidFill>
            <a:tailEnd type="triangle"/>
          </a:ln>
        </p:spPr>
      </p:cxnSp>
      <p:sp>
        <p:nvSpPr>
          <p:cNvPr id="9007" name="TextBox 9006"/>
          <p:cNvSpPr txBox="1"/>
          <p:nvPr/>
        </p:nvSpPr>
        <p:spPr>
          <a:xfrm>
            <a:off x="2919085" y="5422392"/>
            <a:ext cx="3034179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012" b="0" i="0">
                <a:solidFill>
                  <a:schemeClr val="tx2"/>
                </a:solidFill>
              </a:rPr>
              <a:t>taille moyenne des paquets</a:t>
            </a:r>
          </a:p>
        </p:txBody>
      </p:sp>
      <p:sp>
        <p:nvSpPr>
          <p:cNvPr id="9008" name="TextBox 9007"/>
          <p:cNvSpPr txBox="1"/>
          <p:nvPr/>
        </p:nvSpPr>
        <p:spPr>
          <a:xfrm>
            <a:off x="1185268" y="1508760"/>
            <a:ext cx="260072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012" b="0" i="0">
                <a:solidFill>
                  <a:schemeClr val="tx2"/>
                </a:solidFill>
              </a:rPr>
              <a:t>destinations distinctes</a:t>
            </a:r>
          </a:p>
        </p:txBody>
      </p:sp>
      <p:sp>
        <p:nvSpPr>
          <p:cNvPr id="9009" name="Oval 9008"/>
          <p:cNvSpPr/>
          <p:nvPr/>
        </p:nvSpPr>
        <p:spPr>
          <a:xfrm>
            <a:off x="2236262" y="3017520"/>
            <a:ext cx="2926080" cy="1737360"/>
          </a:xfrm>
          <a:prstGeom prst="ellipse">
            <a:avLst/>
          </a:prstGeom>
          <a:noFill/>
          <a:ln w="15875">
            <a:solidFill>
              <a:schemeClr val="accent5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9010" name="Oval 9009"/>
          <p:cNvSpPr/>
          <p:nvPr/>
        </p:nvSpPr>
        <p:spPr>
          <a:xfrm>
            <a:off x="3117809" y="3789895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1" name="Oval 9010"/>
          <p:cNvSpPr/>
          <p:nvPr/>
        </p:nvSpPr>
        <p:spPr>
          <a:xfrm>
            <a:off x="3662871" y="3737863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2" name="Oval 9011"/>
          <p:cNvSpPr/>
          <p:nvPr/>
        </p:nvSpPr>
        <p:spPr>
          <a:xfrm>
            <a:off x="3391142" y="3779472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3" name="Oval 9012"/>
          <p:cNvSpPr/>
          <p:nvPr/>
        </p:nvSpPr>
        <p:spPr>
          <a:xfrm>
            <a:off x="3731468" y="3766009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4" name="Oval 9013"/>
          <p:cNvSpPr/>
          <p:nvPr/>
        </p:nvSpPr>
        <p:spPr>
          <a:xfrm>
            <a:off x="3396351" y="3876975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5" name="Oval 9014"/>
          <p:cNvSpPr/>
          <p:nvPr/>
        </p:nvSpPr>
        <p:spPr>
          <a:xfrm>
            <a:off x="3528227" y="3746082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6" name="Oval 9015"/>
          <p:cNvSpPr/>
          <p:nvPr/>
        </p:nvSpPr>
        <p:spPr>
          <a:xfrm>
            <a:off x="4227505" y="3909105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7" name="Oval 9016"/>
          <p:cNvSpPr/>
          <p:nvPr/>
        </p:nvSpPr>
        <p:spPr>
          <a:xfrm>
            <a:off x="3620443" y="4393636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8" name="Oval 9017"/>
          <p:cNvSpPr/>
          <p:nvPr/>
        </p:nvSpPr>
        <p:spPr>
          <a:xfrm>
            <a:off x="4267161" y="3572476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9" name="Oval 9018"/>
          <p:cNvSpPr/>
          <p:nvPr/>
        </p:nvSpPr>
        <p:spPr>
          <a:xfrm>
            <a:off x="4191798" y="3907815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0" name="Oval 9019"/>
          <p:cNvSpPr/>
          <p:nvPr/>
        </p:nvSpPr>
        <p:spPr>
          <a:xfrm>
            <a:off x="4226878" y="4039662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1" name="Oval 9020"/>
          <p:cNvSpPr/>
          <p:nvPr/>
        </p:nvSpPr>
        <p:spPr>
          <a:xfrm>
            <a:off x="4360226" y="3909300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2" name="Oval 9021"/>
          <p:cNvSpPr/>
          <p:nvPr/>
        </p:nvSpPr>
        <p:spPr>
          <a:xfrm>
            <a:off x="3249239" y="3632616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3" name="Oval 9022"/>
          <p:cNvSpPr/>
          <p:nvPr/>
        </p:nvSpPr>
        <p:spPr>
          <a:xfrm>
            <a:off x="3270917" y="3692704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4" name="Oval 9023"/>
          <p:cNvSpPr/>
          <p:nvPr/>
        </p:nvSpPr>
        <p:spPr>
          <a:xfrm>
            <a:off x="3754081" y="4532792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5" name="Oval 9024"/>
          <p:cNvSpPr/>
          <p:nvPr/>
        </p:nvSpPr>
        <p:spPr>
          <a:xfrm>
            <a:off x="3927044" y="3862394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6" name="Oval 9025"/>
          <p:cNvSpPr/>
          <p:nvPr/>
        </p:nvSpPr>
        <p:spPr>
          <a:xfrm>
            <a:off x="3892827" y="3951890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7" name="Oval 9026"/>
          <p:cNvSpPr/>
          <p:nvPr/>
        </p:nvSpPr>
        <p:spPr>
          <a:xfrm>
            <a:off x="3939534" y="3874933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8" name="Oval 9027"/>
          <p:cNvSpPr/>
          <p:nvPr/>
        </p:nvSpPr>
        <p:spPr>
          <a:xfrm>
            <a:off x="3985831" y="3694353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29" name="Oval 9028"/>
          <p:cNvSpPr/>
          <p:nvPr/>
        </p:nvSpPr>
        <p:spPr>
          <a:xfrm>
            <a:off x="4003013" y="3957071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30" name="Oval 9029"/>
          <p:cNvSpPr/>
          <p:nvPr/>
        </p:nvSpPr>
        <p:spPr>
          <a:xfrm>
            <a:off x="2568301" y="3969561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31" name="Oval 9030"/>
          <p:cNvSpPr/>
          <p:nvPr/>
        </p:nvSpPr>
        <p:spPr>
          <a:xfrm>
            <a:off x="4043993" y="3846031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32" name="Oval 9031"/>
          <p:cNvSpPr/>
          <p:nvPr/>
        </p:nvSpPr>
        <p:spPr>
          <a:xfrm>
            <a:off x="3612307" y="3826608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33" name="Oval 9032"/>
          <p:cNvSpPr/>
          <p:nvPr/>
        </p:nvSpPr>
        <p:spPr>
          <a:xfrm>
            <a:off x="3502394" y="3760168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34" name="Oval 9033"/>
          <p:cNvSpPr/>
          <p:nvPr/>
        </p:nvSpPr>
        <p:spPr>
          <a:xfrm>
            <a:off x="3987086" y="3814142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35" name="Oval 9034"/>
          <p:cNvSpPr/>
          <p:nvPr/>
        </p:nvSpPr>
        <p:spPr>
          <a:xfrm>
            <a:off x="3355043" y="3954097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36" name="Oval 9035"/>
          <p:cNvSpPr/>
          <p:nvPr/>
        </p:nvSpPr>
        <p:spPr>
          <a:xfrm>
            <a:off x="3614760" y="4042068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37" name="Oval 9036"/>
          <p:cNvSpPr/>
          <p:nvPr/>
        </p:nvSpPr>
        <p:spPr>
          <a:xfrm>
            <a:off x="3173732" y="4234461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38" name="Oval 9037"/>
          <p:cNvSpPr/>
          <p:nvPr/>
        </p:nvSpPr>
        <p:spPr>
          <a:xfrm>
            <a:off x="3601709" y="3907043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39" name="Oval 9038"/>
          <p:cNvSpPr/>
          <p:nvPr/>
        </p:nvSpPr>
        <p:spPr>
          <a:xfrm>
            <a:off x="3761800" y="3683738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40" name="Oval 9039"/>
          <p:cNvSpPr/>
          <p:nvPr/>
        </p:nvSpPr>
        <p:spPr>
          <a:xfrm>
            <a:off x="4646878" y="3515330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41" name="Oval 9040"/>
          <p:cNvSpPr/>
          <p:nvPr/>
        </p:nvSpPr>
        <p:spPr>
          <a:xfrm>
            <a:off x="4261903" y="3740523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42" name="Oval 9041"/>
          <p:cNvSpPr/>
          <p:nvPr/>
        </p:nvSpPr>
        <p:spPr>
          <a:xfrm>
            <a:off x="4017498" y="3891310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43" name="Oval 9042"/>
          <p:cNvSpPr/>
          <p:nvPr/>
        </p:nvSpPr>
        <p:spPr>
          <a:xfrm>
            <a:off x="3683026" y="4187477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44" name="Oval 9043"/>
          <p:cNvSpPr/>
          <p:nvPr/>
        </p:nvSpPr>
        <p:spPr>
          <a:xfrm>
            <a:off x="3663546" y="3808925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45" name="Oval 9044"/>
          <p:cNvSpPr/>
          <p:nvPr/>
        </p:nvSpPr>
        <p:spPr>
          <a:xfrm>
            <a:off x="3950981" y="3866090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46" name="Oval 9045"/>
          <p:cNvSpPr/>
          <p:nvPr/>
        </p:nvSpPr>
        <p:spPr>
          <a:xfrm>
            <a:off x="3882444" y="4006009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47" name="Oval 9046"/>
          <p:cNvSpPr/>
          <p:nvPr/>
        </p:nvSpPr>
        <p:spPr>
          <a:xfrm>
            <a:off x="3822086" y="3743905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48" name="Oval 9047"/>
          <p:cNvSpPr/>
          <p:nvPr/>
        </p:nvSpPr>
        <p:spPr>
          <a:xfrm>
            <a:off x="3152235" y="4303205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49" name="Oval 9048"/>
          <p:cNvSpPr/>
          <p:nvPr/>
        </p:nvSpPr>
        <p:spPr>
          <a:xfrm>
            <a:off x="4248345" y="4166300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50" name="Oval 9049"/>
          <p:cNvSpPr/>
          <p:nvPr/>
        </p:nvSpPr>
        <p:spPr>
          <a:xfrm>
            <a:off x="3833827" y="3739351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51" name="Oval 9050"/>
          <p:cNvSpPr/>
          <p:nvPr/>
        </p:nvSpPr>
        <p:spPr>
          <a:xfrm>
            <a:off x="4566395" y="3521450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52" name="Oval 9051"/>
          <p:cNvSpPr/>
          <p:nvPr/>
        </p:nvSpPr>
        <p:spPr>
          <a:xfrm>
            <a:off x="3320549" y="3932098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53" name="Oval 9052"/>
          <p:cNvSpPr/>
          <p:nvPr/>
        </p:nvSpPr>
        <p:spPr>
          <a:xfrm>
            <a:off x="3506331" y="3655586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54" name="Oval 9053"/>
          <p:cNvSpPr/>
          <p:nvPr/>
        </p:nvSpPr>
        <p:spPr>
          <a:xfrm>
            <a:off x="3837995" y="3895391"/>
            <a:ext cx="118872" cy="118872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55" name="Oval 9054"/>
          <p:cNvSpPr/>
          <p:nvPr/>
        </p:nvSpPr>
        <p:spPr>
          <a:xfrm>
            <a:off x="6294804" y="2011680"/>
            <a:ext cx="201168" cy="20116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56" name="Oval 9055"/>
          <p:cNvSpPr/>
          <p:nvPr/>
        </p:nvSpPr>
        <p:spPr>
          <a:xfrm>
            <a:off x="1613498" y="2011680"/>
            <a:ext cx="201168" cy="20116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57" name="Oval 9056"/>
          <p:cNvSpPr/>
          <p:nvPr/>
        </p:nvSpPr>
        <p:spPr>
          <a:xfrm>
            <a:off x="5948040" y="4754880"/>
            <a:ext cx="201168" cy="20116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58" name="Oval 9057"/>
          <p:cNvSpPr/>
          <p:nvPr/>
        </p:nvSpPr>
        <p:spPr>
          <a:xfrm>
            <a:off x="5427895" y="2651760"/>
            <a:ext cx="201168" cy="20116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59" name="TextBox 9058"/>
          <p:cNvSpPr txBox="1"/>
          <p:nvPr/>
        </p:nvSpPr>
        <p:spPr>
          <a:xfrm>
            <a:off x="3092466" y="4892040"/>
            <a:ext cx="121367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04" b="1" i="0">
                <a:solidFill>
                  <a:schemeClr val="accent5"/>
                </a:solidFill>
              </a:rPr>
              <a:t>normal</a:t>
            </a:r>
          </a:p>
        </p:txBody>
      </p:sp>
      <p:sp>
        <p:nvSpPr>
          <p:cNvPr id="9060" name="TextBox 9059"/>
          <p:cNvSpPr txBox="1"/>
          <p:nvPr/>
        </p:nvSpPr>
        <p:spPr>
          <a:xfrm>
            <a:off x="5606501" y="2011680"/>
            <a:ext cx="112698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104" b="1" i="0">
                <a:solidFill>
                  <a:srgbClr val="C00000"/>
                </a:solidFill>
              </a:rPr>
              <a:t>anomalies</a:t>
            </a:r>
          </a:p>
        </p:txBody>
      </p:sp>
      <p:sp>
        <p:nvSpPr>
          <p:cNvPr id="9061" name="TextBox 9060"/>
          <p:cNvSpPr txBox="1"/>
          <p:nvPr/>
        </p:nvSpPr>
        <p:spPr>
          <a:xfrm>
            <a:off x="7427009" y="1554480"/>
            <a:ext cx="3927095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Isolation Forest</a:t>
            </a: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 : score élevé = isolé en peu de coupes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Distance, densité</a:t>
            </a: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 : LOF, DBSCAN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Seuil</a:t>
            </a: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 sur le score : compromis faux positifs / rappel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Piège</a:t>
            </a: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 : « inhabituel » ne veut pas dire « malveillant »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Séries temporelles : prédire, puis comparer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783080"/>
            <a:ext cx="10515600" cy="370332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Série observée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débit, latence, compteurs par intervalle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Modèle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tendance et saisonnalité (STL, Holt-Winters) ou LSTM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Prévision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valeur attendue et intervalle de confiance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Résidu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écart entre l’observé et l’attendu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Alerte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résidu au-delà d’un seuil, sur plusieurs points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298448"/>
            <a:ext cx="95359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104" b="0" i="1">
                <a:solidFill>
                  <a:schemeClr val="tx2"/>
                </a:solidFill>
              </a:rPr>
              <a:t>Où on est :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1835449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Capteurs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3179157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1" i="0">
                <a:solidFill>
                  <a:schemeClr val="bg1"/>
                </a:solidFill>
              </a:rPr>
              <a:t>Détection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4522865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SIEM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5866574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SOAR</a:t>
            </a:r>
          </a:p>
        </p:txBody>
      </p:sp>
      <p:sp>
        <p:nvSpPr>
          <p:cNvPr id="9009" name="Rounded Rectangle 9008"/>
          <p:cNvSpPr/>
          <p:nvPr/>
        </p:nvSpPr>
        <p:spPr>
          <a:xfrm>
            <a:off x="7210282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Analyste</a:t>
            </a:r>
          </a:p>
        </p:txBody>
      </p:sp>
      <p:sp>
        <p:nvSpPr>
          <p:cNvPr id="9010" name="TextBox 9009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Adapté à la télémétrie (SNMP, gNMI). Géré dans les SIEM par des modules de ML (ex. Elastic ML).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Exemple : prévoir le débit, puis comparer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Chart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783080"/>
          <a:ext cx="6415122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7513700" y="1874519"/>
            <a:ext cx="3840404" cy="4251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Série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 : le débit horaire d’un lien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Modèle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 : il a appris le cycle de 24 h et prévoit la valeur attendue (courbe orange)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Résidu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 = observé − prévu : proche de 0 en temps normal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Heure 27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 (3 h du matin) : observé ≈ 73, prévu ≈ 20, résidu ≈ +53 : anomalie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838504" y="1298448"/>
            <a:ext cx="95359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104" b="0" i="1">
                <a:solidFill>
                  <a:schemeClr val="tx2"/>
                </a:solidFill>
              </a:rPr>
              <a:t>Où on est :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1835449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Capteurs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3179157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1" i="0">
                <a:solidFill>
                  <a:schemeClr val="bg1"/>
                </a:solidFill>
              </a:rPr>
              <a:t>Détection</a:t>
            </a:r>
          </a:p>
        </p:txBody>
      </p:sp>
      <p:sp>
        <p:nvSpPr>
          <p:cNvPr id="9009" name="Rounded Rectangle 9008"/>
          <p:cNvSpPr/>
          <p:nvPr/>
        </p:nvSpPr>
        <p:spPr>
          <a:xfrm>
            <a:off x="4522865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SIEM</a:t>
            </a:r>
          </a:p>
        </p:txBody>
      </p:sp>
      <p:sp>
        <p:nvSpPr>
          <p:cNvPr id="9010" name="Rounded Rectangle 9009"/>
          <p:cNvSpPr/>
          <p:nvPr/>
        </p:nvSpPr>
        <p:spPr>
          <a:xfrm>
            <a:off x="5866574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SOAR</a:t>
            </a:r>
          </a:p>
        </p:txBody>
      </p:sp>
      <p:sp>
        <p:nvSpPr>
          <p:cNvPr id="9011" name="Rounded Rectangle 9010"/>
          <p:cNvSpPr/>
          <p:nvPr/>
        </p:nvSpPr>
        <p:spPr>
          <a:xfrm>
            <a:off x="7210282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Analyste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UEBA : définition et différence avec les séries temporelles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600200"/>
            <a:ext cx="504107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2024" b="1" i="0">
                <a:solidFill>
                  <a:schemeClr val="accent2"/>
                </a:solidFill>
              </a:rPr>
              <a:t>Séries temporelles (une technique)</a:t>
            </a:r>
          </a:p>
        </p:txBody>
      </p:sp>
      <p:sp>
        <p:nvSpPr>
          <p:cNvPr id="9005" name="TextBox 9004"/>
          <p:cNvSpPr txBox="1"/>
          <p:nvPr/>
        </p:nvSpPr>
        <p:spPr>
          <a:xfrm>
            <a:off x="838504" y="2194560"/>
            <a:ext cx="5041072" cy="320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Objet : une mesure, ex. le débit d’un lien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Question : cette valeur est-elle normale pour ce moment ?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Exemple : un pic de débit à 3 h du matin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Outils : prévision, résidu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6313031" y="1600200"/>
            <a:ext cx="504107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2024" b="1" i="0">
                <a:solidFill>
                  <a:schemeClr val="accent2"/>
                </a:solidFill>
              </a:rPr>
              <a:t>UEBA (une approche)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6313031" y="2194560"/>
            <a:ext cx="5041072" cy="320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User and Entity Behavior Analytics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Objet : le profil d’une entité (utilisateur, machine) sur plusieurs dimensions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Question : cette entité se comporte-t-elle comme d’habitude, ou comme ses pairs ?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Exemple : un utilisateur télécharge 50 Go à une heure inhabituelle</a:t>
            </a:r>
          </a:p>
        </p:txBody>
      </p:sp>
      <p:sp>
        <p:nvSpPr>
          <p:cNvPr id="9008" name="TextBox 9007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Pas concurrents : l’UEBA s’appuie sur des techniques comme les séries temporelles ou le ML.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UEBA : analyser le comportement des entités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783080"/>
            <a:ext cx="10515600" cy="370332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Événements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authentifications, accès, flux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Profils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comportement habituel par utilisateur, machine, groupe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Écarts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heure, volume ou destination inhabituels, comparés au groupe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Score de risque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agrégé par entité, remonté à l’analyste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298448"/>
            <a:ext cx="95359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104" b="0" i="1">
                <a:solidFill>
                  <a:schemeClr val="tx2"/>
                </a:solidFill>
              </a:rPr>
              <a:t>Où on est :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1835449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Capteurs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3179157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1" i="0">
                <a:solidFill>
                  <a:schemeClr val="bg1"/>
                </a:solidFill>
              </a:rPr>
              <a:t>Détection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4522865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SIEM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5866574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SOAR</a:t>
            </a:r>
          </a:p>
        </p:txBody>
      </p:sp>
      <p:sp>
        <p:nvSpPr>
          <p:cNvPr id="9009" name="Rounded Rectangle 9008"/>
          <p:cNvSpPr/>
          <p:nvPr/>
        </p:nvSpPr>
        <p:spPr>
          <a:xfrm>
            <a:off x="7210282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Analyste</a:t>
            </a:r>
          </a:p>
        </p:txBody>
      </p:sp>
      <p:sp>
        <p:nvSpPr>
          <p:cNvPr id="9010" name="TextBox 9009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Intégré aux SIEM (ex. Microsoft Sentinel, Elastic). Exemple : un poste qui envoie 50 Go vers une destination jamais vue.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Faux positifs et fatigue des alertes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783080"/>
            <a:ext cx="10515600" cy="370332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656" b="1" i="0">
                <a:solidFill>
                  <a:schemeClr val="accent5">
                    <a:lumMod val="75000"/>
                  </a:schemeClr>
                </a:solidFill>
              </a:rPr>
              <a:t>Alertes brutes</a:t>
            </a:r>
            <a:r>
              <a:rPr sz="1656" b="0" i="0">
                <a:solidFill>
                  <a:schemeClr val="accent5">
                    <a:lumMod val="75000"/>
                  </a:schemeClr>
                </a:solidFill>
              </a:rPr>
              <a:t> : règles et ML produisent beaucoup de bruit</a:t>
            </a:r>
          </a:p>
          <a:p>
            <a:pPr marL="857250" lvl="1" indent="-342900" algn="l">
              <a:spcAft>
                <a:spcPts val="400"/>
              </a:spcAft>
              <a:buFont typeface="Arial"/>
              <a:buChar char="•"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Exemple : un outil d’inventaire interne qui scanne le réseau déclenche 200 alertes de scan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656" b="1" i="0">
                <a:solidFill>
                  <a:schemeClr val="accent5">
                    <a:lumMod val="75000"/>
                  </a:schemeClr>
                </a:solidFill>
              </a:rPr>
              <a:t>Regroupement</a:t>
            </a:r>
            <a:r>
              <a:rPr sz="1656" b="0" i="0">
                <a:solidFill>
                  <a:schemeClr val="accent5">
                    <a:lumMod val="75000"/>
                  </a:schemeClr>
                </a:solidFill>
              </a:rPr>
              <a:t> : dédoublonner et corréler par entité et par période</a:t>
            </a:r>
          </a:p>
          <a:p>
            <a:pPr marL="857250" lvl="1" indent="-342900" algn="l">
              <a:spcAft>
                <a:spcPts val="400"/>
              </a:spcAft>
              <a:buFont typeface="Arial"/>
              <a:buChar char="•"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Exemple : ces 200 alertes deviennent 1 incident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656" b="1" i="0">
                <a:solidFill>
                  <a:schemeClr val="accent5">
                    <a:lumMod val="75000"/>
                  </a:schemeClr>
                </a:solidFill>
              </a:rPr>
              <a:t>Priorisation</a:t>
            </a:r>
            <a:r>
              <a:rPr sz="1656" b="0" i="0">
                <a:solidFill>
                  <a:schemeClr val="accent5">
                    <a:lumMod val="75000"/>
                  </a:schemeClr>
                </a:solidFill>
              </a:rPr>
              <a:t> : score de risque, criticité des actifs, contexte</a:t>
            </a:r>
          </a:p>
          <a:p>
            <a:pPr marL="857250" lvl="1" indent="-342900" algn="l">
              <a:spcAft>
                <a:spcPts val="400"/>
              </a:spcAft>
              <a:buFont typeface="Arial"/>
              <a:buChar char="•"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Exemple : une alerte sur le serveur de paie passe avant celle d’un poste de test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656" b="1" i="0">
                <a:solidFill>
                  <a:schemeClr val="accent5">
                    <a:lumMod val="75000"/>
                  </a:schemeClr>
                </a:solidFill>
              </a:rPr>
              <a:t>Analyste SOC</a:t>
            </a:r>
            <a:r>
              <a:rPr sz="1656" b="0" i="0">
                <a:solidFill>
                  <a:schemeClr val="accent5">
                    <a:lumMod val="75000"/>
                  </a:schemeClr>
                </a:solidFill>
              </a:rPr>
              <a:t> : traite quelques incidents, avec explication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656" b="1" i="0">
                <a:solidFill>
                  <a:schemeClr val="accent5">
                    <a:lumMod val="75000"/>
                  </a:schemeClr>
                </a:solidFill>
              </a:rPr>
              <a:t>Retour</a:t>
            </a:r>
            <a:r>
              <a:rPr sz="1656" b="0" i="0">
                <a:solidFill>
                  <a:schemeClr val="accent5">
                    <a:lumMod val="75000"/>
                  </a:schemeClr>
                </a:solidFill>
              </a:rPr>
              <a:t> : l’analyste marque « faux positif » et le modèle en tient compte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298448"/>
            <a:ext cx="95359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104" b="0" i="1">
                <a:solidFill>
                  <a:schemeClr val="tx2"/>
                </a:solidFill>
              </a:rPr>
              <a:t>Où on est :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1835449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Capteurs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3179157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Détection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4522865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SIEM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5866574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SOAR</a:t>
            </a:r>
          </a:p>
        </p:txBody>
      </p:sp>
      <p:sp>
        <p:nvSpPr>
          <p:cNvPr id="9009" name="Rounded Rectangle 9008"/>
          <p:cNvSpPr/>
          <p:nvPr/>
        </p:nvSpPr>
        <p:spPr>
          <a:xfrm>
            <a:off x="7210282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1" i="0">
                <a:solidFill>
                  <a:schemeClr val="bg1"/>
                </a:solidFill>
              </a:rPr>
              <a:t>Analyste</a:t>
            </a:r>
          </a:p>
        </p:txBody>
      </p:sp>
      <p:sp>
        <p:nvSpPr>
          <p:cNvPr id="9010" name="TextBox 9009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Chaque fausse alerte coûte du temps d’analyste ; trop de bruit, et les vraies alertes sont ignorées.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Explicabilité : pourquoi cette alerte ?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Chart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783080"/>
          <a:ext cx="6415122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7513700" y="1874519"/>
            <a:ext cx="3840404" cy="4251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Situation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 : le modèle signale un flux comme « scan de ports »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Graphique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 : la part de chaque feature dans cette décision (méthode de type SHAP)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Lecture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 : les SYN restés sans réponse (0,36) pèsent le plus : le flux envoie beaucoup de demandes de connexion sans suite, typique d’un scan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Valeurs fictives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, données à titre d’illustration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838504" y="1298448"/>
            <a:ext cx="95359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104" b="0" i="1">
                <a:solidFill>
                  <a:schemeClr val="tx2"/>
                </a:solidFill>
              </a:rPr>
              <a:t>Où on est :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1835449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Capteurs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3179157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Détection</a:t>
            </a:r>
          </a:p>
        </p:txBody>
      </p:sp>
      <p:sp>
        <p:nvSpPr>
          <p:cNvPr id="9009" name="Rounded Rectangle 9008"/>
          <p:cNvSpPr/>
          <p:nvPr/>
        </p:nvSpPr>
        <p:spPr>
          <a:xfrm>
            <a:off x="4522865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SIEM</a:t>
            </a:r>
          </a:p>
        </p:txBody>
      </p:sp>
      <p:sp>
        <p:nvSpPr>
          <p:cNvPr id="9010" name="Rounded Rectangle 9009"/>
          <p:cNvSpPr/>
          <p:nvPr/>
        </p:nvSpPr>
        <p:spPr>
          <a:xfrm>
            <a:off x="5866574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SOAR</a:t>
            </a:r>
          </a:p>
        </p:txBody>
      </p:sp>
      <p:sp>
        <p:nvSpPr>
          <p:cNvPr id="9011" name="Rounded Rectangle 9010"/>
          <p:cNvSpPr/>
          <p:nvPr/>
        </p:nvSpPr>
        <p:spPr>
          <a:xfrm>
            <a:off x="7210282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1" i="0">
                <a:solidFill>
                  <a:schemeClr val="bg1"/>
                </a:solidFill>
              </a:rPr>
              <a:t>Analyste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Robustesse face à un attaquant adaptatif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783080"/>
            <a:ext cx="10515600" cy="370332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Évasion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L’attaquant imite le trafic normal ou ralentit pour rester sous le seuil.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Empoisonnement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il pollue les données d’entraînement pour décaler le « normal ».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Exemples adverses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perturbations ciblées des features pour franchir la frontière de décision.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298448"/>
            <a:ext cx="95359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104" b="0" i="1">
                <a:solidFill>
                  <a:schemeClr val="tx2"/>
                </a:solidFill>
              </a:rPr>
              <a:t>Où on est :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1835449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Capteurs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3179157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1" i="0">
                <a:solidFill>
                  <a:schemeClr val="bg1"/>
                </a:solidFill>
              </a:rPr>
              <a:t>Détection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4522865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SIEM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5866574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SOAR</a:t>
            </a:r>
          </a:p>
        </p:txBody>
      </p:sp>
      <p:sp>
        <p:nvSpPr>
          <p:cNvPr id="9009" name="Rounded Rectangle 9008"/>
          <p:cNvSpPr/>
          <p:nvPr/>
        </p:nvSpPr>
        <p:spPr>
          <a:xfrm>
            <a:off x="7210282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Analyste</a:t>
            </a:r>
          </a:p>
        </p:txBody>
      </p:sp>
      <p:sp>
        <p:nvSpPr>
          <p:cNvPr id="9010" name="TextBox 9009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Défenses : réentraînement surveillé, features difficiles à manipuler, défense en profondeur (règles + ML). Cf. Arp et al. 2022.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Intégration : les alertes remontent dans le SIEM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298448"/>
            <a:ext cx="95359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104" b="0" i="1">
                <a:solidFill>
                  <a:schemeClr val="tx2"/>
                </a:solidFill>
              </a:rPr>
              <a:t>Où on est :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1835449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Capteurs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3179157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Détection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4522865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1" i="0">
                <a:solidFill>
                  <a:schemeClr val="bg1"/>
                </a:solidFill>
              </a:rPr>
              <a:t>SIEM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5866574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SOAR</a:t>
            </a:r>
          </a:p>
        </p:txBody>
      </p:sp>
      <p:sp>
        <p:nvSpPr>
          <p:cNvPr id="9009" name="Rounded Rectangle 9008"/>
          <p:cNvSpPr/>
          <p:nvPr/>
        </p:nvSpPr>
        <p:spPr>
          <a:xfrm>
            <a:off x="7210282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Analyste</a:t>
            </a:r>
          </a:p>
        </p:txBody>
      </p:sp>
      <p:sp>
        <p:nvSpPr>
          <p:cNvPr id="9010" name="TextBox 9009"/>
          <p:cNvSpPr txBox="1"/>
          <p:nvPr/>
        </p:nvSpPr>
        <p:spPr>
          <a:xfrm>
            <a:off x="838504" y="17830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0">
                <a:solidFill>
                  <a:schemeClr val="tx2"/>
                </a:solidFill>
              </a:rPr>
              <a:t>Le modèle ML est un composant extérieur au SIEM. L’intégrer, c’est lui faire envoyer ses alertes au SIEM, pour qu’elles s’affichent avec les autres.</a:t>
            </a:r>
          </a:p>
        </p:txBody>
      </p:sp>
      <p:sp>
        <p:nvSpPr>
          <p:cNvPr id="9011" name="Rounded Rectangle 9010"/>
          <p:cNvSpPr/>
          <p:nvPr/>
        </p:nvSpPr>
        <p:spPr>
          <a:xfrm>
            <a:off x="838504" y="2834640"/>
            <a:ext cx="2368827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Capteurs</a:t>
            </a:r>
          </a:p>
        </p:txBody>
      </p:sp>
      <p:cxnSp>
        <p:nvCxnSpPr>
          <p:cNvPr id="9012" name="Connector 9011"/>
          <p:cNvCxnSpPr/>
          <p:nvPr/>
        </p:nvCxnSpPr>
        <p:spPr>
          <a:xfrm>
            <a:off x="3242008" y="3200400"/>
            <a:ext cx="277411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13" name="TextBox 9012"/>
          <p:cNvSpPr txBox="1"/>
          <p:nvPr/>
        </p:nvSpPr>
        <p:spPr>
          <a:xfrm>
            <a:off x="838504" y="3675888"/>
            <a:ext cx="2368827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TAP, eBPF, flux, logs</a:t>
            </a:r>
          </a:p>
        </p:txBody>
      </p:sp>
      <p:sp>
        <p:nvSpPr>
          <p:cNvPr id="9014" name="Rounded Rectangle 9013"/>
          <p:cNvSpPr/>
          <p:nvPr/>
        </p:nvSpPr>
        <p:spPr>
          <a:xfrm>
            <a:off x="3554095" y="2834640"/>
            <a:ext cx="2368827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Modèle ML</a:t>
            </a:r>
          </a:p>
        </p:txBody>
      </p:sp>
      <p:cxnSp>
        <p:nvCxnSpPr>
          <p:cNvPr id="9015" name="Connector 9014"/>
          <p:cNvCxnSpPr/>
          <p:nvPr/>
        </p:nvCxnSpPr>
        <p:spPr>
          <a:xfrm>
            <a:off x="5957599" y="3200400"/>
            <a:ext cx="277411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16" name="TextBox 9015"/>
          <p:cNvSpPr txBox="1"/>
          <p:nvPr/>
        </p:nvSpPr>
        <p:spPr>
          <a:xfrm>
            <a:off x="3554095" y="3675888"/>
            <a:ext cx="2368827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Calcule un score pour chaque flux</a:t>
            </a:r>
          </a:p>
        </p:txBody>
      </p:sp>
      <p:sp>
        <p:nvSpPr>
          <p:cNvPr id="9017" name="Rounded Rectangle 9016"/>
          <p:cNvSpPr/>
          <p:nvPr/>
        </p:nvSpPr>
        <p:spPr>
          <a:xfrm>
            <a:off x="6269686" y="2834640"/>
            <a:ext cx="2368827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Alerte normalisée</a:t>
            </a:r>
          </a:p>
        </p:txBody>
      </p:sp>
      <p:cxnSp>
        <p:nvCxnSpPr>
          <p:cNvPr id="9018" name="Connector 9017"/>
          <p:cNvCxnSpPr/>
          <p:nvPr/>
        </p:nvCxnSpPr>
        <p:spPr>
          <a:xfrm>
            <a:off x="8673190" y="3200400"/>
            <a:ext cx="277411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19" name="TextBox 9018"/>
          <p:cNvSpPr txBox="1"/>
          <p:nvPr/>
        </p:nvSpPr>
        <p:spPr>
          <a:xfrm>
            <a:off x="6269686" y="3675888"/>
            <a:ext cx="2368827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JSON au schéma ECS, envoyé par API, Kafka ou syslog</a:t>
            </a:r>
          </a:p>
        </p:txBody>
      </p:sp>
      <p:sp>
        <p:nvSpPr>
          <p:cNvPr id="9020" name="Rounded Rectangle 9019"/>
          <p:cNvSpPr/>
          <p:nvPr/>
        </p:nvSpPr>
        <p:spPr>
          <a:xfrm>
            <a:off x="8985277" y="2834640"/>
            <a:ext cx="2368827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bg1"/>
                </a:solidFill>
              </a:rPr>
              <a:t>SIEM</a:t>
            </a:r>
          </a:p>
        </p:txBody>
      </p:sp>
      <p:sp>
        <p:nvSpPr>
          <p:cNvPr id="9021" name="TextBox 9020"/>
          <p:cNvSpPr txBox="1"/>
          <p:nvPr/>
        </p:nvSpPr>
        <p:spPr>
          <a:xfrm>
            <a:off x="8985277" y="3675888"/>
            <a:ext cx="2368827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Corrèle avec les autres sources et affiche à l’analyste</a:t>
            </a:r>
          </a:p>
        </p:txBody>
      </p:sp>
      <p:sp>
        <p:nvSpPr>
          <p:cNvPr id="9022" name="TextBox 9021"/>
          <p:cNvSpPr txBox="1"/>
          <p:nvPr/>
        </p:nvSpPr>
        <p:spPr>
          <a:xfrm>
            <a:off x="838504" y="52120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Le SIEM reste la console unique : le modèle est une source d’alertes parmi d’autres.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SOAR : automatiser la réponse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298448"/>
            <a:ext cx="953599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sz="1104" b="0" i="1">
                <a:solidFill>
                  <a:schemeClr val="tx2"/>
                </a:solidFill>
              </a:rPr>
              <a:t>Où on est :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1835449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Capteurs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3179157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Détection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4522865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SIEM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5866574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1" i="0">
                <a:solidFill>
                  <a:schemeClr val="bg1"/>
                </a:solidFill>
              </a:rPr>
              <a:t>SOAR</a:t>
            </a:r>
          </a:p>
        </p:txBody>
      </p:sp>
      <p:sp>
        <p:nvSpPr>
          <p:cNvPr id="9009" name="Rounded Rectangle 9008"/>
          <p:cNvSpPr/>
          <p:nvPr/>
        </p:nvSpPr>
        <p:spPr>
          <a:xfrm>
            <a:off x="7210282" y="1298448"/>
            <a:ext cx="1257017" cy="274320"/>
          </a:xfrm>
          <a:prstGeom prst="roundRect">
            <a:avLst>
              <a:gd name="adj" fmla="val 13333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algn="ctr">
              <a:buNone/>
            </a:pPr>
            <a:r>
              <a:rPr sz="1104" b="0" i="0">
                <a:solidFill>
                  <a:schemeClr val="accent5">
                    <a:lumMod val="75000"/>
                  </a:schemeClr>
                </a:solidFill>
              </a:rPr>
              <a:t>Analyste</a:t>
            </a:r>
          </a:p>
        </p:txBody>
      </p:sp>
      <p:sp>
        <p:nvSpPr>
          <p:cNvPr id="9010" name="TextBox 9009"/>
          <p:cNvSpPr txBox="1"/>
          <p:nvPr/>
        </p:nvSpPr>
        <p:spPr>
          <a:xfrm>
            <a:off x="838504" y="1783080"/>
            <a:ext cx="10515600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SOAR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Security Orchestration, Automation and Response. Il exécute des scénarios (playbooks) déclenchés par une alerte du SIEM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564" b="1" i="0">
                <a:solidFill>
                  <a:schemeClr val="accent5">
                    <a:lumMod val="75000"/>
                  </a:schemeClr>
                </a:solidFill>
              </a:rPr>
              <a:t>Exemple</a:t>
            </a:r>
            <a:r>
              <a:rPr sz="1564" b="0" i="0">
                <a:solidFill>
                  <a:schemeClr val="accent5">
                    <a:lumMod val="75000"/>
                  </a:schemeClr>
                </a:solidFill>
              </a:rPr>
              <a:t> : alerte « scan depuis l’IP X » → vérifier la réputation de X → bloquer X sur le pare-feu → ouvrir un ticket</a:t>
            </a:r>
          </a:p>
        </p:txBody>
      </p:sp>
      <p:sp>
        <p:nvSpPr>
          <p:cNvPr id="9011" name="Rounded Rectangle 9010"/>
          <p:cNvSpPr/>
          <p:nvPr/>
        </p:nvSpPr>
        <p:spPr>
          <a:xfrm>
            <a:off x="838504" y="3474720"/>
            <a:ext cx="1825709" cy="640080"/>
          </a:xfrm>
          <a:prstGeom prst="roundRect">
            <a:avLst>
              <a:gd name="adj" fmla="val 1142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Alerte</a:t>
            </a:r>
          </a:p>
        </p:txBody>
      </p:sp>
      <p:cxnSp>
        <p:nvCxnSpPr>
          <p:cNvPr id="9012" name="Connector 9011"/>
          <p:cNvCxnSpPr/>
          <p:nvPr/>
        </p:nvCxnSpPr>
        <p:spPr>
          <a:xfrm>
            <a:off x="2698890" y="3794759"/>
            <a:ext cx="277411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13" name="TextBox 9012"/>
          <p:cNvSpPr txBox="1"/>
          <p:nvPr/>
        </p:nvSpPr>
        <p:spPr>
          <a:xfrm>
            <a:off x="838504" y="4224528"/>
            <a:ext cx="1825709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96" b="0" i="0">
                <a:solidFill>
                  <a:schemeClr val="accent5">
                    <a:lumMod val="75000"/>
                  </a:schemeClr>
                </a:solidFill>
              </a:rPr>
              <a:t>Issue du SIEM</a:t>
            </a:r>
          </a:p>
        </p:txBody>
      </p:sp>
      <p:sp>
        <p:nvSpPr>
          <p:cNvPr id="9014" name="Rounded Rectangle 9013"/>
          <p:cNvSpPr/>
          <p:nvPr/>
        </p:nvSpPr>
        <p:spPr>
          <a:xfrm>
            <a:off x="3010977" y="3474720"/>
            <a:ext cx="1825709" cy="640080"/>
          </a:xfrm>
          <a:prstGeom prst="roundRect">
            <a:avLst>
              <a:gd name="adj" fmla="val 1142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Enrichissement</a:t>
            </a:r>
          </a:p>
        </p:txBody>
      </p:sp>
      <p:cxnSp>
        <p:nvCxnSpPr>
          <p:cNvPr id="9015" name="Connector 9014"/>
          <p:cNvCxnSpPr/>
          <p:nvPr/>
        </p:nvCxnSpPr>
        <p:spPr>
          <a:xfrm>
            <a:off x="4871363" y="3794759"/>
            <a:ext cx="277410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16" name="TextBox 9015"/>
          <p:cNvSpPr txBox="1"/>
          <p:nvPr/>
        </p:nvSpPr>
        <p:spPr>
          <a:xfrm>
            <a:off x="3010977" y="4224528"/>
            <a:ext cx="1825709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96" b="0" i="0">
                <a:solidFill>
                  <a:schemeClr val="accent5">
                    <a:lumMod val="75000"/>
                  </a:schemeClr>
                </a:solidFill>
              </a:rPr>
              <a:t>Réputation de l’IP, inventaire, historique</a:t>
            </a:r>
          </a:p>
        </p:txBody>
      </p:sp>
      <p:sp>
        <p:nvSpPr>
          <p:cNvPr id="9017" name="Rounded Rectangle 9016"/>
          <p:cNvSpPr/>
          <p:nvPr/>
        </p:nvSpPr>
        <p:spPr>
          <a:xfrm>
            <a:off x="5183450" y="3474720"/>
            <a:ext cx="1825709" cy="640080"/>
          </a:xfrm>
          <a:prstGeom prst="roundRect">
            <a:avLst>
              <a:gd name="adj" fmla="val 11428"/>
            </a:avLst>
          </a:prstGeom>
          <a:solidFill>
            <a:schemeClr val="accent2">
              <a:alpha val="30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Décision</a:t>
            </a:r>
          </a:p>
        </p:txBody>
      </p:sp>
      <p:cxnSp>
        <p:nvCxnSpPr>
          <p:cNvPr id="9018" name="Connector 9017"/>
          <p:cNvCxnSpPr/>
          <p:nvPr/>
        </p:nvCxnSpPr>
        <p:spPr>
          <a:xfrm>
            <a:off x="7043835" y="3794759"/>
            <a:ext cx="277411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19" name="TextBox 9018"/>
          <p:cNvSpPr txBox="1"/>
          <p:nvPr/>
        </p:nvSpPr>
        <p:spPr>
          <a:xfrm>
            <a:off x="5183450" y="4224528"/>
            <a:ext cx="1825709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96" b="0" i="0">
                <a:solidFill>
                  <a:schemeClr val="accent5">
                    <a:lumMod val="75000"/>
                  </a:schemeClr>
                </a:solidFill>
              </a:rPr>
              <a:t>Règles, score de confiance, validation humaine</a:t>
            </a:r>
          </a:p>
        </p:txBody>
      </p:sp>
      <p:sp>
        <p:nvSpPr>
          <p:cNvPr id="9020" name="Rounded Rectangle 9019"/>
          <p:cNvSpPr/>
          <p:nvPr/>
        </p:nvSpPr>
        <p:spPr>
          <a:xfrm>
            <a:off x="7355922" y="3474720"/>
            <a:ext cx="1825709" cy="640080"/>
          </a:xfrm>
          <a:prstGeom prst="roundRect">
            <a:avLst>
              <a:gd name="adj" fmla="val 11428"/>
            </a:avLst>
          </a:prstGeom>
          <a:solidFill>
            <a:srgbClr val="C00000">
              <a:alpha val="30000"/>
            </a:srgbClr>
          </a:solidFill>
          <a:ln w="15875">
            <a:solidFill>
              <a:srgbClr val="C00000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Action</a:t>
            </a:r>
          </a:p>
        </p:txBody>
      </p:sp>
      <p:cxnSp>
        <p:nvCxnSpPr>
          <p:cNvPr id="9021" name="Connector 9020"/>
          <p:cNvCxnSpPr/>
          <p:nvPr/>
        </p:nvCxnSpPr>
        <p:spPr>
          <a:xfrm>
            <a:off x="9216308" y="3794759"/>
            <a:ext cx="277411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22" name="TextBox 9021"/>
          <p:cNvSpPr txBox="1"/>
          <p:nvPr/>
        </p:nvSpPr>
        <p:spPr>
          <a:xfrm>
            <a:off x="7355922" y="4224528"/>
            <a:ext cx="1825709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96" b="0" i="0">
                <a:solidFill>
                  <a:schemeClr val="accent5">
                    <a:lumMod val="75000"/>
                  </a:schemeClr>
                </a:solidFill>
              </a:rPr>
              <a:t>Bloquer une IP, isoler un hôte, ouvrir un ticket</a:t>
            </a:r>
          </a:p>
        </p:txBody>
      </p:sp>
      <p:sp>
        <p:nvSpPr>
          <p:cNvPr id="9023" name="Rounded Rectangle 9022"/>
          <p:cNvSpPr/>
          <p:nvPr/>
        </p:nvSpPr>
        <p:spPr>
          <a:xfrm>
            <a:off x="9528395" y="3474720"/>
            <a:ext cx="1825709" cy="640080"/>
          </a:xfrm>
          <a:prstGeom prst="roundRect">
            <a:avLst>
              <a:gd name="adj" fmla="val 1142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Contrôle</a:t>
            </a:r>
          </a:p>
        </p:txBody>
      </p:sp>
      <p:sp>
        <p:nvSpPr>
          <p:cNvPr id="9024" name="TextBox 9023"/>
          <p:cNvSpPr txBox="1"/>
          <p:nvPr/>
        </p:nvSpPr>
        <p:spPr>
          <a:xfrm>
            <a:off x="9528395" y="4224528"/>
            <a:ext cx="1825709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96" b="0" i="0">
                <a:solidFill>
                  <a:schemeClr val="accent5">
                    <a:lumMod val="75000"/>
                  </a:schemeClr>
                </a:solidFill>
              </a:rPr>
              <a:t>Vérifier l’effet, retour arrière possible</a:t>
            </a:r>
          </a:p>
        </p:txBody>
      </p:sp>
      <p:sp>
        <p:nvSpPr>
          <p:cNvPr id="9025" name="TextBox 9024"/>
          <p:cNvSpPr txBox="1"/>
          <p:nvPr/>
        </p:nvSpPr>
        <p:spPr>
          <a:xfrm>
            <a:off x="838504" y="54864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472" b="0" i="1">
                <a:solidFill>
                  <a:schemeClr val="accent2"/>
                </a:solidFill>
              </a:rPr>
              <a:t>Risque : un faux positif déclenche une action réelle (blocage d’un client légitime). Garde-fous : validation humaine, seuils, rollback.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Comparer les approches de détection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Table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645920"/>
          <a:ext cx="10515598" cy="3657600"/>
        </p:xfrm>
        <a:graphic>
          <a:graphicData uri="http://schemas.openxmlformats.org/drawingml/2006/table">
            <a:tbl>
              <a:tblPr firstRow="1" bandRow="0"/>
              <a:tblGrid>
                <a:gridCol w="2427343"/>
                <a:gridCol w="2600725"/>
                <a:gridCol w="3034179"/>
                <a:gridCol w="2453351"/>
              </a:tblGrid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Approche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Forces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Limites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Quand l’utiliser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Seuil statistique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Simple, explicable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Saisonnalité, bruit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Baseline, supervision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Règles SIEM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Auditables, précises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Maintenance, attaques inconnues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Menaces connues, conformité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ML supervisé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Précis sur le connu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Labels, généralisation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Catalogue d’attaques étiqueté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ML non supervisé, UEBA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Détecte l’inconnu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Faux positifs, explicabilité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Comportements, premier tri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Cas d’usage 2 : inférence des performances réseau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Objectif : déduire la QoE à partir de la QoS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452628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Ce que veut l’opérateur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connaître la qualité vécue par ses abonnés (la QoE)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Ce qu’il mesure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la qualité du réseau (la QoS : débit, latence, pertes)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Ce qu’on va faire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apprendre un modèle qui déduit la QoE à partir du trafic observé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Rôle de Netflix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une plateforme qui mesure la QoE directement, donc qui fournit la vérité terrain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Rôle du FAI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déduire la QoE sans voir le contenu chiffré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QoS ou QoE ?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600200"/>
            <a:ext cx="504107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2024" b="1" i="0">
                <a:solidFill>
                  <a:schemeClr val="accent2"/>
                </a:solidFill>
              </a:rPr>
              <a:t>QoS (réseau)</a:t>
            </a:r>
          </a:p>
        </p:txBody>
      </p:sp>
      <p:sp>
        <p:nvSpPr>
          <p:cNvPr id="9005" name="TextBox 9004"/>
          <p:cNvSpPr txBox="1"/>
          <p:nvPr/>
        </p:nvSpPr>
        <p:spPr>
          <a:xfrm>
            <a:off x="838504" y="2194560"/>
            <a:ext cx="5041072" cy="320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Débit, latence, gigue, pertes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Mesurée dans le réseau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Objective, facile à collecter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Ne dit pas ce que l’utilisateur ressent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6313031" y="1600200"/>
            <a:ext cx="504107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2024" b="1" i="0">
                <a:solidFill>
                  <a:schemeClr val="accent2"/>
                </a:solidFill>
              </a:rPr>
              <a:t>QoE (utilisateur)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6313031" y="2194560"/>
            <a:ext cx="5041072" cy="320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Délai de démarrage, interruptions (rebuffering)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Résolution et changements de qualité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Mesures objectives (VMAF) ou subjectives (MOS)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Corrélée à l’abandon et à la satisfaction</a:t>
            </a:r>
          </a:p>
        </p:txBody>
      </p:sp>
      <p:sp>
        <p:nvSpPr>
          <p:cNvPr id="9008" name="TextBox 9007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L’opérateur veut connaître la QoE, mais le réseau ne mesure que la QoS : il faut l’inférer.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Deux points de vue sur la même session vidéo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Rounded Rectangle 9003"/>
          <p:cNvSpPr/>
          <p:nvPr/>
        </p:nvSpPr>
        <p:spPr>
          <a:xfrm>
            <a:off x="838504" y="1554480"/>
            <a:ext cx="3294252" cy="1097280"/>
          </a:xfrm>
          <a:prstGeom prst="roundRect">
            <a:avLst>
              <a:gd name="adj" fmla="val 6666"/>
            </a:avLst>
          </a:prstGeom>
          <a:solidFill>
            <a:schemeClr val="accent2">
              <a:alpha val="25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QoE : vécue ici</a:t>
            </a:r>
          </a:p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démarrage, coupures, résolution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4566211" y="1554480"/>
            <a:ext cx="3294252" cy="1097280"/>
          </a:xfrm>
          <a:prstGeom prst="roundRect">
            <a:avLst>
              <a:gd name="adj" fmla="val 6666"/>
            </a:avLst>
          </a:prstGeom>
          <a:solidFill>
            <a:schemeClr val="accent1">
              <a:alpha val="25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QoS : mesurée ici</a:t>
            </a:r>
          </a:p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débit, latence, pertes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838504" y="3200400"/>
            <a:ext cx="3294252" cy="1097280"/>
          </a:xfrm>
          <a:prstGeom prst="roundRect">
            <a:avLst>
              <a:gd name="adj" fmla="val 6666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Client</a:t>
            </a:r>
          </a:p>
          <a:p>
            <a:pPr algn="ctr">
              <a:buNone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(lecteur vidéo)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4566211" y="3200400"/>
            <a:ext cx="3294252" cy="1097280"/>
          </a:xfrm>
          <a:prstGeom prst="roundRect">
            <a:avLst>
              <a:gd name="adj" fmla="val 6666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Réseau du FAI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8293917" y="3200400"/>
            <a:ext cx="3060186" cy="1097280"/>
          </a:xfrm>
          <a:prstGeom prst="roundRect">
            <a:avLst>
              <a:gd name="adj" fmla="val 6666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Serveur</a:t>
            </a:r>
          </a:p>
          <a:p>
            <a:pPr algn="ctr">
              <a:buNone/>
            </a:pP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(service vidéo, CDN)</a:t>
            </a:r>
          </a:p>
        </p:txBody>
      </p:sp>
      <p:cxnSp>
        <p:nvCxnSpPr>
          <p:cNvPr id="9009" name="Connector 9008"/>
          <p:cNvCxnSpPr/>
          <p:nvPr/>
        </p:nvCxnSpPr>
        <p:spPr>
          <a:xfrm>
            <a:off x="2485630" y="2697480"/>
            <a:ext cx="0" cy="457200"/>
          </a:xfrm>
          <a:prstGeom prst="line">
            <a:avLst/>
          </a:prstGeom>
          <a:ln w="31750">
            <a:solidFill>
              <a:schemeClr val="accent2"/>
            </a:solidFill>
            <a:tailEnd type="triangle"/>
          </a:ln>
        </p:spPr>
      </p:cxnSp>
      <p:cxnSp>
        <p:nvCxnSpPr>
          <p:cNvPr id="9010" name="Connector 9009"/>
          <p:cNvCxnSpPr/>
          <p:nvPr/>
        </p:nvCxnSpPr>
        <p:spPr>
          <a:xfrm>
            <a:off x="6213337" y="2697480"/>
            <a:ext cx="0" cy="457200"/>
          </a:xfrm>
          <a:prstGeom prst="line">
            <a:avLst/>
          </a:prstGeom>
          <a:ln w="31750">
            <a:solidFill>
              <a:schemeClr val="accent1"/>
            </a:solidFill>
            <a:tailEnd type="triangle"/>
          </a:ln>
        </p:spPr>
      </p:cxnSp>
      <p:cxnSp>
        <p:nvCxnSpPr>
          <p:cNvPr id="9011" name="Connector 9010"/>
          <p:cNvCxnSpPr/>
          <p:nvPr/>
        </p:nvCxnSpPr>
        <p:spPr>
          <a:xfrm>
            <a:off x="4176102" y="3749039"/>
            <a:ext cx="346763" cy="0"/>
          </a:xfrm>
          <a:prstGeom prst="line">
            <a:avLst/>
          </a:prstGeom>
          <a:ln w="31750">
            <a:solidFill>
              <a:schemeClr val="tx2"/>
            </a:solidFill>
            <a:headEnd type="triangle"/>
            <a:tailEnd type="triangle"/>
          </a:ln>
        </p:spPr>
      </p:cxnSp>
      <p:cxnSp>
        <p:nvCxnSpPr>
          <p:cNvPr id="9012" name="Connector 9011"/>
          <p:cNvCxnSpPr/>
          <p:nvPr/>
        </p:nvCxnSpPr>
        <p:spPr>
          <a:xfrm>
            <a:off x="7903809" y="3749039"/>
            <a:ext cx="346763" cy="0"/>
          </a:xfrm>
          <a:prstGeom prst="line">
            <a:avLst/>
          </a:prstGeom>
          <a:ln w="31750">
            <a:solidFill>
              <a:schemeClr val="tx2"/>
            </a:solidFill>
            <a:headEnd type="triangle"/>
            <a:tailEnd type="triangle"/>
          </a:ln>
        </p:spPr>
      </p:cxnSp>
      <p:sp>
        <p:nvSpPr>
          <p:cNvPr id="9013" name="Rounded Rectangle 9012"/>
          <p:cNvSpPr/>
          <p:nvPr/>
        </p:nvSpPr>
        <p:spPr>
          <a:xfrm>
            <a:off x="838504" y="4754880"/>
            <a:ext cx="3294252" cy="1280160"/>
          </a:xfrm>
          <a:prstGeom prst="roundRect">
            <a:avLst>
              <a:gd name="adj" fmla="val 5714"/>
            </a:avLst>
          </a:prstGeom>
          <a:solidFill>
            <a:schemeClr val="accent5">
              <a:alpha val="20000"/>
            </a:schemeClr>
          </a:solidFill>
          <a:ln w="15875">
            <a:solidFill>
              <a:schemeClr val="accent5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Plateforme : lit la QoE directement dans le lecteur</a:t>
            </a:r>
          </a:p>
        </p:txBody>
      </p:sp>
      <p:sp>
        <p:nvSpPr>
          <p:cNvPr id="9014" name="Rounded Rectangle 9013"/>
          <p:cNvSpPr/>
          <p:nvPr/>
        </p:nvSpPr>
        <p:spPr>
          <a:xfrm>
            <a:off x="4566211" y="4754880"/>
            <a:ext cx="6787893" cy="1280160"/>
          </a:xfrm>
          <a:prstGeom prst="roundRect">
            <a:avLst>
              <a:gd name="adj" fmla="val 5714"/>
            </a:avLst>
          </a:prstGeom>
          <a:solidFill>
            <a:srgbClr val="C00000">
              <a:alpha val="20000"/>
            </a:srgbClr>
          </a:solidFill>
          <a:ln w="15875">
            <a:solidFill>
              <a:srgbClr val="C00000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FAI : ne voit que le trafic chiffré, donc la QoS. Il doit en déduire la QoE.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Architecture Netflix : vue d’ensemble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Rounded Rectangle 9003"/>
          <p:cNvSpPr/>
          <p:nvPr/>
        </p:nvSpPr>
        <p:spPr>
          <a:xfrm>
            <a:off x="838504" y="1508760"/>
            <a:ext cx="2514034" cy="4480560"/>
          </a:xfrm>
          <a:prstGeom prst="roundRect">
            <a:avLst>
              <a:gd name="adj" fmla="val 2909"/>
            </a:avLst>
          </a:prstGeom>
          <a:noFill/>
          <a:ln w="19050">
            <a:solidFill>
              <a:schemeClr val="tx2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9005" name="TextBox 9004"/>
          <p:cNvSpPr txBox="1"/>
          <p:nvPr/>
        </p:nvSpPr>
        <p:spPr>
          <a:xfrm>
            <a:off x="925195" y="1572768"/>
            <a:ext cx="234065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tx2"/>
                </a:solidFill>
              </a:rPr>
              <a:t>Chez l’abonné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3699302" y="1508760"/>
            <a:ext cx="3034179" cy="4480560"/>
          </a:xfrm>
          <a:prstGeom prst="roundRect">
            <a:avLst>
              <a:gd name="adj" fmla="val 2410"/>
            </a:avLst>
          </a:prstGeom>
          <a:noFill/>
          <a:ln w="19050">
            <a:solidFill>
              <a:schemeClr val="tx2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9007" name="TextBox 9006"/>
          <p:cNvSpPr txBox="1"/>
          <p:nvPr/>
        </p:nvSpPr>
        <p:spPr>
          <a:xfrm>
            <a:off x="3785993" y="1572768"/>
            <a:ext cx="286079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tx2"/>
                </a:solidFill>
              </a:rPr>
              <a:t>Réseau du FAI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7080245" y="1508760"/>
            <a:ext cx="4273858" cy="4480560"/>
          </a:xfrm>
          <a:prstGeom prst="roundRect">
            <a:avLst>
              <a:gd name="adj" fmla="val 1711"/>
            </a:avLst>
          </a:prstGeom>
          <a:noFill/>
          <a:ln w="19050">
            <a:solidFill>
              <a:schemeClr val="tx2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9009" name="TextBox 9008"/>
          <p:cNvSpPr txBox="1"/>
          <p:nvPr/>
        </p:nvSpPr>
        <p:spPr>
          <a:xfrm>
            <a:off x="7166936" y="1572768"/>
            <a:ext cx="4100477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tx2"/>
                </a:solidFill>
              </a:rPr>
              <a:t>Cloud Netflix (AWS)</a:t>
            </a:r>
          </a:p>
        </p:txBody>
      </p:sp>
      <p:sp>
        <p:nvSpPr>
          <p:cNvPr id="9010" name="Rounded Rectangle 9009"/>
          <p:cNvSpPr/>
          <p:nvPr/>
        </p:nvSpPr>
        <p:spPr>
          <a:xfrm>
            <a:off x="1055231" y="3108960"/>
            <a:ext cx="2080580" cy="1188720"/>
          </a:xfrm>
          <a:prstGeom prst="roundRect">
            <a:avLst>
              <a:gd name="adj" fmla="val 6153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Lecteur</a:t>
            </a:r>
          </a:p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(TV, mobile, navigateur)</a:t>
            </a:r>
          </a:p>
        </p:txBody>
      </p:sp>
      <p:sp>
        <p:nvSpPr>
          <p:cNvPr id="9011" name="TextBox 9010"/>
          <p:cNvSpPr txBox="1"/>
          <p:nvPr/>
        </p:nvSpPr>
        <p:spPr>
          <a:xfrm>
            <a:off x="1055231" y="2743200"/>
            <a:ext cx="20805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96" b="1" i="0">
                <a:solidFill>
                  <a:schemeClr val="accent2"/>
                </a:solidFill>
              </a:rPr>
              <a:t>QoE mesurée ici</a:t>
            </a:r>
          </a:p>
        </p:txBody>
      </p:sp>
      <p:sp>
        <p:nvSpPr>
          <p:cNvPr id="9012" name="Rounded Rectangle 9011"/>
          <p:cNvSpPr/>
          <p:nvPr/>
        </p:nvSpPr>
        <p:spPr>
          <a:xfrm>
            <a:off x="3916029" y="4572000"/>
            <a:ext cx="2600725" cy="1097280"/>
          </a:xfrm>
          <a:prstGeom prst="roundRect">
            <a:avLst>
              <a:gd name="adj" fmla="val 6666"/>
            </a:avLst>
          </a:prstGeom>
          <a:solidFill>
            <a:schemeClr val="accent5">
              <a:alpha val="25000"/>
            </a:schemeClr>
          </a:solidFill>
          <a:ln w="15875">
            <a:solidFill>
              <a:schemeClr val="accent5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Open Connect</a:t>
            </a:r>
          </a:p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serveur de cache (OCA)</a:t>
            </a:r>
          </a:p>
        </p:txBody>
      </p:sp>
      <p:sp>
        <p:nvSpPr>
          <p:cNvPr id="9013" name="TextBox 9012"/>
          <p:cNvSpPr txBox="1"/>
          <p:nvPr/>
        </p:nvSpPr>
        <p:spPr>
          <a:xfrm>
            <a:off x="3916029" y="4206240"/>
            <a:ext cx="260072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96" b="1" i="0">
                <a:solidFill>
                  <a:schemeClr val="accent1"/>
                </a:solidFill>
              </a:rPr>
              <a:t>QoS mesurable ici</a:t>
            </a:r>
          </a:p>
        </p:txBody>
      </p:sp>
      <p:sp>
        <p:nvSpPr>
          <p:cNvPr id="9014" name="Rounded Rectangle 9013"/>
          <p:cNvSpPr/>
          <p:nvPr/>
        </p:nvSpPr>
        <p:spPr>
          <a:xfrm>
            <a:off x="7296973" y="2011680"/>
            <a:ext cx="3840404" cy="1188720"/>
          </a:xfrm>
          <a:prstGeom prst="roundRect">
            <a:avLst>
              <a:gd name="adj" fmla="val 6153"/>
            </a:avLst>
          </a:prstGeom>
          <a:solidFill>
            <a:schemeClr val="accent1">
              <a:alpha val="25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Plan de contrôle</a:t>
            </a:r>
          </a:p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API, personnalisation, choix du serveur, manifest</a:t>
            </a:r>
          </a:p>
        </p:txBody>
      </p:sp>
      <p:sp>
        <p:nvSpPr>
          <p:cNvPr id="9015" name="Rounded Rectangle 9014"/>
          <p:cNvSpPr/>
          <p:nvPr/>
        </p:nvSpPr>
        <p:spPr>
          <a:xfrm>
            <a:off x="7296973" y="3566160"/>
            <a:ext cx="3840404" cy="1188720"/>
          </a:xfrm>
          <a:prstGeom prst="roundRect">
            <a:avLst>
              <a:gd name="adj" fmla="val 6153"/>
            </a:avLst>
          </a:prstGeom>
          <a:solidFill>
            <a:schemeClr val="accent2">
              <a:alpha val="45000"/>
            </a:schemeClr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Télémétrie</a:t>
            </a:r>
          </a:p>
          <a:p>
            <a:pPr algn="ctr">
              <a:buNone/>
            </a:pPr>
            <a:r>
              <a:rPr sz="1288" b="0" i="0">
                <a:solidFill>
                  <a:schemeClr val="accent5">
                    <a:lumMod val="75000"/>
                  </a:schemeClr>
                </a:solidFill>
              </a:rPr>
              <a:t>Kafka, Flink, Druid</a:t>
            </a:r>
          </a:p>
        </p:txBody>
      </p:sp>
      <p:cxnSp>
        <p:nvCxnSpPr>
          <p:cNvPr id="9016" name="Connector 9015"/>
          <p:cNvCxnSpPr/>
          <p:nvPr/>
        </p:nvCxnSpPr>
        <p:spPr>
          <a:xfrm flipV="1">
            <a:off x="3179157" y="2468880"/>
            <a:ext cx="4074470" cy="822960"/>
          </a:xfrm>
          <a:prstGeom prst="line">
            <a:avLst/>
          </a:prstGeom>
          <a:ln w="31750">
            <a:solidFill>
              <a:schemeClr val="accent1"/>
            </a:solidFill>
            <a:headEnd type="triangle"/>
            <a:tailEnd type="triangle"/>
          </a:ln>
        </p:spPr>
      </p:cxnSp>
      <p:sp>
        <p:nvSpPr>
          <p:cNvPr id="9017" name="TextBox 9016"/>
          <p:cNvSpPr txBox="1"/>
          <p:nvPr/>
        </p:nvSpPr>
        <p:spPr>
          <a:xfrm>
            <a:off x="3785993" y="2011680"/>
            <a:ext cx="294748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104" b="1" i="0">
                <a:solidFill>
                  <a:schemeClr val="accent1"/>
                </a:solidFill>
              </a:rPr>
              <a:t>① demande de lecture</a:t>
            </a:r>
          </a:p>
          <a:p>
            <a:pPr algn="l">
              <a:buNone/>
            </a:pPr>
            <a:r>
              <a:rPr sz="1104" b="1" i="0">
                <a:solidFill>
                  <a:schemeClr val="accent1"/>
                </a:solidFill>
              </a:rPr>
              <a:t>② manifest + choix de l’OCA</a:t>
            </a:r>
          </a:p>
        </p:txBody>
      </p:sp>
      <p:cxnSp>
        <p:nvCxnSpPr>
          <p:cNvPr id="9018" name="Connector 9017"/>
          <p:cNvCxnSpPr/>
          <p:nvPr/>
        </p:nvCxnSpPr>
        <p:spPr>
          <a:xfrm>
            <a:off x="3179157" y="3840480"/>
            <a:ext cx="4074470" cy="182880"/>
          </a:xfrm>
          <a:prstGeom prst="line">
            <a:avLst/>
          </a:prstGeom>
          <a:ln w="31750">
            <a:solidFill>
              <a:schemeClr val="accent2"/>
            </a:solidFill>
            <a:tailEnd type="triangle"/>
          </a:ln>
        </p:spPr>
      </p:cxnSp>
      <p:sp>
        <p:nvSpPr>
          <p:cNvPr id="9019" name="TextBox 9018"/>
          <p:cNvSpPr txBox="1"/>
          <p:nvPr/>
        </p:nvSpPr>
        <p:spPr>
          <a:xfrm>
            <a:off x="4046066" y="3520440"/>
            <a:ext cx="260072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104" b="1" i="0">
                <a:solidFill>
                  <a:schemeClr val="accent2"/>
                </a:solidFill>
              </a:rPr>
              <a:t>④ télémétrie de lecture</a:t>
            </a:r>
          </a:p>
        </p:txBody>
      </p:sp>
      <p:cxnSp>
        <p:nvCxnSpPr>
          <p:cNvPr id="9020" name="Connector 9019"/>
          <p:cNvCxnSpPr/>
          <p:nvPr/>
        </p:nvCxnSpPr>
        <p:spPr>
          <a:xfrm flipH="1" flipV="1">
            <a:off x="2572321" y="4343400"/>
            <a:ext cx="1300363" cy="685800"/>
          </a:xfrm>
          <a:prstGeom prst="line">
            <a:avLst/>
          </a:prstGeom>
          <a:ln w="31750">
            <a:solidFill>
              <a:schemeClr val="accent5"/>
            </a:solidFill>
            <a:tailEnd type="triangle"/>
          </a:ln>
        </p:spPr>
      </p:cxnSp>
      <p:sp>
        <p:nvSpPr>
          <p:cNvPr id="9021" name="TextBox 9020"/>
          <p:cNvSpPr txBox="1"/>
          <p:nvPr/>
        </p:nvSpPr>
        <p:spPr>
          <a:xfrm>
            <a:off x="1185268" y="4846320"/>
            <a:ext cx="23406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104" b="1" i="0">
                <a:solidFill>
                  <a:schemeClr val="accent5"/>
                </a:solidFill>
              </a:rPr>
              <a:t>③ segments vidéo</a:t>
            </a:r>
          </a:p>
        </p:txBody>
      </p:sp>
      <p:sp>
        <p:nvSpPr>
          <p:cNvPr id="9022" name="TextBox 9021"/>
          <p:cNvSpPr txBox="1"/>
          <p:nvPr/>
        </p:nvSpPr>
        <p:spPr>
          <a:xfrm>
            <a:off x="838504" y="6126480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920" b="0" i="1">
                <a:solidFill>
                  <a:schemeClr val="tx2"/>
                </a:solidFill>
              </a:rPr>
              <a:t>Source : publications publiques de Netflix (simplifié).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Open Connect : le CDN de Netflix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388620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Open Connect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le réseau de diffusion (CDN) de Netflix, c’est-à-dire des serveurs de cache qui contiennent les vidéos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Où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installés dans les réseaux des FAI ou aux points d’échange, au plus près des abonnés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Pourquoi c’est important ici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la vidéo arrive depuis le réseau du FAI, chiffrée. Le FAI voit passer le trafic, pas la qualité de lecture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Fil conducteur : Netflix mesure la QoE directement ; le FAI doit l’inférer à partir de la QoS.</a:t>
            </a:r>
          </a:p>
        </p:txBody>
      </p:sp>
      <p:sp>
        <p:nvSpPr>
          <p:cNvPr id="9005" name="TextBox 9004"/>
          <p:cNvSpPr txBox="1"/>
          <p:nvPr/>
        </p:nvSpPr>
        <p:spPr>
          <a:xfrm>
            <a:off x="838504" y="6126480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920" b="0" i="1">
                <a:solidFill>
                  <a:schemeClr val="tx2"/>
                </a:solidFill>
              </a:rPr>
              <a:t>Source : Netflix Open Connect (documentation et publications publiques).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La télémétrie de lecture côté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388620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Démarrage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délai avant la première image.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Interruptions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fréquence et durée du rebuffering.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Qualité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débit vidéo, résolution, changements de qualité.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Erreurs et contexte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codes d’erreur, appareil, version, pays, FAI.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Ces événements sont émis par les lecteurs en temps réel : c’est la vérité terrain de la QoE.</a:t>
            </a:r>
          </a:p>
        </p:txBody>
      </p:sp>
      <p:sp>
        <p:nvSpPr>
          <p:cNvPr id="9005" name="TextBox 9004"/>
          <p:cNvSpPr txBox="1"/>
          <p:nvPr/>
        </p:nvSpPr>
        <p:spPr>
          <a:xfrm>
            <a:off x="838504" y="6126480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920" b="0" i="1">
                <a:solidFill>
                  <a:schemeClr val="tx2"/>
                </a:solidFill>
              </a:rPr>
              <a:t>Source : Netflix Technology Blog (observabilité de la lecture avec Druid).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Le pipeline temps réel de Netflix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5087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748" b="0" i="0">
                <a:solidFill>
                  <a:schemeClr val="tx2"/>
                </a:solidFill>
              </a:rPr>
              <a:t>Objectif : repérer en quelques secondes une dégradation de la QoE.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838504" y="2194560"/>
            <a:ext cx="1825709" cy="822960"/>
          </a:xfrm>
          <a:prstGeom prst="roundRect">
            <a:avLst>
              <a:gd name="adj" fmla="val 888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Lecteurs</a:t>
            </a:r>
          </a:p>
        </p:txBody>
      </p:sp>
      <p:cxnSp>
        <p:nvCxnSpPr>
          <p:cNvPr id="9006" name="Connector 9005"/>
          <p:cNvCxnSpPr/>
          <p:nvPr/>
        </p:nvCxnSpPr>
        <p:spPr>
          <a:xfrm>
            <a:off x="2698890" y="2606040"/>
            <a:ext cx="277411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07" name="TextBox 9006"/>
          <p:cNvSpPr txBox="1"/>
          <p:nvPr/>
        </p:nvSpPr>
        <p:spPr>
          <a:xfrm>
            <a:off x="838504" y="3127248"/>
            <a:ext cx="1825709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96" b="0" i="0">
                <a:solidFill>
                  <a:schemeClr val="accent5">
                    <a:lumMod val="75000"/>
                  </a:schemeClr>
                </a:solidFill>
              </a:rPr>
              <a:t>Chaque lecteur envoie des événements de lecture : démarrage, interruptions, qualité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3010977" y="2194560"/>
            <a:ext cx="1825709" cy="822960"/>
          </a:xfrm>
          <a:prstGeom prst="roundRect">
            <a:avLst>
              <a:gd name="adj" fmla="val 888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Kafka</a:t>
            </a:r>
          </a:p>
        </p:txBody>
      </p:sp>
      <p:cxnSp>
        <p:nvCxnSpPr>
          <p:cNvPr id="9009" name="Connector 9008"/>
          <p:cNvCxnSpPr/>
          <p:nvPr/>
        </p:nvCxnSpPr>
        <p:spPr>
          <a:xfrm>
            <a:off x="4871363" y="2606040"/>
            <a:ext cx="277410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10" name="TextBox 9009"/>
          <p:cNvSpPr txBox="1"/>
          <p:nvPr/>
        </p:nvSpPr>
        <p:spPr>
          <a:xfrm>
            <a:off x="3010977" y="3127248"/>
            <a:ext cx="1825709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96" b="0" i="0">
                <a:solidFill>
                  <a:schemeClr val="accent5">
                    <a:lumMod val="75000"/>
                  </a:schemeClr>
                </a:solidFill>
              </a:rPr>
              <a:t>File de messages : reçoit les événements en continu et les met en attente</a:t>
            </a:r>
          </a:p>
        </p:txBody>
      </p:sp>
      <p:sp>
        <p:nvSpPr>
          <p:cNvPr id="9011" name="Rounded Rectangle 9010"/>
          <p:cNvSpPr/>
          <p:nvPr/>
        </p:nvSpPr>
        <p:spPr>
          <a:xfrm>
            <a:off x="5183450" y="2194560"/>
            <a:ext cx="1825709" cy="822960"/>
          </a:xfrm>
          <a:prstGeom prst="roundRect">
            <a:avLst>
              <a:gd name="adj" fmla="val 888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Flink (Keystone)</a:t>
            </a:r>
          </a:p>
        </p:txBody>
      </p:sp>
      <p:cxnSp>
        <p:nvCxnSpPr>
          <p:cNvPr id="9012" name="Connector 9011"/>
          <p:cNvCxnSpPr/>
          <p:nvPr/>
        </p:nvCxnSpPr>
        <p:spPr>
          <a:xfrm>
            <a:off x="7043835" y="2606040"/>
            <a:ext cx="277411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13" name="TextBox 9012"/>
          <p:cNvSpPr txBox="1"/>
          <p:nvPr/>
        </p:nvSpPr>
        <p:spPr>
          <a:xfrm>
            <a:off x="5183450" y="3127248"/>
            <a:ext cx="1825709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96" b="0" i="0">
                <a:solidFill>
                  <a:schemeClr val="accent5">
                    <a:lumMod val="75000"/>
                  </a:schemeClr>
                </a:solidFill>
              </a:rPr>
              <a:t>Traitement de flux : filtre, enrichit et route les événements vers les bons destinataires</a:t>
            </a:r>
          </a:p>
        </p:txBody>
      </p:sp>
      <p:sp>
        <p:nvSpPr>
          <p:cNvPr id="9014" name="Rounded Rectangle 9013"/>
          <p:cNvSpPr/>
          <p:nvPr/>
        </p:nvSpPr>
        <p:spPr>
          <a:xfrm>
            <a:off x="7355922" y="2194560"/>
            <a:ext cx="1825709" cy="822960"/>
          </a:xfrm>
          <a:prstGeom prst="roundRect">
            <a:avLst>
              <a:gd name="adj" fmla="val 8888"/>
            </a:avLst>
          </a:prstGeom>
          <a:solidFill>
            <a:schemeClr val="accent2"/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bg1"/>
                </a:solidFill>
              </a:rPr>
              <a:t>Druid</a:t>
            </a:r>
          </a:p>
        </p:txBody>
      </p:sp>
      <p:cxnSp>
        <p:nvCxnSpPr>
          <p:cNvPr id="9015" name="Connector 9014"/>
          <p:cNvCxnSpPr/>
          <p:nvPr/>
        </p:nvCxnSpPr>
        <p:spPr>
          <a:xfrm>
            <a:off x="9216308" y="2606040"/>
            <a:ext cx="277411" cy="0"/>
          </a:xfrm>
          <a:prstGeom prst="line">
            <a:avLst/>
          </a:prstGeom>
          <a:ln w="31750">
            <a:solidFill>
              <a:schemeClr val="tx2"/>
            </a:solidFill>
            <a:tailEnd type="triangle"/>
          </a:ln>
        </p:spPr>
      </p:cxnSp>
      <p:sp>
        <p:nvSpPr>
          <p:cNvPr id="9016" name="TextBox 9015"/>
          <p:cNvSpPr txBox="1"/>
          <p:nvPr/>
        </p:nvSpPr>
        <p:spPr>
          <a:xfrm>
            <a:off x="7355922" y="3127248"/>
            <a:ext cx="1825709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96" b="0" i="0">
                <a:solidFill>
                  <a:schemeClr val="accent5">
                    <a:lumMod val="75000"/>
                  </a:schemeClr>
                </a:solidFill>
              </a:rPr>
              <a:t>Base d’analyse temps réel : répond en quelques secondes sur des milliards d’événements</a:t>
            </a:r>
          </a:p>
        </p:txBody>
      </p:sp>
      <p:sp>
        <p:nvSpPr>
          <p:cNvPr id="9017" name="Rounded Rectangle 9016"/>
          <p:cNvSpPr/>
          <p:nvPr/>
        </p:nvSpPr>
        <p:spPr>
          <a:xfrm>
            <a:off x="9528395" y="2194560"/>
            <a:ext cx="1825709" cy="822960"/>
          </a:xfrm>
          <a:prstGeom prst="roundRect">
            <a:avLst>
              <a:gd name="adj" fmla="val 888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Tableaux de bord et alertes</a:t>
            </a:r>
          </a:p>
        </p:txBody>
      </p:sp>
      <p:sp>
        <p:nvSpPr>
          <p:cNvPr id="9018" name="TextBox 9017"/>
          <p:cNvSpPr txBox="1"/>
          <p:nvPr/>
        </p:nvSpPr>
        <p:spPr>
          <a:xfrm>
            <a:off x="9528395" y="3127248"/>
            <a:ext cx="1825709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96" b="0" i="0">
                <a:solidFill>
                  <a:schemeClr val="accent5">
                    <a:lumMod val="75000"/>
                  </a:schemeClr>
                </a:solidFill>
              </a:rPr>
              <a:t>Détection de régressions par appareil, version, région</a:t>
            </a:r>
          </a:p>
        </p:txBody>
      </p:sp>
      <p:sp>
        <p:nvSpPr>
          <p:cNvPr id="9019" name="TextBox 9018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Ordre de grandeur : jusqu’à 38 millions d’événements par seconde lors des plus grands événements en direct.</a:t>
            </a:r>
          </a:p>
        </p:txBody>
      </p:sp>
      <p:sp>
        <p:nvSpPr>
          <p:cNvPr id="9020" name="TextBox 9019"/>
          <p:cNvSpPr txBox="1"/>
          <p:nvPr/>
        </p:nvSpPr>
        <p:spPr>
          <a:xfrm>
            <a:off x="838504" y="6126480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920" b="0" i="1">
                <a:solidFill>
                  <a:schemeClr val="tx2"/>
                </a:solidFill>
              </a:rPr>
              <a:t>Sources : Netflix Technology Blog (Druid ; infrastructure de streaming en direct, 2025). Autres briques : Atlas (métriques), Mantis (flux opérationnels).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Qu’est-ce qu’un FAI ?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600200"/>
            <a:ext cx="6241741" cy="4480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656" b="1" i="0">
                <a:solidFill>
                  <a:schemeClr val="accent5">
                    <a:lumMod val="75000"/>
                  </a:schemeClr>
                </a:solidFill>
              </a:rPr>
              <a:t>FAI</a:t>
            </a:r>
            <a:r>
              <a:rPr sz="1656" b="0" i="0">
                <a:solidFill>
                  <a:schemeClr val="accent5">
                    <a:lumMod val="75000"/>
                  </a:schemeClr>
                </a:solidFill>
              </a:rPr>
              <a:t> : fournisseur d’accès à Internet (en anglais ISP), l’opérateur qui relie les abonnés à Internet (Orange, Free, SFR, Bouygues…)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656" b="1" i="0">
                <a:solidFill>
                  <a:schemeClr val="accent5">
                    <a:lumMod val="75000"/>
                  </a:schemeClr>
                </a:solidFill>
              </a:rPr>
              <a:t>Il possède le réseau d’accès</a:t>
            </a:r>
            <a:r>
              <a:rPr sz="1656" b="0" i="0">
                <a:solidFill>
                  <a:schemeClr val="accent5">
                    <a:lumMod val="75000"/>
                  </a:schemeClr>
                </a:solidFill>
              </a:rPr>
              <a:t> : tout le trafic de ses abonnés passe chez lui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656" b="1" i="0">
                <a:solidFill>
                  <a:schemeClr val="accent5">
                    <a:lumMod val="75000"/>
                  </a:schemeClr>
                </a:solidFill>
              </a:rPr>
              <a:t>Il peut y placer des sondes</a:t>
            </a:r>
            <a:r>
              <a:rPr sz="1656" b="0" i="0">
                <a:solidFill>
                  <a:schemeClr val="accent5">
                    <a:lumMod val="75000"/>
                  </a:schemeClr>
                </a:solidFill>
              </a:rPr>
              <a:t> (TAP, export de flux) pour observer le trafic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656" b="1" i="0">
                <a:solidFill>
                  <a:schemeClr val="accent5">
                    <a:lumMod val="75000"/>
                  </a:schemeClr>
                </a:solidFill>
              </a:rPr>
              <a:t>Mais</a:t>
            </a:r>
            <a:r>
              <a:rPr sz="1656" b="0" i="0">
                <a:solidFill>
                  <a:schemeClr val="accent5">
                    <a:lumMod val="75000"/>
                  </a:schemeClr>
                </a:solidFill>
              </a:rPr>
              <a:t> le trafic est chiffré : il voit les paquets, pas le contenu ni la qualité de lecture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7513700" y="1737360"/>
            <a:ext cx="3840404" cy="822960"/>
          </a:xfrm>
          <a:prstGeom prst="roundRect">
            <a:avLst>
              <a:gd name="adj" fmla="val 8888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Abonnés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7513700" y="3017520"/>
            <a:ext cx="3840404" cy="1005840"/>
          </a:xfrm>
          <a:prstGeom prst="roundRect">
            <a:avLst>
              <a:gd name="adj" fmla="val 7272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Réseau du FAI</a:t>
            </a:r>
          </a:p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(sonde, TAP, export de flux)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7513700" y="4480560"/>
            <a:ext cx="3840404" cy="822960"/>
          </a:xfrm>
          <a:prstGeom prst="roundRect">
            <a:avLst>
              <a:gd name="adj" fmla="val 8888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Internet, services vidéo</a:t>
            </a:r>
          </a:p>
        </p:txBody>
      </p:sp>
      <p:cxnSp>
        <p:nvCxnSpPr>
          <p:cNvPr id="9008" name="Connector 9007"/>
          <p:cNvCxnSpPr/>
          <p:nvPr/>
        </p:nvCxnSpPr>
        <p:spPr>
          <a:xfrm>
            <a:off x="9420898" y="2606040"/>
            <a:ext cx="0" cy="365760"/>
          </a:xfrm>
          <a:prstGeom prst="line">
            <a:avLst/>
          </a:prstGeom>
          <a:ln w="31750">
            <a:solidFill>
              <a:schemeClr val="tx2"/>
            </a:solidFill>
            <a:headEnd type="triangle"/>
            <a:tailEnd type="triangle"/>
          </a:ln>
        </p:spPr>
      </p:cxnSp>
      <p:cxnSp>
        <p:nvCxnSpPr>
          <p:cNvPr id="9009" name="Connector 9008"/>
          <p:cNvCxnSpPr/>
          <p:nvPr/>
        </p:nvCxnSpPr>
        <p:spPr>
          <a:xfrm>
            <a:off x="9420898" y="4069080"/>
            <a:ext cx="0" cy="365760"/>
          </a:xfrm>
          <a:prstGeom prst="line">
            <a:avLst/>
          </a:prstGeom>
          <a:ln w="31750">
            <a:solidFill>
              <a:schemeClr val="tx2"/>
            </a:solidFill>
            <a:headEnd type="triangle"/>
            <a:tailEnd type="triangle"/>
          </a:ln>
        </p:spPr>
      </p:cxn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Le point de vue du FAI : inférer sans voir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388620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Trafic chiffré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segments HTTPS ou QUIC : contenu opaque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Sonde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TAP ou IPFIX côté FAI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Features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tailles et rythme des segments, débit par fenêtre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Modèle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classification et régression supervisées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QoE estimée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résolution, interruptions, démarrage par abonné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Même collecte que la partie 1, même pipeline que la partie 4 : seule la cible change.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Streaming adaptatif : DASH et HLS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Rounded Rectangle 9003"/>
          <p:cNvSpPr/>
          <p:nvPr/>
        </p:nvSpPr>
        <p:spPr>
          <a:xfrm>
            <a:off x="838504" y="1508760"/>
            <a:ext cx="6588504" cy="4526280"/>
          </a:xfrm>
          <a:prstGeom prst="roundRect">
            <a:avLst>
              <a:gd name="adj" fmla="val 1616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9005" name="Connector 9004"/>
          <p:cNvCxnSpPr/>
          <p:nvPr/>
        </p:nvCxnSpPr>
        <p:spPr>
          <a:xfrm>
            <a:off x="1098577" y="4754880"/>
            <a:ext cx="6155050" cy="0"/>
          </a:xfrm>
          <a:prstGeom prst="line">
            <a:avLst/>
          </a:prstGeom>
          <a:ln w="19050">
            <a:solidFill>
              <a:schemeClr val="tx2"/>
            </a:solidFill>
            <a:tailEnd type="triangle"/>
          </a:ln>
        </p:spPr>
      </p:cxnSp>
      <p:cxnSp>
        <p:nvCxnSpPr>
          <p:cNvPr id="9006" name="Connector 9005"/>
          <p:cNvCxnSpPr/>
          <p:nvPr/>
        </p:nvCxnSpPr>
        <p:spPr>
          <a:xfrm flipV="1">
            <a:off x="1098577" y="1783080"/>
            <a:ext cx="0" cy="2971800"/>
          </a:xfrm>
          <a:prstGeom prst="line">
            <a:avLst/>
          </a:prstGeom>
          <a:ln w="19050">
            <a:solidFill>
              <a:schemeClr val="tx2"/>
            </a:solidFill>
            <a:tailEnd type="triangle"/>
          </a:ln>
        </p:spPr>
      </p:cxnSp>
      <p:sp>
        <p:nvSpPr>
          <p:cNvPr id="9007" name="TextBox 9006"/>
          <p:cNvSpPr txBox="1"/>
          <p:nvPr/>
        </p:nvSpPr>
        <p:spPr>
          <a:xfrm>
            <a:off x="1185268" y="1600200"/>
            <a:ext cx="2600725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104" b="0" i="0">
                <a:solidFill>
                  <a:schemeClr val="tx2"/>
                </a:solidFill>
              </a:rPr>
              <a:t>débit reçu par le lecteur</a:t>
            </a:r>
          </a:p>
        </p:txBody>
      </p:sp>
      <p:sp>
        <p:nvSpPr>
          <p:cNvPr id="9008" name="TextBox 9007"/>
          <p:cNvSpPr txBox="1"/>
          <p:nvPr/>
        </p:nvSpPr>
        <p:spPr>
          <a:xfrm>
            <a:off x="6386719" y="4800600"/>
            <a:ext cx="78021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sz="1104" b="0" i="0">
                <a:solidFill>
                  <a:schemeClr val="tx2"/>
                </a:solidFill>
              </a:rPr>
              <a:t>temps</a:t>
            </a:r>
          </a:p>
        </p:txBody>
      </p:sp>
      <p:sp>
        <p:nvSpPr>
          <p:cNvPr id="9009" name="Rounded Rectangle 9008"/>
          <p:cNvSpPr/>
          <p:nvPr/>
        </p:nvSpPr>
        <p:spPr>
          <a:xfrm>
            <a:off x="1271959" y="2468880"/>
            <a:ext cx="398777" cy="2286000"/>
          </a:xfrm>
          <a:prstGeom prst="roundRect">
            <a:avLst>
              <a:gd name="adj" fmla="val 4586"/>
            </a:avLst>
          </a:prstGeom>
          <a:solidFill>
            <a:srgbClr val="C00000">
              <a:alpha val="85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0" name="Rounded Rectangle 9009"/>
          <p:cNvSpPr/>
          <p:nvPr/>
        </p:nvSpPr>
        <p:spPr>
          <a:xfrm>
            <a:off x="1705413" y="2468880"/>
            <a:ext cx="398777" cy="2286000"/>
          </a:xfrm>
          <a:prstGeom prst="roundRect">
            <a:avLst>
              <a:gd name="adj" fmla="val 4586"/>
            </a:avLst>
          </a:prstGeom>
          <a:solidFill>
            <a:srgbClr val="C00000">
              <a:alpha val="85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1" name="Rounded Rectangle 9010"/>
          <p:cNvSpPr/>
          <p:nvPr/>
        </p:nvSpPr>
        <p:spPr>
          <a:xfrm>
            <a:off x="2138867" y="2468880"/>
            <a:ext cx="398777" cy="2286000"/>
          </a:xfrm>
          <a:prstGeom prst="roundRect">
            <a:avLst>
              <a:gd name="adj" fmla="val 4586"/>
            </a:avLst>
          </a:prstGeom>
          <a:solidFill>
            <a:srgbClr val="C00000">
              <a:alpha val="85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2" name="Rounded Rectangle 9011"/>
          <p:cNvSpPr/>
          <p:nvPr/>
        </p:nvSpPr>
        <p:spPr>
          <a:xfrm>
            <a:off x="2572321" y="2468880"/>
            <a:ext cx="398777" cy="2286000"/>
          </a:xfrm>
          <a:prstGeom prst="roundRect">
            <a:avLst>
              <a:gd name="adj" fmla="val 4586"/>
            </a:avLst>
          </a:prstGeom>
          <a:solidFill>
            <a:srgbClr val="C00000">
              <a:alpha val="85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3" name="Rounded Rectangle 9012"/>
          <p:cNvSpPr/>
          <p:nvPr/>
        </p:nvSpPr>
        <p:spPr>
          <a:xfrm>
            <a:off x="3265848" y="3017520"/>
            <a:ext cx="398777" cy="1737360"/>
          </a:xfrm>
          <a:prstGeom prst="roundRect">
            <a:avLst>
              <a:gd name="adj" fmla="val 4586"/>
            </a:avLst>
          </a:prstGeom>
          <a:solidFill>
            <a:schemeClr val="accent5">
              <a:alpha val="90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4" name="Rounded Rectangle 9013"/>
          <p:cNvSpPr/>
          <p:nvPr/>
        </p:nvSpPr>
        <p:spPr>
          <a:xfrm>
            <a:off x="4089411" y="3017520"/>
            <a:ext cx="398777" cy="1737360"/>
          </a:xfrm>
          <a:prstGeom prst="roundRect">
            <a:avLst>
              <a:gd name="adj" fmla="val 4586"/>
            </a:avLst>
          </a:prstGeom>
          <a:solidFill>
            <a:schemeClr val="accent5">
              <a:alpha val="90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5" name="Rounded Rectangle 9014"/>
          <p:cNvSpPr/>
          <p:nvPr/>
        </p:nvSpPr>
        <p:spPr>
          <a:xfrm>
            <a:off x="4912974" y="3017520"/>
            <a:ext cx="398777" cy="1737360"/>
          </a:xfrm>
          <a:prstGeom prst="roundRect">
            <a:avLst>
              <a:gd name="adj" fmla="val 4586"/>
            </a:avLst>
          </a:prstGeom>
          <a:solidFill>
            <a:schemeClr val="accent5">
              <a:alpha val="90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6" name="Rounded Rectangle 9015"/>
          <p:cNvSpPr/>
          <p:nvPr/>
        </p:nvSpPr>
        <p:spPr>
          <a:xfrm>
            <a:off x="5779883" y="3931920"/>
            <a:ext cx="398777" cy="822960"/>
          </a:xfrm>
          <a:prstGeom prst="roundRect">
            <a:avLst>
              <a:gd name="adj" fmla="val 4586"/>
            </a:avLst>
          </a:prstGeom>
          <a:solidFill>
            <a:schemeClr val="accent2">
              <a:alpha val="90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7" name="Rounded Rectangle 9016"/>
          <p:cNvSpPr/>
          <p:nvPr/>
        </p:nvSpPr>
        <p:spPr>
          <a:xfrm>
            <a:off x="6603446" y="3931920"/>
            <a:ext cx="398777" cy="822960"/>
          </a:xfrm>
          <a:prstGeom prst="roundRect">
            <a:avLst>
              <a:gd name="adj" fmla="val 4586"/>
            </a:avLst>
          </a:prstGeom>
          <a:solidFill>
            <a:schemeClr val="accent2">
              <a:alpha val="90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018" name="TextBox 9017"/>
          <p:cNvSpPr txBox="1"/>
          <p:nvPr/>
        </p:nvSpPr>
        <p:spPr>
          <a:xfrm>
            <a:off x="1185268" y="5120640"/>
            <a:ext cx="190719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104" b="1" i="0">
                <a:solidFill>
                  <a:srgbClr val="C00000"/>
                </a:solidFill>
              </a:rPr>
              <a:t>1. Démarrage</a:t>
            </a:r>
          </a:p>
          <a:p>
            <a:pPr algn="l">
              <a:buNone/>
            </a:pPr>
            <a:r>
              <a:rPr sz="1104" b="1" i="0">
                <a:solidFill>
                  <a:srgbClr val="C00000"/>
                </a:solidFill>
              </a:rPr>
              <a:t>rafale continue</a:t>
            </a:r>
          </a:p>
        </p:txBody>
      </p:sp>
      <p:sp>
        <p:nvSpPr>
          <p:cNvPr id="9019" name="TextBox 9018"/>
          <p:cNvSpPr txBox="1"/>
          <p:nvPr/>
        </p:nvSpPr>
        <p:spPr>
          <a:xfrm>
            <a:off x="3179157" y="5120640"/>
            <a:ext cx="2427343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104" b="1" i="0">
                <a:solidFill>
                  <a:schemeClr val="accent5"/>
                </a:solidFill>
              </a:rPr>
              <a:t>2. Qualité haute</a:t>
            </a:r>
          </a:p>
          <a:p>
            <a:pPr algn="l">
              <a:buNone/>
            </a:pPr>
            <a:r>
              <a:rPr sz="1104" b="1" i="0">
                <a:solidFill>
                  <a:schemeClr val="accent5"/>
                </a:solidFill>
              </a:rPr>
              <a:t>une rafale par segment</a:t>
            </a:r>
          </a:p>
        </p:txBody>
      </p:sp>
      <p:sp>
        <p:nvSpPr>
          <p:cNvPr id="9020" name="TextBox 9019"/>
          <p:cNvSpPr txBox="1"/>
          <p:nvPr/>
        </p:nvSpPr>
        <p:spPr>
          <a:xfrm>
            <a:off x="5693192" y="5120640"/>
            <a:ext cx="173381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104" b="1" i="0">
                <a:solidFill>
                  <a:schemeClr val="accent2"/>
                </a:solidFill>
              </a:rPr>
              <a:t>3. Qualité plus basse</a:t>
            </a:r>
          </a:p>
          <a:p>
            <a:pPr algn="l">
              <a:buNone/>
            </a:pPr>
            <a:r>
              <a:rPr sz="1104" b="1" i="0">
                <a:solidFill>
                  <a:schemeClr val="accent2"/>
                </a:solidFill>
              </a:rPr>
              <a:t>rafales plus petites</a:t>
            </a:r>
          </a:p>
        </p:txBody>
      </p:sp>
      <p:sp>
        <p:nvSpPr>
          <p:cNvPr id="9021" name="TextBox 9020"/>
          <p:cNvSpPr txBox="1"/>
          <p:nvPr/>
        </p:nvSpPr>
        <p:spPr>
          <a:xfrm>
            <a:off x="838504" y="6080760"/>
            <a:ext cx="65885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104" b="0" i="1">
                <a:solidFill>
                  <a:schemeClr val="tx2"/>
                </a:solidFill>
              </a:rPr>
              <a:t>Exemple schématique d’une session, vu depuis le réseau</a:t>
            </a:r>
          </a:p>
        </p:txBody>
      </p:sp>
      <p:sp>
        <p:nvSpPr>
          <p:cNvPr id="9022" name="TextBox 9021"/>
          <p:cNvSpPr txBox="1"/>
          <p:nvPr/>
        </p:nvSpPr>
        <p:spPr>
          <a:xfrm>
            <a:off x="7687081" y="1554480"/>
            <a:ext cx="3667022" cy="4480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La vidéo est découpée en </a:t>
            </a: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segments</a:t>
            </a: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 de quelques secondes (en direct chez Netflix : 2 s)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Le lecteur choisit la qualité de chaque segment (</a:t>
            </a: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ABR</a:t>
            </a: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) selon le débit mesuré et son buffer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La </a:t>
            </a: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hauteur</a:t>
            </a: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 d’une rafale reflète la taille du segment, donc la qualité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L’</a:t>
            </a:r>
            <a:r>
              <a:rPr sz="1472" b="1" i="0">
                <a:solidFill>
                  <a:schemeClr val="accent5">
                    <a:lumMod val="75000"/>
                  </a:schemeClr>
                </a:solidFill>
              </a:rPr>
              <a:t>espacement</a:t>
            </a: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 des rafales reflète l’état du buffer</a:t>
            </a:r>
          </a:p>
          <a:p>
            <a:pPr marL="285750" indent="-228600" algn="l">
              <a:spcAft>
                <a:spcPts val="1000"/>
              </a:spcAft>
              <a:buFont typeface="Arial"/>
              <a:buChar char="•"/>
            </a:pPr>
            <a:r>
              <a:rPr sz="1472" b="0" i="0">
                <a:solidFill>
                  <a:schemeClr val="accent5">
                    <a:lumMod val="75000"/>
                  </a:schemeClr>
                </a:solidFill>
              </a:rPr>
              <a:t>Ce sont les indices de la slide suivante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Ce que le trafic révèle de la QoE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Table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645920"/>
          <a:ext cx="10515599" cy="3657600"/>
        </p:xfrm>
        <a:graphic>
          <a:graphicData uri="http://schemas.openxmlformats.org/drawingml/2006/table">
            <a:tbl>
              <a:tblPr firstRow="1" bandRow="0"/>
              <a:tblGrid>
                <a:gridCol w="3120870"/>
                <a:gridCol w="4507924"/>
                <a:gridCol w="2886805"/>
              </a:tblGrid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Indice dans le trafic (QoS)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Ce qu’il reflète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Cible (QoE)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Taille des segments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Débit vidéo choisi, donc résolution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Résolution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Délai entre requêtes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État du buffer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Interruptions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Rafale initiale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Phase de démarrage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Délai de démarrage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Débit par fenêtre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Capacité disponible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Changements de qualité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Ces indices survivent au chiffrement : ils sont dans les tailles et dans les temps.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Cibles, modèles et travaux de référence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Table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645920"/>
          <a:ext cx="10515598" cy="2926080"/>
        </p:xfrm>
        <a:graphic>
          <a:graphicData uri="http://schemas.openxmlformats.org/drawingml/2006/table">
            <a:tbl>
              <a:tblPr firstRow="1" bandRow="0"/>
              <a:tblGrid>
                <a:gridCol w="3467633"/>
                <a:gridCol w="3641015"/>
                <a:gridCol w="3406950"/>
              </a:tblGrid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Travail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Cible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Approche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Mazhar &amp; Shafiq, INFOCOM 2018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QoE temps réel sur HTTPS et QUIC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Features réseau, modèles supervisés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Bronzino et al., 2019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Qualité vidéo sur trafic chiffré, retour de déploiement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Modèles pratiques, évalués en conditions réelles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Requet (Gutterman et al., MMSys 2019)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Interruptions et résolution, YouTube chiffré, en temps réel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Apprentissage supervisé, labels par instrumentation du navigateur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Modèles typiques : forêts aléatoires, gradient boosting. Cibles : classification (résolution), régression (délai).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Le pipeline QoE du FAI, relié aux parties 1 à 3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15087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748" b="0" i="0">
                <a:solidFill>
                  <a:schemeClr val="tx2"/>
                </a:solidFill>
              </a:rPr>
              <a:t>Le pipeline du début du cours, appliqué à la QoE d’un FAI.</a:t>
            </a:r>
          </a:p>
        </p:txBody>
      </p:sp>
      <p:sp>
        <p:nvSpPr>
          <p:cNvPr id="9005" name="TextBox 9004"/>
          <p:cNvSpPr txBox="1"/>
          <p:nvPr/>
        </p:nvSpPr>
        <p:spPr>
          <a:xfrm>
            <a:off x="838504" y="2359152"/>
            <a:ext cx="1499751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04" b="0" i="1">
                <a:solidFill>
                  <a:schemeClr val="tx2"/>
                </a:solidFill>
              </a:rPr>
              <a:t>Partie 1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838504" y="2651760"/>
            <a:ext cx="1499751" cy="822960"/>
          </a:xfrm>
          <a:prstGeom prst="roundRect">
            <a:avLst>
              <a:gd name="adj" fmla="val 888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Collecte</a:t>
            </a:r>
          </a:p>
        </p:txBody>
      </p:sp>
      <p:cxnSp>
        <p:nvCxnSpPr>
          <p:cNvPr id="9007" name="Connector 9006"/>
          <p:cNvCxnSpPr/>
          <p:nvPr/>
        </p:nvCxnSpPr>
        <p:spPr>
          <a:xfrm>
            <a:off x="2364263" y="3063240"/>
            <a:ext cx="251404" cy="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sp>
        <p:nvSpPr>
          <p:cNvPr id="9008" name="TextBox 9007"/>
          <p:cNvSpPr txBox="1"/>
          <p:nvPr/>
        </p:nvSpPr>
        <p:spPr>
          <a:xfrm>
            <a:off x="838504" y="3584448"/>
            <a:ext cx="1499751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96" b="0" i="0">
                <a:solidFill>
                  <a:schemeClr val="accent5">
                    <a:lumMod val="75000"/>
                  </a:schemeClr>
                </a:solidFill>
              </a:rPr>
              <a:t>TAP ou export IPFIX en bordure du réseau</a:t>
            </a:r>
          </a:p>
        </p:txBody>
      </p:sp>
      <p:sp>
        <p:nvSpPr>
          <p:cNvPr id="9009" name="TextBox 9008"/>
          <p:cNvSpPr txBox="1"/>
          <p:nvPr/>
        </p:nvSpPr>
        <p:spPr>
          <a:xfrm>
            <a:off x="2641674" y="2359152"/>
            <a:ext cx="1499751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04" b="0" i="1">
                <a:solidFill>
                  <a:schemeClr val="tx2"/>
                </a:solidFill>
              </a:rPr>
              <a:t>Partie 2</a:t>
            </a:r>
          </a:p>
        </p:txBody>
      </p:sp>
      <p:sp>
        <p:nvSpPr>
          <p:cNvPr id="9010" name="Rounded Rectangle 9009"/>
          <p:cNvSpPr/>
          <p:nvPr/>
        </p:nvSpPr>
        <p:spPr>
          <a:xfrm>
            <a:off x="2641674" y="2651760"/>
            <a:ext cx="1499751" cy="822960"/>
          </a:xfrm>
          <a:prstGeom prst="roundRect">
            <a:avLst>
              <a:gd name="adj" fmla="val 888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Données</a:t>
            </a:r>
          </a:p>
        </p:txBody>
      </p:sp>
      <p:cxnSp>
        <p:nvCxnSpPr>
          <p:cNvPr id="9011" name="Connector 9010"/>
          <p:cNvCxnSpPr/>
          <p:nvPr/>
        </p:nvCxnSpPr>
        <p:spPr>
          <a:xfrm>
            <a:off x="4167433" y="3063240"/>
            <a:ext cx="251403" cy="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sp>
        <p:nvSpPr>
          <p:cNvPr id="9012" name="TextBox 9011"/>
          <p:cNvSpPr txBox="1"/>
          <p:nvPr/>
        </p:nvSpPr>
        <p:spPr>
          <a:xfrm>
            <a:off x="2641674" y="3584448"/>
            <a:ext cx="1499751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96" b="0" i="0">
                <a:solidFill>
                  <a:schemeClr val="accent5">
                    <a:lumMod val="75000"/>
                  </a:schemeClr>
                </a:solidFill>
              </a:rPr>
              <a:t>Tailles et rythme des segments, par fenêtre</a:t>
            </a:r>
          </a:p>
        </p:txBody>
      </p:sp>
      <p:sp>
        <p:nvSpPr>
          <p:cNvPr id="9013" name="TextBox 9012"/>
          <p:cNvSpPr txBox="1"/>
          <p:nvPr/>
        </p:nvSpPr>
        <p:spPr>
          <a:xfrm>
            <a:off x="4444844" y="2359152"/>
            <a:ext cx="1499751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04" b="0" i="1">
                <a:solidFill>
                  <a:schemeClr val="tx2"/>
                </a:solidFill>
              </a:rPr>
              <a:t>Partie 2</a:t>
            </a:r>
          </a:p>
        </p:txBody>
      </p:sp>
      <p:sp>
        <p:nvSpPr>
          <p:cNvPr id="9014" name="Rounded Rectangle 9013"/>
          <p:cNvSpPr/>
          <p:nvPr/>
        </p:nvSpPr>
        <p:spPr>
          <a:xfrm>
            <a:off x="4444844" y="2651760"/>
            <a:ext cx="1499751" cy="822960"/>
          </a:xfrm>
          <a:prstGeom prst="roundRect">
            <a:avLst>
              <a:gd name="adj" fmla="val 888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Modèle</a:t>
            </a:r>
          </a:p>
        </p:txBody>
      </p:sp>
      <p:cxnSp>
        <p:nvCxnSpPr>
          <p:cNvPr id="9015" name="Connector 9014"/>
          <p:cNvCxnSpPr/>
          <p:nvPr/>
        </p:nvCxnSpPr>
        <p:spPr>
          <a:xfrm>
            <a:off x="5970603" y="3063240"/>
            <a:ext cx="251403" cy="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sp>
        <p:nvSpPr>
          <p:cNvPr id="9016" name="TextBox 9015"/>
          <p:cNvSpPr txBox="1"/>
          <p:nvPr/>
        </p:nvSpPr>
        <p:spPr>
          <a:xfrm>
            <a:off x="4444844" y="3584448"/>
            <a:ext cx="1499751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96" b="0" i="0">
                <a:solidFill>
                  <a:schemeClr val="accent5">
                    <a:lumMod val="75000"/>
                  </a:schemeClr>
                </a:solidFill>
              </a:rPr>
              <a:t>Modèle supervisé entraîné avec la QoE mesurée côté client</a:t>
            </a:r>
          </a:p>
        </p:txBody>
      </p:sp>
      <p:sp>
        <p:nvSpPr>
          <p:cNvPr id="9017" name="TextBox 9016"/>
          <p:cNvSpPr txBox="1"/>
          <p:nvPr/>
        </p:nvSpPr>
        <p:spPr>
          <a:xfrm>
            <a:off x="6248013" y="2359152"/>
            <a:ext cx="1499751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04" b="0" i="1">
                <a:solidFill>
                  <a:schemeClr val="tx2"/>
                </a:solidFill>
              </a:rPr>
              <a:t>Partie 3</a:t>
            </a:r>
          </a:p>
        </p:txBody>
      </p:sp>
      <p:sp>
        <p:nvSpPr>
          <p:cNvPr id="9018" name="Rounded Rectangle 9017"/>
          <p:cNvSpPr/>
          <p:nvPr/>
        </p:nvSpPr>
        <p:spPr>
          <a:xfrm>
            <a:off x="6248013" y="2651760"/>
            <a:ext cx="1499751" cy="822960"/>
          </a:xfrm>
          <a:prstGeom prst="roundRect">
            <a:avLst>
              <a:gd name="adj" fmla="val 888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Classification</a:t>
            </a:r>
          </a:p>
        </p:txBody>
      </p:sp>
      <p:cxnSp>
        <p:nvCxnSpPr>
          <p:cNvPr id="9019" name="Connector 9018"/>
          <p:cNvCxnSpPr/>
          <p:nvPr/>
        </p:nvCxnSpPr>
        <p:spPr>
          <a:xfrm>
            <a:off x="7773772" y="3063240"/>
            <a:ext cx="251404" cy="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sp>
        <p:nvSpPr>
          <p:cNvPr id="9020" name="TextBox 9019"/>
          <p:cNvSpPr txBox="1"/>
          <p:nvPr/>
        </p:nvSpPr>
        <p:spPr>
          <a:xfrm>
            <a:off x="6248013" y="3584448"/>
            <a:ext cx="1499751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96" b="0" i="0">
                <a:solidFill>
                  <a:schemeClr val="accent5">
                    <a:lumMod val="75000"/>
                  </a:schemeClr>
                </a:solidFill>
              </a:rPr>
              <a:t>Isole le trafic vidéo (partie 3)</a:t>
            </a:r>
          </a:p>
        </p:txBody>
      </p:sp>
      <p:sp>
        <p:nvSpPr>
          <p:cNvPr id="9021" name="TextBox 9020"/>
          <p:cNvSpPr txBox="1"/>
          <p:nvPr/>
        </p:nvSpPr>
        <p:spPr>
          <a:xfrm>
            <a:off x="8051183" y="2359152"/>
            <a:ext cx="1499751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04" b="0" i="1">
                <a:solidFill>
                  <a:schemeClr val="tx2"/>
                </a:solidFill>
              </a:rPr>
              <a:t>Parties 4 et 5</a:t>
            </a:r>
          </a:p>
        </p:txBody>
      </p:sp>
      <p:sp>
        <p:nvSpPr>
          <p:cNvPr id="9022" name="Rounded Rectangle 9021"/>
          <p:cNvSpPr/>
          <p:nvPr/>
        </p:nvSpPr>
        <p:spPr>
          <a:xfrm>
            <a:off x="8051183" y="2651760"/>
            <a:ext cx="1499751" cy="822960"/>
          </a:xfrm>
          <a:prstGeom prst="roundRect">
            <a:avLst>
              <a:gd name="adj" fmla="val 8888"/>
            </a:avLst>
          </a:prstGeom>
          <a:solidFill>
            <a:schemeClr val="accent2"/>
          </a:solidFill>
          <a:ln w="15875">
            <a:solidFill>
              <a:schemeClr val="accent2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bg1"/>
                </a:solidFill>
              </a:rPr>
              <a:t>Cas d’usage</a:t>
            </a:r>
          </a:p>
        </p:txBody>
      </p:sp>
      <p:cxnSp>
        <p:nvCxnSpPr>
          <p:cNvPr id="9023" name="Connector 9022"/>
          <p:cNvCxnSpPr/>
          <p:nvPr/>
        </p:nvCxnSpPr>
        <p:spPr>
          <a:xfrm>
            <a:off x="9576942" y="3063240"/>
            <a:ext cx="251403" cy="0"/>
          </a:xfrm>
          <a:prstGeom prst="line">
            <a:avLst/>
          </a:prstGeom>
          <a:ln w="25400">
            <a:solidFill>
              <a:schemeClr val="tx2"/>
            </a:solidFill>
            <a:tailEnd type="triangle"/>
          </a:ln>
        </p:spPr>
      </p:cxnSp>
      <p:sp>
        <p:nvSpPr>
          <p:cNvPr id="9024" name="TextBox 9023"/>
          <p:cNvSpPr txBox="1"/>
          <p:nvPr/>
        </p:nvSpPr>
        <p:spPr>
          <a:xfrm>
            <a:off x="8051183" y="3584448"/>
            <a:ext cx="1499751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96" b="0" i="0">
                <a:solidFill>
                  <a:schemeClr val="accent5">
                    <a:lumMod val="75000"/>
                  </a:schemeClr>
                </a:solidFill>
              </a:rPr>
              <a:t>Résolution, interruptions, démarrage par abonné</a:t>
            </a:r>
          </a:p>
        </p:txBody>
      </p:sp>
      <p:sp>
        <p:nvSpPr>
          <p:cNvPr id="9025" name="TextBox 9024"/>
          <p:cNvSpPr txBox="1"/>
          <p:nvPr/>
        </p:nvSpPr>
        <p:spPr>
          <a:xfrm>
            <a:off x="9854353" y="2359152"/>
            <a:ext cx="1499751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04" b="0" i="1">
                <a:solidFill>
                  <a:schemeClr val="tx2"/>
                </a:solidFill>
              </a:rPr>
              <a:t>Partie 6</a:t>
            </a:r>
          </a:p>
        </p:txBody>
      </p:sp>
      <p:sp>
        <p:nvSpPr>
          <p:cNvPr id="9026" name="Rounded Rectangle 9025"/>
          <p:cNvSpPr/>
          <p:nvPr/>
        </p:nvSpPr>
        <p:spPr>
          <a:xfrm>
            <a:off x="9854353" y="2651760"/>
            <a:ext cx="1499751" cy="822960"/>
          </a:xfrm>
          <a:prstGeom prst="roundRect">
            <a:avLst>
              <a:gd name="adj" fmla="val 8888"/>
            </a:avLst>
          </a:prstGeom>
          <a:solidFill>
            <a:schemeClr val="accent1">
              <a:alpha val="30000"/>
            </a:schemeClr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>
            <a:noAutofit/>
          </a:bodyPr>
          <a:lstStyle/>
          <a:p>
            <a:pPr algn="ctr">
              <a:buNone/>
            </a:pPr>
            <a:r>
              <a:rPr sz="1288" b="1" i="0">
                <a:solidFill>
                  <a:schemeClr val="accent5">
                    <a:lumMod val="75000"/>
                  </a:schemeClr>
                </a:solidFill>
              </a:rPr>
              <a:t>Déploiement</a:t>
            </a:r>
          </a:p>
        </p:txBody>
      </p:sp>
      <p:sp>
        <p:nvSpPr>
          <p:cNvPr id="9027" name="TextBox 9026"/>
          <p:cNvSpPr txBox="1"/>
          <p:nvPr/>
        </p:nvSpPr>
        <p:spPr>
          <a:xfrm>
            <a:off x="9854353" y="3584448"/>
            <a:ext cx="1499751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sz="1196" b="0" i="0">
                <a:solidFill>
                  <a:schemeClr val="accent5">
                    <a:lumMod val="75000"/>
                  </a:schemeClr>
                </a:solidFill>
              </a:rPr>
              <a:t>Surveillance par zone, réentraînement</a:t>
            </a:r>
          </a:p>
        </p:txBody>
      </p:sp>
      <p:sp>
        <p:nvSpPr>
          <p:cNvPr id="9028" name="TextBox 9027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La classification précoce évite de traiter tout le trafic : seuls les flux vidéo alimentent le modèle QoE.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Limites de l’inférence de QoE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452628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Généralisation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un modèle appris sur un service ou un lecteur marche mal sur un autre.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Évolution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nouveaux codecs, algorithmes d’adaptation, HTTP/3 : le trafic change.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Multiplexage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QUIC et HTTP/2 mélangent plusieurs flux : les segments sont plus difficiles à isoler.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Vérité terrain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labels obtenus par instrumentation de clients de test : coûteux, peu représentatifs.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Mesure directe ou inférence ?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Table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645920"/>
          <a:ext cx="10515598" cy="3840480"/>
        </p:xfrm>
        <a:graphic>
          <a:graphicData uri="http://schemas.openxmlformats.org/drawingml/2006/table">
            <a:tbl>
              <a:tblPr firstRow="1" bandRow="0"/>
              <a:tblGrid>
                <a:gridCol w="1907198"/>
                <a:gridCol w="4334542"/>
                <a:gridCol w="4273858"/>
              </a:tblGrid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/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Mesure côté client (plateforme)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Inférence côté réseau (FAI)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Qui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Netflix, YouTube…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Opérateurs, FAI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Données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Télémétrie du lecteur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Trafic chiffré (tailles, temps)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Précision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Exacte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Estimée (erreurs possibles)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Couverture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Tous les clients du service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Tous les services, tous les abonnés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Accès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Contrôle du lecteur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Aucun accès au client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Complémentaires : la plateforme voit la lecture, le FAI voit le réseau.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Détection et QoE : le même pipeline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Table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645920"/>
          <a:ext cx="10515598" cy="3840480"/>
        </p:xfrm>
        <a:graphic>
          <a:graphicData uri="http://schemas.openxmlformats.org/drawingml/2006/table">
            <a:tbl>
              <a:tblPr firstRow="1" bandRow="0"/>
              <a:tblGrid>
                <a:gridCol w="1907198"/>
                <a:gridCol w="4247851"/>
                <a:gridCol w="4360549"/>
              </a:tblGrid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Étape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Détection d’anomalies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Inférence de QoE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Collecte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Logs, flux, paquets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Flux, paquets (trafic chiffré)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Entrées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Features par flux ou fenêtre, logs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Tailles et rythme des segments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Sortie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Score ou alerte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Résolution, interruptions, délai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Labels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Rares, parfois circulaires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Télémétrie client, instrumentation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Risque principal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Faux positifs, attaquant adaptatif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Généralisation, dérive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Supervision de performance ou sécurité : les méthodes sont transversales.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Déploiement et exploitation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Du notebook à la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388620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Notebook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exploration et prototype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Pipeline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features reproductibles, tests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Entraînement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versionner données et modèles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Service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inférence en ligne ou par lots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Supervision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qualité, dérive, latence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Contrainte réseau : l’inférence doit suivre le débit du trafic.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Où placer l’intelligence ?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graphicFrame>
        <p:nvGraphicFramePr>
          <p:cNvPr id="9004" name="Table 9003"/>
          <p:cNvGraphicFramePr>
            <a:graphicFrameLocks xmlns:a="http://schemas.openxmlformats.org/drawingml/2006/main" noGrp="1"/>
          </p:cNvGraphicFramePr>
          <p:nvPr/>
        </p:nvGraphicFramePr>
        <p:xfrm>
          <a:off x="838504" y="1645920"/>
          <a:ext cx="10515598" cy="2926080"/>
        </p:xfrm>
        <a:graphic>
          <a:graphicData uri="http://schemas.openxmlformats.org/drawingml/2006/table">
            <a:tbl>
              <a:tblPr firstRow="1" bandRow="0"/>
              <a:tblGrid>
                <a:gridCol w="2860798"/>
                <a:gridCol w="2947488"/>
                <a:gridCol w="2600725"/>
                <a:gridCol w="2106587"/>
              </a:tblGrid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Option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Avantage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Limite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Exemple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4472C4"/>
                      </a:solidFill>
                    </a:lnT>
                    <a:lnB w="19050">
                      <a:solidFill>
                        <a:srgbClr val="4472C4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Centralisée (cloud, datacenter)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Modèles riches, vue globale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Latence, volume à remonter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SIEM, NDR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En périphérie (edge, hôte)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Décision locale, volume réduit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Ressources limitées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eBPF, sondes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1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Plan de données (switch)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Débit ligne, latence minimale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Modèles très simples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72" b="0" i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P4, SmartNIC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4C7E7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MLOps réseau : surveiller et réentraîner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388620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Surveiller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distribution des features, métriques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Détecter la dérive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seuils sur les écarts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Collecter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nouvelles données étiquetées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Réentraîner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valider sur une période récente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Déployer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canari, retour arrière possible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Boucle continue : le trafic évolue, donc le modèle aussi.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Conclusion et ouverture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Les LLM pour l’exploitation et la sécurité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388620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Analyse de logs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résumer, expliquer, trier des événements ; requêtes en langage naturel sur le SIEM.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Copilotes SOC et NOC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assistants intégrés aux SIEM pour guider l’investigation et proposer des réponses.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Configurations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génération et revue de configurations : à valider avant tout déploiement.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Limites : hallucinations, confidentialité des données, latence, coût. L’humain reste dans la boucle.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Vers les réseaux autonomes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388620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Intention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L’opérateur exprime un objectif (intent-based networking)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Observer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télémétrie et collecte continues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Analyser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ML : détection, prévision, diagnostic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Décider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planification sous contraintes</a:t>
            </a:r>
          </a:p>
          <a:p>
            <a:pPr marL="457200" indent="-342900" algn="l">
              <a:spcAft>
                <a:spcPts val="1000"/>
              </a:spcAft>
              <a:buFont typeface="+mj-lt"/>
              <a:buAutoNum type="arabicPeriod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Agir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configuration automatique, boucle fermée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  <p:sp>
        <p:nvSpPr>
          <p:cNvPr id="9004" name="TextBox 9003"/>
          <p:cNvSpPr txBox="1"/>
          <p:nvPr/>
        </p:nvSpPr>
        <p:spPr>
          <a:xfrm>
            <a:off x="838504" y="55778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564" b="0" i="1">
                <a:solidFill>
                  <a:schemeClr val="accent2"/>
                </a:solidFill>
              </a:rPr>
              <a:t>Vision des « self-driving networks » (Feamster &amp; Rexford, 2018) : encore largement prospective.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Les limites qui restent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452628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Confiance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faut-il laisser un modèle agir seul ? Explicabilité et validation sont indispensables.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Responsabilité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qui répond d’une coupure ou d’un blocage décidé par un algorithme ?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932" b="1" i="0">
                <a:solidFill>
                  <a:schemeClr val="accent5">
                    <a:lumMod val="75000"/>
                  </a:schemeClr>
                </a:solidFill>
              </a:rPr>
              <a:t>Sécurité des modèles</a:t>
            </a:r>
            <a:r>
              <a:rPr sz="1932" b="0" i="0">
                <a:solidFill>
                  <a:schemeClr val="accent5">
                    <a:lumMod val="75000"/>
                  </a:schemeClr>
                </a:solidFill>
              </a:rPr>
              <a:t> : évasion, empoisonnement, fuite de données : le modèle est lui-même une surface d’attaque.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Points à retenir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452628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Collecter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hôte, lien, équipement, application : chaque point de vue a ses angles morts.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Réduire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classer tôt pour ne garder que l’utile ; un faux négatif est une donnée perdue.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Modéliser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entrées, sorties, modèle : commencer simple, évaluer correctement.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Détecter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seuil, règle, ML : le SIEM est la console, le SOAR l’exécutant.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Inférer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la QoE se mesure côté client et s’infère côté réseau.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748" b="1" i="0">
                <a:solidFill>
                  <a:schemeClr val="accent5">
                    <a:lumMod val="75000"/>
                  </a:schemeClr>
                </a:solidFill>
              </a:rPr>
              <a:t>Exploiter</a:t>
            </a:r>
            <a:r>
              <a:rPr sz="1748" b="0" i="0">
                <a:solidFill>
                  <a:schemeClr val="accent5">
                    <a:lumMod val="75000"/>
                  </a:schemeClr>
                </a:solidFill>
              </a:rPr>
              <a:t> : surveiller la dérive, réentraîner, garder l’humain dans la boucle.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Références (1/2) : ML et 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452628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Sommer &amp; Paxson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, Outside the Closed World: On Using Machine Learning for Network Intrusion Detection, IEEE S&amp;P 2010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Arp et al.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, Dos and Don’ts of Machine Learning in Computer Security, USENIX Security 2022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Engelen, Rimmer, Joosen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, Troubleshooting an Intrusion Detection Dataset: the CICIDS2017 Case Study, 2021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Boutaba et al.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, A comprehensive survey on machine learning for networking, J. Internet Services and Applications, 2018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Bernaille et al.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, Early Application Identification, CoNEXT 2006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Xiong &amp; Zilberman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, Do Switches Dream of Machine Learning?, HotNets 2019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Références (2/2) : QoE, Netflix, eBPF, autonomie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04" y="1600200"/>
            <a:ext cx="10515600" cy="4526280"/>
          </a:xfrm>
        </p:spPr>
        <p:txBody>
          <a:bodyPr wrap="square" lIns="0" tIns="0" rIns="0" bIns="0" anchor="t"/>
          <a:lstStyle/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Mazhar &amp; Shafiq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, Real-time Video Quality of Experience Monitoring for HTTPS and QUIC, INFOCOM 2018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Bronzino et al.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, Inferring Streaming Video Quality from Encrypted Traffic: Practical Models and Deployment Experience, 2019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Gutterman et al.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, Requet: Real-Time QoE Detection for Encrypted YouTube Traffic, MMSys 2019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Netflix Technology Blog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, How Netflix uses Druid for real-time insights to ensure a high-quality experience ; infrastructure de streaming en direct (2025)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Feamster &amp; Rexford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, Why (and How) Networks Should Run Themselves, ANRW 2018</a:t>
            </a:r>
          </a:p>
          <a:p>
            <a:pPr marL="457200" indent="-342900" algn="l">
              <a:spcAft>
                <a:spcPts val="1000"/>
              </a:spcAft>
              <a:buFont typeface="Arial"/>
              <a:buChar char="•"/>
            </a:pPr>
            <a:r>
              <a:rPr sz="1380" b="1" i="0">
                <a:solidFill>
                  <a:schemeClr val="accent5">
                    <a:lumMod val="75000"/>
                  </a:schemeClr>
                </a:solidFill>
              </a:rPr>
              <a:t>Gregg</a:t>
            </a:r>
            <a:r>
              <a:rPr sz="1380" b="0" i="0">
                <a:solidFill>
                  <a:schemeClr val="accent5">
                    <a:lumMod val="75000"/>
                  </a:schemeClr>
                </a:solidFill>
              </a:rPr>
              <a:t>, BPF Performance Tools, Addison-Wesley, 2019</a:t>
            </a:r>
          </a:p>
        </p:txBody>
      </p:sp>
      <p:sp>
        <p:nvSpPr>
          <p:cNvPr id="900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CM | LD</a:t>
            </a:r>
          </a:p>
        </p:txBody>
      </p:sp>
      <p:sp>
        <p:nvSpPr>
          <p:cNvPr id="900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D828-0625-0AAD-A98F-2FA4CB81982E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ONLYOFFICE/8.3.2.19</Application>
  <PresentationFormat>On-screen Show (4:3)</PresentationFormat>
  <Paragraphs>0</Paragraphs>
  <Slides>158</Slides>
  <Notes>158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141</vt:i4>
      </vt:variant>
    </vt:vector>
  </HeadingPairs>
  <TitlesOfParts>
    <vt:vector size="14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</cp:revision>
  <dcterms:created xsi:type="dcterms:W3CDTF">2012-12-03T06:56:55Z</dcterms:created>
  <dcterms:modified xsi:type="dcterms:W3CDTF">2026-09-09T14:24:14Z</dcterms:modified>
</cp:coreProperties>
</file>